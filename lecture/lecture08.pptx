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3"/>
  </p:handoutMasterIdLst>
  <p:sldIdLst>
    <p:sldId id="706" r:id="rId3"/>
    <p:sldId id="704" r:id="rId5"/>
    <p:sldId id="507" r:id="rId6"/>
    <p:sldId id="427" r:id="rId7"/>
    <p:sldId id="428" r:id="rId8"/>
    <p:sldId id="429" r:id="rId9"/>
    <p:sldId id="503" r:id="rId10"/>
    <p:sldId id="434" r:id="rId11"/>
    <p:sldId id="511" r:id="rId12"/>
    <p:sldId id="512" r:id="rId13"/>
    <p:sldId id="436" r:id="rId14"/>
    <p:sldId id="502" r:id="rId15"/>
    <p:sldId id="509" r:id="rId16"/>
    <p:sldId id="505" r:id="rId17"/>
    <p:sldId id="506" r:id="rId18"/>
    <p:sldId id="477" r:id="rId19"/>
    <p:sldId id="478" r:id="rId20"/>
    <p:sldId id="479" r:id="rId21"/>
    <p:sldId id="480" r:id="rId22"/>
    <p:sldId id="481" r:id="rId23"/>
    <p:sldId id="482" r:id="rId24"/>
    <p:sldId id="483" r:id="rId25"/>
    <p:sldId id="484" r:id="rId26"/>
    <p:sldId id="444" r:id="rId27"/>
    <p:sldId id="445" r:id="rId28"/>
    <p:sldId id="451" r:id="rId29"/>
    <p:sldId id="454" r:id="rId30"/>
    <p:sldId id="715" r:id="rId31"/>
    <p:sldId id="716" r:id="rId32"/>
  </p:sldIdLst>
  <p:sldSz cx="9144000" cy="6858000" type="screen4x3"/>
  <p:notesSz cx="6858000" cy="9116695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2400" kern="1200">
        <a:solidFill>
          <a:schemeClr val="tx2"/>
        </a:solidFill>
        <a:latin typeface="Comic Sans MS" panose="030F0902030302020204" pitchFamily="66" charset="0"/>
        <a:ea typeface="+mn-ea"/>
        <a:cs typeface="Times New Roman" panose="02020503050405090304" pitchFamily="18" charset="0"/>
      </a:defRPr>
    </a:lvl1pPr>
    <a:lvl2pPr marL="457200" algn="ctr" rtl="0" fontAlgn="base">
      <a:spcBef>
        <a:spcPct val="0"/>
      </a:spcBef>
      <a:spcAft>
        <a:spcPct val="0"/>
      </a:spcAft>
      <a:defRPr sz="2400" kern="1200">
        <a:solidFill>
          <a:schemeClr val="tx2"/>
        </a:solidFill>
        <a:latin typeface="Comic Sans MS" panose="030F0902030302020204" pitchFamily="66" charset="0"/>
        <a:ea typeface="+mn-ea"/>
        <a:cs typeface="Times New Roman" panose="02020503050405090304" pitchFamily="18" charset="0"/>
      </a:defRPr>
    </a:lvl2pPr>
    <a:lvl3pPr marL="914400" algn="ctr" rtl="0" fontAlgn="base">
      <a:spcBef>
        <a:spcPct val="0"/>
      </a:spcBef>
      <a:spcAft>
        <a:spcPct val="0"/>
      </a:spcAft>
      <a:defRPr sz="2400" kern="1200">
        <a:solidFill>
          <a:schemeClr val="tx2"/>
        </a:solidFill>
        <a:latin typeface="Comic Sans MS" panose="030F0902030302020204" pitchFamily="66" charset="0"/>
        <a:ea typeface="+mn-ea"/>
        <a:cs typeface="Times New Roman" panose="02020503050405090304" pitchFamily="18" charset="0"/>
      </a:defRPr>
    </a:lvl3pPr>
    <a:lvl4pPr marL="1371600" algn="ctr" rtl="0" fontAlgn="base">
      <a:spcBef>
        <a:spcPct val="0"/>
      </a:spcBef>
      <a:spcAft>
        <a:spcPct val="0"/>
      </a:spcAft>
      <a:defRPr sz="2400" kern="1200">
        <a:solidFill>
          <a:schemeClr val="tx2"/>
        </a:solidFill>
        <a:latin typeface="Comic Sans MS" panose="030F0902030302020204" pitchFamily="66" charset="0"/>
        <a:ea typeface="+mn-ea"/>
        <a:cs typeface="Times New Roman" panose="02020503050405090304" pitchFamily="18" charset="0"/>
      </a:defRPr>
    </a:lvl4pPr>
    <a:lvl5pPr marL="1828800" algn="ctr" rtl="0" fontAlgn="base">
      <a:spcBef>
        <a:spcPct val="0"/>
      </a:spcBef>
      <a:spcAft>
        <a:spcPct val="0"/>
      </a:spcAft>
      <a:defRPr sz="2400" kern="1200">
        <a:solidFill>
          <a:schemeClr val="tx2"/>
        </a:solidFill>
        <a:latin typeface="Comic Sans MS" panose="030F0902030302020204" pitchFamily="66" charset="0"/>
        <a:ea typeface="+mn-ea"/>
        <a:cs typeface="Times New Roman" panose="02020503050405090304" pitchFamily="18" charset="0"/>
      </a:defRPr>
    </a:lvl5pPr>
    <a:lvl6pPr marL="2286000" algn="l" defTabSz="914400" rtl="0" eaLnBrk="1" latinLnBrk="0" hangingPunct="1">
      <a:defRPr sz="2400" kern="1200">
        <a:solidFill>
          <a:schemeClr val="tx2"/>
        </a:solidFill>
        <a:latin typeface="Comic Sans MS" panose="030F0902030302020204" pitchFamily="66" charset="0"/>
        <a:ea typeface="+mn-ea"/>
        <a:cs typeface="Times New Roman" panose="02020503050405090304" pitchFamily="18" charset="0"/>
      </a:defRPr>
    </a:lvl6pPr>
    <a:lvl7pPr marL="2743200" algn="l" defTabSz="914400" rtl="0" eaLnBrk="1" latinLnBrk="0" hangingPunct="1">
      <a:defRPr sz="2400" kern="1200">
        <a:solidFill>
          <a:schemeClr val="tx2"/>
        </a:solidFill>
        <a:latin typeface="Comic Sans MS" panose="030F0902030302020204" pitchFamily="66" charset="0"/>
        <a:ea typeface="+mn-ea"/>
        <a:cs typeface="Times New Roman" panose="02020503050405090304" pitchFamily="18" charset="0"/>
      </a:defRPr>
    </a:lvl7pPr>
    <a:lvl8pPr marL="3200400" algn="l" defTabSz="914400" rtl="0" eaLnBrk="1" latinLnBrk="0" hangingPunct="1">
      <a:defRPr sz="2400" kern="1200">
        <a:solidFill>
          <a:schemeClr val="tx2"/>
        </a:solidFill>
        <a:latin typeface="Comic Sans MS" panose="030F0902030302020204" pitchFamily="66" charset="0"/>
        <a:ea typeface="+mn-ea"/>
        <a:cs typeface="Times New Roman" panose="02020503050405090304" pitchFamily="18" charset="0"/>
      </a:defRPr>
    </a:lvl8pPr>
    <a:lvl9pPr marL="3657600" algn="l" defTabSz="914400" rtl="0" eaLnBrk="1" latinLnBrk="0" hangingPunct="1">
      <a:defRPr sz="2400" kern="1200">
        <a:solidFill>
          <a:schemeClr val="tx2"/>
        </a:solidFill>
        <a:latin typeface="Comic Sans MS" panose="030F0902030302020204" pitchFamily="66" charset="0"/>
        <a:ea typeface="+mn-ea"/>
        <a:cs typeface="Times New Roman" panose="02020503050405090304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BA7518"/>
    <a:srgbClr val="A3A31D"/>
    <a:srgbClr val="FFFFFF"/>
    <a:srgbClr val="FF9933"/>
    <a:srgbClr val="F7EFFF"/>
    <a:srgbClr val="EAD5FF"/>
    <a:srgbClr val="CC99FF"/>
    <a:srgbClr val="EAEAEA"/>
    <a:srgbClr val="66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59" autoAdjust="0"/>
    <p:restoredTop sz="72240" autoAdjust="0"/>
  </p:normalViewPr>
  <p:slideViewPr>
    <p:cSldViewPr snapToGrid="0" showGuides="1">
      <p:cViewPr varScale="1">
        <p:scale>
          <a:sx n="159" d="100"/>
          <a:sy n="159" d="100"/>
        </p:scale>
        <p:origin x="4520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2" d="100"/>
        <a:sy n="52" d="100"/>
      </p:scale>
      <p:origin x="0" y="898"/>
    </p:cViewPr>
  </p:sorterViewPr>
  <p:notesViewPr>
    <p:cSldViewPr snapToGrid="0">
      <p:cViewPr varScale="1">
        <p:scale>
          <a:sx n="67" d="100"/>
          <a:sy n="67" d="100"/>
        </p:scale>
        <p:origin x="-1962" y="-90"/>
      </p:cViewPr>
      <p:guideLst>
        <p:guide orient="horz" pos="2871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handoutMaster" Target="handoutMasters/handoutMaster1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2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48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56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48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61400"/>
            <a:ext cx="2971800" cy="4556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48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61400"/>
            <a:ext cx="2971800" cy="4556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pPr>
              <a:defRPr/>
            </a:pPr>
            <a:fld id="{19E025DC-5CAF-4A0A-951D-DCE4F8B19CE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307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07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307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307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pPr>
              <a:defRPr/>
            </a:pPr>
            <a:fld id="{47DAEFE5-A347-4045-A4FC-2F1CEFE90570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+mn-ea"/>
        <a:cs typeface="Times New Roman" panose="02020503050405090304" pitchFamily="18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+mn-ea"/>
        <a:cs typeface="Times New Roman" panose="02020503050405090304" pitchFamily="18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+mn-ea"/>
        <a:cs typeface="Times New Roman" panose="02020503050405090304" pitchFamily="18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+mn-ea"/>
        <a:cs typeface="Times New Roman" panose="02020503050405090304" pitchFamily="18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+mn-ea"/>
        <a:cs typeface="Times New Roman" panose="02020503050405090304" pitchFamily="18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fld id="{E6BBE8BA-262D-4A32-AC42-0F7A2A138515}" type="slidenum">
              <a:rPr lang="en-US" sz="1200" smtClean="0">
                <a:latin typeface="Times New Roman" panose="02020503050405090304" pitchFamily="18" charset="0"/>
              </a:rPr>
            </a:fld>
            <a:endParaRPr lang="en-US" sz="1200">
              <a:latin typeface="Times New Roman" panose="02020503050405090304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C88932EE-C760-4D12-AECE-8D6AA280D605}" type="slidenum">
              <a:rPr lang="en-US"/>
            </a:fld>
            <a:endParaRPr lang="en-US"/>
          </a:p>
        </p:txBody>
      </p:sp>
      <p:sp>
        <p:nvSpPr>
          <p:cNvPr id="13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1200" dirty="0"/>
              <a:t>So it eventually solves the simplest subproblem and returns</a:t>
            </a:r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fld id="{66C6ADED-01A9-4819-979C-72BAF71EE758}" type="slidenum">
              <a:rPr lang="en-US" sz="1200" smtClean="0"/>
            </a:fld>
            <a:endParaRPr lang="en-US" sz="120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dirty="0"/>
              <a:t>while (</a:t>
            </a:r>
            <a:r>
              <a:rPr lang="en-US" dirty="0" err="1"/>
              <a:t>idNum</a:t>
            </a:r>
            <a:r>
              <a:rPr lang="en-US" dirty="0"/>
              <a:t> &gt; 100000)</a:t>
            </a:r>
            <a:endParaRPr lang="en-US" dirty="0"/>
          </a:p>
          <a:p>
            <a:pPr eaLnBrk="1" hangingPunct="1"/>
            <a:r>
              <a:rPr lang="en-US" dirty="0"/>
              <a:t>{</a:t>
            </a:r>
            <a:endParaRPr lang="en-US" dirty="0"/>
          </a:p>
          <a:p>
            <a:pPr eaLnBrk="1" hangingPunct="1"/>
            <a:r>
              <a:rPr lang="en-US" dirty="0"/>
              <a:t>    </a:t>
            </a:r>
            <a:r>
              <a:rPr lang="en-US" dirty="0" err="1"/>
              <a:t>idNum</a:t>
            </a:r>
            <a:r>
              <a:rPr lang="en-US" dirty="0"/>
              <a:t> -= 100000;</a:t>
            </a:r>
            <a:endParaRPr lang="en-US" dirty="0"/>
          </a:p>
          <a:p>
            <a:pPr eaLnBrk="1" hangingPunct="1"/>
            <a:r>
              <a:rPr lang="en-US" dirty="0"/>
              <a:t>}</a:t>
            </a:r>
            <a:endParaRPr lang="en-US" dirty="0"/>
          </a:p>
          <a:p>
            <a:pPr eaLnBrk="1" hangingPunct="1"/>
            <a:r>
              <a:rPr lang="en-US" dirty="0"/>
              <a:t>return </a:t>
            </a:r>
            <a:r>
              <a:rPr lang="en-US" dirty="0" err="1"/>
              <a:t>idNum</a:t>
            </a:r>
            <a:r>
              <a:rPr lang="en-US" dirty="0"/>
              <a:t>;  //</a:t>
            </a:r>
            <a:r>
              <a:rPr lang="en-US" baseline="0" dirty="0"/>
              <a:t> guaranteed to be between 0 and 99,999</a:t>
            </a:r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Assume X is equal to the value of your ID number.</a:t>
            </a:r>
            <a:endParaRPr lang="en-US" dirty="0"/>
          </a:p>
          <a:p>
            <a:pPr eaLnBrk="1" hangingPunct="1"/>
            <a:r>
              <a:rPr lang="en-US" dirty="0"/>
              <a:t>One technique you can use is to start at the top cell of the array and run your finger down past X</a:t>
            </a:r>
            <a:r>
              <a:rPr lang="en-US" baseline="0" dirty="0"/>
              <a:t> cells of the array. If you go past the bottom of the array, just start back at the top cell and keep going.</a:t>
            </a:r>
            <a:endParaRPr lang="en-US" baseline="0" dirty="0"/>
          </a:p>
          <a:p>
            <a:pPr eaLnBrk="1" hangingPunct="1"/>
            <a:r>
              <a:rPr lang="en-US" baseline="0" dirty="0"/>
              <a:t>Whatever cell you stop on is the cell where you put your item.</a:t>
            </a:r>
            <a:endParaRPr lang="en-US" baseline="0" dirty="0"/>
          </a:p>
          <a:p>
            <a:pPr eaLnBrk="1" hangingPunct="1"/>
            <a:endParaRPr lang="en-US" baseline="0" dirty="0"/>
          </a:p>
          <a:p>
            <a:pPr eaLnBrk="1" hangingPunct="1"/>
            <a:r>
              <a:rPr lang="en-US" baseline="0" dirty="0"/>
              <a:t>, wrapping around to the top when you go past the end of the array.</a:t>
            </a:r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fld id="{38A49082-0140-4CBA-8902-143B373E31C7}" type="slidenum">
              <a:rPr lang="en-US" sz="1200" smtClean="0"/>
            </a:fld>
            <a:endParaRPr lang="en-US" sz="120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fld id="{518309E8-D02F-4F70-B6C1-61BE32F420F2}" type="slidenum">
              <a:rPr lang="en-US" sz="1200" smtClean="0"/>
            </a:fld>
            <a:endParaRPr lang="en-US" sz="120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fld id="{C824D26F-15AD-48DD-9D8F-D5253CCC0616}" type="slidenum">
              <a:rPr lang="en-US" sz="1200" smtClean="0"/>
            </a:fld>
            <a:endParaRPr lang="en-US" sz="120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fld id="{66C6ADED-01A9-4819-979C-72BAF71EE758}" type="slidenum">
              <a:rPr lang="en-US" sz="1200" smtClean="0"/>
            </a:fld>
            <a:endParaRPr lang="en-US" sz="120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dirty="0"/>
              <a:t>while (</a:t>
            </a:r>
            <a:r>
              <a:rPr lang="en-US" dirty="0" err="1"/>
              <a:t>idNum</a:t>
            </a:r>
            <a:r>
              <a:rPr lang="en-US" dirty="0"/>
              <a:t> &gt; 100000)</a:t>
            </a:r>
            <a:endParaRPr lang="en-US" dirty="0"/>
          </a:p>
          <a:p>
            <a:pPr eaLnBrk="1" hangingPunct="1"/>
            <a:r>
              <a:rPr lang="en-US" dirty="0"/>
              <a:t>{</a:t>
            </a:r>
            <a:endParaRPr lang="en-US" dirty="0"/>
          </a:p>
          <a:p>
            <a:pPr eaLnBrk="1" hangingPunct="1"/>
            <a:r>
              <a:rPr lang="en-US" dirty="0"/>
              <a:t>    </a:t>
            </a:r>
            <a:r>
              <a:rPr lang="en-US" dirty="0" err="1"/>
              <a:t>idNum</a:t>
            </a:r>
            <a:r>
              <a:rPr lang="en-US" dirty="0"/>
              <a:t> -= 100000;</a:t>
            </a:r>
            <a:endParaRPr lang="en-US" dirty="0"/>
          </a:p>
          <a:p>
            <a:pPr eaLnBrk="1" hangingPunct="1"/>
            <a:r>
              <a:rPr lang="en-US" dirty="0"/>
              <a:t>}</a:t>
            </a:r>
            <a:endParaRPr lang="en-US" dirty="0"/>
          </a:p>
          <a:p>
            <a:pPr eaLnBrk="1" hangingPunct="1"/>
            <a:r>
              <a:rPr lang="en-US" dirty="0"/>
              <a:t>return </a:t>
            </a:r>
            <a:r>
              <a:rPr lang="en-US" dirty="0" err="1"/>
              <a:t>idNum</a:t>
            </a:r>
            <a:r>
              <a:rPr lang="en-US" dirty="0"/>
              <a:t>;  //</a:t>
            </a:r>
            <a:r>
              <a:rPr lang="en-US" baseline="0" dirty="0"/>
              <a:t> guaranteed to be between 0 and 99,999</a:t>
            </a:r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Assume X is equal to the value of your ID number.</a:t>
            </a:r>
            <a:endParaRPr lang="en-US" dirty="0"/>
          </a:p>
          <a:p>
            <a:pPr eaLnBrk="1" hangingPunct="1"/>
            <a:r>
              <a:rPr lang="en-US" dirty="0"/>
              <a:t>One technique you can use is to start at the top cell of the array and run your finger down past X</a:t>
            </a:r>
            <a:r>
              <a:rPr lang="en-US" baseline="0" dirty="0"/>
              <a:t> cells of the array. If you go past the bottom of the array, just start back at the top cell and keep going.</a:t>
            </a:r>
            <a:endParaRPr lang="en-US" baseline="0" dirty="0"/>
          </a:p>
          <a:p>
            <a:pPr eaLnBrk="1" hangingPunct="1"/>
            <a:r>
              <a:rPr lang="en-US" baseline="0" dirty="0"/>
              <a:t>Whatever cell you stop on is the cell where you put your item.</a:t>
            </a:r>
            <a:endParaRPr lang="en-US" baseline="0" dirty="0"/>
          </a:p>
          <a:p>
            <a:pPr eaLnBrk="1" hangingPunct="1"/>
            <a:endParaRPr lang="en-US" baseline="0" dirty="0"/>
          </a:p>
          <a:p>
            <a:pPr eaLnBrk="1" hangingPunct="1"/>
            <a:r>
              <a:rPr lang="en-US" baseline="0" dirty="0"/>
              <a:t>, wrapping around to the top when you go past the end of the array.</a:t>
            </a:r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fld id="{0F553E0D-EBD6-4F43-BC5F-F149601008F2}" type="slidenum">
              <a:rPr lang="en-US" sz="1200" smtClean="0"/>
            </a:fld>
            <a:endParaRPr lang="en-US" sz="120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fld id="{0F553E0D-EBD6-4F43-BC5F-F149601008F2}" type="slidenum">
              <a:rPr lang="en-US" sz="1200" smtClean="0"/>
            </a:fld>
            <a:endParaRPr lang="en-US" sz="120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fld id="{0F553E0D-EBD6-4F43-BC5F-F149601008F2}" type="slidenum">
              <a:rPr lang="en-US" sz="1200" smtClean="0"/>
            </a:fld>
            <a:endParaRPr lang="en-US" sz="120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fld id="{E94D6E93-E7C5-4F1E-9412-4B187DB24550}" type="slidenum">
              <a:rPr lang="en-US" sz="1200" smtClean="0"/>
            </a:fld>
            <a:endParaRPr lang="en-US" sz="120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fld id="{EA483DB4-7C26-41D8-828D-649F204B84D7}" type="slidenum">
              <a:rPr lang="en-US" sz="1200" smtClean="0"/>
            </a:fld>
            <a:endParaRPr lang="en-US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fld id="{EA483DB4-7C26-41D8-828D-649F204B84D7}" type="slidenum">
              <a:rPr lang="en-US" sz="1200" smtClean="0"/>
            </a:fld>
            <a:endParaRPr lang="en-US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fld id="{EA483DB4-7C26-41D8-828D-649F204B84D7}" type="slidenum">
              <a:rPr lang="en-US" sz="1200" smtClean="0"/>
            </a:fld>
            <a:endParaRPr lang="en-US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fld id="{EA483DB4-7C26-41D8-828D-649F204B84D7}" type="slidenum">
              <a:rPr lang="en-US" sz="1200" smtClean="0"/>
            </a:fld>
            <a:endParaRPr lang="en-US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fld id="{1EC9B146-B52B-4CDD-8B22-9B18AFA1DAB8}" type="slidenum">
              <a:rPr lang="en-US" sz="1200" smtClean="0"/>
            </a:fld>
            <a:endParaRPr lang="en-US" sz="1200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fld id="{11420368-CE6B-4E22-A4C2-01907FA11064}" type="slidenum">
              <a:rPr lang="en-US" sz="1200" smtClean="0"/>
            </a:fld>
            <a:endParaRPr lang="en-US" sz="1200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fld id="{9F21D36B-B2A1-4C65-ACB5-D000AD234F0B}" type="slidenum">
              <a:rPr lang="en-US" sz="1200" smtClean="0"/>
            </a:fld>
            <a:endParaRPr lang="en-US" sz="1200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fld id="{EF729C3D-0E0E-43E7-8EFD-B9D1DD78A113}" type="slidenum">
              <a:rPr lang="en-US" sz="1200" smtClean="0"/>
            </a:fld>
            <a:endParaRPr lang="en-US" sz="1200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E8A294-0A57-4689-B425-2DED5538C949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5320BD-0BE5-4F5D-8959-DC81DF3AF97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88B21C-F26D-4CF9-8FE2-7D249181BEAA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1BA498-981E-46B4-AFAF-CCE17196749A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0CEEB3-7107-4FBE-BC98-E785249EAD7E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550998-05DF-4B67-80D0-AA815377C209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0FB07F-124A-4622-A824-734A9C9CAA4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B836C8-5E44-45F9-AD60-F238284634B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A9D864-9A46-4A76-AB9A-AC944E7A5CA1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FEC161-FBC0-42EF-98CE-B5F969E673CB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-76200"/>
            <a:ext cx="194310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-76200"/>
            <a:ext cx="567690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B59DAD-8725-495E-921B-E1F3731C5D20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762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FB77EF-0957-4102-9247-127F8E6443EE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-762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400">
                <a:solidFill>
                  <a:schemeClr val="tx1"/>
                </a:solidFill>
                <a:latin typeface="Times New Roman" panose="0202050305040509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solidFill>
                  <a:schemeClr val="tx1"/>
                </a:solidFill>
                <a:latin typeface="Times New Roman" panose="0202050305040509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-1447800" y="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solidFill>
                  <a:schemeClr val="tx1"/>
                </a:solidFill>
                <a:latin typeface="Times New Roman" panose="02020503050405090304" pitchFamily="18" charset="0"/>
              </a:defRPr>
            </a:lvl1pPr>
          </a:lstStyle>
          <a:p>
            <a:pPr>
              <a:defRPr/>
            </a:pPr>
            <a:fld id="{BFD02761-1E7B-49CB-9932-3D5B661C39CD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902030302020204" pitchFamily="66" charset="0"/>
          <a:cs typeface="Times New Roman" panose="0202050305040509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902030302020204" pitchFamily="66" charset="0"/>
          <a:cs typeface="Times New Roman" panose="0202050305040509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902030302020204" pitchFamily="66" charset="0"/>
          <a:cs typeface="Times New Roman" panose="0202050305040509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902030302020204" pitchFamily="66" charset="0"/>
          <a:cs typeface="Times New Roman" panose="0202050305040509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902030302020204" pitchFamily="66" charset="0"/>
          <a:cs typeface="Times New Roman" panose="0202050305040509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902030302020204" pitchFamily="66" charset="0"/>
          <a:cs typeface="Times New Roman" panose="0202050305040509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902030302020204" pitchFamily="66" charset="0"/>
          <a:cs typeface="Times New Roman" panose="0202050305040509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902030302020204" pitchFamily="66" charset="0"/>
          <a:cs typeface="Times New Roman" panose="0202050305040509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Text Box 13"/>
          <p:cNvSpPr txBox="1">
            <a:spLocks noChangeArrowheads="1"/>
          </p:cNvSpPr>
          <p:nvPr/>
        </p:nvSpPr>
        <p:spPr bwMode="auto">
          <a:xfrm>
            <a:off x="1632814" y="3304267"/>
            <a:ext cx="6692900" cy="19380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r>
              <a:rPr lang="en-US" dirty="0"/>
              <a:t>Instructor: </a:t>
            </a:r>
            <a:r>
              <a:rPr lang="en-US" dirty="0">
                <a:solidFill>
                  <a:srgbClr val="800000"/>
                </a:solidFill>
              </a:rPr>
              <a:t>Dr. Hao Qin</a:t>
            </a:r>
            <a:r>
              <a:rPr lang="zh-CN" altLang="en-US" dirty="0">
                <a:solidFill>
                  <a:srgbClr val="8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（秦浩）</a:t>
            </a:r>
            <a:endParaRPr lang="en-US" i="1" dirty="0">
              <a:solidFill>
                <a:srgbClr val="6600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   	       E-mail: </a:t>
            </a:r>
            <a:r>
              <a:rPr lang="en-US" dirty="0" err="1">
                <a:solidFill>
                  <a:srgbClr val="800000"/>
                </a:solidFill>
              </a:rPr>
              <a:t>hao.qin@scupi.cn</a:t>
            </a:r>
            <a:r>
              <a:rPr lang="en-US" dirty="0">
                <a:solidFill>
                  <a:srgbClr val="800000"/>
                </a:solidFill>
              </a:rPr>
              <a:t>                        </a:t>
            </a:r>
            <a:endParaRPr lang="en-US" dirty="0">
              <a:solidFill>
                <a:srgbClr val="800000"/>
              </a:solidFill>
            </a:endParaRP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    My Office:     </a:t>
            </a:r>
            <a:r>
              <a:rPr lang="en-US" dirty="0">
                <a:solidFill>
                  <a:srgbClr val="800000"/>
                </a:solidFill>
              </a:rPr>
              <a:t>Room 514, SCUPI (North)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685800" y="887240"/>
            <a:ext cx="7772400" cy="1143000"/>
          </a:xfrm>
        </p:spPr>
        <p:txBody>
          <a:bodyPr/>
          <a:lstStyle/>
          <a:p>
            <a:r>
              <a:rPr lang="en-US" dirty="0"/>
              <a:t>Data Structures and Algorithms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3" name="Rectangle 11"/>
          <p:cNvSpPr>
            <a:spLocks noChangeArrowheads="1"/>
          </p:cNvSpPr>
          <p:nvPr/>
        </p:nvSpPr>
        <p:spPr bwMode="auto">
          <a:xfrm>
            <a:off x="509047" y="-4627"/>
            <a:ext cx="8288518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/>
          <a:p>
            <a:pPr algn="ctr"/>
            <a:r>
              <a:rPr lang="en-US" sz="3200" dirty="0"/>
              <a:t>Hash Tables</a:t>
            </a:r>
            <a:br>
              <a:rPr lang="en-US" sz="3200" dirty="0">
                <a:solidFill>
                  <a:schemeClr val="tx2"/>
                </a:solidFill>
              </a:rPr>
            </a:br>
            <a:r>
              <a:rPr lang="en-US" sz="3200" dirty="0">
                <a:solidFill>
                  <a:srgbClr val="FF0000"/>
                </a:solidFill>
              </a:rPr>
              <a:t>What’s the big picture?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365961" y="1138372"/>
            <a:ext cx="6185668" cy="556722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1629" y="1135434"/>
            <a:ext cx="1657656" cy="10642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08369" y="1161192"/>
            <a:ext cx="62777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Hash tables offer </a:t>
            </a:r>
            <a:r>
              <a:rPr lang="en-US" sz="2000" dirty="0">
                <a:solidFill>
                  <a:schemeClr val="accent6"/>
                </a:solidFill>
              </a:rPr>
              <a:t>faster searching </a:t>
            </a:r>
            <a:r>
              <a:rPr lang="en-US" sz="2000" dirty="0">
                <a:solidFill>
                  <a:schemeClr val="tx1"/>
                </a:solidFill>
              </a:rPr>
              <a:t>than a BST, but they don’t order their elements alphabetically. 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0026" y="1982342"/>
            <a:ext cx="6617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Create an array with N slots to hold your values.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365961" y="5011575"/>
            <a:ext cx="61856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Use f() to find the right slot # to either add a new item, or search for an existing item.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248216" y="2433242"/>
            <a:ext cx="64018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Define a </a:t>
            </a:r>
            <a:r>
              <a:rPr lang="en-US" sz="2000" dirty="0" err="1">
                <a:solidFill>
                  <a:schemeClr val="tx1"/>
                </a:solidFill>
              </a:rPr>
              <a:t>func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rgbClr val="7030A0"/>
                </a:solidFill>
              </a:rPr>
              <a:t>f() </a:t>
            </a:r>
            <a:r>
              <a:rPr lang="en-US" sz="2000" dirty="0">
                <a:solidFill>
                  <a:schemeClr val="tx1"/>
                </a:solidFill>
              </a:rPr>
              <a:t>that takes a value </a:t>
            </a:r>
            <a:r>
              <a:rPr lang="en-US" sz="2000" dirty="0">
                <a:solidFill>
                  <a:srgbClr val="FF0000"/>
                </a:solidFill>
              </a:rPr>
              <a:t>V</a:t>
            </a:r>
            <a:r>
              <a:rPr lang="en-US" sz="2000" dirty="0">
                <a:solidFill>
                  <a:schemeClr val="tx1"/>
                </a:solidFill>
              </a:rPr>
              <a:t> as an input and produces a slot # from 0 to N-1 as its output.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3103640" y="3778946"/>
            <a:ext cx="7152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6600CC"/>
                </a:solidFill>
              </a:rPr>
              <a:t>f(</a:t>
            </a:r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dirty="0">
                <a:solidFill>
                  <a:srgbClr val="6600CC"/>
                </a:solidFill>
              </a:rPr>
              <a:t>)</a:t>
            </a:r>
            <a:endParaRPr lang="en-US" dirty="0">
              <a:solidFill>
                <a:srgbClr val="6600CC"/>
              </a:solidFill>
            </a:endParaRPr>
          </a:p>
        </p:txBody>
      </p:sp>
      <p:grpSp>
        <p:nvGrpSpPr>
          <p:cNvPr id="150" name="Group 149"/>
          <p:cNvGrpSpPr/>
          <p:nvPr/>
        </p:nvGrpSpPr>
        <p:grpSpPr>
          <a:xfrm>
            <a:off x="3977187" y="3442173"/>
            <a:ext cx="1603245" cy="1319935"/>
            <a:chOff x="7228749" y="1153538"/>
            <a:chExt cx="1603245" cy="1428315"/>
          </a:xfrm>
        </p:grpSpPr>
        <p:sp>
          <p:nvSpPr>
            <p:cNvPr id="151" name="Rectangle 150"/>
            <p:cNvSpPr/>
            <p:nvPr/>
          </p:nvSpPr>
          <p:spPr bwMode="auto">
            <a:xfrm>
              <a:off x="8038176" y="1267789"/>
              <a:ext cx="793818" cy="76007"/>
            </a:xfrm>
            <a:prstGeom prst="rect">
              <a:avLst/>
            </a:prstGeom>
            <a:solidFill>
              <a:srgbClr val="E7F9B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7750739" y="1153538"/>
              <a:ext cx="30970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0</a:t>
              </a:r>
              <a:endParaRPr lang="en-US" sz="1600" dirty="0"/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7228749" y="2243299"/>
              <a:ext cx="86594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99,999</a:t>
              </a:r>
              <a:endParaRPr lang="en-US" sz="1600" dirty="0"/>
            </a:p>
          </p:txBody>
        </p:sp>
        <p:sp>
          <p:nvSpPr>
            <p:cNvPr id="154" name="Rectangle 153"/>
            <p:cNvSpPr/>
            <p:nvPr/>
          </p:nvSpPr>
          <p:spPr bwMode="auto">
            <a:xfrm>
              <a:off x="8038176" y="1339805"/>
              <a:ext cx="793818" cy="76007"/>
            </a:xfrm>
            <a:prstGeom prst="rect">
              <a:avLst/>
            </a:prstGeom>
            <a:solidFill>
              <a:srgbClr val="E7F9B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155" name="Rectangle 154"/>
            <p:cNvSpPr/>
            <p:nvPr/>
          </p:nvSpPr>
          <p:spPr bwMode="auto">
            <a:xfrm>
              <a:off x="8038176" y="1420189"/>
              <a:ext cx="793818" cy="76007"/>
            </a:xfrm>
            <a:prstGeom prst="rect">
              <a:avLst/>
            </a:prstGeom>
            <a:solidFill>
              <a:srgbClr val="E7F9B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156" name="Rectangle 155"/>
            <p:cNvSpPr/>
            <p:nvPr/>
          </p:nvSpPr>
          <p:spPr bwMode="auto">
            <a:xfrm>
              <a:off x="8038176" y="1492205"/>
              <a:ext cx="793818" cy="76007"/>
            </a:xfrm>
            <a:prstGeom prst="rect">
              <a:avLst/>
            </a:prstGeom>
            <a:solidFill>
              <a:srgbClr val="E7F9B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157" name="Rectangle 156"/>
            <p:cNvSpPr/>
            <p:nvPr/>
          </p:nvSpPr>
          <p:spPr bwMode="auto">
            <a:xfrm>
              <a:off x="8038176" y="1566532"/>
              <a:ext cx="793818" cy="76007"/>
            </a:xfrm>
            <a:prstGeom prst="rect">
              <a:avLst/>
            </a:prstGeom>
            <a:solidFill>
              <a:srgbClr val="E7F9B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158" name="Rectangle 157"/>
            <p:cNvSpPr/>
            <p:nvPr/>
          </p:nvSpPr>
          <p:spPr bwMode="auto">
            <a:xfrm>
              <a:off x="8038176" y="1638548"/>
              <a:ext cx="793818" cy="76007"/>
            </a:xfrm>
            <a:prstGeom prst="rect">
              <a:avLst/>
            </a:prstGeom>
            <a:solidFill>
              <a:srgbClr val="E7F9B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159" name="Rectangle 158"/>
            <p:cNvSpPr/>
            <p:nvPr/>
          </p:nvSpPr>
          <p:spPr bwMode="auto">
            <a:xfrm>
              <a:off x="8038176" y="1708884"/>
              <a:ext cx="793818" cy="76007"/>
            </a:xfrm>
            <a:prstGeom prst="rect">
              <a:avLst/>
            </a:prstGeom>
            <a:solidFill>
              <a:srgbClr val="E7F9B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160" name="Rectangle 159"/>
            <p:cNvSpPr/>
            <p:nvPr/>
          </p:nvSpPr>
          <p:spPr bwMode="auto">
            <a:xfrm>
              <a:off x="8038176" y="1780900"/>
              <a:ext cx="793818" cy="76007"/>
            </a:xfrm>
            <a:prstGeom prst="rect">
              <a:avLst/>
            </a:prstGeom>
            <a:solidFill>
              <a:srgbClr val="E7F9B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161" name="Rectangle 160"/>
            <p:cNvSpPr/>
            <p:nvPr/>
          </p:nvSpPr>
          <p:spPr bwMode="auto">
            <a:xfrm>
              <a:off x="8038176" y="1856907"/>
              <a:ext cx="793818" cy="76007"/>
            </a:xfrm>
            <a:prstGeom prst="rect">
              <a:avLst/>
            </a:prstGeom>
            <a:solidFill>
              <a:srgbClr val="E7F9B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162" name="Rectangle 161"/>
            <p:cNvSpPr/>
            <p:nvPr/>
          </p:nvSpPr>
          <p:spPr bwMode="auto">
            <a:xfrm>
              <a:off x="8038176" y="1928923"/>
              <a:ext cx="793818" cy="76007"/>
            </a:xfrm>
            <a:prstGeom prst="rect">
              <a:avLst/>
            </a:prstGeom>
            <a:solidFill>
              <a:srgbClr val="E7F9B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163" name="Rectangle 162"/>
            <p:cNvSpPr/>
            <p:nvPr/>
          </p:nvSpPr>
          <p:spPr bwMode="auto">
            <a:xfrm>
              <a:off x="8038176" y="1999259"/>
              <a:ext cx="793818" cy="76007"/>
            </a:xfrm>
            <a:prstGeom prst="rect">
              <a:avLst/>
            </a:prstGeom>
            <a:solidFill>
              <a:srgbClr val="E7F9B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164" name="Rectangle 163"/>
            <p:cNvSpPr/>
            <p:nvPr/>
          </p:nvSpPr>
          <p:spPr bwMode="auto">
            <a:xfrm>
              <a:off x="8038176" y="2071275"/>
              <a:ext cx="793818" cy="76007"/>
            </a:xfrm>
            <a:prstGeom prst="rect">
              <a:avLst/>
            </a:prstGeom>
            <a:solidFill>
              <a:srgbClr val="E7F9B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165" name="Rectangle 164"/>
            <p:cNvSpPr/>
            <p:nvPr/>
          </p:nvSpPr>
          <p:spPr bwMode="auto">
            <a:xfrm>
              <a:off x="8038176" y="2145602"/>
              <a:ext cx="793818" cy="76007"/>
            </a:xfrm>
            <a:prstGeom prst="rect">
              <a:avLst/>
            </a:prstGeom>
            <a:solidFill>
              <a:srgbClr val="E7F9B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166" name="Rectangle 165"/>
            <p:cNvSpPr/>
            <p:nvPr/>
          </p:nvSpPr>
          <p:spPr bwMode="auto">
            <a:xfrm>
              <a:off x="8038176" y="2217618"/>
              <a:ext cx="793818" cy="76007"/>
            </a:xfrm>
            <a:prstGeom prst="rect">
              <a:avLst/>
            </a:prstGeom>
            <a:solidFill>
              <a:srgbClr val="E7F9B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167" name="Rectangle 166"/>
            <p:cNvSpPr/>
            <p:nvPr/>
          </p:nvSpPr>
          <p:spPr bwMode="auto">
            <a:xfrm>
              <a:off x="8038176" y="2287954"/>
              <a:ext cx="793818" cy="76007"/>
            </a:xfrm>
            <a:prstGeom prst="rect">
              <a:avLst/>
            </a:prstGeom>
            <a:solidFill>
              <a:srgbClr val="E7F9B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168" name="Rectangle 167"/>
            <p:cNvSpPr/>
            <p:nvPr/>
          </p:nvSpPr>
          <p:spPr bwMode="auto">
            <a:xfrm>
              <a:off x="8038176" y="2359970"/>
              <a:ext cx="793818" cy="76007"/>
            </a:xfrm>
            <a:prstGeom prst="rect">
              <a:avLst/>
            </a:prstGeom>
            <a:solidFill>
              <a:srgbClr val="E7F9B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1135289" y="3504753"/>
            <a:ext cx="3663649" cy="1252006"/>
            <a:chOff x="971391" y="3832550"/>
            <a:chExt cx="3663649" cy="1252006"/>
          </a:xfrm>
        </p:grpSpPr>
        <p:cxnSp>
          <p:nvCxnSpPr>
            <p:cNvPr id="142" name="Straight Connector 141"/>
            <p:cNvCxnSpPr>
              <a:stCxn id="170" idx="3"/>
              <a:endCxn id="148" idx="1"/>
            </p:cNvCxnSpPr>
            <p:nvPr/>
          </p:nvCxnSpPr>
          <p:spPr bwMode="auto">
            <a:xfrm>
              <a:off x="1864582" y="3974762"/>
              <a:ext cx="1075160" cy="362814"/>
            </a:xfrm>
            <a:prstGeom prst="line">
              <a:avLst/>
            </a:prstGeom>
            <a:solidFill>
              <a:srgbClr val="E7F9BF"/>
            </a:solidFill>
            <a:ln w="38100" cap="flat" cmpd="sng" algn="ctr">
              <a:solidFill>
                <a:srgbClr val="006666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3" name="Straight Connector 142"/>
            <p:cNvCxnSpPr>
              <a:stCxn id="173" idx="3"/>
              <a:endCxn id="148" idx="1"/>
            </p:cNvCxnSpPr>
            <p:nvPr/>
          </p:nvCxnSpPr>
          <p:spPr bwMode="auto">
            <a:xfrm flipV="1">
              <a:off x="1963971" y="4337576"/>
              <a:ext cx="975771" cy="59429"/>
            </a:xfrm>
            <a:prstGeom prst="line">
              <a:avLst/>
            </a:prstGeom>
            <a:solidFill>
              <a:srgbClr val="E7F9BF"/>
            </a:solidFill>
            <a:ln w="381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4" name="Straight Connector 143"/>
            <p:cNvCxnSpPr>
              <a:stCxn id="172" idx="3"/>
              <a:endCxn id="148" idx="1"/>
            </p:cNvCxnSpPr>
            <p:nvPr/>
          </p:nvCxnSpPr>
          <p:spPr bwMode="auto">
            <a:xfrm flipV="1">
              <a:off x="1875004" y="4337576"/>
              <a:ext cx="1064738" cy="604769"/>
            </a:xfrm>
            <a:prstGeom prst="line">
              <a:avLst/>
            </a:prstGeom>
            <a:solidFill>
              <a:srgbClr val="E7F9BF"/>
            </a:solidFill>
            <a:ln w="381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grpSp>
          <p:nvGrpSpPr>
            <p:cNvPr id="149" name="Group 148"/>
            <p:cNvGrpSpPr/>
            <p:nvPr/>
          </p:nvGrpSpPr>
          <p:grpSpPr>
            <a:xfrm>
              <a:off x="971391" y="3832550"/>
              <a:ext cx="992580" cy="1252006"/>
              <a:chOff x="797568" y="4938492"/>
              <a:chExt cx="992580" cy="1354808"/>
            </a:xfrm>
          </p:grpSpPr>
          <p:sp>
            <p:nvSpPr>
              <p:cNvPr id="170" name="TextBox 169"/>
              <p:cNvSpPr txBox="1"/>
              <p:nvPr/>
            </p:nvSpPr>
            <p:spPr>
              <a:xfrm>
                <a:off x="896952" y="4938492"/>
                <a:ext cx="79380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rgbClr val="006666"/>
                    </a:solidFill>
                  </a:rPr>
                  <a:t>“Suzie”</a:t>
                </a:r>
                <a:endParaRPr lang="en-US" sz="1400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172" name="TextBox 171"/>
              <p:cNvSpPr txBox="1"/>
              <p:nvPr/>
            </p:nvSpPr>
            <p:spPr>
              <a:xfrm>
                <a:off x="886534" y="5985523"/>
                <a:ext cx="81464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rgbClr val="0070C0"/>
                    </a:solidFill>
                  </a:rPr>
                  <a:t>“Leslie”</a:t>
                </a:r>
                <a:endParaRPr lang="en-US" sz="1400" dirty="0">
                  <a:solidFill>
                    <a:srgbClr val="0070C0"/>
                  </a:solidFill>
                </a:endParaRPr>
              </a:p>
            </p:txBody>
          </p:sp>
          <p:sp>
            <p:nvSpPr>
              <p:cNvPr id="173" name="TextBox 172"/>
              <p:cNvSpPr txBox="1"/>
              <p:nvPr/>
            </p:nvSpPr>
            <p:spPr>
              <a:xfrm>
                <a:off x="797568" y="5395405"/>
                <a:ext cx="99258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rgbClr val="C00000"/>
                    </a:solidFill>
                  </a:rPr>
                  <a:t>“Frances”</a:t>
                </a:r>
                <a:endParaRPr lang="en-US" sz="1400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174" name="TextBox 173"/>
              <p:cNvSpPr txBox="1"/>
              <p:nvPr/>
            </p:nvSpPr>
            <p:spPr>
              <a:xfrm>
                <a:off x="1044662" y="4984996"/>
                <a:ext cx="39305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…</a:t>
                </a:r>
                <a:endParaRPr lang="en-US" dirty="0"/>
              </a:p>
            </p:txBody>
          </p:sp>
          <p:sp>
            <p:nvSpPr>
              <p:cNvPr id="175" name="TextBox 174"/>
              <p:cNvSpPr txBox="1"/>
              <p:nvPr/>
            </p:nvSpPr>
            <p:spPr>
              <a:xfrm>
                <a:off x="1028902" y="5556886"/>
                <a:ext cx="39305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…</a:t>
                </a:r>
                <a:endParaRPr lang="en-US"/>
              </a:p>
            </p:txBody>
          </p:sp>
        </p:grpSp>
        <p:cxnSp>
          <p:nvCxnSpPr>
            <p:cNvPr id="177" name="Straight Connector 176"/>
            <p:cNvCxnSpPr/>
            <p:nvPr/>
          </p:nvCxnSpPr>
          <p:spPr bwMode="auto">
            <a:xfrm flipV="1">
              <a:off x="3654132" y="4318297"/>
              <a:ext cx="968584" cy="35119"/>
            </a:xfrm>
            <a:prstGeom prst="line">
              <a:avLst/>
            </a:prstGeom>
            <a:solidFill>
              <a:srgbClr val="E7F9BF"/>
            </a:solidFill>
            <a:ln w="38100" cap="flat" cmpd="sng" algn="ctr">
              <a:solidFill>
                <a:srgbClr val="006666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78" name="Straight Connector 177"/>
            <p:cNvCxnSpPr/>
            <p:nvPr/>
          </p:nvCxnSpPr>
          <p:spPr bwMode="auto">
            <a:xfrm>
              <a:off x="3643613" y="4353416"/>
              <a:ext cx="979103" cy="500011"/>
            </a:xfrm>
            <a:prstGeom prst="line">
              <a:avLst/>
            </a:prstGeom>
            <a:solidFill>
              <a:srgbClr val="E7F9BF"/>
            </a:solidFill>
            <a:ln w="381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79" name="Straight Connector 178"/>
            <p:cNvCxnSpPr/>
            <p:nvPr/>
          </p:nvCxnSpPr>
          <p:spPr bwMode="auto">
            <a:xfrm flipV="1">
              <a:off x="3643613" y="3981512"/>
              <a:ext cx="991427" cy="362750"/>
            </a:xfrm>
            <a:prstGeom prst="line">
              <a:avLst/>
            </a:prstGeom>
            <a:solidFill>
              <a:srgbClr val="E7F9BF"/>
            </a:solidFill>
            <a:ln w="381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181" name="Group 180"/>
          <p:cNvGrpSpPr/>
          <p:nvPr/>
        </p:nvGrpSpPr>
        <p:grpSpPr>
          <a:xfrm>
            <a:off x="4786614" y="3901503"/>
            <a:ext cx="793818" cy="184666"/>
            <a:chOff x="9502285" y="3086281"/>
            <a:chExt cx="793818" cy="199828"/>
          </a:xfrm>
        </p:grpSpPr>
        <p:sp>
          <p:nvSpPr>
            <p:cNvPr id="182" name="Rectangle 181"/>
            <p:cNvSpPr/>
            <p:nvPr/>
          </p:nvSpPr>
          <p:spPr bwMode="auto">
            <a:xfrm>
              <a:off x="9502285" y="3144944"/>
              <a:ext cx="793818" cy="76007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183" name="TextBox 182"/>
            <p:cNvSpPr txBox="1"/>
            <p:nvPr/>
          </p:nvSpPr>
          <p:spPr>
            <a:xfrm>
              <a:off x="9707206" y="3086281"/>
              <a:ext cx="381836" cy="1998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" dirty="0">
                  <a:solidFill>
                    <a:schemeClr val="bg1"/>
                  </a:solidFill>
                </a:rPr>
                <a:t>Suzie</a:t>
              </a:r>
              <a:endParaRPr lang="en-US" sz="600" dirty="0"/>
            </a:p>
          </p:txBody>
        </p:sp>
      </p:grpSp>
      <p:grpSp>
        <p:nvGrpSpPr>
          <p:cNvPr id="256" name="Group 255"/>
          <p:cNvGrpSpPr/>
          <p:nvPr/>
        </p:nvGrpSpPr>
        <p:grpSpPr>
          <a:xfrm>
            <a:off x="4789347" y="4434190"/>
            <a:ext cx="793818" cy="184666"/>
            <a:chOff x="9502285" y="3086281"/>
            <a:chExt cx="793818" cy="199828"/>
          </a:xfrm>
        </p:grpSpPr>
        <p:sp>
          <p:nvSpPr>
            <p:cNvPr id="257" name="Rectangle 256"/>
            <p:cNvSpPr/>
            <p:nvPr/>
          </p:nvSpPr>
          <p:spPr bwMode="auto">
            <a:xfrm>
              <a:off x="9502285" y="3144944"/>
              <a:ext cx="793818" cy="76007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258" name="TextBox 257"/>
            <p:cNvSpPr txBox="1"/>
            <p:nvPr/>
          </p:nvSpPr>
          <p:spPr>
            <a:xfrm>
              <a:off x="9664726" y="3086281"/>
              <a:ext cx="466794" cy="1998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" dirty="0">
                  <a:solidFill>
                    <a:schemeClr val="bg1"/>
                  </a:solidFill>
                </a:rPr>
                <a:t>Frances</a:t>
              </a:r>
              <a:endParaRPr lang="en-US" sz="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59" name="Group 258"/>
          <p:cNvGrpSpPr/>
          <p:nvPr/>
        </p:nvGrpSpPr>
        <p:grpSpPr>
          <a:xfrm>
            <a:off x="4785542" y="3567123"/>
            <a:ext cx="793818" cy="184666"/>
            <a:chOff x="9502285" y="3093349"/>
            <a:chExt cx="793818" cy="199828"/>
          </a:xfrm>
        </p:grpSpPr>
        <p:sp>
          <p:nvSpPr>
            <p:cNvPr id="260" name="Rectangle 259"/>
            <p:cNvSpPr/>
            <p:nvPr/>
          </p:nvSpPr>
          <p:spPr bwMode="auto">
            <a:xfrm>
              <a:off x="9502285" y="3148141"/>
              <a:ext cx="793818" cy="76007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 dirty="0">
                <a:ln>
                  <a:noFill/>
                </a:ln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261" name="TextBox 260"/>
            <p:cNvSpPr txBox="1"/>
            <p:nvPr/>
          </p:nvSpPr>
          <p:spPr>
            <a:xfrm>
              <a:off x="9703998" y="3093349"/>
              <a:ext cx="388247" cy="1998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" dirty="0">
                  <a:solidFill>
                    <a:schemeClr val="bg1"/>
                  </a:solidFill>
                </a:rPr>
                <a:t>Leslie</a:t>
              </a:r>
              <a:endParaRPr lang="en-US" sz="600" dirty="0">
                <a:solidFill>
                  <a:schemeClr val="bg1"/>
                </a:solidFill>
              </a:endParaRPr>
            </a:p>
          </p:txBody>
        </p:sp>
      </p:grpSp>
      <p:sp>
        <p:nvSpPr>
          <p:cNvPr id="266" name="TextBox 265"/>
          <p:cNvSpPr txBox="1"/>
          <p:nvPr/>
        </p:nvSpPr>
        <p:spPr>
          <a:xfrm>
            <a:off x="223530" y="5737126"/>
            <a:ext cx="6393198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f() will map several items to the same slot. You can either place the 2</a:t>
            </a:r>
            <a:r>
              <a:rPr lang="en-US" sz="2000" baseline="30000" dirty="0">
                <a:solidFill>
                  <a:schemeClr val="tx1"/>
                </a:solidFill>
              </a:rPr>
              <a:t>nd</a:t>
            </a:r>
            <a:r>
              <a:rPr lang="en-US" sz="2000" dirty="0">
                <a:solidFill>
                  <a:schemeClr val="tx1"/>
                </a:solidFill>
              </a:rPr>
              <a:t> item in the next open slot or have a linked list of items in each slot.</a:t>
            </a:r>
            <a:endParaRPr lang="en-US" sz="2000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 bwMode="auto">
          <a:xfrm>
            <a:off x="2035838" y="1894192"/>
            <a:ext cx="2907102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" name="Speech Bubble: Rectangle with Corners Rounded 11"/>
          <p:cNvSpPr/>
          <p:nvPr/>
        </p:nvSpPr>
        <p:spPr bwMode="auto">
          <a:xfrm>
            <a:off x="6539796" y="3225131"/>
            <a:ext cx="2668179" cy="1565856"/>
          </a:xfrm>
          <a:prstGeom prst="wedgeRoundRectCallout">
            <a:avLst>
              <a:gd name="adj1" fmla="val -75308"/>
              <a:gd name="adj2" fmla="val -44531"/>
              <a:gd name="adj3" fmla="val 16667"/>
            </a:avLst>
          </a:prstGeom>
          <a:solidFill>
            <a:srgbClr val="E7F9B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/>
            <a:r>
              <a:rPr lang="en-US" sz="1900" dirty="0">
                <a:solidFill>
                  <a:schemeClr val="tx1"/>
                </a:solidFill>
              </a:rPr>
              <a:t>e.g., for people, f() might add the person’s birthday digits </a:t>
            </a:r>
            <a:r>
              <a:rPr lang="en-US" sz="1900" dirty="0" err="1">
                <a:solidFill>
                  <a:schemeClr val="tx1"/>
                </a:solidFill>
              </a:rPr>
              <a:t>mm+dd+yyyy</a:t>
            </a:r>
            <a:r>
              <a:rPr lang="en-US" sz="1900" dirty="0">
                <a:solidFill>
                  <a:schemeClr val="tx1"/>
                </a:solidFill>
              </a:rPr>
              <a:t> to compute a slot #.</a:t>
            </a:r>
            <a:endParaRPr lang="en-US" sz="1900" dirty="0">
              <a:solidFill>
                <a:schemeClr val="tx1"/>
              </a:solidFill>
            </a:endParaRPr>
          </a:p>
        </p:txBody>
      </p:sp>
      <p:cxnSp>
        <p:nvCxnSpPr>
          <p:cNvPr id="271" name="Straight Connector 270"/>
          <p:cNvCxnSpPr/>
          <p:nvPr/>
        </p:nvCxnSpPr>
        <p:spPr bwMode="auto">
          <a:xfrm flipV="1">
            <a:off x="3821502" y="4008302"/>
            <a:ext cx="962973" cy="37487"/>
          </a:xfrm>
          <a:prstGeom prst="line">
            <a:avLst/>
          </a:prstGeom>
          <a:solidFill>
            <a:srgbClr val="E7F9BF"/>
          </a:solidFill>
          <a:ln w="38100" cap="flat" cmpd="sng" algn="ctr">
            <a:solidFill>
              <a:srgbClr val="BA7518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grpSp>
        <p:nvGrpSpPr>
          <p:cNvPr id="15" name="Group 14"/>
          <p:cNvGrpSpPr/>
          <p:nvPr/>
        </p:nvGrpSpPr>
        <p:grpSpPr>
          <a:xfrm>
            <a:off x="1181789" y="4009779"/>
            <a:ext cx="1921851" cy="998445"/>
            <a:chOff x="1181789" y="4009779"/>
            <a:chExt cx="1921851" cy="998445"/>
          </a:xfrm>
        </p:grpSpPr>
        <p:sp>
          <p:nvSpPr>
            <p:cNvPr id="270" name="TextBox 269"/>
            <p:cNvSpPr txBox="1"/>
            <p:nvPr/>
          </p:nvSpPr>
          <p:spPr>
            <a:xfrm>
              <a:off x="1181789" y="4700447"/>
              <a:ext cx="101983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BA7518"/>
                  </a:solidFill>
                </a:rPr>
                <a:t>“Natasha”</a:t>
              </a:r>
              <a:endParaRPr lang="en-US" sz="1400" dirty="0">
                <a:solidFill>
                  <a:srgbClr val="BA7518"/>
                </a:solidFill>
              </a:endParaRPr>
            </a:p>
          </p:txBody>
        </p:sp>
        <p:cxnSp>
          <p:nvCxnSpPr>
            <p:cNvPr id="272" name="Straight Connector 271"/>
            <p:cNvCxnSpPr>
              <a:endCxn id="148" idx="1"/>
            </p:cNvCxnSpPr>
            <p:nvPr/>
          </p:nvCxnSpPr>
          <p:spPr bwMode="auto">
            <a:xfrm flipV="1">
              <a:off x="2129135" y="4009779"/>
              <a:ext cx="974505" cy="825882"/>
            </a:xfrm>
            <a:prstGeom prst="line">
              <a:avLst/>
            </a:prstGeom>
            <a:solidFill>
              <a:srgbClr val="E7F9BF"/>
            </a:solidFill>
            <a:ln w="38100" cap="flat" cmpd="sng" algn="ctr">
              <a:solidFill>
                <a:srgbClr val="BA7518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273" name="Group 272"/>
          <p:cNvGrpSpPr/>
          <p:nvPr/>
        </p:nvGrpSpPr>
        <p:grpSpPr>
          <a:xfrm>
            <a:off x="4783740" y="3979533"/>
            <a:ext cx="793818" cy="184666"/>
            <a:chOff x="9502285" y="3089815"/>
            <a:chExt cx="793818" cy="199828"/>
          </a:xfrm>
        </p:grpSpPr>
        <p:sp>
          <p:nvSpPr>
            <p:cNvPr id="274" name="Rectangle 273"/>
            <p:cNvSpPr/>
            <p:nvPr/>
          </p:nvSpPr>
          <p:spPr bwMode="auto">
            <a:xfrm>
              <a:off x="9502285" y="3144944"/>
              <a:ext cx="793818" cy="76007"/>
            </a:xfrm>
            <a:prstGeom prst="rect">
              <a:avLst/>
            </a:prstGeom>
            <a:solidFill>
              <a:srgbClr val="BA7518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275" name="TextBox 274"/>
            <p:cNvSpPr txBox="1"/>
            <p:nvPr/>
          </p:nvSpPr>
          <p:spPr>
            <a:xfrm>
              <a:off x="9655910" y="3089815"/>
              <a:ext cx="484427" cy="1998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" dirty="0">
                  <a:solidFill>
                    <a:schemeClr val="bg1"/>
                  </a:solidFill>
                </a:rPr>
                <a:t>Natasha</a:t>
              </a:r>
              <a:endParaRPr lang="en-US" sz="600" dirty="0"/>
            </a:p>
          </p:txBody>
        </p:sp>
      </p:grpSp>
      <p:cxnSp>
        <p:nvCxnSpPr>
          <p:cNvPr id="18" name="Straight Arrow Connector 17"/>
          <p:cNvCxnSpPr/>
          <p:nvPr/>
        </p:nvCxnSpPr>
        <p:spPr bwMode="auto">
          <a:xfrm>
            <a:off x="5545928" y="3982209"/>
            <a:ext cx="255937" cy="30466"/>
          </a:xfrm>
          <a:prstGeom prst="straightConnector1">
            <a:avLst/>
          </a:prstGeom>
          <a:solidFill>
            <a:srgbClr val="E7F9B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fld id="{A5BC9563-019F-4A39-8CF8-DC0D3558F9E0}" type="slidenum">
              <a:rPr lang="en-US" sz="1400" smtClean="0">
                <a:solidFill>
                  <a:schemeClr val="tx1"/>
                </a:solidFill>
                <a:latin typeface="Times New Roman" panose="02020503050405090304" pitchFamily="18" charset="0"/>
              </a:rPr>
            </a:fld>
            <a:endParaRPr lang="en-US" sz="140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255102"/>
            <a:ext cx="7772400" cy="1143000"/>
          </a:xfrm>
        </p:spPr>
        <p:txBody>
          <a:bodyPr/>
          <a:lstStyle/>
          <a:p>
            <a:pPr eaLnBrk="1" hangingPunct="1"/>
            <a:r>
              <a:rPr lang="en-US" sz="3600" dirty="0"/>
              <a:t>The Modulus Operator</a:t>
            </a:r>
            <a:endParaRPr lang="en-US" sz="3600" dirty="0"/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723265" y="2288540"/>
            <a:ext cx="5284470" cy="1586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r>
              <a:rPr lang="en-US" dirty="0"/>
              <a:t>For example, if we compute:</a:t>
            </a:r>
            <a:endParaRPr lang="en-US" dirty="0"/>
          </a:p>
          <a:p>
            <a:pPr eaLnBrk="1" hangingPunct="1"/>
            <a:r>
              <a:rPr lang="en-US" dirty="0" err="1">
                <a:solidFill>
                  <a:srgbClr val="6600CC"/>
                </a:solidFill>
              </a:rPr>
              <a:t>int</a:t>
            </a:r>
            <a:r>
              <a:rPr lang="en-US" dirty="0">
                <a:solidFill>
                  <a:srgbClr val="6600CC"/>
                </a:solidFill>
              </a:rPr>
              <a:t> x =  </a:t>
            </a:r>
            <a:r>
              <a:rPr lang="en-US" dirty="0">
                <a:solidFill>
                  <a:srgbClr val="FF0000"/>
                </a:solidFill>
              </a:rPr>
              <a:t>1234</a:t>
            </a:r>
            <a:r>
              <a:rPr lang="en-US" dirty="0">
                <a:solidFill>
                  <a:srgbClr val="6600CC"/>
                </a:solidFill>
              </a:rPr>
              <a:t> % </a:t>
            </a:r>
            <a:r>
              <a:rPr lang="en-US" dirty="0">
                <a:solidFill>
                  <a:srgbClr val="FF0000"/>
                </a:solidFill>
              </a:rPr>
              <a:t>100</a:t>
            </a:r>
            <a:r>
              <a:rPr lang="en-US" dirty="0">
                <a:solidFill>
                  <a:srgbClr val="6600CC"/>
                </a:solidFill>
              </a:rPr>
              <a:t>;</a:t>
            </a:r>
            <a:br>
              <a:rPr lang="en-US" dirty="0">
                <a:solidFill>
                  <a:srgbClr val="6600CC"/>
                </a:solidFill>
              </a:rPr>
            </a:br>
            <a:r>
              <a:rPr lang="en-US" dirty="0"/>
              <a:t>the value of x will be </a:t>
            </a:r>
            <a:r>
              <a:rPr lang="en-US" dirty="0">
                <a:solidFill>
                  <a:srgbClr val="FF0000"/>
                </a:solidFill>
              </a:rPr>
              <a:t>34</a:t>
            </a:r>
            <a:r>
              <a:rPr lang="en-US" dirty="0"/>
              <a:t>.</a:t>
            </a:r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5852696" y="2237969"/>
            <a:ext cx="2632392" cy="461665"/>
            <a:chOff x="4720915" y="5190614"/>
            <a:chExt cx="2632392" cy="461665"/>
          </a:xfrm>
        </p:grpSpPr>
        <p:sp>
          <p:nvSpPr>
            <p:cNvPr id="2" name="TextBox 1"/>
            <p:cNvSpPr txBox="1"/>
            <p:nvPr/>
          </p:nvSpPr>
          <p:spPr>
            <a:xfrm>
              <a:off x="4720915" y="5190614"/>
              <a:ext cx="6976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100</a:t>
              </a:r>
              <a:endParaRPr lang="en-US" dirty="0"/>
            </a:p>
          </p:txBody>
        </p:sp>
        <p:sp>
          <p:nvSpPr>
            <p:cNvPr id="3" name="Arc 2"/>
            <p:cNvSpPr/>
            <p:nvPr/>
          </p:nvSpPr>
          <p:spPr bwMode="auto">
            <a:xfrm>
              <a:off x="5305846" y="5221669"/>
              <a:ext cx="135907" cy="322517"/>
            </a:xfrm>
            <a:prstGeom prst="arc">
              <a:avLst>
                <a:gd name="adj1" fmla="val 16200000"/>
                <a:gd name="adj2" fmla="val 5258788"/>
              </a:avLst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cxnSp>
          <p:nvCxnSpPr>
            <p:cNvPr id="9" name="Straight Connector 8"/>
            <p:cNvCxnSpPr/>
            <p:nvPr/>
          </p:nvCxnSpPr>
          <p:spPr bwMode="auto">
            <a:xfrm>
              <a:off x="5393677" y="5221669"/>
              <a:ext cx="1959630" cy="0"/>
            </a:xfrm>
            <a:prstGeom prst="line">
              <a:avLst/>
            </a:prstGeom>
            <a:solidFill>
              <a:srgbClr val="E7F9BF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1" name="TextBox 20"/>
            <p:cNvSpPr txBox="1"/>
            <p:nvPr/>
          </p:nvSpPr>
          <p:spPr>
            <a:xfrm>
              <a:off x="5472448" y="5190614"/>
              <a:ext cx="88517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1234</a:t>
              </a:r>
              <a:endParaRPr lang="en-US" dirty="0"/>
            </a:p>
          </p:txBody>
        </p:sp>
      </p:grpSp>
      <p:sp>
        <p:nvSpPr>
          <p:cNvPr id="26" name="Rectangle 25"/>
          <p:cNvSpPr/>
          <p:nvPr/>
        </p:nvSpPr>
        <p:spPr>
          <a:xfrm>
            <a:off x="6578502" y="1827270"/>
            <a:ext cx="3225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6600CC"/>
                </a:solidFill>
              </a:rPr>
              <a:t>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595844" y="2558755"/>
            <a:ext cx="6976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6600CC"/>
                </a:solidFill>
              </a:rPr>
              <a:t>100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18" name="Straight Connector 17"/>
          <p:cNvCxnSpPr/>
          <p:nvPr/>
        </p:nvCxnSpPr>
        <p:spPr bwMode="auto">
          <a:xfrm>
            <a:off x="6670249" y="2979239"/>
            <a:ext cx="1814839" cy="0"/>
          </a:xfrm>
          <a:prstGeom prst="line">
            <a:avLst/>
          </a:prstGeom>
          <a:solidFill>
            <a:srgbClr val="E7F9BF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0" name="Rectangle 29"/>
          <p:cNvSpPr/>
          <p:nvPr/>
        </p:nvSpPr>
        <p:spPr>
          <a:xfrm>
            <a:off x="6726056" y="2956275"/>
            <a:ext cx="8386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6600CC"/>
                </a:solidFill>
              </a:rPr>
              <a:t>234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735872" y="1830585"/>
            <a:ext cx="3722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6600CC"/>
                </a:solidFill>
              </a:rPr>
              <a:t>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702149" y="3264130"/>
            <a:ext cx="7473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6600CC"/>
                </a:solidFill>
              </a:rPr>
              <a:t>200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35" name="Straight Connector 34"/>
          <p:cNvCxnSpPr/>
          <p:nvPr/>
        </p:nvCxnSpPr>
        <p:spPr bwMode="auto">
          <a:xfrm>
            <a:off x="6781758" y="3656222"/>
            <a:ext cx="1663574" cy="0"/>
          </a:xfrm>
          <a:prstGeom prst="line">
            <a:avLst/>
          </a:prstGeom>
          <a:solidFill>
            <a:srgbClr val="E7F9BF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Rectangle 37"/>
          <p:cNvSpPr/>
          <p:nvPr/>
        </p:nvSpPr>
        <p:spPr>
          <a:xfrm>
            <a:off x="6858204" y="3646283"/>
            <a:ext cx="5597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6600CC"/>
                </a:solidFill>
              </a:rPr>
              <a:t>34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6857481" y="3645032"/>
            <a:ext cx="5597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6600CC"/>
                </a:solidFill>
              </a:rPr>
              <a:t>34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046329" y="1835395"/>
            <a:ext cx="378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4696" y="862642"/>
            <a:ext cx="80646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C++, the </a:t>
            </a:r>
            <a:r>
              <a:rPr lang="en-US" dirty="0">
                <a:solidFill>
                  <a:srgbClr val="FF0000"/>
                </a:solidFill>
              </a:rPr>
              <a:t>% operator </a:t>
            </a:r>
            <a:r>
              <a:rPr lang="en-US" dirty="0"/>
              <a:t>is used to divide two numbers and obtain the </a:t>
            </a:r>
            <a:r>
              <a:rPr lang="en-US" dirty="0">
                <a:solidFill>
                  <a:srgbClr val="FF0000"/>
                </a:solidFill>
              </a:rPr>
              <a:t>remainder</a:t>
            </a:r>
            <a:r>
              <a:rPr lang="en-US" dirty="0"/>
              <a:t>.</a:t>
            </a:r>
            <a:endParaRPr lang="en-US" dirty="0"/>
          </a:p>
        </p:txBody>
      </p:sp>
      <p:sp>
        <p:nvSpPr>
          <p:cNvPr id="66" name="Text Box 4"/>
          <p:cNvSpPr txBox="1">
            <a:spLocks noChangeArrowheads="1"/>
          </p:cNvSpPr>
          <p:nvPr/>
        </p:nvSpPr>
        <p:spPr bwMode="auto">
          <a:xfrm>
            <a:off x="1093270" y="4428430"/>
            <a:ext cx="5502442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r>
              <a:rPr lang="en-US" sz="2200" dirty="0">
                <a:solidFill>
                  <a:srgbClr val="6600CC"/>
                </a:solidFill>
              </a:rPr>
              <a:t>Rule: </a:t>
            </a:r>
            <a:r>
              <a:rPr lang="en-US" sz="2200" dirty="0"/>
              <a:t>When you divide by a given value </a:t>
            </a:r>
            <a:r>
              <a:rPr lang="en-US" sz="2200" dirty="0">
                <a:solidFill>
                  <a:srgbClr val="FF0000"/>
                </a:solidFill>
              </a:rPr>
              <a:t>N</a:t>
            </a:r>
            <a:r>
              <a:rPr lang="en-US" sz="2200" dirty="0"/>
              <a:t>, all of your </a:t>
            </a:r>
            <a:r>
              <a:rPr lang="en-US" sz="2200" dirty="0">
                <a:solidFill>
                  <a:srgbClr val="FF0000"/>
                </a:solidFill>
              </a:rPr>
              <a:t>remainders</a:t>
            </a:r>
            <a:r>
              <a:rPr lang="en-US" sz="2200" dirty="0"/>
              <a:t> are guaranteed to be </a:t>
            </a:r>
            <a:r>
              <a:rPr lang="en-US" sz="2200" dirty="0">
                <a:solidFill>
                  <a:srgbClr val="FF0000"/>
                </a:solidFill>
              </a:rPr>
              <a:t>between 0 and N-1</a:t>
            </a:r>
            <a:r>
              <a:rPr lang="en-US" sz="2200" dirty="0"/>
              <a:t>!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fld id="{29DA878D-4106-4FC8-AE7C-6B2068E1037C}" type="slidenum">
              <a:rPr lang="en-US" sz="1400" smtClean="0">
                <a:solidFill>
                  <a:schemeClr val="tx1"/>
                </a:solidFill>
                <a:latin typeface="Times New Roman" panose="02020503050405090304" pitchFamily="18" charset="0"/>
              </a:rPr>
            </a:fld>
            <a:endParaRPr lang="en-US" sz="140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605838" cy="1143000"/>
          </a:xfrm>
        </p:spPr>
        <p:txBody>
          <a:bodyPr/>
          <a:lstStyle/>
          <a:p>
            <a:pPr eaLnBrk="1" hangingPunct="1"/>
            <a:r>
              <a:rPr lang="en-US" dirty="0"/>
              <a:t>The (Almost) Hash Table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4340" name="Text Box 3"/>
          <p:cNvSpPr txBox="1">
            <a:spLocks noChangeArrowheads="1"/>
          </p:cNvSpPr>
          <p:nvPr/>
        </p:nvSpPr>
        <p:spPr bwMode="auto">
          <a:xfrm>
            <a:off x="435129" y="1252490"/>
            <a:ext cx="829468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r>
              <a:rPr lang="en-US" dirty="0">
                <a:cs typeface="Courier New" panose="02070409020205090404" pitchFamily="49" charset="0"/>
              </a:rPr>
              <a:t>How can we create an ADT where we can insert the </a:t>
            </a:r>
            <a:br>
              <a:rPr lang="en-US" dirty="0">
                <a:cs typeface="Courier New" panose="02070409020205090404" pitchFamily="49" charset="0"/>
              </a:rPr>
            </a:br>
            <a:r>
              <a:rPr lang="en-US" dirty="0">
                <a:cs typeface="Courier New" panose="02070409020205090404" pitchFamily="49" charset="0"/>
              </a:rPr>
              <a:t>9-digit student ID#s for all 50,000 students…</a:t>
            </a:r>
            <a:endParaRPr lang="en-US" dirty="0"/>
          </a:p>
        </p:txBody>
      </p:sp>
      <p:sp>
        <p:nvSpPr>
          <p:cNvPr id="755717" name="Rectangle 5"/>
          <p:cNvSpPr>
            <a:spLocks noChangeArrowheads="1"/>
          </p:cNvSpPr>
          <p:nvPr/>
        </p:nvSpPr>
        <p:spPr bwMode="auto">
          <a:xfrm>
            <a:off x="681707" y="5182751"/>
            <a:ext cx="81593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  <a:cs typeface="Courier New" panose="02070409020205090404" pitchFamily="49" charset="0"/>
              </a:rPr>
              <a:t>Let’s use a </a:t>
            </a:r>
            <a:r>
              <a:rPr lang="en-US" dirty="0">
                <a:solidFill>
                  <a:srgbClr val="6600CC"/>
                </a:solidFill>
                <a:cs typeface="Courier New" panose="02070409020205090404" pitchFamily="49" charset="0"/>
              </a:rPr>
              <a:t>really, really large</a:t>
            </a:r>
            <a:r>
              <a:rPr lang="en-US" dirty="0">
                <a:solidFill>
                  <a:schemeClr val="tx1"/>
                </a:solidFill>
                <a:cs typeface="Courier New" panose="02070409020205090404" pitchFamily="49" charset="0"/>
              </a:rPr>
              <a:t> </a:t>
            </a:r>
            <a:r>
              <a:rPr lang="en-US" dirty="0">
                <a:solidFill>
                  <a:srgbClr val="6600CC"/>
                </a:solidFill>
                <a:cs typeface="Courier New" panose="02070409020205090404" pitchFamily="49" charset="0"/>
              </a:rPr>
              <a:t>array </a:t>
            </a:r>
            <a:r>
              <a:rPr lang="en-US" dirty="0">
                <a:solidFill>
                  <a:schemeClr val="tx1"/>
                </a:solidFill>
                <a:cs typeface="Courier New" panose="02070409020205090404" pitchFamily="49" charset="0"/>
              </a:rPr>
              <a:t>to hold our #s.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502805" y="3464646"/>
            <a:ext cx="81593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/>
                </a:solidFill>
                <a:cs typeface="Courier New" panose="02070409020205090404" pitchFamily="49" charset="0"/>
              </a:rPr>
              <a:t>That can’t be done… can it?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502805" y="4241455"/>
            <a:ext cx="81593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/>
                </a:solidFill>
                <a:cs typeface="Courier New" panose="02070409020205090404" pitchFamily="49" charset="0"/>
              </a:rPr>
              <a:t>It can, and let’s see how! </a:t>
            </a:r>
            <a:endParaRPr lang="en-US" dirty="0">
              <a:solidFill>
                <a:schemeClr val="accent6"/>
              </a:solidFill>
              <a:cs typeface="Courier New" panose="02070409020205090404" pitchFamily="49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94375" y="2264142"/>
            <a:ext cx="777619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dirty="0">
                <a:cs typeface="Courier New" panose="02070409020205090404" pitchFamily="49" charset="0"/>
              </a:rPr>
              <a:t>and then find if our ADT holds a given ID#</a:t>
            </a:r>
            <a:br>
              <a:rPr lang="en-US" dirty="0">
                <a:cs typeface="Courier New" panose="02070409020205090404" pitchFamily="49" charset="0"/>
              </a:rPr>
            </a:br>
            <a:r>
              <a:rPr lang="en-US" dirty="0">
                <a:cs typeface="Courier New" panose="02070409020205090404" pitchFamily="49" charset="0"/>
              </a:rPr>
              <a:t>in just </a:t>
            </a:r>
            <a:r>
              <a:rPr lang="en-US" dirty="0">
                <a:solidFill>
                  <a:srgbClr val="FF3300"/>
                </a:solidFill>
                <a:cs typeface="Courier New" panose="02070409020205090404" pitchFamily="49" charset="0"/>
              </a:rPr>
              <a:t>one </a:t>
            </a:r>
            <a:r>
              <a:rPr lang="en-US" dirty="0">
                <a:solidFill>
                  <a:srgbClr val="FF0000"/>
                </a:solidFill>
                <a:cs typeface="Courier New" panose="02070409020205090404" pitchFamily="49" charset="0"/>
              </a:rPr>
              <a:t>algorithmic</a:t>
            </a:r>
            <a:r>
              <a:rPr lang="en-US" dirty="0">
                <a:cs typeface="Courier New" panose="02070409020205090404" pitchFamily="49" charset="0"/>
              </a:rPr>
              <a:t> </a:t>
            </a:r>
            <a:r>
              <a:rPr lang="en-US" dirty="0">
                <a:solidFill>
                  <a:srgbClr val="FF3300"/>
                </a:solidFill>
                <a:cs typeface="Courier New" panose="02070409020205090404" pitchFamily="49" charset="0"/>
              </a:rPr>
              <a:t>step</a:t>
            </a:r>
            <a:r>
              <a:rPr lang="en-US" dirty="0">
                <a:cs typeface="Courier New" panose="02070409020205090404" pitchFamily="49" charset="0"/>
              </a:rPr>
              <a:t>?!?!?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6542118" y="4644585"/>
            <a:ext cx="2400710" cy="2024042"/>
            <a:chOff x="6530333" y="4308700"/>
            <a:chExt cx="2120474" cy="1657608"/>
          </a:xfrm>
        </p:grpSpPr>
        <p:grpSp>
          <p:nvGrpSpPr>
            <p:cNvPr id="13" name="Group 12"/>
            <p:cNvGrpSpPr/>
            <p:nvPr/>
          </p:nvGrpSpPr>
          <p:grpSpPr>
            <a:xfrm>
              <a:off x="6530333" y="4595404"/>
              <a:ext cx="1974877" cy="1370904"/>
              <a:chOff x="6857117" y="1178628"/>
              <a:chExt cx="1974877" cy="1370904"/>
            </a:xfrm>
          </p:grpSpPr>
          <p:sp>
            <p:nvSpPr>
              <p:cNvPr id="14" name="Rectangle 13"/>
              <p:cNvSpPr/>
              <p:nvPr/>
            </p:nvSpPr>
            <p:spPr bwMode="auto">
              <a:xfrm>
                <a:off x="8038176" y="1267789"/>
                <a:ext cx="793818" cy="76007"/>
              </a:xfrm>
              <a:prstGeom prst="rect">
                <a:avLst/>
              </a:prstGeom>
              <a:solidFill>
                <a:srgbClr val="E7F9B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6964506" y="1178628"/>
                <a:ext cx="1117416" cy="4284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000,000,000</a:t>
                </a:r>
                <a:endParaRPr lang="en-US" sz="1400" dirty="0"/>
              </a:p>
              <a:p>
                <a:endParaRPr lang="en-US" sz="1400" dirty="0"/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6857117" y="1188428"/>
                <a:ext cx="1232102" cy="13611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US" sz="1400" dirty="0"/>
              </a:p>
              <a:p>
                <a:endParaRPr lang="en-US" sz="1600" dirty="0"/>
              </a:p>
              <a:p>
                <a:r>
                  <a:rPr lang="en-US" sz="1400" dirty="0"/>
                  <a:t>  000,001,234</a:t>
                </a:r>
                <a:endParaRPr lang="en-US" sz="1400" dirty="0"/>
              </a:p>
              <a:p>
                <a:endParaRPr lang="en-US" sz="1400" dirty="0"/>
              </a:p>
              <a:p>
                <a:r>
                  <a:rPr lang="en-US" sz="1400" dirty="0"/>
                  <a:t>400,683,948</a:t>
                </a:r>
                <a:endParaRPr lang="en-US" sz="1400" dirty="0"/>
              </a:p>
              <a:p>
                <a:endParaRPr lang="en-US" sz="1400" dirty="0"/>
              </a:p>
              <a:p>
                <a:endParaRPr lang="en-US" sz="200" dirty="0"/>
              </a:p>
              <a:p>
                <a:r>
                  <a:rPr lang="en-US" sz="1400" dirty="0"/>
                  <a:t> 999,999,999</a:t>
                </a:r>
                <a:endParaRPr lang="en-US" sz="1400" dirty="0"/>
              </a:p>
            </p:txBody>
          </p:sp>
          <p:sp>
            <p:nvSpPr>
              <p:cNvPr id="17" name="Rectangle 16"/>
              <p:cNvSpPr/>
              <p:nvPr/>
            </p:nvSpPr>
            <p:spPr bwMode="auto">
              <a:xfrm>
                <a:off x="8038176" y="1339805"/>
                <a:ext cx="793818" cy="76007"/>
              </a:xfrm>
              <a:prstGeom prst="rect">
                <a:avLst/>
              </a:prstGeom>
              <a:solidFill>
                <a:srgbClr val="E7F9B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18" name="Rectangle 17"/>
              <p:cNvSpPr/>
              <p:nvPr/>
            </p:nvSpPr>
            <p:spPr bwMode="auto">
              <a:xfrm>
                <a:off x="8038176" y="1420189"/>
                <a:ext cx="793818" cy="76007"/>
              </a:xfrm>
              <a:prstGeom prst="rect">
                <a:avLst/>
              </a:prstGeom>
              <a:solidFill>
                <a:srgbClr val="E7F9B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19" name="Rectangle 18"/>
              <p:cNvSpPr/>
              <p:nvPr/>
            </p:nvSpPr>
            <p:spPr bwMode="auto">
              <a:xfrm>
                <a:off x="8038176" y="1492205"/>
                <a:ext cx="793818" cy="76007"/>
              </a:xfrm>
              <a:prstGeom prst="rect">
                <a:avLst/>
              </a:prstGeom>
              <a:solidFill>
                <a:srgbClr val="E7F9B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20" name="Rectangle 19"/>
              <p:cNvSpPr/>
              <p:nvPr/>
            </p:nvSpPr>
            <p:spPr bwMode="auto">
              <a:xfrm>
                <a:off x="8038176" y="1566532"/>
                <a:ext cx="793818" cy="76007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dirty="0"/>
                  <a:t>…</a:t>
                </a:r>
                <a:br>
                  <a:rPr lang="en-US" dirty="0"/>
                </a:br>
                <a:endParaRPr kumimoji="0" lang="en-US" sz="1200" b="0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21" name="Rectangle 20"/>
              <p:cNvSpPr/>
              <p:nvPr/>
            </p:nvSpPr>
            <p:spPr bwMode="auto">
              <a:xfrm>
                <a:off x="8038176" y="1638548"/>
                <a:ext cx="793818" cy="76007"/>
              </a:xfrm>
              <a:prstGeom prst="rect">
                <a:avLst/>
              </a:prstGeom>
              <a:solidFill>
                <a:srgbClr val="E7F9B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22" name="Rectangle 21"/>
              <p:cNvSpPr/>
              <p:nvPr/>
            </p:nvSpPr>
            <p:spPr bwMode="auto">
              <a:xfrm>
                <a:off x="8038176" y="1708884"/>
                <a:ext cx="793818" cy="76007"/>
              </a:xfrm>
              <a:prstGeom prst="rect">
                <a:avLst/>
              </a:prstGeom>
              <a:solidFill>
                <a:srgbClr val="E7F9B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23" name="Rectangle 22"/>
              <p:cNvSpPr/>
              <p:nvPr/>
            </p:nvSpPr>
            <p:spPr bwMode="auto">
              <a:xfrm>
                <a:off x="8038176" y="1780900"/>
                <a:ext cx="793818" cy="76007"/>
              </a:xfrm>
              <a:prstGeom prst="rect">
                <a:avLst/>
              </a:prstGeom>
              <a:solidFill>
                <a:srgbClr val="E7F9B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24" name="Rectangle 23"/>
              <p:cNvSpPr/>
              <p:nvPr/>
            </p:nvSpPr>
            <p:spPr bwMode="auto">
              <a:xfrm>
                <a:off x="8038176" y="1856907"/>
                <a:ext cx="793818" cy="76007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2"/>
                    </a:solidFill>
                    <a:effectLst/>
                    <a:latin typeface="Comic Sans MS" panose="030F0902030302020204" pitchFamily="66" charset="0"/>
                    <a:cs typeface="Times New Roman" panose="02020503050405090304" pitchFamily="18" charset="0"/>
                  </a:rPr>
                  <a:t>…</a:t>
                </a:r>
                <a:br>
                  <a: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2"/>
                    </a:solidFill>
                    <a:effectLst/>
                    <a:latin typeface="Comic Sans MS" panose="030F0902030302020204" pitchFamily="66" charset="0"/>
                    <a:cs typeface="Times New Roman" panose="02020503050405090304" pitchFamily="18" charset="0"/>
                  </a:rPr>
                </a:br>
                <a:endPara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25" name="Rectangle 24"/>
              <p:cNvSpPr/>
              <p:nvPr/>
            </p:nvSpPr>
            <p:spPr bwMode="auto">
              <a:xfrm>
                <a:off x="8038176" y="1928923"/>
                <a:ext cx="793818" cy="76007"/>
              </a:xfrm>
              <a:prstGeom prst="rect">
                <a:avLst/>
              </a:prstGeom>
              <a:solidFill>
                <a:srgbClr val="E7F9B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26" name="Rectangle 25"/>
              <p:cNvSpPr/>
              <p:nvPr/>
            </p:nvSpPr>
            <p:spPr bwMode="auto">
              <a:xfrm>
                <a:off x="8038176" y="1999259"/>
                <a:ext cx="793818" cy="76007"/>
              </a:xfrm>
              <a:prstGeom prst="rect">
                <a:avLst/>
              </a:prstGeom>
              <a:solidFill>
                <a:srgbClr val="E7F9B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27" name="Rectangle 26"/>
              <p:cNvSpPr/>
              <p:nvPr/>
            </p:nvSpPr>
            <p:spPr bwMode="auto">
              <a:xfrm>
                <a:off x="8038176" y="2071275"/>
                <a:ext cx="793818" cy="76007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dirty="0"/>
                  <a:t>...</a:t>
                </a:r>
                <a:br>
                  <a:rPr lang="en-US" dirty="0"/>
                </a:br>
                <a:endParaRPr kumimoji="0" lang="en-US" sz="1200" b="0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28" name="Rectangle 27"/>
              <p:cNvSpPr/>
              <p:nvPr/>
            </p:nvSpPr>
            <p:spPr bwMode="auto">
              <a:xfrm>
                <a:off x="8038176" y="2145602"/>
                <a:ext cx="793818" cy="76007"/>
              </a:xfrm>
              <a:prstGeom prst="rect">
                <a:avLst/>
              </a:prstGeom>
              <a:solidFill>
                <a:srgbClr val="E7F9B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29" name="Rectangle 28"/>
              <p:cNvSpPr/>
              <p:nvPr/>
            </p:nvSpPr>
            <p:spPr bwMode="auto">
              <a:xfrm>
                <a:off x="8038176" y="2217618"/>
                <a:ext cx="793818" cy="76007"/>
              </a:xfrm>
              <a:prstGeom prst="rect">
                <a:avLst/>
              </a:prstGeom>
              <a:solidFill>
                <a:srgbClr val="E7F9B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30" name="Rectangle 29"/>
              <p:cNvSpPr/>
              <p:nvPr/>
            </p:nvSpPr>
            <p:spPr bwMode="auto">
              <a:xfrm>
                <a:off x="8038176" y="2287954"/>
                <a:ext cx="793818" cy="76007"/>
              </a:xfrm>
              <a:prstGeom prst="rect">
                <a:avLst/>
              </a:prstGeom>
              <a:solidFill>
                <a:srgbClr val="E7F9B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31" name="Rectangle 30"/>
              <p:cNvSpPr/>
              <p:nvPr/>
            </p:nvSpPr>
            <p:spPr bwMode="auto">
              <a:xfrm>
                <a:off x="8038176" y="2359970"/>
                <a:ext cx="793818" cy="76007"/>
              </a:xfrm>
              <a:prstGeom prst="rect">
                <a:avLst/>
              </a:prstGeom>
              <a:solidFill>
                <a:srgbClr val="E7F9B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</p:grpSp>
        <p:sp>
          <p:nvSpPr>
            <p:cNvPr id="7" name="TextBox 6"/>
            <p:cNvSpPr txBox="1"/>
            <p:nvPr/>
          </p:nvSpPr>
          <p:spPr>
            <a:xfrm>
              <a:off x="7563650" y="4308700"/>
              <a:ext cx="10871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 err="1">
                  <a:solidFill>
                    <a:srgbClr val="6600CC"/>
                  </a:solidFill>
                </a:rPr>
                <a:t>m_array</a:t>
              </a:r>
              <a:endParaRPr lang="en-US" sz="1800" dirty="0">
                <a:solidFill>
                  <a:srgbClr val="6600CC"/>
                </a:solidFill>
              </a:endParaRPr>
            </a:p>
          </p:txBody>
        </p:sp>
      </p:grpSp>
      <p:sp>
        <p:nvSpPr>
          <p:cNvPr id="44" name="Text Box 3"/>
          <p:cNvSpPr txBox="1">
            <a:spLocks noChangeArrowheads="1"/>
          </p:cNvSpPr>
          <p:nvPr/>
        </p:nvSpPr>
        <p:spPr bwMode="auto">
          <a:xfrm>
            <a:off x="276018" y="730887"/>
            <a:ext cx="5098685" cy="6124754"/>
          </a:xfrm>
          <a:prstGeom prst="rect">
            <a:avLst/>
          </a:prstGeom>
          <a:solidFill>
            <a:srgbClr val="FFFF99"/>
          </a:solidFill>
          <a:ln w="41275">
            <a:solidFill>
              <a:schemeClr val="tx1"/>
            </a:solidFill>
            <a:miter lim="800000"/>
          </a:ln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l" eaLnBrk="1" hangingPunct="1"/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class </a:t>
            </a:r>
            <a:r>
              <a:rPr lang="en-US" sz="1900" b="1" dirty="0" err="1">
                <a:solidFill>
                  <a:srgbClr val="6600CC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AlmostHashTable</a:t>
            </a:r>
            <a:endParaRPr lang="en-US" sz="1900" b="1" dirty="0">
              <a:solidFill>
                <a:srgbClr val="6600CC"/>
              </a:solidFill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400" b="1" dirty="0">
                <a:latin typeface="Courier New" panose="02070409020205090404" pitchFamily="49" charset="0"/>
                <a:cs typeface="Courier New" panose="02070409020205090404" pitchFamily="49" charset="0"/>
              </a:rPr>
              <a:t>{</a:t>
            </a:r>
            <a:endParaRPr lang="en-US" sz="14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900" b="1" dirty="0">
                <a:solidFill>
                  <a:schemeClr val="tx1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public:</a:t>
            </a:r>
            <a:endParaRPr lang="en-US" sz="1900" b="1" dirty="0">
              <a:solidFill>
                <a:schemeClr val="tx1"/>
              </a:solidFill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void </a:t>
            </a:r>
            <a:r>
              <a:rPr lang="en-US" sz="1900" b="1" dirty="0" err="1">
                <a:solidFill>
                  <a:srgbClr val="006666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addItem</a:t>
            </a: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(</a:t>
            </a:r>
            <a:r>
              <a:rPr lang="en-US" sz="1900" b="1" dirty="0" err="1">
                <a:latin typeface="Courier New" panose="02070409020205090404" pitchFamily="49" charset="0"/>
                <a:cs typeface="Courier New" panose="02070409020205090404" pitchFamily="49" charset="0"/>
              </a:rPr>
              <a:t>int</a:t>
            </a: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r>
              <a:rPr lang="en-US" sz="1900" b="1" dirty="0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n</a:t>
            </a: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)</a:t>
            </a:r>
            <a:endParaRPr lang="en-US" sz="19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4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{ </a:t>
            </a:r>
            <a:endParaRPr lang="en-US" sz="14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  </a:t>
            </a:r>
            <a:r>
              <a:rPr lang="en-US" sz="1900" b="1" dirty="0" err="1">
                <a:latin typeface="Courier New" panose="02070409020205090404" pitchFamily="49" charset="0"/>
                <a:cs typeface="Courier New" panose="02070409020205090404" pitchFamily="49" charset="0"/>
              </a:rPr>
              <a:t>m_array</a:t>
            </a: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[</a:t>
            </a:r>
            <a:r>
              <a:rPr lang="en-US" sz="1900" b="1" dirty="0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n</a:t>
            </a: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] = </a:t>
            </a:r>
            <a:r>
              <a:rPr lang="en-US" sz="1900" b="1" dirty="0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true</a:t>
            </a: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;</a:t>
            </a:r>
            <a:endParaRPr lang="en-US" sz="19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4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}  </a:t>
            </a:r>
            <a:br>
              <a:rPr lang="en-US" sz="1400" b="1" dirty="0">
                <a:latin typeface="Courier New" panose="02070409020205090404" pitchFamily="49" charset="0"/>
                <a:cs typeface="Courier New" panose="02070409020205090404" pitchFamily="49" charset="0"/>
              </a:rPr>
            </a:br>
            <a:endParaRPr lang="en-US" sz="14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endParaRPr lang="en-US" sz="1900" b="1" dirty="0">
              <a:solidFill>
                <a:schemeClr val="tx1"/>
              </a:solidFill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endParaRPr lang="en-US" sz="1900" b="1" dirty="0">
              <a:solidFill>
                <a:schemeClr val="tx1"/>
              </a:solidFill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endParaRPr lang="en-US" sz="1900" b="1" dirty="0">
              <a:solidFill>
                <a:schemeClr val="tx1"/>
              </a:solidFill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900" b="1" dirty="0">
                <a:solidFill>
                  <a:schemeClr val="tx1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private:</a:t>
            </a:r>
            <a:endParaRPr lang="en-US" sz="1900" b="1" dirty="0">
              <a:solidFill>
                <a:schemeClr val="tx1"/>
              </a:solidFill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</a:t>
            </a:r>
            <a:r>
              <a:rPr lang="en-US" sz="1900" b="1" dirty="0" err="1">
                <a:latin typeface="Courier New" panose="02070409020205090404" pitchFamily="49" charset="0"/>
                <a:cs typeface="Courier New" panose="02070409020205090404" pitchFamily="49" charset="0"/>
              </a:rPr>
              <a:t>bool</a:t>
            </a: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r>
              <a:rPr lang="en-US" sz="1900" b="1" dirty="0" err="1">
                <a:latin typeface="Courier New" panose="02070409020205090404" pitchFamily="49" charset="0"/>
                <a:cs typeface="Courier New" panose="02070409020205090404" pitchFamily="49" charset="0"/>
              </a:rPr>
              <a:t>m_array</a:t>
            </a: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[</a:t>
            </a:r>
            <a:r>
              <a:rPr lang="en-US" sz="1900" b="1" dirty="0">
                <a:solidFill>
                  <a:srgbClr val="FF33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100000000</a:t>
            </a: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]; </a:t>
            </a:r>
            <a:r>
              <a:rPr lang="en-US" sz="1400" b="1" dirty="0">
                <a:latin typeface="Courier New" panose="02070409020205090404" pitchFamily="49" charset="0"/>
                <a:cs typeface="Courier New" panose="02070409020205090404" pitchFamily="49" charset="0"/>
              </a:rPr>
              <a:t>// big!</a:t>
            </a:r>
            <a:endParaRPr lang="en-US" sz="14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400" b="1" dirty="0">
                <a:latin typeface="Courier New" panose="02070409020205090404" pitchFamily="49" charset="0"/>
                <a:cs typeface="Courier New" panose="02070409020205090404" pitchFamily="49" charset="0"/>
              </a:rPr>
              <a:t>};</a:t>
            </a:r>
            <a:endParaRPr lang="en-US" sz="14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endParaRPr lang="en-US" sz="11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900" b="1" dirty="0" err="1">
                <a:latin typeface="Courier New" panose="02070409020205090404" pitchFamily="49" charset="0"/>
                <a:cs typeface="Courier New" panose="02070409020205090404" pitchFamily="49" charset="0"/>
              </a:rPr>
              <a:t>int</a:t>
            </a: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main()</a:t>
            </a:r>
            <a:endParaRPr lang="en-US" sz="19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400" b="1" dirty="0">
                <a:latin typeface="Courier New" panose="02070409020205090404" pitchFamily="49" charset="0"/>
                <a:cs typeface="Courier New" panose="02070409020205090404" pitchFamily="49" charset="0"/>
              </a:rPr>
              <a:t>{</a:t>
            </a:r>
            <a:endParaRPr lang="en-US" sz="14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</a:t>
            </a:r>
            <a:r>
              <a:rPr lang="en-US" sz="1900" b="1" dirty="0" err="1">
                <a:solidFill>
                  <a:srgbClr val="6600CC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AlmostHashTable</a:t>
            </a:r>
            <a:r>
              <a:rPr lang="en-US" sz="1900" b="1" dirty="0">
                <a:solidFill>
                  <a:srgbClr val="6600CC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x;</a:t>
            </a:r>
            <a:endParaRPr lang="en-US" sz="19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2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</a:t>
            </a:r>
            <a:br>
              <a:rPr lang="en-US" sz="1200" b="1" dirty="0">
                <a:latin typeface="Courier New" panose="02070409020205090404" pitchFamily="49" charset="0"/>
                <a:cs typeface="Courier New" panose="02070409020205090404" pitchFamily="49" charset="0"/>
              </a:rPr>
            </a:b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</a:t>
            </a:r>
            <a:r>
              <a:rPr lang="en-US" sz="1900" b="1" dirty="0" err="1">
                <a:latin typeface="Courier New" panose="02070409020205090404" pitchFamily="49" charset="0"/>
                <a:cs typeface="Courier New" panose="02070409020205090404" pitchFamily="49" charset="0"/>
              </a:rPr>
              <a:t>x.</a:t>
            </a:r>
            <a:r>
              <a:rPr lang="en-US" sz="1900" b="1" dirty="0" err="1">
                <a:solidFill>
                  <a:srgbClr val="006666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addItem</a:t>
            </a: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(400683948);</a:t>
            </a:r>
            <a:endParaRPr lang="en-US" sz="19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endParaRPr lang="en-US" sz="19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endParaRPr lang="en-US" sz="19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400" b="1" dirty="0">
                <a:latin typeface="Courier New" panose="02070409020205090404" pitchFamily="49" charset="0"/>
                <a:cs typeface="Courier New" panose="02070409020205090404" pitchFamily="49" charset="0"/>
              </a:rPr>
              <a:t>}</a:t>
            </a:r>
            <a:endParaRPr lang="en-US" sz="14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</p:txBody>
      </p:sp>
      <p:sp>
        <p:nvSpPr>
          <p:cNvPr id="1536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fld id="{08243735-6E96-4E76-8383-4FA4640D169A}" type="slidenum">
              <a:rPr lang="en-US" sz="1400" smtClean="0">
                <a:solidFill>
                  <a:schemeClr val="tx1"/>
                </a:solidFill>
                <a:latin typeface="Times New Roman" panose="02020503050405090304" pitchFamily="18" charset="0"/>
              </a:rPr>
            </a:fld>
            <a:endParaRPr lang="en-US" sz="140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423863" y="-211110"/>
            <a:ext cx="8437562" cy="1143000"/>
          </a:xfrm>
          <a:noFill/>
        </p:spPr>
        <p:txBody>
          <a:bodyPr/>
          <a:lstStyle/>
          <a:p>
            <a:pPr eaLnBrk="1" hangingPunct="1"/>
            <a:r>
              <a:rPr lang="en-US" sz="3200" dirty="0"/>
              <a:t>The (Almost) Hash Table</a:t>
            </a:r>
            <a:endParaRPr lang="en-US" sz="3200" dirty="0">
              <a:solidFill>
                <a:schemeClr val="accent2"/>
              </a:solidFill>
            </a:endParaRPr>
          </a:p>
        </p:txBody>
      </p:sp>
      <p:sp>
        <p:nvSpPr>
          <p:cNvPr id="15366" name="Text Box 5"/>
          <p:cNvSpPr txBox="1">
            <a:spLocks noChangeArrowheads="1"/>
          </p:cNvSpPr>
          <p:nvPr/>
        </p:nvSpPr>
        <p:spPr bwMode="auto">
          <a:xfrm>
            <a:off x="5374704" y="628688"/>
            <a:ext cx="3397969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r>
              <a:rPr lang="en-US" sz="2000" dirty="0">
                <a:solidFill>
                  <a:schemeClr val="accent2"/>
                </a:solidFill>
              </a:rPr>
              <a:t>Idea</a:t>
            </a:r>
            <a:r>
              <a:rPr lang="en-US" sz="2000" dirty="0"/>
              <a:t>: </a:t>
            </a:r>
            <a:br>
              <a:rPr lang="en-US" sz="2000" dirty="0"/>
            </a:br>
            <a:r>
              <a:rPr lang="en-US" sz="2000" dirty="0"/>
              <a:t>Let’s create an array with </a:t>
            </a:r>
            <a:br>
              <a:rPr lang="en-US" sz="2000" dirty="0"/>
            </a:br>
            <a:r>
              <a:rPr lang="en-US" sz="2000" dirty="0">
                <a:solidFill>
                  <a:srgbClr val="FF0000"/>
                </a:solidFill>
              </a:rPr>
              <a:t>1 billion slots </a:t>
            </a:r>
            <a:r>
              <a:rPr lang="en-US" sz="2000" dirty="0">
                <a:solidFill>
                  <a:schemeClr val="tx1"/>
                </a:solidFill>
              </a:rPr>
              <a:t>- one slot for each valid ID#.</a:t>
            </a:r>
            <a:endParaRPr lang="en-US" sz="2000" dirty="0">
              <a:solidFill>
                <a:schemeClr val="tx1"/>
              </a:solidFill>
            </a:endParaRPr>
          </a:p>
          <a:p>
            <a:pPr eaLnBrk="1" hangingPunct="1"/>
            <a:endParaRPr lang="en-US" sz="1400" dirty="0">
              <a:solidFill>
                <a:srgbClr val="FF0000"/>
              </a:solidFill>
            </a:endParaRPr>
          </a:p>
          <a:p>
            <a:pPr eaLnBrk="1" hangingPunct="1"/>
            <a:r>
              <a:rPr lang="en-US" sz="2000" dirty="0"/>
              <a:t>To </a:t>
            </a:r>
            <a:r>
              <a:rPr lang="en-US" sz="2000" dirty="0">
                <a:solidFill>
                  <a:srgbClr val="FF0000"/>
                </a:solidFill>
              </a:rPr>
              <a:t>add a new ID# </a:t>
            </a:r>
            <a:r>
              <a:rPr lang="en-US" sz="2000" dirty="0"/>
              <a:t>with a value of </a:t>
            </a:r>
            <a:r>
              <a:rPr lang="en-US" sz="2000" dirty="0">
                <a:solidFill>
                  <a:srgbClr val="6600CC"/>
                </a:solidFill>
              </a:rPr>
              <a:t>N</a:t>
            </a:r>
            <a:r>
              <a:rPr lang="en-US" sz="2000" dirty="0"/>
              <a:t>, we’ll simply set </a:t>
            </a:r>
            <a:r>
              <a:rPr lang="en-US" sz="2000" dirty="0">
                <a:solidFill>
                  <a:srgbClr val="006666"/>
                </a:solidFill>
              </a:rPr>
              <a:t>array</a:t>
            </a:r>
            <a:r>
              <a:rPr lang="en-US" sz="2000" dirty="0"/>
              <a:t>[</a:t>
            </a:r>
            <a:r>
              <a:rPr lang="en-US" sz="2000" dirty="0">
                <a:solidFill>
                  <a:srgbClr val="6600CC"/>
                </a:solidFill>
              </a:rPr>
              <a:t>N</a:t>
            </a:r>
            <a:r>
              <a:rPr lang="en-US" sz="2000" dirty="0"/>
              <a:t>] to true.</a:t>
            </a:r>
            <a:endParaRPr lang="en-US" sz="2000" dirty="0"/>
          </a:p>
          <a:p>
            <a:pPr eaLnBrk="1" hangingPunct="1"/>
            <a:endParaRPr lang="en-US" sz="1600" dirty="0"/>
          </a:p>
          <a:p>
            <a:pPr eaLnBrk="1" hangingPunct="1"/>
            <a:r>
              <a:rPr lang="en-US" sz="2000" dirty="0"/>
              <a:t>To determine if our array </a:t>
            </a:r>
            <a:r>
              <a:rPr lang="en-US" sz="2000" dirty="0">
                <a:solidFill>
                  <a:srgbClr val="FF0000"/>
                </a:solidFill>
              </a:rPr>
              <a:t>holds a previously-added </a:t>
            </a:r>
            <a:br>
              <a:rPr lang="en-US" sz="2000" dirty="0">
                <a:solidFill>
                  <a:srgbClr val="FF0000"/>
                </a:solidFill>
              </a:rPr>
            </a:br>
            <a:r>
              <a:rPr lang="en-US" sz="2000" dirty="0">
                <a:solidFill>
                  <a:srgbClr val="FF0000"/>
                </a:solidFill>
              </a:rPr>
              <a:t>value </a:t>
            </a:r>
            <a:r>
              <a:rPr lang="en-US" sz="2000" dirty="0">
                <a:solidFill>
                  <a:srgbClr val="6600CC"/>
                </a:solidFill>
              </a:rPr>
              <a:t>Q</a:t>
            </a:r>
            <a:r>
              <a:rPr lang="en-US" sz="2000" dirty="0"/>
              <a:t>, simply check if </a:t>
            </a:r>
            <a:r>
              <a:rPr lang="en-US" sz="2000" dirty="0">
                <a:solidFill>
                  <a:srgbClr val="006666"/>
                </a:solidFill>
              </a:rPr>
              <a:t>array</a:t>
            </a:r>
            <a:r>
              <a:rPr lang="en-US" sz="2000" dirty="0"/>
              <a:t>[</a:t>
            </a:r>
            <a:r>
              <a:rPr lang="en-US" sz="2000" dirty="0">
                <a:solidFill>
                  <a:srgbClr val="6600CC"/>
                </a:solidFill>
              </a:rPr>
              <a:t>Q</a:t>
            </a:r>
            <a:r>
              <a:rPr lang="en-US" sz="2000" dirty="0"/>
              <a:t>] is true.</a:t>
            </a:r>
            <a:endParaRPr lang="en-US" sz="2000" dirty="0"/>
          </a:p>
        </p:txBody>
      </p:sp>
      <p:grpSp>
        <p:nvGrpSpPr>
          <p:cNvPr id="6" name="Group 5"/>
          <p:cNvGrpSpPr/>
          <p:nvPr/>
        </p:nvGrpSpPr>
        <p:grpSpPr>
          <a:xfrm>
            <a:off x="7879267" y="5935679"/>
            <a:ext cx="898728" cy="184666"/>
            <a:chOff x="9502285" y="3093349"/>
            <a:chExt cx="898728" cy="184666"/>
          </a:xfrm>
        </p:grpSpPr>
        <p:sp>
          <p:nvSpPr>
            <p:cNvPr id="38" name="Rectangle 37"/>
            <p:cNvSpPr/>
            <p:nvPr/>
          </p:nvSpPr>
          <p:spPr bwMode="auto">
            <a:xfrm>
              <a:off x="9502285" y="3144944"/>
              <a:ext cx="898728" cy="102244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9703197" y="3093349"/>
              <a:ext cx="389850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" dirty="0"/>
                <a:t>TRUE</a:t>
              </a:r>
              <a:endParaRPr lang="en-US" sz="600" dirty="0"/>
            </a:p>
          </p:txBody>
        </p:sp>
      </p:grpSp>
      <p:sp>
        <p:nvSpPr>
          <p:cNvPr id="3" name="Rectangle 2"/>
          <p:cNvSpPr/>
          <p:nvPr/>
        </p:nvSpPr>
        <p:spPr>
          <a:xfrm>
            <a:off x="437517" y="2557968"/>
            <a:ext cx="5670974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eaLnBrk="1" hangingPunct="1"/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r>
              <a:rPr lang="en-US" sz="1900" b="1" dirty="0" err="1">
                <a:latin typeface="Courier New" panose="02070409020205090404" pitchFamily="49" charset="0"/>
                <a:cs typeface="Courier New" panose="02070409020205090404" pitchFamily="49" charset="0"/>
              </a:rPr>
              <a:t>bool</a:t>
            </a: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r>
              <a:rPr lang="en-US" sz="1900" b="1" dirty="0" err="1">
                <a:solidFill>
                  <a:srgbClr val="006666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holdsItem</a:t>
            </a: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(</a:t>
            </a:r>
            <a:r>
              <a:rPr lang="en-US" sz="1900" b="1" dirty="0" err="1">
                <a:latin typeface="Courier New" panose="02070409020205090404" pitchFamily="49" charset="0"/>
                <a:cs typeface="Courier New" panose="02070409020205090404" pitchFamily="49" charset="0"/>
              </a:rPr>
              <a:t>int</a:t>
            </a: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r>
              <a:rPr lang="en-US" sz="1900" b="1" dirty="0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q</a:t>
            </a: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)</a:t>
            </a:r>
            <a:endParaRPr lang="en-US" sz="19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400" b="1" dirty="0">
                <a:latin typeface="Courier New" panose="02070409020205090404" pitchFamily="49" charset="0"/>
                <a:cs typeface="Courier New" panose="02070409020205090404" pitchFamily="49" charset="0"/>
              </a:rPr>
              <a:t> { </a:t>
            </a:r>
            <a:endParaRPr lang="en-US" sz="14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return </a:t>
            </a:r>
            <a:r>
              <a:rPr lang="en-US" sz="1900" b="1" dirty="0" err="1">
                <a:latin typeface="Courier New" panose="02070409020205090404" pitchFamily="49" charset="0"/>
                <a:cs typeface="Courier New" panose="02070409020205090404" pitchFamily="49" charset="0"/>
              </a:rPr>
              <a:t>m_array</a:t>
            </a: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[</a:t>
            </a:r>
            <a:r>
              <a:rPr lang="en-US" sz="1900" b="1" dirty="0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q</a:t>
            </a: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]</a:t>
            </a:r>
            <a:r>
              <a:rPr lang="en-US" sz="1000" b="1" dirty="0"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==</a:t>
            </a:r>
            <a:r>
              <a:rPr lang="en-US" sz="1400" b="1" dirty="0"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r>
              <a:rPr lang="en-US" sz="1900" b="1" dirty="0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true</a:t>
            </a: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;</a:t>
            </a:r>
            <a:endParaRPr lang="en-US" sz="19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400" b="1" dirty="0">
                <a:latin typeface="Courier New" panose="02070409020205090404" pitchFamily="49" charset="0"/>
                <a:cs typeface="Courier New" panose="02070409020205090404" pitchFamily="49" charset="0"/>
              </a:rPr>
              <a:t> }  </a:t>
            </a:r>
            <a:endParaRPr lang="en-US" sz="1400" dirty="0"/>
          </a:p>
        </p:txBody>
      </p:sp>
      <p:sp>
        <p:nvSpPr>
          <p:cNvPr id="45" name="Text Box 3"/>
          <p:cNvSpPr txBox="1">
            <a:spLocks noChangeArrowheads="1"/>
          </p:cNvSpPr>
          <p:nvPr/>
        </p:nvSpPr>
        <p:spPr bwMode="auto">
          <a:xfrm>
            <a:off x="377108" y="5860269"/>
            <a:ext cx="5985978" cy="677108"/>
          </a:xfrm>
          <a:prstGeom prst="rect">
            <a:avLst/>
          </a:prstGeom>
          <a:noFill/>
          <a:ln w="41275">
            <a:noFill/>
            <a:miter lim="800000"/>
          </a:ln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l" eaLnBrk="1" hangingPunct="1"/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if (</a:t>
            </a:r>
            <a:r>
              <a:rPr lang="en-US" sz="1900" b="1" dirty="0" err="1">
                <a:latin typeface="Courier New" panose="02070409020205090404" pitchFamily="49" charset="0"/>
                <a:cs typeface="Courier New" panose="02070409020205090404" pitchFamily="49" charset="0"/>
              </a:rPr>
              <a:t>x.</a:t>
            </a:r>
            <a:r>
              <a:rPr lang="en-US" sz="1900" b="1" dirty="0" err="1">
                <a:solidFill>
                  <a:srgbClr val="006666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holdsItem</a:t>
            </a: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(1234)</a:t>
            </a:r>
            <a:r>
              <a:rPr lang="en-US" sz="1050" b="1" dirty="0"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!=</a:t>
            </a:r>
            <a:r>
              <a:rPr lang="en-US" sz="1000" b="1" dirty="0"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r>
              <a:rPr lang="en-US" sz="1900" b="1" dirty="0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true</a:t>
            </a: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)</a:t>
            </a:r>
            <a:endParaRPr lang="en-US" sz="19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  </a:t>
            </a:r>
            <a:r>
              <a:rPr lang="en-US" sz="1900" b="1" dirty="0" err="1">
                <a:latin typeface="Courier New" panose="02070409020205090404" pitchFamily="49" charset="0"/>
                <a:cs typeface="Courier New" panose="02070409020205090404" pitchFamily="49" charset="0"/>
              </a:rPr>
              <a:t>cout</a:t>
            </a:r>
            <a:r>
              <a:rPr lang="en-US" sz="100" b="1" dirty="0"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&lt;&lt;</a:t>
            </a:r>
            <a:r>
              <a:rPr lang="en-US" sz="700" b="1" dirty="0"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r>
              <a:rPr lang="en-US" sz="1900" b="1" dirty="0">
                <a:latin typeface="Courier New" panose="02070409020205090404" pitchFamily="49" charset="0"/>
                <a:cs typeface="Courier New" panose="02070409020205090404" pitchFamily="49" charset="0"/>
              </a:rPr>
              <a:t>“Couldn’t find it!”;</a:t>
            </a:r>
            <a:endParaRPr lang="en-US" sz="19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</p:txBody>
      </p:sp>
      <p:sp>
        <p:nvSpPr>
          <p:cNvPr id="50" name="Line 5"/>
          <p:cNvSpPr>
            <a:spLocks noChangeShapeType="1"/>
          </p:cNvSpPr>
          <p:nvPr/>
        </p:nvSpPr>
        <p:spPr bwMode="auto">
          <a:xfrm>
            <a:off x="408226" y="5255110"/>
            <a:ext cx="3810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" name="Line 5"/>
          <p:cNvSpPr>
            <a:spLocks noChangeShapeType="1"/>
          </p:cNvSpPr>
          <p:nvPr/>
        </p:nvSpPr>
        <p:spPr bwMode="auto">
          <a:xfrm>
            <a:off x="382112" y="5739009"/>
            <a:ext cx="3810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" name="Rectangle 55"/>
          <p:cNvSpPr/>
          <p:nvPr/>
        </p:nvSpPr>
        <p:spPr bwMode="auto">
          <a:xfrm>
            <a:off x="6675120" y="5941670"/>
            <a:ext cx="2267714" cy="186226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57" name="Line 5"/>
          <p:cNvSpPr>
            <a:spLocks noChangeShapeType="1"/>
          </p:cNvSpPr>
          <p:nvPr/>
        </p:nvSpPr>
        <p:spPr bwMode="auto">
          <a:xfrm>
            <a:off x="664052" y="2224665"/>
            <a:ext cx="3810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" name="Line 5"/>
          <p:cNvSpPr>
            <a:spLocks noChangeShapeType="1"/>
          </p:cNvSpPr>
          <p:nvPr/>
        </p:nvSpPr>
        <p:spPr bwMode="auto">
          <a:xfrm>
            <a:off x="377108" y="6020307"/>
            <a:ext cx="3810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" name="Line 5"/>
          <p:cNvSpPr>
            <a:spLocks noChangeShapeType="1"/>
          </p:cNvSpPr>
          <p:nvPr/>
        </p:nvSpPr>
        <p:spPr bwMode="auto">
          <a:xfrm>
            <a:off x="283052" y="2725419"/>
            <a:ext cx="3810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" name="Line 5"/>
          <p:cNvSpPr>
            <a:spLocks noChangeShapeType="1"/>
          </p:cNvSpPr>
          <p:nvPr/>
        </p:nvSpPr>
        <p:spPr bwMode="auto">
          <a:xfrm>
            <a:off x="580912" y="3252723"/>
            <a:ext cx="3810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" name="Rectangle 61"/>
          <p:cNvSpPr/>
          <p:nvPr/>
        </p:nvSpPr>
        <p:spPr bwMode="auto">
          <a:xfrm>
            <a:off x="6675120" y="5515049"/>
            <a:ext cx="2267714" cy="173854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63" name="Line 5"/>
          <p:cNvSpPr>
            <a:spLocks noChangeShapeType="1"/>
          </p:cNvSpPr>
          <p:nvPr/>
        </p:nvSpPr>
        <p:spPr bwMode="auto">
          <a:xfrm>
            <a:off x="799688" y="6347005"/>
            <a:ext cx="3810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fld id="{5398642D-A09F-4906-A91F-BA693B282702}" type="slidenum">
              <a:rPr lang="en-US" sz="1400" smtClean="0">
                <a:solidFill>
                  <a:schemeClr val="tx1"/>
                </a:solidFill>
                <a:latin typeface="Times New Roman" panose="02020503050405090304" pitchFamily="18" charset="0"/>
              </a:rPr>
            </a:fld>
            <a:endParaRPr lang="en-US" sz="140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319088" y="-76200"/>
            <a:ext cx="8494712" cy="1143000"/>
          </a:xfrm>
          <a:noFill/>
        </p:spPr>
        <p:txBody>
          <a:bodyPr/>
          <a:lstStyle/>
          <a:p>
            <a:pPr eaLnBrk="1" hangingPunct="1"/>
            <a:r>
              <a:rPr lang="en-US" dirty="0"/>
              <a:t>The (Almost) Hash Table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6388" name="Text Box 3"/>
          <p:cNvSpPr txBox="1">
            <a:spLocks noChangeArrowheads="1"/>
          </p:cNvSpPr>
          <p:nvPr/>
        </p:nvSpPr>
        <p:spPr bwMode="auto">
          <a:xfrm>
            <a:off x="441325" y="1341438"/>
            <a:ext cx="84201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r>
              <a:rPr lang="en-US" dirty="0"/>
              <a:t>OK – so now we know how to build an O(</a:t>
            </a:r>
            <a:r>
              <a:rPr lang="en-US" dirty="0">
                <a:solidFill>
                  <a:srgbClr val="6600CC"/>
                </a:solidFill>
              </a:rPr>
              <a:t>1</a:t>
            </a:r>
            <a:r>
              <a:rPr lang="en-US" dirty="0"/>
              <a:t>) search!  </a:t>
            </a:r>
            <a:br>
              <a:rPr lang="en-US" dirty="0"/>
            </a:br>
            <a:r>
              <a:rPr lang="en-US" dirty="0"/>
              <a:t>But what’s the problem with our </a:t>
            </a:r>
            <a:r>
              <a:rPr lang="en-US" dirty="0">
                <a:solidFill>
                  <a:schemeClr val="tx1"/>
                </a:solidFill>
              </a:rPr>
              <a:t>ADT</a:t>
            </a:r>
            <a:r>
              <a:rPr lang="en-US" dirty="0"/>
              <a:t>?</a:t>
            </a:r>
            <a:endParaRPr lang="en-US" dirty="0"/>
          </a:p>
        </p:txBody>
      </p:sp>
      <p:sp>
        <p:nvSpPr>
          <p:cNvPr id="16389" name="Text Box 4"/>
          <p:cNvSpPr txBox="1">
            <a:spLocks noChangeArrowheads="1"/>
          </p:cNvSpPr>
          <p:nvPr/>
        </p:nvSpPr>
        <p:spPr bwMode="auto">
          <a:xfrm>
            <a:off x="1127125" y="233203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l" eaLnBrk="1" hangingPunct="1"/>
            <a:endParaRPr lang="en-US"/>
          </a:p>
        </p:txBody>
      </p:sp>
      <p:sp>
        <p:nvSpPr>
          <p:cNvPr id="759813" name="Text Box 5"/>
          <p:cNvSpPr txBox="1">
            <a:spLocks noChangeArrowheads="1"/>
          </p:cNvSpPr>
          <p:nvPr/>
        </p:nvSpPr>
        <p:spPr bwMode="auto">
          <a:xfrm>
            <a:off x="336550" y="2668588"/>
            <a:ext cx="8474075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r>
              <a:rPr lang="en-US" dirty="0">
                <a:cs typeface="Courier New" panose="02070409020205090404" pitchFamily="49" charset="0"/>
              </a:rPr>
              <a:t>It’s really, really inefficient:</a:t>
            </a:r>
            <a:endParaRPr lang="en-US" dirty="0">
              <a:cs typeface="Courier New" panose="02070409020205090404" pitchFamily="49" charset="0"/>
            </a:endParaRPr>
          </a:p>
          <a:p>
            <a:pPr eaLnBrk="1" hangingPunct="1"/>
            <a:r>
              <a:rPr lang="en-US" dirty="0">
                <a:solidFill>
                  <a:srgbClr val="006666"/>
                </a:solidFill>
                <a:cs typeface="Courier New" panose="02070409020205090404" pitchFamily="49" charset="0"/>
              </a:rPr>
              <a:t>Our array has </a:t>
            </a:r>
            <a:r>
              <a:rPr lang="en-US" dirty="0">
                <a:solidFill>
                  <a:srgbClr val="6600CC"/>
                </a:solidFill>
                <a:cs typeface="Courier New" panose="02070409020205090404" pitchFamily="49" charset="0"/>
              </a:rPr>
              <a:t>1 billion</a:t>
            </a:r>
            <a:r>
              <a:rPr lang="en-US" dirty="0">
                <a:solidFill>
                  <a:srgbClr val="006666"/>
                </a:solidFill>
                <a:cs typeface="Courier New" panose="02070409020205090404" pitchFamily="49" charset="0"/>
              </a:rPr>
              <a:t> slots</a:t>
            </a:r>
            <a:endParaRPr lang="en-US" dirty="0">
              <a:solidFill>
                <a:srgbClr val="006666"/>
              </a:solidFill>
              <a:cs typeface="Courier New" panose="02070409020205090404" pitchFamily="49" charset="0"/>
            </a:endParaRPr>
          </a:p>
          <a:p>
            <a:pPr eaLnBrk="1" hangingPunct="1"/>
            <a:r>
              <a:rPr lang="en-US" dirty="0">
                <a:solidFill>
                  <a:srgbClr val="006666"/>
                </a:solidFill>
                <a:cs typeface="Courier New" panose="02070409020205090404" pitchFamily="49" charset="0"/>
              </a:rPr>
              <a:t>yet there are only </a:t>
            </a:r>
            <a:r>
              <a:rPr lang="en-US" dirty="0">
                <a:solidFill>
                  <a:srgbClr val="6600CC"/>
                </a:solidFill>
                <a:cs typeface="Courier New" panose="02070409020205090404" pitchFamily="49" charset="0"/>
              </a:rPr>
              <a:t>50,000 student IDs </a:t>
            </a:r>
            <a:br>
              <a:rPr lang="en-US" dirty="0">
                <a:solidFill>
                  <a:srgbClr val="6600CC"/>
                </a:solidFill>
                <a:cs typeface="Courier New" panose="02070409020205090404" pitchFamily="49" charset="0"/>
              </a:rPr>
            </a:br>
            <a:r>
              <a:rPr lang="en-US" dirty="0">
                <a:solidFill>
                  <a:srgbClr val="006666"/>
                </a:solidFill>
                <a:cs typeface="Courier New" panose="02070409020205090404" pitchFamily="49" charset="0"/>
              </a:rPr>
              <a:t>we could possibly add to it,</a:t>
            </a:r>
            <a:endParaRPr lang="en-US" dirty="0">
              <a:solidFill>
                <a:srgbClr val="006666"/>
              </a:solidFill>
              <a:cs typeface="Courier New" panose="02070409020205090404" pitchFamily="49" charset="0"/>
            </a:endParaRPr>
          </a:p>
          <a:p>
            <a:pPr eaLnBrk="1" hangingPunct="1"/>
            <a:r>
              <a:rPr lang="en-US" dirty="0">
                <a:solidFill>
                  <a:srgbClr val="006666"/>
                </a:solidFill>
                <a:cs typeface="Courier New" panose="02070409020205090404" pitchFamily="49" charset="0"/>
              </a:rPr>
              <a:t>so we’re </a:t>
            </a:r>
            <a:r>
              <a:rPr lang="en-US" dirty="0">
                <a:solidFill>
                  <a:srgbClr val="6600CC"/>
                </a:solidFill>
                <a:cs typeface="Courier New" panose="02070409020205090404" pitchFamily="49" charset="0"/>
              </a:rPr>
              <a:t>wasting </a:t>
            </a:r>
            <a:r>
              <a:rPr lang="en-US" dirty="0">
                <a:solidFill>
                  <a:srgbClr val="FF0000"/>
                </a:solidFill>
                <a:cs typeface="Courier New" panose="02070409020205090404" pitchFamily="49" charset="0"/>
              </a:rPr>
              <a:t>999,950,000</a:t>
            </a:r>
            <a:r>
              <a:rPr lang="en-US" dirty="0">
                <a:solidFill>
                  <a:srgbClr val="6600CC"/>
                </a:solidFill>
                <a:cs typeface="Courier New" panose="02070409020205090404" pitchFamily="49" charset="0"/>
              </a:rPr>
              <a:t> </a:t>
            </a:r>
            <a:r>
              <a:rPr lang="en-US" dirty="0">
                <a:solidFill>
                  <a:srgbClr val="006666"/>
                </a:solidFill>
                <a:cs typeface="Courier New" panose="02070409020205090404" pitchFamily="49" charset="0"/>
              </a:rPr>
              <a:t>of the</a:t>
            </a:r>
            <a:r>
              <a:rPr lang="en-US" dirty="0">
                <a:solidFill>
                  <a:srgbClr val="6600CC"/>
                </a:solidFill>
                <a:cs typeface="Courier New" panose="02070409020205090404" pitchFamily="49" charset="0"/>
              </a:rPr>
              <a:t> slots</a:t>
            </a:r>
            <a:r>
              <a:rPr lang="en-US" dirty="0">
                <a:solidFill>
                  <a:srgbClr val="006666"/>
                </a:solidFill>
                <a:cs typeface="Courier New" panose="02070409020205090404" pitchFamily="49" charset="0"/>
              </a:rPr>
              <a:t>…</a:t>
            </a:r>
            <a:endParaRPr lang="en-US" dirty="0">
              <a:solidFill>
                <a:srgbClr val="006666"/>
              </a:solidFill>
              <a:cs typeface="Courier New" panose="02070409020205090404" pitchFamily="49" charset="0"/>
            </a:endParaRPr>
          </a:p>
        </p:txBody>
      </p:sp>
      <p:sp>
        <p:nvSpPr>
          <p:cNvPr id="759814" name="Text Box 6"/>
          <p:cNvSpPr txBox="1">
            <a:spLocks noChangeArrowheads="1"/>
          </p:cNvSpPr>
          <p:nvPr/>
        </p:nvSpPr>
        <p:spPr bwMode="auto">
          <a:xfrm>
            <a:off x="464073" y="5123742"/>
            <a:ext cx="822483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r>
              <a:rPr lang="en-US" dirty="0"/>
              <a:t>It would be great if we could use the same algorithm but with a smaller array, say one with </a:t>
            </a:r>
            <a:r>
              <a:rPr lang="en-US" dirty="0">
                <a:solidFill>
                  <a:srgbClr val="A50021"/>
                </a:solidFill>
              </a:rPr>
              <a:t>100,000 slots </a:t>
            </a:r>
            <a:r>
              <a:rPr lang="en-US" dirty="0"/>
              <a:t>instead of </a:t>
            </a:r>
            <a:r>
              <a:rPr lang="en-US" dirty="0">
                <a:solidFill>
                  <a:srgbClr val="A50021"/>
                </a:solidFill>
              </a:rPr>
              <a:t>1 billion</a:t>
            </a:r>
            <a:r>
              <a:rPr lang="en-US" dirty="0"/>
              <a:t>!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 bwMode="auto">
          <a:xfrm>
            <a:off x="349727" y="1794756"/>
            <a:ext cx="4929258" cy="2169900"/>
          </a:xfrm>
          <a:prstGeom prst="roundRect">
            <a:avLst/>
          </a:prstGeom>
          <a:solidFill>
            <a:srgbClr val="F3F3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1945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fld id="{A5BC9563-019F-4A39-8CF8-DC0D3558F9E0}" type="slidenum">
              <a:rPr lang="en-US" sz="1400" smtClean="0">
                <a:solidFill>
                  <a:schemeClr val="tx1"/>
                </a:solidFill>
                <a:latin typeface="Times New Roman" panose="02020503050405090304" pitchFamily="18" charset="0"/>
              </a:rPr>
            </a:fld>
            <a:endParaRPr lang="en-US" sz="140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255102"/>
            <a:ext cx="7772400" cy="1143000"/>
          </a:xfrm>
        </p:spPr>
        <p:txBody>
          <a:bodyPr/>
          <a:lstStyle/>
          <a:p>
            <a:pPr eaLnBrk="1" hangingPunct="1"/>
            <a:r>
              <a:rPr lang="en-US" sz="3600" dirty="0"/>
              <a:t>The Mapping Function</a:t>
            </a:r>
            <a:endParaRPr lang="en-US" sz="3600" dirty="0"/>
          </a:p>
        </p:txBody>
      </p:sp>
      <p:sp>
        <p:nvSpPr>
          <p:cNvPr id="19460" name="Text Box 3"/>
          <p:cNvSpPr txBox="1">
            <a:spLocks noChangeArrowheads="1"/>
          </p:cNvSpPr>
          <p:nvPr/>
        </p:nvSpPr>
        <p:spPr bwMode="auto">
          <a:xfrm>
            <a:off x="-1009798" y="1796390"/>
            <a:ext cx="8624888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l" eaLnBrk="1" hangingPunct="1"/>
            <a:r>
              <a:rPr lang="en-US" b="1" dirty="0">
                <a:solidFill>
                  <a:schemeClr val="tx1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        int </a:t>
            </a:r>
            <a:r>
              <a:rPr lang="en-US" b="1" dirty="0" err="1">
                <a:solidFill>
                  <a:schemeClr val="tx1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mapFunc</a:t>
            </a:r>
            <a:r>
              <a:rPr lang="en-US" b="1" dirty="0">
                <a:solidFill>
                  <a:schemeClr val="tx1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(int </a:t>
            </a:r>
            <a:r>
              <a:rPr lang="en-US" b="1" dirty="0" err="1">
                <a:solidFill>
                  <a:schemeClr val="tx1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idNum</a:t>
            </a:r>
            <a:r>
              <a:rPr lang="en-US" b="1" dirty="0">
                <a:solidFill>
                  <a:schemeClr val="tx1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)</a:t>
            </a:r>
            <a:endParaRPr lang="en-US" b="1" dirty="0">
              <a:solidFill>
                <a:schemeClr val="tx1"/>
              </a:solidFill>
            </a:endParaRPr>
          </a:p>
          <a:p>
            <a:pPr lvl="3" algn="l" eaLnBrk="1" hangingPunct="1"/>
            <a:r>
              <a:rPr lang="en-US" b="1" dirty="0">
                <a:solidFill>
                  <a:schemeClr val="tx1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{</a:t>
            </a:r>
            <a:endParaRPr lang="en-US" b="1" dirty="0">
              <a:solidFill>
                <a:schemeClr val="tx1"/>
              </a:solidFill>
            </a:endParaRPr>
          </a:p>
          <a:p>
            <a:pPr lvl="3" algn="l" eaLnBrk="1" hangingPunct="1"/>
            <a:endParaRPr lang="en-US" b="1" dirty="0">
              <a:solidFill>
                <a:schemeClr val="tx1"/>
              </a:solidFill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lvl="3" algn="l" eaLnBrk="1" hangingPunct="1"/>
            <a:r>
              <a:rPr lang="en-US" sz="1800" b="1" dirty="0">
                <a:solidFill>
                  <a:schemeClr val="tx1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	</a:t>
            </a:r>
            <a:br>
              <a:rPr lang="en-US" sz="1800" b="1" dirty="0">
                <a:solidFill>
                  <a:schemeClr val="tx1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</a:br>
            <a:r>
              <a:rPr lang="en-US" sz="1800" b="1" dirty="0">
                <a:solidFill>
                  <a:schemeClr val="tx1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r>
              <a:rPr lang="en-US" sz="1800" b="1" dirty="0">
                <a:solidFill>
                  <a:schemeClr val="accent2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endParaRPr lang="en-US" b="1" dirty="0">
              <a:solidFill>
                <a:schemeClr val="tx1"/>
              </a:solidFill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lvl="3" algn="l" eaLnBrk="1" hangingPunct="1"/>
            <a:r>
              <a:rPr lang="en-US" b="1" dirty="0">
                <a:solidFill>
                  <a:schemeClr val="tx1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}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4" name="Text Box 4"/>
          <p:cNvSpPr txBox="1">
            <a:spLocks noChangeArrowheads="1"/>
          </p:cNvSpPr>
          <p:nvPr/>
        </p:nvSpPr>
        <p:spPr bwMode="auto">
          <a:xfrm>
            <a:off x="264108" y="665925"/>
            <a:ext cx="8701089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r>
              <a:rPr lang="en-US" sz="2200" dirty="0"/>
              <a:t>How can we write a </a:t>
            </a:r>
            <a:r>
              <a:rPr lang="en-US" sz="2200" dirty="0" err="1">
                <a:solidFill>
                  <a:srgbClr val="6600CC"/>
                </a:solidFill>
              </a:rPr>
              <a:t>mapFunc</a:t>
            </a:r>
            <a:r>
              <a:rPr lang="en-US" sz="2200" dirty="0">
                <a:solidFill>
                  <a:srgbClr val="6600CC"/>
                </a:solidFill>
              </a:rPr>
              <a:t> </a:t>
            </a:r>
            <a:r>
              <a:rPr lang="en-US" sz="2200" dirty="0"/>
              <a:t>that converts our large </a:t>
            </a:r>
            <a:r>
              <a:rPr lang="en-US" sz="2200" dirty="0">
                <a:solidFill>
                  <a:srgbClr val="FF0000"/>
                </a:solidFill>
              </a:rPr>
              <a:t>ID#</a:t>
            </a:r>
            <a:r>
              <a:rPr lang="en-US" sz="2200" dirty="0"/>
              <a:t> </a:t>
            </a:r>
            <a:br>
              <a:rPr lang="en-US" sz="2200" dirty="0"/>
            </a:br>
            <a:r>
              <a:rPr lang="en-US" sz="2200" dirty="0"/>
              <a:t>into a </a:t>
            </a:r>
            <a:r>
              <a:rPr lang="en-US" sz="2200" dirty="0">
                <a:solidFill>
                  <a:srgbClr val="FF0000"/>
                </a:solidFill>
              </a:rPr>
              <a:t>bucket # </a:t>
            </a:r>
            <a:r>
              <a:rPr lang="en-US" sz="2200" dirty="0">
                <a:solidFill>
                  <a:schemeClr val="tx1"/>
                </a:solidFill>
              </a:rPr>
              <a:t>that falls within our 100,000 element array</a:t>
            </a:r>
            <a:r>
              <a:rPr lang="en-US" sz="2200" dirty="0"/>
              <a:t>?</a:t>
            </a:r>
            <a:endParaRPr lang="en-US" sz="2200" dirty="0"/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644696" y="2449754"/>
            <a:ext cx="522536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l" eaLnBrk="1" hangingPunct="1"/>
            <a:r>
              <a:rPr lang="en-US" sz="2000" dirty="0" err="1">
                <a:solidFill>
                  <a:schemeClr val="tx1"/>
                </a:solidFill>
              </a:rPr>
              <a:t>const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int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rgbClr val="6600CC"/>
                </a:solidFill>
              </a:rPr>
              <a:t>ARRAY_SIZE</a:t>
            </a:r>
            <a:r>
              <a:rPr lang="en-US" sz="2000" dirty="0">
                <a:solidFill>
                  <a:schemeClr val="tx1"/>
                </a:solidFill>
              </a:rPr>
              <a:t> = 100000;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1100" dirty="0">
              <a:solidFill>
                <a:schemeClr val="tx1"/>
              </a:solidFill>
            </a:endParaRPr>
          </a:p>
          <a:p>
            <a:pPr algn="l" eaLnBrk="1" hangingPunct="1"/>
            <a:r>
              <a:rPr lang="en-US" sz="2000" dirty="0" err="1">
                <a:solidFill>
                  <a:schemeClr val="tx1"/>
                </a:solidFill>
              </a:rPr>
              <a:t>int</a:t>
            </a:r>
            <a:r>
              <a:rPr lang="en-US" sz="2000" dirty="0">
                <a:solidFill>
                  <a:schemeClr val="tx1"/>
                </a:solidFill>
              </a:rPr>
              <a:t> bucket = </a:t>
            </a:r>
            <a:r>
              <a:rPr lang="en-US" sz="2000" dirty="0" err="1">
                <a:solidFill>
                  <a:schemeClr val="tx1"/>
                </a:solidFill>
              </a:rPr>
              <a:t>idNum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rgbClr val="FF0000"/>
                </a:solidFill>
              </a:rPr>
              <a:t>%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rgbClr val="6600CC"/>
                </a:solidFill>
              </a:rPr>
              <a:t>ARRAY_SIZE</a:t>
            </a:r>
            <a:r>
              <a:rPr lang="en-US" sz="2000" dirty="0">
                <a:solidFill>
                  <a:schemeClr val="tx1"/>
                </a:solidFill>
              </a:rPr>
              <a:t>;</a:t>
            </a:r>
            <a:endParaRPr lang="en-US" sz="2000" dirty="0">
              <a:solidFill>
                <a:schemeClr val="tx1"/>
              </a:solidFill>
            </a:endParaRPr>
          </a:p>
          <a:p>
            <a:pPr algn="l" eaLnBrk="1" hangingPunct="1"/>
            <a:r>
              <a:rPr lang="en-US" sz="2000" dirty="0">
                <a:solidFill>
                  <a:schemeClr val="tx1"/>
                </a:solidFill>
              </a:rPr>
              <a:t>return bucket; 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-486642" y="4079473"/>
            <a:ext cx="669557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6600CC"/>
                </a:solidFill>
              </a:rPr>
              <a:t>RIGHT! </a:t>
            </a:r>
            <a:r>
              <a:rPr lang="en-US" dirty="0"/>
              <a:t>The C++ </a:t>
            </a:r>
            <a:r>
              <a:rPr lang="en-US" dirty="0">
                <a:solidFill>
                  <a:srgbClr val="FF0000"/>
                </a:solidFill>
              </a:rPr>
              <a:t>% operator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(aka the </a:t>
            </a:r>
            <a:r>
              <a:rPr lang="en-US" dirty="0">
                <a:solidFill>
                  <a:srgbClr val="FF0000"/>
                </a:solidFill>
              </a:rPr>
              <a:t>modulus division operator</a:t>
            </a:r>
            <a:r>
              <a:rPr lang="en-US" dirty="0"/>
              <a:t>) </a:t>
            </a:r>
            <a:br>
              <a:rPr lang="en-US" dirty="0"/>
            </a:br>
            <a:r>
              <a:rPr lang="en-US" dirty="0"/>
              <a:t>does exactly what we want!!!  </a:t>
            </a:r>
            <a:endParaRPr lang="en-US" dirty="0"/>
          </a:p>
        </p:txBody>
      </p:sp>
      <p:sp>
        <p:nvSpPr>
          <p:cNvPr id="48" name="Rounded Rectangular Callout 47"/>
          <p:cNvSpPr>
            <a:spLocks noChangeArrowheads="1"/>
          </p:cNvSpPr>
          <p:nvPr/>
        </p:nvSpPr>
        <p:spPr bwMode="auto">
          <a:xfrm flipH="1">
            <a:off x="5542546" y="1422346"/>
            <a:ext cx="3422650" cy="1559216"/>
          </a:xfrm>
          <a:prstGeom prst="wedgeRoundRectCallout">
            <a:avLst>
              <a:gd name="adj1" fmla="val 94085"/>
              <a:gd name="adj2" fmla="val 48258"/>
              <a:gd name="adj3" fmla="val 16667"/>
            </a:avLst>
          </a:prstGeom>
          <a:solidFill>
            <a:srgbClr val="E7F9BF"/>
          </a:solidFill>
          <a:ln w="9525" algn="ctr">
            <a:solidFill>
              <a:schemeClr val="tx1"/>
            </a:solidFill>
            <a:round/>
          </a:ln>
        </p:spPr>
        <p:txBody>
          <a:bodyPr anchor="ctr"/>
          <a:lstStyle/>
          <a:p>
            <a:r>
              <a:rPr lang="en-US" sz="2000" dirty="0"/>
              <a:t>This line </a:t>
            </a:r>
            <a:r>
              <a:rPr lang="en-US" sz="2000" dirty="0">
                <a:solidFill>
                  <a:schemeClr val="tx1"/>
                </a:solidFill>
              </a:rPr>
              <a:t>takes an input value </a:t>
            </a:r>
            <a:r>
              <a:rPr lang="en-US" sz="2000" dirty="0" err="1">
                <a:solidFill>
                  <a:srgbClr val="FF0000"/>
                </a:solidFill>
              </a:rPr>
              <a:t>idNum</a:t>
            </a:r>
            <a:r>
              <a:rPr lang="en-US" sz="2000" dirty="0">
                <a:solidFill>
                  <a:schemeClr val="tx1"/>
                </a:solidFill>
              </a:rPr>
              <a:t> and returns an output value between 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rgbClr val="FF0000"/>
                </a:solidFill>
              </a:rPr>
              <a:t>0 </a:t>
            </a:r>
            <a:r>
              <a:rPr lang="en-US" sz="2000" dirty="0">
                <a:solidFill>
                  <a:schemeClr val="tx1"/>
                </a:solidFill>
              </a:rPr>
              <a:t>and </a:t>
            </a:r>
            <a:r>
              <a:rPr lang="en-US" sz="2000" dirty="0">
                <a:solidFill>
                  <a:srgbClr val="FF0000"/>
                </a:solidFill>
              </a:rPr>
              <a:t>ARRAY_SIZE – 1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(0 to 99,999)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51" name="Text Box 4"/>
          <p:cNvSpPr txBox="1">
            <a:spLocks noChangeArrowheads="1"/>
          </p:cNvSpPr>
          <p:nvPr/>
        </p:nvSpPr>
        <p:spPr bwMode="auto">
          <a:xfrm>
            <a:off x="65019" y="5466254"/>
            <a:ext cx="5592251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r>
              <a:rPr lang="en-US" dirty="0">
                <a:solidFill>
                  <a:schemeClr val="tx1"/>
                </a:solidFill>
              </a:rPr>
              <a:t>So now for each input </a:t>
            </a:r>
            <a:r>
              <a:rPr lang="en-US" dirty="0">
                <a:solidFill>
                  <a:srgbClr val="FF0000"/>
                </a:solidFill>
              </a:rPr>
              <a:t>ID#</a:t>
            </a:r>
            <a:r>
              <a:rPr lang="en-US" dirty="0">
                <a:solidFill>
                  <a:schemeClr val="tx1"/>
                </a:solidFill>
              </a:rPr>
              <a:t> we can compute a corresponding value between </a:t>
            </a:r>
            <a:r>
              <a:rPr lang="en-US" dirty="0">
                <a:solidFill>
                  <a:srgbClr val="FF0000"/>
                </a:solidFill>
              </a:rPr>
              <a:t>0</a:t>
            </a:r>
            <a:r>
              <a:rPr lang="en-US" dirty="0">
                <a:solidFill>
                  <a:schemeClr val="tx1"/>
                </a:solidFill>
              </a:rPr>
              <a:t>-</a:t>
            </a:r>
            <a:r>
              <a:rPr lang="en-US" dirty="0">
                <a:solidFill>
                  <a:srgbClr val="FF0000"/>
                </a:solidFill>
              </a:rPr>
              <a:t>99,999!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4" name="Text Box 4"/>
          <p:cNvSpPr txBox="1">
            <a:spLocks noChangeArrowheads="1"/>
          </p:cNvSpPr>
          <p:nvPr/>
        </p:nvSpPr>
        <p:spPr bwMode="auto">
          <a:xfrm>
            <a:off x="5804594" y="2858219"/>
            <a:ext cx="2898553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6600CC"/>
                </a:solidFill>
              </a:rPr>
              <a:t>And this corresponding value can be used </a:t>
            </a:r>
            <a:r>
              <a:rPr lang="en-US" dirty="0">
                <a:solidFill>
                  <a:srgbClr val="FF0000"/>
                </a:solidFill>
              </a:rPr>
              <a:t>to pick a bucket</a:t>
            </a:r>
            <a:r>
              <a:rPr lang="en-US" dirty="0">
                <a:solidFill>
                  <a:srgbClr val="6600CC"/>
                </a:solidFill>
              </a:rPr>
              <a:t> in our </a:t>
            </a:r>
            <a:r>
              <a:rPr lang="en-US" dirty="0">
                <a:solidFill>
                  <a:srgbClr val="FF0000"/>
                </a:solidFill>
              </a:rPr>
              <a:t>100,000 element </a:t>
            </a:r>
            <a:r>
              <a:rPr lang="en-US" dirty="0">
                <a:solidFill>
                  <a:srgbClr val="6600CC"/>
                </a:solidFill>
              </a:rPr>
              <a:t>array!</a:t>
            </a:r>
            <a:endParaRPr lang="en-US" dirty="0">
              <a:solidFill>
                <a:srgbClr val="6600CC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Box 3"/>
          <p:cNvSpPr txBox="1">
            <a:spLocks noChangeArrowheads="1"/>
          </p:cNvSpPr>
          <p:nvPr/>
        </p:nvSpPr>
        <p:spPr bwMode="auto">
          <a:xfrm>
            <a:off x="193463" y="656168"/>
            <a:ext cx="4903084" cy="4193456"/>
          </a:xfrm>
          <a:prstGeom prst="rect">
            <a:avLst/>
          </a:prstGeom>
          <a:solidFill>
            <a:srgbClr val="FFFF99"/>
          </a:solidFill>
          <a:ln w="41275">
            <a:solidFill>
              <a:schemeClr val="tx1"/>
            </a:solidFill>
            <a:miter lim="800000"/>
          </a:ln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l" eaLnBrk="1" hangingPunct="1"/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class </a:t>
            </a:r>
            <a:r>
              <a:rPr lang="en-US" sz="1800" b="1" dirty="0">
                <a:solidFill>
                  <a:srgbClr val="6600CC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AlmostHashTable2</a:t>
            </a:r>
            <a:endParaRPr lang="en-US" sz="1800" b="1" dirty="0">
              <a:solidFill>
                <a:srgbClr val="6600CC"/>
              </a:solidFill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200" b="1" dirty="0">
                <a:latin typeface="Courier New" panose="02070409020205090404" pitchFamily="49" charset="0"/>
                <a:cs typeface="Courier New" panose="02070409020205090404" pitchFamily="49" charset="0"/>
              </a:rPr>
              <a:t>{</a:t>
            </a:r>
            <a:endParaRPr lang="en-US" sz="12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600" b="1" dirty="0">
                <a:solidFill>
                  <a:schemeClr val="tx1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public:</a:t>
            </a:r>
            <a:endParaRPr lang="en-US" sz="1600" b="1" dirty="0">
              <a:solidFill>
                <a:schemeClr val="tx1"/>
              </a:solidFill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void </a:t>
            </a:r>
            <a:r>
              <a:rPr lang="en-US" sz="1800" b="1" dirty="0" err="1">
                <a:solidFill>
                  <a:srgbClr val="006666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addItem</a:t>
            </a:r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(</a:t>
            </a:r>
            <a:r>
              <a:rPr lang="en-US" sz="1800" b="1" dirty="0" err="1">
                <a:latin typeface="Courier New" panose="02070409020205090404" pitchFamily="49" charset="0"/>
                <a:cs typeface="Courier New" panose="02070409020205090404" pitchFamily="49" charset="0"/>
              </a:rPr>
              <a:t>int</a:t>
            </a:r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n</a:t>
            </a:r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)</a:t>
            </a:r>
            <a:endParaRPr lang="en-US" sz="18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2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{ </a:t>
            </a:r>
            <a:endParaRPr lang="en-US" sz="12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  int </a:t>
            </a:r>
            <a:r>
              <a:rPr lang="en-US" sz="1800" b="1" dirty="0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bucket</a:t>
            </a:r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 = </a:t>
            </a:r>
            <a:r>
              <a:rPr lang="en-US" sz="1800" b="1" dirty="0" err="1">
                <a:solidFill>
                  <a:srgbClr val="6600CC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mapFunc</a:t>
            </a:r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(</a:t>
            </a:r>
            <a:r>
              <a:rPr lang="en-US" sz="1800" b="1" dirty="0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n</a:t>
            </a:r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);</a:t>
            </a:r>
            <a:endParaRPr lang="en-US" sz="18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  </a:t>
            </a:r>
            <a:r>
              <a:rPr lang="en-US" sz="1800" b="1" dirty="0" err="1">
                <a:latin typeface="Courier New" panose="02070409020205090404" pitchFamily="49" charset="0"/>
                <a:cs typeface="Courier New" panose="02070409020205090404" pitchFamily="49" charset="0"/>
              </a:rPr>
              <a:t>m_array</a:t>
            </a:r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[</a:t>
            </a:r>
            <a:r>
              <a:rPr lang="en-US" sz="1800" b="1" dirty="0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bucket</a:t>
            </a:r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] = </a:t>
            </a:r>
            <a:r>
              <a:rPr lang="en-US" sz="1800" b="1" dirty="0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true</a:t>
            </a:r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;</a:t>
            </a:r>
            <a:endParaRPr lang="en-US" sz="18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2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}  </a:t>
            </a:r>
            <a:br>
              <a:rPr lang="en-US" sz="1200" b="1" dirty="0">
                <a:latin typeface="Courier New" panose="02070409020205090404" pitchFamily="49" charset="0"/>
                <a:cs typeface="Courier New" panose="02070409020205090404" pitchFamily="49" charset="0"/>
              </a:rPr>
            </a:br>
            <a:br>
              <a:rPr lang="en-US" sz="1200" b="1" dirty="0">
                <a:latin typeface="Courier New" panose="02070409020205090404" pitchFamily="49" charset="0"/>
                <a:cs typeface="Courier New" panose="02070409020205090404" pitchFamily="49" charset="0"/>
              </a:rPr>
            </a:br>
            <a:r>
              <a:rPr lang="en-US" sz="1600" b="1" dirty="0">
                <a:solidFill>
                  <a:schemeClr val="tx1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private:</a:t>
            </a:r>
            <a:endParaRPr lang="en-US" sz="1600" b="1" dirty="0">
              <a:solidFill>
                <a:schemeClr val="tx1"/>
              </a:solidFill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 dirty="0">
                <a:solidFill>
                  <a:schemeClr val="tx1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  int</a:t>
            </a:r>
            <a:r>
              <a:rPr lang="en-US" sz="1800" b="1" dirty="0">
                <a:solidFill>
                  <a:srgbClr val="6600CC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r>
              <a:rPr lang="en-US" sz="1800" b="1" dirty="0" err="1">
                <a:solidFill>
                  <a:srgbClr val="6600CC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mapFunc</a:t>
            </a:r>
            <a:r>
              <a:rPr lang="en-US" sz="1800" b="1" dirty="0">
                <a:solidFill>
                  <a:schemeClr val="tx1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(int</a:t>
            </a:r>
            <a:r>
              <a:rPr lang="en-US" sz="1800" b="1" dirty="0">
                <a:solidFill>
                  <a:srgbClr val="6600CC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idNum</a:t>
            </a:r>
            <a:r>
              <a:rPr lang="en-US" sz="1800" b="1" dirty="0">
                <a:solidFill>
                  <a:schemeClr val="tx1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)</a:t>
            </a:r>
            <a:endParaRPr lang="en-US" sz="1800" dirty="0">
              <a:solidFill>
                <a:schemeClr val="tx1"/>
              </a:solidFill>
            </a:endParaRPr>
          </a:p>
          <a:p>
            <a:pPr algn="l" eaLnBrk="1" hangingPunct="1"/>
            <a:r>
              <a:rPr lang="en-US" sz="1800" b="1" dirty="0">
                <a:solidFill>
                  <a:schemeClr val="tx1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  {</a:t>
            </a:r>
            <a:br>
              <a:rPr lang="en-US" sz="1800" b="1" dirty="0">
                <a:solidFill>
                  <a:schemeClr val="tx1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</a:br>
            <a:r>
              <a:rPr lang="en-US" sz="1800" b="1" dirty="0">
                <a:solidFill>
                  <a:schemeClr val="tx1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     return </a:t>
            </a:r>
            <a:r>
              <a:rPr lang="en-US" sz="1800" b="1" dirty="0" err="1">
                <a:solidFill>
                  <a:schemeClr val="tx1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idNum</a:t>
            </a:r>
            <a:r>
              <a:rPr lang="en-US" sz="1800" b="1" dirty="0">
                <a:solidFill>
                  <a:schemeClr val="tx1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 % 100000; </a:t>
            </a:r>
            <a:br>
              <a:rPr lang="en-US" sz="1800" b="1" dirty="0">
                <a:solidFill>
                  <a:schemeClr val="tx1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</a:br>
            <a:r>
              <a:rPr lang="en-US" sz="1800" b="1" dirty="0">
                <a:solidFill>
                  <a:schemeClr val="tx1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  }</a:t>
            </a:r>
            <a:endParaRPr lang="en-US" sz="1800" dirty="0">
              <a:solidFill>
                <a:schemeClr val="tx1"/>
              </a:solidFill>
            </a:endParaRPr>
          </a:p>
          <a:p>
            <a:pPr algn="l" eaLnBrk="1" hangingPunct="1"/>
            <a:endParaRPr lang="en-US" sz="600" b="1" dirty="0">
              <a:solidFill>
                <a:schemeClr val="tx1"/>
              </a:solidFill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bool </a:t>
            </a:r>
            <a:r>
              <a:rPr lang="en-US" sz="1800" b="1" dirty="0" err="1">
                <a:latin typeface="Courier New" panose="02070409020205090404" pitchFamily="49" charset="0"/>
                <a:cs typeface="Courier New" panose="02070409020205090404" pitchFamily="49" charset="0"/>
              </a:rPr>
              <a:t>m_array</a:t>
            </a:r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[</a:t>
            </a:r>
            <a:r>
              <a:rPr lang="en-US" sz="1800" b="1" dirty="0">
                <a:solidFill>
                  <a:srgbClr val="FF33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100000</a:t>
            </a:r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]; </a:t>
            </a:r>
            <a:r>
              <a:rPr lang="en-US" sz="1400" b="1" dirty="0">
                <a:latin typeface="Courier New" panose="02070409020205090404" pitchFamily="49" charset="0"/>
                <a:cs typeface="Courier New" panose="02070409020205090404" pitchFamily="49" charset="0"/>
              </a:rPr>
              <a:t>//</a:t>
            </a:r>
            <a:r>
              <a:rPr lang="en-US" sz="1100" b="1" dirty="0"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r>
              <a:rPr lang="en-US" sz="1400" b="1" dirty="0">
                <a:latin typeface="Courier New" panose="02070409020205090404" pitchFamily="49" charset="0"/>
                <a:cs typeface="Courier New" panose="02070409020205090404" pitchFamily="49" charset="0"/>
              </a:rPr>
              <a:t>not</a:t>
            </a:r>
            <a:r>
              <a:rPr lang="en-US" sz="1050" b="1" dirty="0"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r>
              <a:rPr lang="en-US" sz="1400" b="1" dirty="0">
                <a:latin typeface="Courier New" panose="02070409020205090404" pitchFamily="49" charset="0"/>
                <a:cs typeface="Courier New" panose="02070409020205090404" pitchFamily="49" charset="0"/>
              </a:rPr>
              <a:t>so</a:t>
            </a:r>
            <a:r>
              <a:rPr lang="en-US" sz="1000" b="1" dirty="0"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r>
              <a:rPr lang="en-US" sz="1400" b="1" dirty="0">
                <a:latin typeface="Courier New" panose="02070409020205090404" pitchFamily="49" charset="0"/>
                <a:cs typeface="Courier New" panose="02070409020205090404" pitchFamily="49" charset="0"/>
              </a:rPr>
              <a:t>big!</a:t>
            </a:r>
            <a:endParaRPr lang="en-US" sz="18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400" b="1" dirty="0">
                <a:latin typeface="Courier New" panose="02070409020205090404" pitchFamily="49" charset="0"/>
                <a:cs typeface="Courier New" panose="02070409020205090404" pitchFamily="49" charset="0"/>
              </a:rPr>
              <a:t>};</a:t>
            </a:r>
            <a:endParaRPr lang="en-US" sz="14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</p:txBody>
      </p:sp>
      <p:sp>
        <p:nvSpPr>
          <p:cNvPr id="72" name="Text Box 3"/>
          <p:cNvSpPr txBox="1">
            <a:spLocks noChangeArrowheads="1"/>
          </p:cNvSpPr>
          <p:nvPr/>
        </p:nvSpPr>
        <p:spPr bwMode="auto">
          <a:xfrm>
            <a:off x="185968" y="4818936"/>
            <a:ext cx="4903084" cy="2031325"/>
          </a:xfrm>
          <a:prstGeom prst="rect">
            <a:avLst/>
          </a:prstGeom>
          <a:solidFill>
            <a:srgbClr val="EFFFF8"/>
          </a:solidFill>
          <a:ln w="41275">
            <a:solidFill>
              <a:schemeClr val="tx1"/>
            </a:solidFill>
            <a:miter lim="800000"/>
          </a:ln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l" eaLnBrk="1" hangingPunct="1"/>
            <a:r>
              <a:rPr lang="en-US" sz="1800" b="1" dirty="0" err="1">
                <a:latin typeface="Courier New" panose="02070409020205090404" pitchFamily="49" charset="0"/>
                <a:cs typeface="Courier New" panose="02070409020205090404" pitchFamily="49" charset="0"/>
              </a:rPr>
              <a:t>int</a:t>
            </a:r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 main()</a:t>
            </a:r>
            <a:endParaRPr lang="en-US" sz="18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{</a:t>
            </a:r>
            <a:endParaRPr lang="en-US" sz="18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AlmostHashTable2 x;</a:t>
            </a:r>
            <a:endParaRPr lang="en-US" sz="18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</a:t>
            </a:r>
            <a:r>
              <a:rPr lang="en-US" sz="1800" b="1" dirty="0" err="1">
                <a:latin typeface="Courier New" panose="02070409020205090404" pitchFamily="49" charset="0"/>
                <a:cs typeface="Courier New" panose="02070409020205090404" pitchFamily="49" charset="0"/>
              </a:rPr>
              <a:t>x.addItem</a:t>
            </a:r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(400683948);</a:t>
            </a:r>
            <a:endParaRPr lang="en-US" sz="18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</a:t>
            </a:r>
            <a:r>
              <a:rPr lang="en-US" sz="1800" b="1" dirty="0" err="1">
                <a:latin typeface="Courier New" panose="02070409020205090404" pitchFamily="49" charset="0"/>
                <a:cs typeface="Courier New" panose="02070409020205090404" pitchFamily="49" charset="0"/>
              </a:rPr>
              <a:t>x.addItem</a:t>
            </a:r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(111105224);</a:t>
            </a:r>
            <a:endParaRPr lang="en-US" sz="18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</a:t>
            </a:r>
            <a:r>
              <a:rPr lang="en-US" sz="1800" b="1" dirty="0" err="1">
                <a:latin typeface="Courier New" panose="02070409020205090404" pitchFamily="49" charset="0"/>
                <a:cs typeface="Courier New" panose="02070409020205090404" pitchFamily="49" charset="0"/>
              </a:rPr>
              <a:t>x.addItem</a:t>
            </a:r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(222205224);</a:t>
            </a:r>
            <a:endParaRPr lang="en-US" sz="18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}</a:t>
            </a:r>
            <a:endParaRPr lang="en-US" sz="14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</p:txBody>
      </p:sp>
      <p:sp>
        <p:nvSpPr>
          <p:cNvPr id="2150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fld id="{E9CB8C4E-090D-4F08-9FD1-AAEFC17B25AC}" type="slidenum">
              <a:rPr lang="en-US" sz="1400" smtClean="0">
                <a:solidFill>
                  <a:schemeClr val="tx1"/>
                </a:solidFill>
                <a:latin typeface="Times New Roman" panose="02020503050405090304" pitchFamily="18" charset="0"/>
              </a:rPr>
            </a:fld>
            <a:endParaRPr lang="en-US" sz="140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319088" y="-293555"/>
            <a:ext cx="8494712" cy="1143000"/>
          </a:xfrm>
          <a:noFill/>
        </p:spPr>
        <p:txBody>
          <a:bodyPr/>
          <a:lstStyle/>
          <a:p>
            <a:pPr eaLnBrk="1" hangingPunct="1"/>
            <a:r>
              <a:rPr lang="en-US" sz="3600" dirty="0"/>
              <a:t>The (Almost) Hash Table</a:t>
            </a:r>
            <a:endParaRPr lang="en-US" sz="3600" dirty="0">
              <a:solidFill>
                <a:schemeClr val="accent2"/>
              </a:solidFill>
            </a:endParaRPr>
          </a:p>
        </p:txBody>
      </p:sp>
      <p:sp>
        <p:nvSpPr>
          <p:cNvPr id="21508" name="Text Box 3"/>
          <p:cNvSpPr txBox="1">
            <a:spLocks noChangeArrowheads="1"/>
          </p:cNvSpPr>
          <p:nvPr/>
        </p:nvSpPr>
        <p:spPr bwMode="auto">
          <a:xfrm>
            <a:off x="5334461" y="656168"/>
            <a:ext cx="36071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r>
              <a:rPr lang="en-US" dirty="0"/>
              <a:t>Let’s see how it works.</a:t>
            </a:r>
            <a:endParaRPr lang="en-US" dirty="0"/>
          </a:p>
        </p:txBody>
      </p:sp>
      <p:sp>
        <p:nvSpPr>
          <p:cNvPr id="770064" name="Text Box 16"/>
          <p:cNvSpPr txBox="1">
            <a:spLocks noChangeArrowheads="1"/>
          </p:cNvSpPr>
          <p:nvPr/>
        </p:nvSpPr>
        <p:spPr bwMode="auto">
          <a:xfrm>
            <a:off x="7745413" y="6248400"/>
            <a:ext cx="11128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l" eaLnBrk="1" hangingPunct="1"/>
            <a:r>
              <a:rPr lang="en-US">
                <a:solidFill>
                  <a:schemeClr val="bg1"/>
                </a:solidFill>
              </a:rPr>
              <a:t>83948</a:t>
            </a:r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3" name="Group 18"/>
          <p:cNvGrpSpPr/>
          <p:nvPr/>
        </p:nvGrpSpPr>
        <p:grpSpPr bwMode="auto">
          <a:xfrm>
            <a:off x="6145256" y="1644652"/>
            <a:ext cx="2694002" cy="4576765"/>
            <a:chOff x="3871" y="1036"/>
            <a:chExt cx="1697" cy="2883"/>
          </a:xfrm>
        </p:grpSpPr>
        <p:grpSp>
          <p:nvGrpSpPr>
            <p:cNvPr id="21542" name="Group 19"/>
            <p:cNvGrpSpPr/>
            <p:nvPr/>
          </p:nvGrpSpPr>
          <p:grpSpPr bwMode="auto">
            <a:xfrm>
              <a:off x="3871" y="1036"/>
              <a:ext cx="1697" cy="2708"/>
              <a:chOff x="3871" y="892"/>
              <a:chExt cx="1697" cy="2708"/>
            </a:xfrm>
          </p:grpSpPr>
          <p:sp>
            <p:nvSpPr>
              <p:cNvPr id="21551" name="Rectangle 20"/>
              <p:cNvSpPr>
                <a:spLocks noChangeArrowheads="1"/>
              </p:cNvSpPr>
              <p:nvPr/>
            </p:nvSpPr>
            <p:spPr bwMode="auto">
              <a:xfrm>
                <a:off x="4896" y="1008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52" name="Rectangle 21"/>
              <p:cNvSpPr>
                <a:spLocks noChangeArrowheads="1"/>
              </p:cNvSpPr>
              <p:nvPr/>
            </p:nvSpPr>
            <p:spPr bwMode="auto">
              <a:xfrm>
                <a:off x="4896" y="1248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53" name="Rectangle 22"/>
              <p:cNvSpPr>
                <a:spLocks noChangeArrowheads="1"/>
              </p:cNvSpPr>
              <p:nvPr/>
            </p:nvSpPr>
            <p:spPr bwMode="auto">
              <a:xfrm>
                <a:off x="4896" y="1824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54" name="Rectangle 23"/>
              <p:cNvSpPr>
                <a:spLocks noChangeArrowheads="1"/>
              </p:cNvSpPr>
              <p:nvPr/>
            </p:nvSpPr>
            <p:spPr bwMode="auto">
              <a:xfrm>
                <a:off x="4896" y="2064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55" name="Rectangle 24"/>
              <p:cNvSpPr>
                <a:spLocks noChangeArrowheads="1"/>
              </p:cNvSpPr>
              <p:nvPr/>
            </p:nvSpPr>
            <p:spPr bwMode="auto">
              <a:xfrm>
                <a:off x="4896" y="2304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56" name="Text Box 25"/>
              <p:cNvSpPr txBox="1">
                <a:spLocks noChangeArrowheads="1"/>
              </p:cNvSpPr>
              <p:nvPr/>
            </p:nvSpPr>
            <p:spPr bwMode="auto">
              <a:xfrm>
                <a:off x="5058" y="2537"/>
                <a:ext cx="26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9pPr>
              </a:lstStyle>
              <a:p>
                <a:pPr algn="l" eaLnBrk="1" hangingPunct="1"/>
                <a:r>
                  <a:rPr lang="en-US"/>
                  <a:t>...</a:t>
                </a:r>
                <a:endParaRPr lang="en-US"/>
              </a:p>
            </p:txBody>
          </p:sp>
          <p:sp>
            <p:nvSpPr>
              <p:cNvPr id="21557" name="Rectangle 26"/>
              <p:cNvSpPr>
                <a:spLocks noChangeArrowheads="1"/>
              </p:cNvSpPr>
              <p:nvPr/>
            </p:nvSpPr>
            <p:spPr bwMode="auto">
              <a:xfrm>
                <a:off x="4896" y="2880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58" name="Rectangle 27"/>
              <p:cNvSpPr>
                <a:spLocks noChangeArrowheads="1"/>
              </p:cNvSpPr>
              <p:nvPr/>
            </p:nvSpPr>
            <p:spPr bwMode="auto">
              <a:xfrm>
                <a:off x="4896" y="3120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59" name="Rectangle 28"/>
              <p:cNvSpPr>
                <a:spLocks noChangeArrowheads="1"/>
              </p:cNvSpPr>
              <p:nvPr/>
            </p:nvSpPr>
            <p:spPr bwMode="auto">
              <a:xfrm>
                <a:off x="4896" y="3360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60" name="Text Box 29"/>
              <p:cNvSpPr txBox="1">
                <a:spLocks noChangeArrowheads="1"/>
              </p:cNvSpPr>
              <p:nvPr/>
            </p:nvSpPr>
            <p:spPr bwMode="auto">
              <a:xfrm>
                <a:off x="3871" y="892"/>
                <a:ext cx="1103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9pPr>
              </a:lstStyle>
              <a:p>
                <a:pPr eaLnBrk="1" hangingPunct="1"/>
                <a:r>
                  <a:rPr lang="en-US" dirty="0" err="1"/>
                  <a:t>m_array</a:t>
                </a:r>
                <a:r>
                  <a:rPr lang="en-US" dirty="0"/>
                  <a:t>    </a:t>
                </a:r>
                <a:endParaRPr lang="en-US" dirty="0"/>
              </a:p>
            </p:txBody>
          </p:sp>
          <p:sp>
            <p:nvSpPr>
              <p:cNvPr id="21561" name="Text Box 30"/>
              <p:cNvSpPr txBox="1">
                <a:spLocks noChangeArrowheads="1"/>
              </p:cNvSpPr>
              <p:nvPr/>
            </p:nvSpPr>
            <p:spPr bwMode="auto">
              <a:xfrm>
                <a:off x="5088" y="1488"/>
                <a:ext cx="26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9pPr>
              </a:lstStyle>
              <a:p>
                <a:pPr algn="l" eaLnBrk="1" hangingPunct="1"/>
                <a:r>
                  <a:rPr lang="en-US"/>
                  <a:t>...</a:t>
                </a:r>
                <a:endParaRPr lang="en-US"/>
              </a:p>
            </p:txBody>
          </p:sp>
        </p:grpSp>
        <p:sp>
          <p:nvSpPr>
            <p:cNvPr id="21543" name="Text Box 31"/>
            <p:cNvSpPr txBox="1">
              <a:spLocks noChangeArrowheads="1"/>
            </p:cNvSpPr>
            <p:nvPr/>
          </p:nvSpPr>
          <p:spPr bwMode="auto">
            <a:xfrm>
              <a:off x="4617" y="1166"/>
              <a:ext cx="35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eaLnBrk="1" hangingPunct="1"/>
              <a:r>
                <a:rPr lang="en-US" sz="1800"/>
                <a:t>[0] </a:t>
              </a:r>
              <a:endParaRPr lang="en-US" sz="1800"/>
            </a:p>
          </p:txBody>
        </p:sp>
        <p:sp>
          <p:nvSpPr>
            <p:cNvPr id="21544" name="Text Box 32"/>
            <p:cNvSpPr txBox="1">
              <a:spLocks noChangeArrowheads="1"/>
            </p:cNvSpPr>
            <p:nvPr/>
          </p:nvSpPr>
          <p:spPr bwMode="auto">
            <a:xfrm>
              <a:off x="4614" y="1371"/>
              <a:ext cx="41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eaLnBrk="1" hangingPunct="1"/>
              <a:r>
                <a:rPr lang="en-US" sz="1800"/>
                <a:t>[1]   </a:t>
              </a:r>
              <a:endParaRPr lang="en-US" sz="1800"/>
            </a:p>
          </p:txBody>
        </p:sp>
        <p:sp>
          <p:nvSpPr>
            <p:cNvPr id="21545" name="Text Box 33"/>
            <p:cNvSpPr txBox="1">
              <a:spLocks noChangeArrowheads="1"/>
            </p:cNvSpPr>
            <p:nvPr/>
          </p:nvSpPr>
          <p:spPr bwMode="auto">
            <a:xfrm>
              <a:off x="4350" y="1967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algn="l" eaLnBrk="1" hangingPunct="1"/>
              <a:r>
                <a:rPr lang="en-US" sz="1800"/>
                <a:t>[5223]</a:t>
              </a:r>
              <a:endParaRPr lang="en-US" sz="1800"/>
            </a:p>
          </p:txBody>
        </p:sp>
        <p:sp>
          <p:nvSpPr>
            <p:cNvPr id="21546" name="Text Box 34"/>
            <p:cNvSpPr txBox="1">
              <a:spLocks noChangeArrowheads="1"/>
            </p:cNvSpPr>
            <p:nvPr/>
          </p:nvSpPr>
          <p:spPr bwMode="auto">
            <a:xfrm>
              <a:off x="4272" y="3021"/>
              <a:ext cx="6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algn="l" eaLnBrk="1" hangingPunct="1"/>
              <a:r>
                <a:rPr lang="en-US" sz="1800"/>
                <a:t>[83947]</a:t>
              </a:r>
              <a:endParaRPr lang="en-US" sz="1800"/>
            </a:p>
          </p:txBody>
        </p:sp>
        <p:sp>
          <p:nvSpPr>
            <p:cNvPr id="21547" name="Text Box 35"/>
            <p:cNvSpPr txBox="1">
              <a:spLocks noChangeArrowheads="1"/>
            </p:cNvSpPr>
            <p:nvPr/>
          </p:nvSpPr>
          <p:spPr bwMode="auto">
            <a:xfrm>
              <a:off x="4278" y="3270"/>
              <a:ext cx="664" cy="4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algn="l" eaLnBrk="1" hangingPunct="1"/>
              <a:r>
                <a:rPr lang="en-US" sz="1800"/>
                <a:t>[83948]</a:t>
              </a:r>
              <a:endParaRPr lang="en-US" sz="1800"/>
            </a:p>
            <a:p>
              <a:pPr algn="l" eaLnBrk="1" hangingPunct="1"/>
              <a:endParaRPr lang="en-US" sz="800"/>
            </a:p>
            <a:p>
              <a:pPr algn="l" eaLnBrk="1" hangingPunct="1"/>
              <a:r>
                <a:rPr lang="en-US" sz="1800"/>
                <a:t>[83949]</a:t>
              </a:r>
              <a:endParaRPr lang="en-US" sz="1800"/>
            </a:p>
          </p:txBody>
        </p:sp>
        <p:sp>
          <p:nvSpPr>
            <p:cNvPr id="21548" name="Text Box 36"/>
            <p:cNvSpPr txBox="1">
              <a:spLocks noChangeArrowheads="1"/>
            </p:cNvSpPr>
            <p:nvPr/>
          </p:nvSpPr>
          <p:spPr bwMode="auto">
            <a:xfrm>
              <a:off x="4350" y="2187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algn="l" eaLnBrk="1" hangingPunct="1"/>
              <a:r>
                <a:rPr lang="en-US" sz="1800"/>
                <a:t>[5224]</a:t>
              </a:r>
              <a:endParaRPr lang="en-US" sz="1800"/>
            </a:p>
          </p:txBody>
        </p:sp>
        <p:sp>
          <p:nvSpPr>
            <p:cNvPr id="21549" name="Text Box 37"/>
            <p:cNvSpPr txBox="1">
              <a:spLocks noChangeArrowheads="1"/>
            </p:cNvSpPr>
            <p:nvPr/>
          </p:nvSpPr>
          <p:spPr bwMode="auto">
            <a:xfrm>
              <a:off x="4356" y="2421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algn="l" eaLnBrk="1" hangingPunct="1"/>
              <a:r>
                <a:rPr lang="en-US" sz="1800"/>
                <a:t>[5225]</a:t>
              </a:r>
              <a:endParaRPr lang="en-US" sz="1800"/>
            </a:p>
          </p:txBody>
        </p:sp>
        <p:sp>
          <p:nvSpPr>
            <p:cNvPr id="21550" name="Rectangle 38"/>
            <p:cNvSpPr>
              <a:spLocks noChangeArrowheads="1"/>
            </p:cNvSpPr>
            <p:nvPr/>
          </p:nvSpPr>
          <p:spPr bwMode="auto">
            <a:xfrm>
              <a:off x="5080" y="3631"/>
              <a:ext cx="26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...</a:t>
              </a:r>
              <a:endParaRPr lang="en-US"/>
            </a:p>
          </p:txBody>
        </p:sp>
      </p:grpSp>
      <p:sp>
        <p:nvSpPr>
          <p:cNvPr id="770087" name="Text Box 39"/>
          <p:cNvSpPr txBox="1">
            <a:spLocks noChangeArrowheads="1"/>
          </p:cNvSpPr>
          <p:nvPr/>
        </p:nvSpPr>
        <p:spPr bwMode="auto">
          <a:xfrm>
            <a:off x="7981077" y="5183670"/>
            <a:ext cx="70403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l" eaLnBrk="1" hangingPunct="1"/>
            <a:r>
              <a:rPr lang="en-US" sz="2000" b="1" dirty="0">
                <a:solidFill>
                  <a:srgbClr val="FF0000"/>
                </a:solidFill>
              </a:rPr>
              <a:t>true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62" name="Rounded Rectangular Callout 61" hidden="1"/>
          <p:cNvSpPr>
            <a:spLocks noChangeArrowheads="1"/>
          </p:cNvSpPr>
          <p:nvPr/>
        </p:nvSpPr>
        <p:spPr bwMode="auto">
          <a:xfrm flipH="1">
            <a:off x="4797996" y="1195628"/>
            <a:ext cx="2647831" cy="1395172"/>
          </a:xfrm>
          <a:prstGeom prst="wedgeRoundRectCallout">
            <a:avLst>
              <a:gd name="adj1" fmla="val -69522"/>
              <a:gd name="adj2" fmla="val 123459"/>
              <a:gd name="adj3" fmla="val 16667"/>
            </a:avLst>
          </a:prstGeom>
          <a:solidFill>
            <a:srgbClr val="E7F9BF"/>
          </a:solidFill>
          <a:ln w="9525" algn="ctr">
            <a:solidFill>
              <a:schemeClr val="tx1"/>
            </a:solidFill>
            <a:round/>
          </a:ln>
        </p:spPr>
        <p:txBody>
          <a:bodyPr anchor="ctr"/>
          <a:lstStyle/>
          <a:p>
            <a:r>
              <a:rPr lang="en-US" sz="1700" dirty="0"/>
              <a:t>The </a:t>
            </a:r>
            <a:r>
              <a:rPr lang="en-US" sz="1700" dirty="0">
                <a:solidFill>
                  <a:srgbClr val="FF0000"/>
                </a:solidFill>
              </a:rPr>
              <a:t>true</a:t>
            </a:r>
            <a:r>
              <a:rPr lang="en-US" sz="1700" dirty="0"/>
              <a:t> value in this bucket indicates that the value </a:t>
            </a:r>
            <a:r>
              <a:rPr lang="en-US" sz="1700" dirty="0">
                <a:solidFill>
                  <a:srgbClr val="FF0000"/>
                </a:solidFill>
              </a:rPr>
              <a:t>111,105,224</a:t>
            </a:r>
            <a:r>
              <a:rPr lang="en-US" sz="1700" dirty="0"/>
              <a:t> has been stored in our hash table.</a:t>
            </a:r>
            <a:endParaRPr lang="en-US" sz="1700" dirty="0">
              <a:solidFill>
                <a:schemeClr val="tx1"/>
              </a:solidFill>
            </a:endParaRPr>
          </a:p>
        </p:txBody>
      </p:sp>
      <p:sp>
        <p:nvSpPr>
          <p:cNvPr id="63" name="Rounded Rectangular Callout 62" hidden="1"/>
          <p:cNvSpPr>
            <a:spLocks noChangeArrowheads="1"/>
          </p:cNvSpPr>
          <p:nvPr/>
        </p:nvSpPr>
        <p:spPr bwMode="auto">
          <a:xfrm flipH="1">
            <a:off x="4401343" y="5310428"/>
            <a:ext cx="2647831" cy="1395172"/>
          </a:xfrm>
          <a:prstGeom prst="wedgeRoundRectCallout">
            <a:avLst>
              <a:gd name="adj1" fmla="val -82903"/>
              <a:gd name="adj2" fmla="val -46232"/>
              <a:gd name="adj3" fmla="val 16667"/>
            </a:avLst>
          </a:prstGeom>
          <a:solidFill>
            <a:srgbClr val="E7F9BF"/>
          </a:solidFill>
          <a:ln w="9525" algn="ctr">
            <a:solidFill>
              <a:schemeClr val="tx1"/>
            </a:solidFill>
            <a:round/>
          </a:ln>
        </p:spPr>
        <p:txBody>
          <a:bodyPr anchor="ctr"/>
          <a:lstStyle/>
          <a:p>
            <a:r>
              <a:rPr lang="en-US" sz="1700" dirty="0"/>
              <a:t>The </a:t>
            </a:r>
            <a:r>
              <a:rPr lang="en-US" sz="1700" dirty="0">
                <a:solidFill>
                  <a:srgbClr val="FF0000"/>
                </a:solidFill>
              </a:rPr>
              <a:t>true</a:t>
            </a:r>
            <a:r>
              <a:rPr lang="en-US" sz="1700" dirty="0"/>
              <a:t> value in this bucket indicates that the value </a:t>
            </a:r>
            <a:r>
              <a:rPr lang="en-US" sz="1700" dirty="0">
                <a:solidFill>
                  <a:srgbClr val="FF0000"/>
                </a:solidFill>
              </a:rPr>
              <a:t>400,683,948 </a:t>
            </a:r>
            <a:r>
              <a:rPr lang="en-US" sz="1700" dirty="0"/>
              <a:t>has been stored in our hash table.</a:t>
            </a:r>
            <a:endParaRPr lang="en-US" sz="1700" dirty="0">
              <a:solidFill>
                <a:schemeClr val="tx1"/>
              </a:solidFill>
            </a:endParaRPr>
          </a:p>
        </p:txBody>
      </p:sp>
      <p:sp>
        <p:nvSpPr>
          <p:cNvPr id="73" name="Line 5"/>
          <p:cNvSpPr>
            <a:spLocks noChangeShapeType="1"/>
          </p:cNvSpPr>
          <p:nvPr/>
        </p:nvSpPr>
        <p:spPr bwMode="auto">
          <a:xfrm>
            <a:off x="285750" y="5542914"/>
            <a:ext cx="3810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" name="Line 5"/>
          <p:cNvSpPr>
            <a:spLocks noChangeShapeType="1"/>
          </p:cNvSpPr>
          <p:nvPr/>
        </p:nvSpPr>
        <p:spPr bwMode="auto">
          <a:xfrm>
            <a:off x="273260" y="5830224"/>
            <a:ext cx="3810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" name="Line 5"/>
          <p:cNvSpPr>
            <a:spLocks noChangeShapeType="1"/>
          </p:cNvSpPr>
          <p:nvPr/>
        </p:nvSpPr>
        <p:spPr bwMode="auto">
          <a:xfrm>
            <a:off x="185968" y="1545535"/>
            <a:ext cx="3810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" name="Line 5"/>
          <p:cNvSpPr>
            <a:spLocks noChangeShapeType="1"/>
          </p:cNvSpPr>
          <p:nvPr/>
        </p:nvSpPr>
        <p:spPr bwMode="auto">
          <a:xfrm>
            <a:off x="528868" y="2011898"/>
            <a:ext cx="3810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" name="Line 5"/>
          <p:cNvSpPr>
            <a:spLocks noChangeShapeType="1"/>
          </p:cNvSpPr>
          <p:nvPr/>
        </p:nvSpPr>
        <p:spPr bwMode="auto">
          <a:xfrm>
            <a:off x="523711" y="2291622"/>
            <a:ext cx="3810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" name="Line 5"/>
          <p:cNvSpPr>
            <a:spLocks noChangeShapeType="1"/>
          </p:cNvSpPr>
          <p:nvPr/>
        </p:nvSpPr>
        <p:spPr bwMode="auto">
          <a:xfrm>
            <a:off x="168159" y="2499398"/>
            <a:ext cx="3810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6638544" y="5056632"/>
            <a:ext cx="2303089" cy="60311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88" name="Rounded Rectangular Callout 87"/>
          <p:cNvSpPr>
            <a:spLocks noChangeArrowheads="1"/>
          </p:cNvSpPr>
          <p:nvPr/>
        </p:nvSpPr>
        <p:spPr bwMode="auto">
          <a:xfrm flipH="1">
            <a:off x="4241653" y="3694177"/>
            <a:ext cx="2779746" cy="1616068"/>
          </a:xfrm>
          <a:prstGeom prst="wedgeRoundRectCallout">
            <a:avLst>
              <a:gd name="adj1" fmla="val -81095"/>
              <a:gd name="adj2" fmla="val 47964"/>
              <a:gd name="adj3" fmla="val 16667"/>
            </a:avLst>
          </a:prstGeom>
          <a:solidFill>
            <a:srgbClr val="FDFED2"/>
          </a:solidFill>
          <a:ln w="9525" algn="ctr">
            <a:solidFill>
              <a:schemeClr val="tx1"/>
            </a:solidFill>
            <a:round/>
          </a:ln>
        </p:spPr>
        <p:txBody>
          <a:bodyPr anchor="ctr"/>
          <a:lstStyle/>
          <a:p>
            <a:endParaRPr lang="en-US" sz="800" dirty="0"/>
          </a:p>
          <a:p>
            <a:pPr eaLnBrk="1" hangingPunct="1"/>
            <a:r>
              <a:rPr lang="en-US" sz="2000" dirty="0">
                <a:solidFill>
                  <a:schemeClr val="tx1"/>
                </a:solidFill>
              </a:rPr>
              <a:t>The </a:t>
            </a:r>
            <a:r>
              <a:rPr lang="en-US" sz="2000" dirty="0">
                <a:solidFill>
                  <a:srgbClr val="FF0000"/>
                </a:solidFill>
              </a:rPr>
              <a:t>true</a:t>
            </a:r>
            <a:r>
              <a:rPr lang="en-US" sz="2000" dirty="0">
                <a:solidFill>
                  <a:schemeClr val="tx1"/>
                </a:solidFill>
              </a:rPr>
              <a:t> value in slot </a:t>
            </a:r>
            <a:r>
              <a:rPr lang="en-US" sz="2000" dirty="0">
                <a:solidFill>
                  <a:srgbClr val="FF0000"/>
                </a:solidFill>
              </a:rPr>
              <a:t>83,948 </a:t>
            </a:r>
            <a:r>
              <a:rPr lang="en-US" sz="2000" dirty="0">
                <a:solidFill>
                  <a:schemeClr val="tx1"/>
                </a:solidFill>
              </a:rPr>
              <a:t>indicates that the value </a:t>
            </a:r>
            <a:r>
              <a:rPr lang="en-US" sz="2000" dirty="0">
                <a:solidFill>
                  <a:srgbClr val="FF0000"/>
                </a:solidFill>
              </a:rPr>
              <a:t>400,683,948</a:t>
            </a:r>
            <a:r>
              <a:rPr lang="en-US" sz="2000" dirty="0">
                <a:solidFill>
                  <a:schemeClr val="tx1"/>
                </a:solidFill>
              </a:rPr>
              <a:t> is held in our ADT.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" name="Rounded Rectangular Callout 3"/>
          <p:cNvSpPr/>
          <p:nvPr/>
        </p:nvSpPr>
        <p:spPr bwMode="auto">
          <a:xfrm>
            <a:off x="2682890" y="887000"/>
            <a:ext cx="2667000" cy="788408"/>
          </a:xfrm>
          <a:prstGeom prst="wedgeRoundRectCallout">
            <a:avLst>
              <a:gd name="adj1" fmla="val -39103"/>
              <a:gd name="adj2" fmla="val 77134"/>
              <a:gd name="adj3" fmla="val 16667"/>
            </a:avLst>
          </a:prstGeom>
          <a:solidFill>
            <a:srgbClr val="E7F9B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eaLnBrk="1" hangingPunct="1"/>
            <a:r>
              <a:rPr lang="en-US" sz="1600" dirty="0">
                <a:solidFill>
                  <a:srgbClr val="6600CC"/>
                </a:solidFill>
              </a:rPr>
              <a:t>400,683,948</a:t>
            </a:r>
            <a:r>
              <a:rPr lang="en-US" sz="1600" dirty="0">
                <a:solidFill>
                  <a:srgbClr val="FF3300"/>
                </a:solidFill>
              </a:rPr>
              <a:t> % </a:t>
            </a:r>
            <a:r>
              <a:rPr lang="en-US" sz="1600" dirty="0">
                <a:solidFill>
                  <a:srgbClr val="6600CC"/>
                </a:solidFill>
              </a:rPr>
              <a:t>100,000 </a:t>
            </a:r>
            <a:r>
              <a:rPr lang="en-US" dirty="0">
                <a:solidFill>
                  <a:srgbClr val="FF3300"/>
                </a:solidFill>
              </a:rPr>
              <a:t>= </a:t>
            </a:r>
            <a:r>
              <a:rPr lang="en-US" dirty="0">
                <a:solidFill>
                  <a:srgbClr val="FF0000"/>
                </a:solidFill>
              </a:rPr>
              <a:t>83,948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Box 3"/>
          <p:cNvSpPr txBox="1">
            <a:spLocks noChangeArrowheads="1"/>
          </p:cNvSpPr>
          <p:nvPr/>
        </p:nvSpPr>
        <p:spPr bwMode="auto">
          <a:xfrm>
            <a:off x="193463" y="656168"/>
            <a:ext cx="4903084" cy="4193456"/>
          </a:xfrm>
          <a:prstGeom prst="rect">
            <a:avLst/>
          </a:prstGeom>
          <a:solidFill>
            <a:srgbClr val="FFFF99"/>
          </a:solidFill>
          <a:ln w="41275">
            <a:solidFill>
              <a:schemeClr val="tx1"/>
            </a:solidFill>
            <a:miter lim="800000"/>
          </a:ln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l" eaLnBrk="1" hangingPunct="1"/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class </a:t>
            </a:r>
            <a:r>
              <a:rPr lang="en-US" sz="1800" b="1" dirty="0">
                <a:solidFill>
                  <a:srgbClr val="6600CC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AlmostHashTable2</a:t>
            </a:r>
            <a:endParaRPr lang="en-US" sz="1800" b="1" dirty="0">
              <a:solidFill>
                <a:srgbClr val="6600CC"/>
              </a:solidFill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200" b="1" dirty="0">
                <a:latin typeface="Courier New" panose="02070409020205090404" pitchFamily="49" charset="0"/>
                <a:cs typeface="Courier New" panose="02070409020205090404" pitchFamily="49" charset="0"/>
              </a:rPr>
              <a:t>{</a:t>
            </a:r>
            <a:endParaRPr lang="en-US" sz="12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600" b="1" dirty="0">
                <a:solidFill>
                  <a:schemeClr val="tx1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public:</a:t>
            </a:r>
            <a:endParaRPr lang="en-US" sz="1600" b="1" dirty="0">
              <a:solidFill>
                <a:schemeClr val="tx1"/>
              </a:solidFill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void </a:t>
            </a:r>
            <a:r>
              <a:rPr lang="en-US" sz="1800" b="1" dirty="0" err="1">
                <a:solidFill>
                  <a:srgbClr val="006666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addItem</a:t>
            </a:r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(</a:t>
            </a:r>
            <a:r>
              <a:rPr lang="en-US" sz="1800" b="1" dirty="0" err="1">
                <a:latin typeface="Courier New" panose="02070409020205090404" pitchFamily="49" charset="0"/>
                <a:cs typeface="Courier New" panose="02070409020205090404" pitchFamily="49" charset="0"/>
              </a:rPr>
              <a:t>int</a:t>
            </a:r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n</a:t>
            </a:r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)</a:t>
            </a:r>
            <a:endParaRPr lang="en-US" sz="18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2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{ </a:t>
            </a:r>
            <a:endParaRPr lang="en-US" sz="12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  int </a:t>
            </a:r>
            <a:r>
              <a:rPr lang="en-US" sz="1800" b="1" dirty="0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bucket</a:t>
            </a:r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 = </a:t>
            </a:r>
            <a:r>
              <a:rPr lang="en-US" sz="1800" b="1" dirty="0" err="1">
                <a:solidFill>
                  <a:srgbClr val="6600CC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mapFunc</a:t>
            </a:r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(</a:t>
            </a:r>
            <a:r>
              <a:rPr lang="en-US" sz="1800" b="1" dirty="0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n</a:t>
            </a:r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);</a:t>
            </a:r>
            <a:endParaRPr lang="en-US" sz="18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  </a:t>
            </a:r>
            <a:r>
              <a:rPr lang="en-US" sz="1800" b="1" dirty="0" err="1">
                <a:latin typeface="Courier New" panose="02070409020205090404" pitchFamily="49" charset="0"/>
                <a:cs typeface="Courier New" panose="02070409020205090404" pitchFamily="49" charset="0"/>
              </a:rPr>
              <a:t>m_array</a:t>
            </a:r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[</a:t>
            </a:r>
            <a:r>
              <a:rPr lang="en-US" sz="1800" b="1" dirty="0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bucket</a:t>
            </a:r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] = </a:t>
            </a:r>
            <a:r>
              <a:rPr lang="en-US" sz="1800" b="1" dirty="0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true</a:t>
            </a:r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;</a:t>
            </a:r>
            <a:endParaRPr lang="en-US" sz="18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2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}  </a:t>
            </a:r>
            <a:br>
              <a:rPr lang="en-US" sz="1200" b="1" dirty="0">
                <a:latin typeface="Courier New" panose="02070409020205090404" pitchFamily="49" charset="0"/>
                <a:cs typeface="Courier New" panose="02070409020205090404" pitchFamily="49" charset="0"/>
              </a:rPr>
            </a:br>
            <a:br>
              <a:rPr lang="en-US" sz="1200" b="1" dirty="0">
                <a:latin typeface="Courier New" panose="02070409020205090404" pitchFamily="49" charset="0"/>
                <a:cs typeface="Courier New" panose="02070409020205090404" pitchFamily="49" charset="0"/>
              </a:rPr>
            </a:br>
            <a:r>
              <a:rPr lang="en-US" sz="1600" b="1" dirty="0">
                <a:solidFill>
                  <a:schemeClr val="tx1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private:</a:t>
            </a:r>
            <a:endParaRPr lang="en-US" sz="1600" b="1" dirty="0">
              <a:solidFill>
                <a:schemeClr val="tx1"/>
              </a:solidFill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 dirty="0">
                <a:solidFill>
                  <a:schemeClr val="tx1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  int</a:t>
            </a:r>
            <a:r>
              <a:rPr lang="en-US" sz="1800" b="1" dirty="0">
                <a:solidFill>
                  <a:srgbClr val="6600CC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r>
              <a:rPr lang="en-US" sz="1800" b="1" dirty="0" err="1">
                <a:solidFill>
                  <a:srgbClr val="6600CC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mapFunc</a:t>
            </a:r>
            <a:r>
              <a:rPr lang="en-US" sz="1800" b="1" dirty="0">
                <a:solidFill>
                  <a:schemeClr val="tx1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(int</a:t>
            </a:r>
            <a:r>
              <a:rPr lang="en-US" sz="1800" b="1" dirty="0">
                <a:solidFill>
                  <a:srgbClr val="6600CC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idNum</a:t>
            </a:r>
            <a:r>
              <a:rPr lang="en-US" sz="1800" b="1" dirty="0">
                <a:solidFill>
                  <a:schemeClr val="tx1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)</a:t>
            </a:r>
            <a:endParaRPr lang="en-US" sz="1800" dirty="0">
              <a:solidFill>
                <a:schemeClr val="tx1"/>
              </a:solidFill>
            </a:endParaRPr>
          </a:p>
          <a:p>
            <a:pPr algn="l" eaLnBrk="1" hangingPunct="1"/>
            <a:r>
              <a:rPr lang="en-US" sz="1800" b="1" dirty="0">
                <a:solidFill>
                  <a:schemeClr val="tx1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  {</a:t>
            </a:r>
            <a:br>
              <a:rPr lang="en-US" sz="1800" b="1" dirty="0">
                <a:solidFill>
                  <a:schemeClr val="tx1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</a:br>
            <a:r>
              <a:rPr lang="en-US" sz="1800" b="1" dirty="0">
                <a:solidFill>
                  <a:schemeClr val="tx1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     return </a:t>
            </a:r>
            <a:r>
              <a:rPr lang="en-US" sz="1800" b="1" dirty="0" err="1">
                <a:solidFill>
                  <a:schemeClr val="tx1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idNum</a:t>
            </a:r>
            <a:r>
              <a:rPr lang="en-US" sz="1800" b="1" dirty="0">
                <a:solidFill>
                  <a:schemeClr val="tx1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 % 100000; </a:t>
            </a:r>
            <a:br>
              <a:rPr lang="en-US" sz="1800" b="1" dirty="0">
                <a:solidFill>
                  <a:schemeClr val="tx1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</a:br>
            <a:r>
              <a:rPr lang="en-US" sz="1800" b="1" dirty="0">
                <a:solidFill>
                  <a:schemeClr val="tx1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  }</a:t>
            </a:r>
            <a:endParaRPr lang="en-US" sz="1800" dirty="0">
              <a:solidFill>
                <a:schemeClr val="tx1"/>
              </a:solidFill>
            </a:endParaRPr>
          </a:p>
          <a:p>
            <a:pPr algn="l" eaLnBrk="1" hangingPunct="1"/>
            <a:endParaRPr lang="en-US" sz="600" b="1" dirty="0">
              <a:solidFill>
                <a:schemeClr val="tx1"/>
              </a:solidFill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bool </a:t>
            </a:r>
            <a:r>
              <a:rPr lang="en-US" sz="1800" b="1" dirty="0" err="1">
                <a:latin typeface="Courier New" panose="02070409020205090404" pitchFamily="49" charset="0"/>
                <a:cs typeface="Courier New" panose="02070409020205090404" pitchFamily="49" charset="0"/>
              </a:rPr>
              <a:t>m_array</a:t>
            </a:r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[</a:t>
            </a:r>
            <a:r>
              <a:rPr lang="en-US" sz="1800" b="1" dirty="0">
                <a:solidFill>
                  <a:srgbClr val="FF33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100000</a:t>
            </a:r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]; </a:t>
            </a:r>
            <a:r>
              <a:rPr lang="en-US" sz="1400" b="1" dirty="0">
                <a:latin typeface="Courier New" panose="02070409020205090404" pitchFamily="49" charset="0"/>
                <a:cs typeface="Courier New" panose="02070409020205090404" pitchFamily="49" charset="0"/>
              </a:rPr>
              <a:t>//</a:t>
            </a:r>
            <a:r>
              <a:rPr lang="en-US" sz="1100" b="1" dirty="0"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r>
              <a:rPr lang="en-US" sz="1400" b="1" dirty="0">
                <a:latin typeface="Courier New" panose="02070409020205090404" pitchFamily="49" charset="0"/>
                <a:cs typeface="Courier New" panose="02070409020205090404" pitchFamily="49" charset="0"/>
              </a:rPr>
              <a:t>not</a:t>
            </a:r>
            <a:r>
              <a:rPr lang="en-US" sz="1050" b="1" dirty="0"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r>
              <a:rPr lang="en-US" sz="1400" b="1" dirty="0">
                <a:latin typeface="Courier New" panose="02070409020205090404" pitchFamily="49" charset="0"/>
                <a:cs typeface="Courier New" panose="02070409020205090404" pitchFamily="49" charset="0"/>
              </a:rPr>
              <a:t>so</a:t>
            </a:r>
            <a:r>
              <a:rPr lang="en-US" sz="1000" b="1" dirty="0"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r>
              <a:rPr lang="en-US" sz="1400" b="1" dirty="0">
                <a:latin typeface="Courier New" panose="02070409020205090404" pitchFamily="49" charset="0"/>
                <a:cs typeface="Courier New" panose="02070409020205090404" pitchFamily="49" charset="0"/>
              </a:rPr>
              <a:t>big!</a:t>
            </a:r>
            <a:endParaRPr lang="en-US" sz="18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400" b="1" dirty="0">
                <a:latin typeface="Courier New" panose="02070409020205090404" pitchFamily="49" charset="0"/>
                <a:cs typeface="Courier New" panose="02070409020205090404" pitchFamily="49" charset="0"/>
              </a:rPr>
              <a:t>};</a:t>
            </a:r>
            <a:endParaRPr lang="en-US" sz="14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</p:txBody>
      </p:sp>
      <p:sp>
        <p:nvSpPr>
          <p:cNvPr id="72" name="Text Box 3"/>
          <p:cNvSpPr txBox="1">
            <a:spLocks noChangeArrowheads="1"/>
          </p:cNvSpPr>
          <p:nvPr/>
        </p:nvSpPr>
        <p:spPr bwMode="auto">
          <a:xfrm>
            <a:off x="185968" y="4818936"/>
            <a:ext cx="4903084" cy="2031325"/>
          </a:xfrm>
          <a:prstGeom prst="rect">
            <a:avLst/>
          </a:prstGeom>
          <a:solidFill>
            <a:srgbClr val="EFFFF8"/>
          </a:solidFill>
          <a:ln w="41275">
            <a:solidFill>
              <a:schemeClr val="tx1"/>
            </a:solidFill>
            <a:miter lim="800000"/>
          </a:ln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l" eaLnBrk="1" hangingPunct="1"/>
            <a:r>
              <a:rPr lang="en-US" sz="1800" b="1" dirty="0" err="1">
                <a:latin typeface="Courier New" panose="02070409020205090404" pitchFamily="49" charset="0"/>
                <a:cs typeface="Courier New" panose="02070409020205090404" pitchFamily="49" charset="0"/>
              </a:rPr>
              <a:t>int</a:t>
            </a:r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 main()</a:t>
            </a:r>
            <a:endParaRPr lang="en-US" sz="18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{</a:t>
            </a:r>
            <a:endParaRPr lang="en-US" sz="18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AlmostHashTable2 x;</a:t>
            </a:r>
            <a:endParaRPr lang="en-US" sz="18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</a:t>
            </a:r>
            <a:r>
              <a:rPr lang="en-US" sz="1800" b="1" dirty="0" err="1">
                <a:latin typeface="Courier New" panose="02070409020205090404" pitchFamily="49" charset="0"/>
                <a:cs typeface="Courier New" panose="02070409020205090404" pitchFamily="49" charset="0"/>
              </a:rPr>
              <a:t>x.addItem</a:t>
            </a:r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(400683948);</a:t>
            </a:r>
            <a:endParaRPr lang="en-US" sz="18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</a:t>
            </a:r>
            <a:r>
              <a:rPr lang="en-US" sz="1800" b="1" dirty="0" err="1">
                <a:latin typeface="Courier New" panose="02070409020205090404" pitchFamily="49" charset="0"/>
                <a:cs typeface="Courier New" panose="02070409020205090404" pitchFamily="49" charset="0"/>
              </a:rPr>
              <a:t>x.addItem</a:t>
            </a:r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(111105224);</a:t>
            </a:r>
            <a:endParaRPr lang="en-US" sz="18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</a:t>
            </a:r>
            <a:r>
              <a:rPr lang="en-US" sz="1800" b="1" dirty="0" err="1">
                <a:latin typeface="Courier New" panose="02070409020205090404" pitchFamily="49" charset="0"/>
                <a:cs typeface="Courier New" panose="02070409020205090404" pitchFamily="49" charset="0"/>
              </a:rPr>
              <a:t>x.addItem</a:t>
            </a:r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(222205224);</a:t>
            </a:r>
            <a:endParaRPr lang="en-US" sz="18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}</a:t>
            </a:r>
            <a:endParaRPr lang="en-US" sz="14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</p:txBody>
      </p:sp>
      <p:sp>
        <p:nvSpPr>
          <p:cNvPr id="2150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fld id="{E9CB8C4E-090D-4F08-9FD1-AAEFC17B25AC}" type="slidenum">
              <a:rPr lang="en-US" sz="1400" smtClean="0">
                <a:solidFill>
                  <a:schemeClr val="tx1"/>
                </a:solidFill>
                <a:latin typeface="Times New Roman" panose="02020503050405090304" pitchFamily="18" charset="0"/>
              </a:rPr>
            </a:fld>
            <a:endParaRPr lang="en-US" sz="140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319088" y="-293555"/>
            <a:ext cx="8494712" cy="1143000"/>
          </a:xfrm>
          <a:noFill/>
        </p:spPr>
        <p:txBody>
          <a:bodyPr/>
          <a:lstStyle/>
          <a:p>
            <a:pPr eaLnBrk="1" hangingPunct="1"/>
            <a:r>
              <a:rPr lang="en-US" sz="3600" dirty="0"/>
              <a:t>The (Almost) Hash Table</a:t>
            </a:r>
            <a:endParaRPr lang="en-US" sz="3600" dirty="0">
              <a:solidFill>
                <a:schemeClr val="accent2"/>
              </a:solidFill>
            </a:endParaRPr>
          </a:p>
        </p:txBody>
      </p:sp>
      <p:sp>
        <p:nvSpPr>
          <p:cNvPr id="770064" name="Text Box 16"/>
          <p:cNvSpPr txBox="1">
            <a:spLocks noChangeArrowheads="1"/>
          </p:cNvSpPr>
          <p:nvPr/>
        </p:nvSpPr>
        <p:spPr bwMode="auto">
          <a:xfrm>
            <a:off x="7745413" y="6248400"/>
            <a:ext cx="11128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l" eaLnBrk="1" hangingPunct="1"/>
            <a:r>
              <a:rPr lang="en-US">
                <a:solidFill>
                  <a:schemeClr val="bg1"/>
                </a:solidFill>
              </a:rPr>
              <a:t>83948</a:t>
            </a:r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3" name="Group 18"/>
          <p:cNvGrpSpPr/>
          <p:nvPr/>
        </p:nvGrpSpPr>
        <p:grpSpPr bwMode="auto">
          <a:xfrm>
            <a:off x="6145256" y="1644652"/>
            <a:ext cx="2694002" cy="4576765"/>
            <a:chOff x="3871" y="1036"/>
            <a:chExt cx="1697" cy="2883"/>
          </a:xfrm>
        </p:grpSpPr>
        <p:grpSp>
          <p:nvGrpSpPr>
            <p:cNvPr id="21542" name="Group 19"/>
            <p:cNvGrpSpPr/>
            <p:nvPr/>
          </p:nvGrpSpPr>
          <p:grpSpPr bwMode="auto">
            <a:xfrm>
              <a:off x="3871" y="1036"/>
              <a:ext cx="1697" cy="2708"/>
              <a:chOff x="3871" y="892"/>
              <a:chExt cx="1697" cy="2708"/>
            </a:xfrm>
          </p:grpSpPr>
          <p:sp>
            <p:nvSpPr>
              <p:cNvPr id="21551" name="Rectangle 20"/>
              <p:cNvSpPr>
                <a:spLocks noChangeArrowheads="1"/>
              </p:cNvSpPr>
              <p:nvPr/>
            </p:nvSpPr>
            <p:spPr bwMode="auto">
              <a:xfrm>
                <a:off x="4896" y="1008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52" name="Rectangle 21"/>
              <p:cNvSpPr>
                <a:spLocks noChangeArrowheads="1"/>
              </p:cNvSpPr>
              <p:nvPr/>
            </p:nvSpPr>
            <p:spPr bwMode="auto">
              <a:xfrm>
                <a:off x="4896" y="1248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53" name="Rectangle 22"/>
              <p:cNvSpPr>
                <a:spLocks noChangeArrowheads="1"/>
              </p:cNvSpPr>
              <p:nvPr/>
            </p:nvSpPr>
            <p:spPr bwMode="auto">
              <a:xfrm>
                <a:off x="4896" y="1824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54" name="Rectangle 23"/>
              <p:cNvSpPr>
                <a:spLocks noChangeArrowheads="1"/>
              </p:cNvSpPr>
              <p:nvPr/>
            </p:nvSpPr>
            <p:spPr bwMode="auto">
              <a:xfrm>
                <a:off x="4896" y="2064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55" name="Rectangle 24"/>
              <p:cNvSpPr>
                <a:spLocks noChangeArrowheads="1"/>
              </p:cNvSpPr>
              <p:nvPr/>
            </p:nvSpPr>
            <p:spPr bwMode="auto">
              <a:xfrm>
                <a:off x="4896" y="2304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56" name="Text Box 25"/>
              <p:cNvSpPr txBox="1">
                <a:spLocks noChangeArrowheads="1"/>
              </p:cNvSpPr>
              <p:nvPr/>
            </p:nvSpPr>
            <p:spPr bwMode="auto">
              <a:xfrm>
                <a:off x="5058" y="2537"/>
                <a:ext cx="26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9pPr>
              </a:lstStyle>
              <a:p>
                <a:pPr algn="l" eaLnBrk="1" hangingPunct="1"/>
                <a:r>
                  <a:rPr lang="en-US"/>
                  <a:t>...</a:t>
                </a:r>
                <a:endParaRPr lang="en-US"/>
              </a:p>
            </p:txBody>
          </p:sp>
          <p:sp>
            <p:nvSpPr>
              <p:cNvPr id="21557" name="Rectangle 26"/>
              <p:cNvSpPr>
                <a:spLocks noChangeArrowheads="1"/>
              </p:cNvSpPr>
              <p:nvPr/>
            </p:nvSpPr>
            <p:spPr bwMode="auto">
              <a:xfrm>
                <a:off x="4896" y="2880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58" name="Rectangle 27"/>
              <p:cNvSpPr>
                <a:spLocks noChangeArrowheads="1"/>
              </p:cNvSpPr>
              <p:nvPr/>
            </p:nvSpPr>
            <p:spPr bwMode="auto">
              <a:xfrm>
                <a:off x="4896" y="3120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59" name="Rectangle 28"/>
              <p:cNvSpPr>
                <a:spLocks noChangeArrowheads="1"/>
              </p:cNvSpPr>
              <p:nvPr/>
            </p:nvSpPr>
            <p:spPr bwMode="auto">
              <a:xfrm>
                <a:off x="4896" y="3360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60" name="Text Box 29"/>
              <p:cNvSpPr txBox="1">
                <a:spLocks noChangeArrowheads="1"/>
              </p:cNvSpPr>
              <p:nvPr/>
            </p:nvSpPr>
            <p:spPr bwMode="auto">
              <a:xfrm>
                <a:off x="3871" y="892"/>
                <a:ext cx="1103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9pPr>
              </a:lstStyle>
              <a:p>
                <a:pPr eaLnBrk="1" hangingPunct="1"/>
                <a:r>
                  <a:rPr lang="en-US" dirty="0" err="1"/>
                  <a:t>m_array</a:t>
                </a:r>
                <a:r>
                  <a:rPr lang="en-US" dirty="0"/>
                  <a:t>    </a:t>
                </a:r>
                <a:endParaRPr lang="en-US" dirty="0"/>
              </a:p>
            </p:txBody>
          </p:sp>
          <p:sp>
            <p:nvSpPr>
              <p:cNvPr id="21561" name="Text Box 30"/>
              <p:cNvSpPr txBox="1">
                <a:spLocks noChangeArrowheads="1"/>
              </p:cNvSpPr>
              <p:nvPr/>
            </p:nvSpPr>
            <p:spPr bwMode="auto">
              <a:xfrm>
                <a:off x="5088" y="1488"/>
                <a:ext cx="26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9pPr>
              </a:lstStyle>
              <a:p>
                <a:pPr algn="l" eaLnBrk="1" hangingPunct="1"/>
                <a:r>
                  <a:rPr lang="en-US"/>
                  <a:t>...</a:t>
                </a:r>
                <a:endParaRPr lang="en-US"/>
              </a:p>
            </p:txBody>
          </p:sp>
        </p:grpSp>
        <p:sp>
          <p:nvSpPr>
            <p:cNvPr id="21543" name="Text Box 31"/>
            <p:cNvSpPr txBox="1">
              <a:spLocks noChangeArrowheads="1"/>
            </p:cNvSpPr>
            <p:nvPr/>
          </p:nvSpPr>
          <p:spPr bwMode="auto">
            <a:xfrm>
              <a:off x="4617" y="1166"/>
              <a:ext cx="35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eaLnBrk="1" hangingPunct="1"/>
              <a:r>
                <a:rPr lang="en-US" sz="1800"/>
                <a:t>[0] </a:t>
              </a:r>
              <a:endParaRPr lang="en-US" sz="1800"/>
            </a:p>
          </p:txBody>
        </p:sp>
        <p:sp>
          <p:nvSpPr>
            <p:cNvPr id="21544" name="Text Box 32"/>
            <p:cNvSpPr txBox="1">
              <a:spLocks noChangeArrowheads="1"/>
            </p:cNvSpPr>
            <p:nvPr/>
          </p:nvSpPr>
          <p:spPr bwMode="auto">
            <a:xfrm>
              <a:off x="4614" y="1371"/>
              <a:ext cx="41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eaLnBrk="1" hangingPunct="1"/>
              <a:r>
                <a:rPr lang="en-US" sz="1800"/>
                <a:t>[1]   </a:t>
              </a:r>
              <a:endParaRPr lang="en-US" sz="1800"/>
            </a:p>
          </p:txBody>
        </p:sp>
        <p:sp>
          <p:nvSpPr>
            <p:cNvPr id="21545" name="Text Box 33"/>
            <p:cNvSpPr txBox="1">
              <a:spLocks noChangeArrowheads="1"/>
            </p:cNvSpPr>
            <p:nvPr/>
          </p:nvSpPr>
          <p:spPr bwMode="auto">
            <a:xfrm>
              <a:off x="4350" y="1967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algn="l" eaLnBrk="1" hangingPunct="1"/>
              <a:r>
                <a:rPr lang="en-US" sz="1800"/>
                <a:t>[5223]</a:t>
              </a:r>
              <a:endParaRPr lang="en-US" sz="1800"/>
            </a:p>
          </p:txBody>
        </p:sp>
        <p:sp>
          <p:nvSpPr>
            <p:cNvPr id="21546" name="Text Box 34"/>
            <p:cNvSpPr txBox="1">
              <a:spLocks noChangeArrowheads="1"/>
            </p:cNvSpPr>
            <p:nvPr/>
          </p:nvSpPr>
          <p:spPr bwMode="auto">
            <a:xfrm>
              <a:off x="4272" y="3021"/>
              <a:ext cx="6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algn="l" eaLnBrk="1" hangingPunct="1"/>
              <a:r>
                <a:rPr lang="en-US" sz="1800"/>
                <a:t>[83947]</a:t>
              </a:r>
              <a:endParaRPr lang="en-US" sz="1800"/>
            </a:p>
          </p:txBody>
        </p:sp>
        <p:sp>
          <p:nvSpPr>
            <p:cNvPr id="21547" name="Text Box 35"/>
            <p:cNvSpPr txBox="1">
              <a:spLocks noChangeArrowheads="1"/>
            </p:cNvSpPr>
            <p:nvPr/>
          </p:nvSpPr>
          <p:spPr bwMode="auto">
            <a:xfrm>
              <a:off x="4278" y="3270"/>
              <a:ext cx="664" cy="4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algn="l" eaLnBrk="1" hangingPunct="1"/>
              <a:r>
                <a:rPr lang="en-US" sz="1800"/>
                <a:t>[83948]</a:t>
              </a:r>
              <a:endParaRPr lang="en-US" sz="1800"/>
            </a:p>
            <a:p>
              <a:pPr algn="l" eaLnBrk="1" hangingPunct="1"/>
              <a:endParaRPr lang="en-US" sz="800"/>
            </a:p>
            <a:p>
              <a:pPr algn="l" eaLnBrk="1" hangingPunct="1"/>
              <a:r>
                <a:rPr lang="en-US" sz="1800"/>
                <a:t>[83949]</a:t>
              </a:r>
              <a:endParaRPr lang="en-US" sz="1800"/>
            </a:p>
          </p:txBody>
        </p:sp>
        <p:sp>
          <p:nvSpPr>
            <p:cNvPr id="21548" name="Text Box 36"/>
            <p:cNvSpPr txBox="1">
              <a:spLocks noChangeArrowheads="1"/>
            </p:cNvSpPr>
            <p:nvPr/>
          </p:nvSpPr>
          <p:spPr bwMode="auto">
            <a:xfrm>
              <a:off x="4350" y="2187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algn="l" eaLnBrk="1" hangingPunct="1"/>
              <a:r>
                <a:rPr lang="en-US" sz="1800"/>
                <a:t>[5224]</a:t>
              </a:r>
              <a:endParaRPr lang="en-US" sz="1800"/>
            </a:p>
          </p:txBody>
        </p:sp>
        <p:sp>
          <p:nvSpPr>
            <p:cNvPr id="21549" name="Text Box 37"/>
            <p:cNvSpPr txBox="1">
              <a:spLocks noChangeArrowheads="1"/>
            </p:cNvSpPr>
            <p:nvPr/>
          </p:nvSpPr>
          <p:spPr bwMode="auto">
            <a:xfrm>
              <a:off x="4356" y="2421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algn="l" eaLnBrk="1" hangingPunct="1"/>
              <a:r>
                <a:rPr lang="en-US" sz="1800"/>
                <a:t>[5225]</a:t>
              </a:r>
              <a:endParaRPr lang="en-US" sz="1800"/>
            </a:p>
          </p:txBody>
        </p:sp>
        <p:sp>
          <p:nvSpPr>
            <p:cNvPr id="21550" name="Rectangle 38"/>
            <p:cNvSpPr>
              <a:spLocks noChangeArrowheads="1"/>
            </p:cNvSpPr>
            <p:nvPr/>
          </p:nvSpPr>
          <p:spPr bwMode="auto">
            <a:xfrm>
              <a:off x="5080" y="3631"/>
              <a:ext cx="26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...</a:t>
              </a:r>
              <a:endParaRPr lang="en-US"/>
            </a:p>
          </p:txBody>
        </p:sp>
      </p:grpSp>
      <p:sp>
        <p:nvSpPr>
          <p:cNvPr id="770087" name="Text Box 39"/>
          <p:cNvSpPr txBox="1">
            <a:spLocks noChangeArrowheads="1"/>
          </p:cNvSpPr>
          <p:nvPr/>
        </p:nvSpPr>
        <p:spPr bwMode="auto">
          <a:xfrm>
            <a:off x="7981077" y="3497745"/>
            <a:ext cx="70403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l" eaLnBrk="1" hangingPunct="1"/>
            <a:r>
              <a:rPr lang="en-US" sz="2000" b="1" dirty="0">
                <a:solidFill>
                  <a:srgbClr val="FF0000"/>
                </a:solidFill>
              </a:rPr>
              <a:t>true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62" name="Rounded Rectangular Callout 61" hidden="1"/>
          <p:cNvSpPr>
            <a:spLocks noChangeArrowheads="1"/>
          </p:cNvSpPr>
          <p:nvPr/>
        </p:nvSpPr>
        <p:spPr bwMode="auto">
          <a:xfrm flipH="1">
            <a:off x="4797996" y="1195628"/>
            <a:ext cx="2647831" cy="1395172"/>
          </a:xfrm>
          <a:prstGeom prst="wedgeRoundRectCallout">
            <a:avLst>
              <a:gd name="adj1" fmla="val -69522"/>
              <a:gd name="adj2" fmla="val 123459"/>
              <a:gd name="adj3" fmla="val 16667"/>
            </a:avLst>
          </a:prstGeom>
          <a:solidFill>
            <a:srgbClr val="E7F9BF"/>
          </a:solidFill>
          <a:ln w="9525" algn="ctr">
            <a:solidFill>
              <a:schemeClr val="tx1"/>
            </a:solidFill>
            <a:round/>
          </a:ln>
        </p:spPr>
        <p:txBody>
          <a:bodyPr anchor="ctr"/>
          <a:lstStyle/>
          <a:p>
            <a:r>
              <a:rPr lang="en-US" sz="1700" dirty="0"/>
              <a:t>The </a:t>
            </a:r>
            <a:r>
              <a:rPr lang="en-US" sz="1700" dirty="0">
                <a:solidFill>
                  <a:srgbClr val="FF0000"/>
                </a:solidFill>
              </a:rPr>
              <a:t>true</a:t>
            </a:r>
            <a:r>
              <a:rPr lang="en-US" sz="1700" dirty="0"/>
              <a:t> value in this bucket indicates that the value </a:t>
            </a:r>
            <a:r>
              <a:rPr lang="en-US" sz="1700" dirty="0">
                <a:solidFill>
                  <a:srgbClr val="FF0000"/>
                </a:solidFill>
              </a:rPr>
              <a:t>111,105,224</a:t>
            </a:r>
            <a:r>
              <a:rPr lang="en-US" sz="1700" dirty="0"/>
              <a:t> has been stored in our hash table.</a:t>
            </a:r>
            <a:endParaRPr lang="en-US" sz="1700" dirty="0">
              <a:solidFill>
                <a:schemeClr val="tx1"/>
              </a:solidFill>
            </a:endParaRPr>
          </a:p>
        </p:txBody>
      </p:sp>
      <p:sp>
        <p:nvSpPr>
          <p:cNvPr id="63" name="Rounded Rectangular Callout 62" hidden="1"/>
          <p:cNvSpPr>
            <a:spLocks noChangeArrowheads="1"/>
          </p:cNvSpPr>
          <p:nvPr/>
        </p:nvSpPr>
        <p:spPr bwMode="auto">
          <a:xfrm flipH="1">
            <a:off x="4401343" y="5310428"/>
            <a:ext cx="2647831" cy="1395172"/>
          </a:xfrm>
          <a:prstGeom prst="wedgeRoundRectCallout">
            <a:avLst>
              <a:gd name="adj1" fmla="val -82903"/>
              <a:gd name="adj2" fmla="val -46232"/>
              <a:gd name="adj3" fmla="val 16667"/>
            </a:avLst>
          </a:prstGeom>
          <a:solidFill>
            <a:srgbClr val="E7F9BF"/>
          </a:solidFill>
          <a:ln w="9525" algn="ctr">
            <a:solidFill>
              <a:schemeClr val="tx1"/>
            </a:solidFill>
            <a:round/>
          </a:ln>
        </p:spPr>
        <p:txBody>
          <a:bodyPr anchor="ctr"/>
          <a:lstStyle/>
          <a:p>
            <a:r>
              <a:rPr lang="en-US" sz="1700" dirty="0"/>
              <a:t>The </a:t>
            </a:r>
            <a:r>
              <a:rPr lang="en-US" sz="1700" dirty="0">
                <a:solidFill>
                  <a:srgbClr val="FF0000"/>
                </a:solidFill>
              </a:rPr>
              <a:t>true</a:t>
            </a:r>
            <a:r>
              <a:rPr lang="en-US" sz="1700" dirty="0"/>
              <a:t> value in this bucket indicates that the value </a:t>
            </a:r>
            <a:r>
              <a:rPr lang="en-US" sz="1700" dirty="0">
                <a:solidFill>
                  <a:srgbClr val="FF0000"/>
                </a:solidFill>
              </a:rPr>
              <a:t>400,683,948 </a:t>
            </a:r>
            <a:r>
              <a:rPr lang="en-US" sz="1700" dirty="0"/>
              <a:t>has been stored in our hash table.</a:t>
            </a:r>
            <a:endParaRPr lang="en-US" sz="1700" dirty="0">
              <a:solidFill>
                <a:schemeClr val="tx1"/>
              </a:solidFill>
            </a:endParaRPr>
          </a:p>
        </p:txBody>
      </p:sp>
      <p:sp>
        <p:nvSpPr>
          <p:cNvPr id="74" name="Line 5"/>
          <p:cNvSpPr>
            <a:spLocks noChangeShapeType="1"/>
          </p:cNvSpPr>
          <p:nvPr/>
        </p:nvSpPr>
        <p:spPr bwMode="auto">
          <a:xfrm>
            <a:off x="273260" y="6104544"/>
            <a:ext cx="3810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" name="Line 5"/>
          <p:cNvSpPr>
            <a:spLocks noChangeShapeType="1"/>
          </p:cNvSpPr>
          <p:nvPr/>
        </p:nvSpPr>
        <p:spPr bwMode="auto">
          <a:xfrm>
            <a:off x="185968" y="1545535"/>
            <a:ext cx="3810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" name="Line 5"/>
          <p:cNvSpPr>
            <a:spLocks noChangeShapeType="1"/>
          </p:cNvSpPr>
          <p:nvPr/>
        </p:nvSpPr>
        <p:spPr bwMode="auto">
          <a:xfrm>
            <a:off x="528868" y="2011898"/>
            <a:ext cx="3810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" name="Line 5"/>
          <p:cNvSpPr>
            <a:spLocks noChangeShapeType="1"/>
          </p:cNvSpPr>
          <p:nvPr/>
        </p:nvSpPr>
        <p:spPr bwMode="auto">
          <a:xfrm>
            <a:off x="523711" y="2291622"/>
            <a:ext cx="3810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" name="Line 5"/>
          <p:cNvSpPr>
            <a:spLocks noChangeShapeType="1"/>
          </p:cNvSpPr>
          <p:nvPr/>
        </p:nvSpPr>
        <p:spPr bwMode="auto">
          <a:xfrm>
            <a:off x="168159" y="2499398"/>
            <a:ext cx="3810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" name="Text Box 39"/>
          <p:cNvSpPr txBox="1">
            <a:spLocks noChangeArrowheads="1"/>
          </p:cNvSpPr>
          <p:nvPr/>
        </p:nvSpPr>
        <p:spPr bwMode="auto">
          <a:xfrm>
            <a:off x="7981077" y="5183670"/>
            <a:ext cx="70403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l" eaLnBrk="1" hangingPunct="1"/>
            <a:r>
              <a:rPr lang="en-US" sz="2000" b="1" dirty="0">
                <a:solidFill>
                  <a:srgbClr val="FF0000"/>
                </a:solidFill>
              </a:rPr>
              <a:t>true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54" name="Text Box 3"/>
          <p:cNvSpPr txBox="1">
            <a:spLocks noChangeArrowheads="1"/>
          </p:cNvSpPr>
          <p:nvPr/>
        </p:nvSpPr>
        <p:spPr bwMode="auto">
          <a:xfrm>
            <a:off x="5334461" y="656168"/>
            <a:ext cx="36071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r>
              <a:rPr lang="en-US" dirty="0"/>
              <a:t>Let’s see how it works.</a:t>
            </a:r>
            <a:endParaRPr lang="en-US" dirty="0"/>
          </a:p>
        </p:txBody>
      </p:sp>
      <p:sp>
        <p:nvSpPr>
          <p:cNvPr id="55" name="Rectangle 54"/>
          <p:cNvSpPr/>
          <p:nvPr/>
        </p:nvSpPr>
        <p:spPr bwMode="auto">
          <a:xfrm>
            <a:off x="6620907" y="3394144"/>
            <a:ext cx="2303089" cy="60311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88" name="Rounded Rectangular Callout 87"/>
          <p:cNvSpPr>
            <a:spLocks noChangeArrowheads="1"/>
          </p:cNvSpPr>
          <p:nvPr/>
        </p:nvSpPr>
        <p:spPr bwMode="auto">
          <a:xfrm flipH="1">
            <a:off x="4211885" y="1828802"/>
            <a:ext cx="3001535" cy="1758941"/>
          </a:xfrm>
          <a:prstGeom prst="wedgeRoundRectCallout">
            <a:avLst>
              <a:gd name="adj1" fmla="val -71422"/>
              <a:gd name="adj2" fmla="val 53755"/>
              <a:gd name="adj3" fmla="val 16667"/>
            </a:avLst>
          </a:prstGeom>
          <a:solidFill>
            <a:srgbClr val="FDFED2"/>
          </a:solidFill>
          <a:ln w="9525" algn="ctr">
            <a:solidFill>
              <a:schemeClr val="tx1"/>
            </a:solidFill>
            <a:round/>
          </a:ln>
        </p:spPr>
        <p:txBody>
          <a:bodyPr anchor="ctr"/>
          <a:lstStyle/>
          <a:p>
            <a:endParaRPr lang="en-US" sz="800" dirty="0"/>
          </a:p>
          <a:p>
            <a:pPr eaLnBrk="1" hangingPunct="1"/>
            <a:r>
              <a:rPr lang="en-US" sz="2000" dirty="0">
                <a:solidFill>
                  <a:schemeClr val="tx1"/>
                </a:solidFill>
              </a:rPr>
              <a:t>The </a:t>
            </a:r>
            <a:r>
              <a:rPr lang="en-US" sz="2000" dirty="0">
                <a:solidFill>
                  <a:srgbClr val="FF0000"/>
                </a:solidFill>
              </a:rPr>
              <a:t>true</a:t>
            </a:r>
            <a:r>
              <a:rPr lang="en-US" sz="2000" dirty="0">
                <a:solidFill>
                  <a:schemeClr val="tx1"/>
                </a:solidFill>
              </a:rPr>
              <a:t> value in slot </a:t>
            </a:r>
            <a:r>
              <a:rPr lang="en-US" sz="2000" dirty="0">
                <a:solidFill>
                  <a:srgbClr val="FF0000"/>
                </a:solidFill>
              </a:rPr>
              <a:t>5,224 </a:t>
            </a:r>
            <a:r>
              <a:rPr lang="en-US" sz="2000" dirty="0">
                <a:solidFill>
                  <a:schemeClr val="tx1"/>
                </a:solidFill>
              </a:rPr>
              <a:t>indicates that the value </a:t>
            </a:r>
            <a:r>
              <a:rPr lang="en-US" sz="2000" dirty="0">
                <a:solidFill>
                  <a:srgbClr val="FF0000"/>
                </a:solidFill>
              </a:rPr>
              <a:t>111,105,224 </a:t>
            </a:r>
            <a:r>
              <a:rPr lang="en-US" sz="2000" dirty="0">
                <a:solidFill>
                  <a:schemeClr val="tx1"/>
                </a:solidFill>
              </a:rPr>
              <a:t>is held in our ADT.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" name="Rounded Rectangular Callout 3"/>
          <p:cNvSpPr/>
          <p:nvPr/>
        </p:nvSpPr>
        <p:spPr bwMode="auto">
          <a:xfrm>
            <a:off x="2878385" y="887000"/>
            <a:ext cx="2667000" cy="788408"/>
          </a:xfrm>
          <a:prstGeom prst="wedgeRoundRectCallout">
            <a:avLst>
              <a:gd name="adj1" fmla="val -39103"/>
              <a:gd name="adj2" fmla="val 77134"/>
              <a:gd name="adj3" fmla="val 16667"/>
            </a:avLst>
          </a:prstGeom>
          <a:solidFill>
            <a:srgbClr val="E7F9B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eaLnBrk="1" hangingPunct="1"/>
            <a:r>
              <a:rPr lang="en-US" sz="1600" dirty="0">
                <a:solidFill>
                  <a:srgbClr val="6600CC"/>
                </a:solidFill>
              </a:rPr>
              <a:t>111,105,224 </a:t>
            </a:r>
            <a:r>
              <a:rPr lang="en-US" sz="1600" dirty="0">
                <a:solidFill>
                  <a:srgbClr val="FF3300"/>
                </a:solidFill>
              </a:rPr>
              <a:t>% </a:t>
            </a:r>
            <a:r>
              <a:rPr lang="en-US" sz="1600" dirty="0">
                <a:solidFill>
                  <a:srgbClr val="6600CC"/>
                </a:solidFill>
              </a:rPr>
              <a:t>100,000 </a:t>
            </a:r>
            <a:r>
              <a:rPr lang="en-US" dirty="0">
                <a:solidFill>
                  <a:srgbClr val="FF3300"/>
                </a:solidFill>
              </a:rPr>
              <a:t>= </a:t>
            </a:r>
            <a:r>
              <a:rPr lang="en-US" dirty="0">
                <a:solidFill>
                  <a:srgbClr val="FF0000"/>
                </a:solidFill>
              </a:rPr>
              <a:t>5,224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Box 3"/>
          <p:cNvSpPr txBox="1">
            <a:spLocks noChangeArrowheads="1"/>
          </p:cNvSpPr>
          <p:nvPr/>
        </p:nvSpPr>
        <p:spPr bwMode="auto">
          <a:xfrm>
            <a:off x="193463" y="656168"/>
            <a:ext cx="4903084" cy="4193456"/>
          </a:xfrm>
          <a:prstGeom prst="rect">
            <a:avLst/>
          </a:prstGeom>
          <a:solidFill>
            <a:srgbClr val="FFFF99"/>
          </a:solidFill>
          <a:ln w="41275">
            <a:solidFill>
              <a:schemeClr val="tx1"/>
            </a:solidFill>
            <a:miter lim="800000"/>
          </a:ln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l" eaLnBrk="1" hangingPunct="1"/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class </a:t>
            </a:r>
            <a:r>
              <a:rPr lang="en-US" sz="1800" b="1" dirty="0">
                <a:solidFill>
                  <a:srgbClr val="6600CC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AlmostHashTable2</a:t>
            </a:r>
            <a:endParaRPr lang="en-US" sz="1800" b="1" dirty="0">
              <a:solidFill>
                <a:srgbClr val="6600CC"/>
              </a:solidFill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200" b="1" dirty="0">
                <a:latin typeface="Courier New" panose="02070409020205090404" pitchFamily="49" charset="0"/>
                <a:cs typeface="Courier New" panose="02070409020205090404" pitchFamily="49" charset="0"/>
              </a:rPr>
              <a:t>{</a:t>
            </a:r>
            <a:endParaRPr lang="en-US" sz="12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600" b="1" dirty="0">
                <a:solidFill>
                  <a:schemeClr val="tx1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public:</a:t>
            </a:r>
            <a:endParaRPr lang="en-US" sz="1600" b="1" dirty="0">
              <a:solidFill>
                <a:schemeClr val="tx1"/>
              </a:solidFill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void </a:t>
            </a:r>
            <a:r>
              <a:rPr lang="en-US" sz="1800" b="1" dirty="0" err="1">
                <a:solidFill>
                  <a:srgbClr val="006666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addItem</a:t>
            </a:r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(</a:t>
            </a:r>
            <a:r>
              <a:rPr lang="en-US" sz="1800" b="1" dirty="0" err="1">
                <a:latin typeface="Courier New" panose="02070409020205090404" pitchFamily="49" charset="0"/>
                <a:cs typeface="Courier New" panose="02070409020205090404" pitchFamily="49" charset="0"/>
              </a:rPr>
              <a:t>int</a:t>
            </a:r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n</a:t>
            </a:r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)</a:t>
            </a:r>
            <a:endParaRPr lang="en-US" sz="18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2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{ </a:t>
            </a:r>
            <a:endParaRPr lang="en-US" sz="12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  int </a:t>
            </a:r>
            <a:r>
              <a:rPr lang="en-US" sz="1800" b="1" dirty="0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bucket</a:t>
            </a:r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 = </a:t>
            </a:r>
            <a:r>
              <a:rPr lang="en-US" sz="1800" b="1" dirty="0" err="1">
                <a:solidFill>
                  <a:srgbClr val="6600CC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mapFunc</a:t>
            </a:r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(</a:t>
            </a:r>
            <a:r>
              <a:rPr lang="en-US" sz="1800" b="1" dirty="0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n</a:t>
            </a:r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);</a:t>
            </a:r>
            <a:endParaRPr lang="en-US" sz="18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  </a:t>
            </a:r>
            <a:r>
              <a:rPr lang="en-US" sz="1800" b="1" dirty="0" err="1">
                <a:latin typeface="Courier New" panose="02070409020205090404" pitchFamily="49" charset="0"/>
                <a:cs typeface="Courier New" panose="02070409020205090404" pitchFamily="49" charset="0"/>
              </a:rPr>
              <a:t>m_array</a:t>
            </a:r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[</a:t>
            </a:r>
            <a:r>
              <a:rPr lang="en-US" sz="1800" b="1" dirty="0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bucket</a:t>
            </a:r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] = </a:t>
            </a:r>
            <a:r>
              <a:rPr lang="en-US" sz="1800" b="1" dirty="0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true</a:t>
            </a:r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;</a:t>
            </a:r>
            <a:endParaRPr lang="en-US" sz="18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2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}  </a:t>
            </a:r>
            <a:br>
              <a:rPr lang="en-US" sz="1200" b="1" dirty="0">
                <a:latin typeface="Courier New" panose="02070409020205090404" pitchFamily="49" charset="0"/>
                <a:cs typeface="Courier New" panose="02070409020205090404" pitchFamily="49" charset="0"/>
              </a:rPr>
            </a:br>
            <a:br>
              <a:rPr lang="en-US" sz="1200" b="1" dirty="0">
                <a:latin typeface="Courier New" panose="02070409020205090404" pitchFamily="49" charset="0"/>
                <a:cs typeface="Courier New" panose="02070409020205090404" pitchFamily="49" charset="0"/>
              </a:rPr>
            </a:br>
            <a:r>
              <a:rPr lang="en-US" sz="1600" b="1" dirty="0">
                <a:solidFill>
                  <a:schemeClr val="tx1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private:</a:t>
            </a:r>
            <a:endParaRPr lang="en-US" sz="1600" b="1" dirty="0">
              <a:solidFill>
                <a:schemeClr val="tx1"/>
              </a:solidFill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 dirty="0">
                <a:solidFill>
                  <a:schemeClr val="tx1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  int</a:t>
            </a:r>
            <a:r>
              <a:rPr lang="en-US" sz="1800" b="1" dirty="0">
                <a:solidFill>
                  <a:srgbClr val="6600CC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r>
              <a:rPr lang="en-US" sz="1800" b="1" dirty="0" err="1">
                <a:solidFill>
                  <a:srgbClr val="6600CC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mapFunc</a:t>
            </a:r>
            <a:r>
              <a:rPr lang="en-US" sz="1800" b="1" dirty="0">
                <a:solidFill>
                  <a:schemeClr val="tx1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(int</a:t>
            </a:r>
            <a:r>
              <a:rPr lang="en-US" sz="1800" b="1" dirty="0">
                <a:solidFill>
                  <a:srgbClr val="6600CC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idNum</a:t>
            </a:r>
            <a:r>
              <a:rPr lang="en-US" sz="1800" b="1" dirty="0">
                <a:solidFill>
                  <a:schemeClr val="tx1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)</a:t>
            </a:r>
            <a:endParaRPr lang="en-US" sz="1800" dirty="0">
              <a:solidFill>
                <a:schemeClr val="tx1"/>
              </a:solidFill>
            </a:endParaRPr>
          </a:p>
          <a:p>
            <a:pPr algn="l" eaLnBrk="1" hangingPunct="1"/>
            <a:r>
              <a:rPr lang="en-US" sz="1800" b="1" dirty="0">
                <a:solidFill>
                  <a:schemeClr val="tx1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  {</a:t>
            </a:r>
            <a:br>
              <a:rPr lang="en-US" sz="1800" b="1" dirty="0">
                <a:solidFill>
                  <a:schemeClr val="tx1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</a:br>
            <a:r>
              <a:rPr lang="en-US" sz="1800" b="1" dirty="0">
                <a:solidFill>
                  <a:schemeClr val="tx1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     return </a:t>
            </a:r>
            <a:r>
              <a:rPr lang="en-US" sz="1800" b="1" dirty="0" err="1">
                <a:solidFill>
                  <a:schemeClr val="tx1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idNum</a:t>
            </a:r>
            <a:r>
              <a:rPr lang="en-US" sz="1800" b="1" dirty="0">
                <a:solidFill>
                  <a:schemeClr val="tx1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 % 100000; </a:t>
            </a:r>
            <a:br>
              <a:rPr lang="en-US" sz="1800" b="1" dirty="0">
                <a:solidFill>
                  <a:schemeClr val="tx1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</a:br>
            <a:r>
              <a:rPr lang="en-US" sz="1800" b="1" dirty="0">
                <a:solidFill>
                  <a:schemeClr val="tx1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  }</a:t>
            </a:r>
            <a:endParaRPr lang="en-US" sz="1800" dirty="0">
              <a:solidFill>
                <a:schemeClr val="tx1"/>
              </a:solidFill>
            </a:endParaRPr>
          </a:p>
          <a:p>
            <a:pPr algn="l" eaLnBrk="1" hangingPunct="1"/>
            <a:endParaRPr lang="en-US" sz="600" b="1" dirty="0">
              <a:solidFill>
                <a:schemeClr val="tx1"/>
              </a:solidFill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bool </a:t>
            </a:r>
            <a:r>
              <a:rPr lang="en-US" sz="1800" b="1" dirty="0" err="1">
                <a:latin typeface="Courier New" panose="02070409020205090404" pitchFamily="49" charset="0"/>
                <a:cs typeface="Courier New" panose="02070409020205090404" pitchFamily="49" charset="0"/>
              </a:rPr>
              <a:t>m_array</a:t>
            </a:r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[</a:t>
            </a:r>
            <a:r>
              <a:rPr lang="en-US" sz="1800" b="1" dirty="0">
                <a:solidFill>
                  <a:srgbClr val="FF33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100000</a:t>
            </a:r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]; </a:t>
            </a:r>
            <a:r>
              <a:rPr lang="en-US" sz="1400" b="1" dirty="0">
                <a:latin typeface="Courier New" panose="02070409020205090404" pitchFamily="49" charset="0"/>
                <a:cs typeface="Courier New" panose="02070409020205090404" pitchFamily="49" charset="0"/>
              </a:rPr>
              <a:t>//</a:t>
            </a:r>
            <a:r>
              <a:rPr lang="en-US" sz="1100" b="1" dirty="0"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r>
              <a:rPr lang="en-US" sz="1400" b="1" dirty="0">
                <a:latin typeface="Courier New" panose="02070409020205090404" pitchFamily="49" charset="0"/>
                <a:cs typeface="Courier New" panose="02070409020205090404" pitchFamily="49" charset="0"/>
              </a:rPr>
              <a:t>not</a:t>
            </a:r>
            <a:r>
              <a:rPr lang="en-US" sz="1050" b="1" dirty="0"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r>
              <a:rPr lang="en-US" sz="1400" b="1" dirty="0">
                <a:latin typeface="Courier New" panose="02070409020205090404" pitchFamily="49" charset="0"/>
                <a:cs typeface="Courier New" panose="02070409020205090404" pitchFamily="49" charset="0"/>
              </a:rPr>
              <a:t>so</a:t>
            </a:r>
            <a:r>
              <a:rPr lang="en-US" sz="1000" b="1" dirty="0"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r>
              <a:rPr lang="en-US" sz="1400" b="1" dirty="0">
                <a:latin typeface="Courier New" panose="02070409020205090404" pitchFamily="49" charset="0"/>
                <a:cs typeface="Courier New" panose="02070409020205090404" pitchFamily="49" charset="0"/>
              </a:rPr>
              <a:t>big!</a:t>
            </a:r>
            <a:endParaRPr lang="en-US" sz="18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400" b="1" dirty="0">
                <a:latin typeface="Courier New" panose="02070409020205090404" pitchFamily="49" charset="0"/>
                <a:cs typeface="Courier New" panose="02070409020205090404" pitchFamily="49" charset="0"/>
              </a:rPr>
              <a:t>};</a:t>
            </a:r>
            <a:endParaRPr lang="en-US" sz="14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</p:txBody>
      </p:sp>
      <p:sp>
        <p:nvSpPr>
          <p:cNvPr id="72" name="Text Box 3"/>
          <p:cNvSpPr txBox="1">
            <a:spLocks noChangeArrowheads="1"/>
          </p:cNvSpPr>
          <p:nvPr/>
        </p:nvSpPr>
        <p:spPr bwMode="auto">
          <a:xfrm>
            <a:off x="185968" y="4818936"/>
            <a:ext cx="4903084" cy="2031325"/>
          </a:xfrm>
          <a:prstGeom prst="rect">
            <a:avLst/>
          </a:prstGeom>
          <a:solidFill>
            <a:srgbClr val="EFFFF8"/>
          </a:solidFill>
          <a:ln w="41275">
            <a:solidFill>
              <a:schemeClr val="tx1"/>
            </a:solidFill>
            <a:miter lim="800000"/>
          </a:ln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l" eaLnBrk="1" hangingPunct="1"/>
            <a:r>
              <a:rPr lang="en-US" sz="1800" b="1" dirty="0" err="1">
                <a:latin typeface="Courier New" panose="02070409020205090404" pitchFamily="49" charset="0"/>
                <a:cs typeface="Courier New" panose="02070409020205090404" pitchFamily="49" charset="0"/>
              </a:rPr>
              <a:t>int</a:t>
            </a:r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 main()</a:t>
            </a:r>
            <a:endParaRPr lang="en-US" sz="18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{</a:t>
            </a:r>
            <a:endParaRPr lang="en-US" sz="18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AlmostHashTable2 x;</a:t>
            </a:r>
            <a:endParaRPr lang="en-US" sz="18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</a:t>
            </a:r>
            <a:r>
              <a:rPr lang="en-US" sz="1800" b="1" dirty="0" err="1">
                <a:latin typeface="Courier New" panose="02070409020205090404" pitchFamily="49" charset="0"/>
                <a:cs typeface="Courier New" panose="02070409020205090404" pitchFamily="49" charset="0"/>
              </a:rPr>
              <a:t>x.addItem</a:t>
            </a:r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(400683948);</a:t>
            </a:r>
            <a:endParaRPr lang="en-US" sz="18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</a:t>
            </a:r>
            <a:r>
              <a:rPr lang="en-US" sz="1800" b="1" dirty="0" err="1">
                <a:latin typeface="Courier New" panose="02070409020205090404" pitchFamily="49" charset="0"/>
                <a:cs typeface="Courier New" panose="02070409020205090404" pitchFamily="49" charset="0"/>
              </a:rPr>
              <a:t>x.addItem</a:t>
            </a:r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(111105224);</a:t>
            </a:r>
            <a:endParaRPr lang="en-US" sz="18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   </a:t>
            </a:r>
            <a:r>
              <a:rPr lang="en-US" sz="1800" b="1" dirty="0" err="1">
                <a:latin typeface="Courier New" panose="02070409020205090404" pitchFamily="49" charset="0"/>
                <a:cs typeface="Courier New" panose="02070409020205090404" pitchFamily="49" charset="0"/>
              </a:rPr>
              <a:t>x.addItem</a:t>
            </a:r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(222205224);</a:t>
            </a:r>
            <a:endParaRPr lang="en-US" sz="18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 dirty="0">
                <a:latin typeface="Courier New" panose="02070409020205090404" pitchFamily="49" charset="0"/>
                <a:cs typeface="Courier New" panose="02070409020205090404" pitchFamily="49" charset="0"/>
              </a:rPr>
              <a:t>}</a:t>
            </a:r>
            <a:endParaRPr lang="en-US" sz="1400" b="1" dirty="0">
              <a:latin typeface="Courier New" panose="02070409020205090404" pitchFamily="49" charset="0"/>
              <a:cs typeface="Courier New" panose="02070409020205090404" pitchFamily="49" charset="0"/>
            </a:endParaRPr>
          </a:p>
        </p:txBody>
      </p:sp>
      <p:sp>
        <p:nvSpPr>
          <p:cNvPr id="2150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fld id="{E9CB8C4E-090D-4F08-9FD1-AAEFC17B25AC}" type="slidenum">
              <a:rPr lang="en-US" sz="1400" smtClean="0">
                <a:solidFill>
                  <a:schemeClr val="tx1"/>
                </a:solidFill>
                <a:latin typeface="Times New Roman" panose="02020503050405090304" pitchFamily="18" charset="0"/>
              </a:rPr>
            </a:fld>
            <a:endParaRPr lang="en-US" sz="140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319088" y="-293555"/>
            <a:ext cx="8494712" cy="1143000"/>
          </a:xfrm>
          <a:noFill/>
        </p:spPr>
        <p:txBody>
          <a:bodyPr/>
          <a:lstStyle/>
          <a:p>
            <a:pPr eaLnBrk="1" hangingPunct="1"/>
            <a:r>
              <a:rPr lang="en-US" sz="3600" dirty="0"/>
              <a:t>The (Almost) Hash Table</a:t>
            </a:r>
            <a:endParaRPr lang="en-US" sz="3600" dirty="0">
              <a:solidFill>
                <a:schemeClr val="accent2"/>
              </a:solidFill>
            </a:endParaRPr>
          </a:p>
        </p:txBody>
      </p:sp>
      <p:sp>
        <p:nvSpPr>
          <p:cNvPr id="770060" name="Text Box 12"/>
          <p:cNvSpPr txBox="1">
            <a:spLocks noChangeArrowheads="1"/>
          </p:cNvSpPr>
          <p:nvPr/>
        </p:nvSpPr>
        <p:spPr bwMode="auto">
          <a:xfrm>
            <a:off x="1953510" y="6180958"/>
            <a:ext cx="158248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l" eaLnBrk="1" hangingPunct="1"/>
            <a:r>
              <a:rPr lang="en-US" sz="1800" dirty="0">
                <a:solidFill>
                  <a:srgbClr val="6600CC"/>
                </a:solidFill>
              </a:rPr>
              <a:t>222,205,224</a:t>
            </a:r>
            <a:endParaRPr lang="en-US" sz="1800" dirty="0">
              <a:solidFill>
                <a:srgbClr val="6600CC"/>
              </a:solidFill>
            </a:endParaRPr>
          </a:p>
        </p:txBody>
      </p:sp>
      <p:sp>
        <p:nvSpPr>
          <p:cNvPr id="770064" name="Text Box 16"/>
          <p:cNvSpPr txBox="1">
            <a:spLocks noChangeArrowheads="1"/>
          </p:cNvSpPr>
          <p:nvPr/>
        </p:nvSpPr>
        <p:spPr bwMode="auto">
          <a:xfrm>
            <a:off x="7745413" y="6248400"/>
            <a:ext cx="11128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l" eaLnBrk="1" hangingPunct="1"/>
            <a:r>
              <a:rPr lang="en-US">
                <a:solidFill>
                  <a:schemeClr val="bg1"/>
                </a:solidFill>
              </a:rPr>
              <a:t>83948</a:t>
            </a:r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3" name="Group 18"/>
          <p:cNvGrpSpPr/>
          <p:nvPr/>
        </p:nvGrpSpPr>
        <p:grpSpPr bwMode="auto">
          <a:xfrm>
            <a:off x="6145256" y="1644652"/>
            <a:ext cx="2694002" cy="4576765"/>
            <a:chOff x="3871" y="1036"/>
            <a:chExt cx="1697" cy="2883"/>
          </a:xfrm>
        </p:grpSpPr>
        <p:grpSp>
          <p:nvGrpSpPr>
            <p:cNvPr id="21542" name="Group 19"/>
            <p:cNvGrpSpPr/>
            <p:nvPr/>
          </p:nvGrpSpPr>
          <p:grpSpPr bwMode="auto">
            <a:xfrm>
              <a:off x="3871" y="1036"/>
              <a:ext cx="1697" cy="2708"/>
              <a:chOff x="3871" y="892"/>
              <a:chExt cx="1697" cy="2708"/>
            </a:xfrm>
          </p:grpSpPr>
          <p:sp>
            <p:nvSpPr>
              <p:cNvPr id="21551" name="Rectangle 20"/>
              <p:cNvSpPr>
                <a:spLocks noChangeArrowheads="1"/>
              </p:cNvSpPr>
              <p:nvPr/>
            </p:nvSpPr>
            <p:spPr bwMode="auto">
              <a:xfrm>
                <a:off x="4896" y="1008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52" name="Rectangle 21"/>
              <p:cNvSpPr>
                <a:spLocks noChangeArrowheads="1"/>
              </p:cNvSpPr>
              <p:nvPr/>
            </p:nvSpPr>
            <p:spPr bwMode="auto">
              <a:xfrm>
                <a:off x="4896" y="1248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53" name="Rectangle 22"/>
              <p:cNvSpPr>
                <a:spLocks noChangeArrowheads="1"/>
              </p:cNvSpPr>
              <p:nvPr/>
            </p:nvSpPr>
            <p:spPr bwMode="auto">
              <a:xfrm>
                <a:off x="4896" y="1824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54" name="Rectangle 23"/>
              <p:cNvSpPr>
                <a:spLocks noChangeArrowheads="1"/>
              </p:cNvSpPr>
              <p:nvPr/>
            </p:nvSpPr>
            <p:spPr bwMode="auto">
              <a:xfrm>
                <a:off x="4896" y="2064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55" name="Rectangle 24"/>
              <p:cNvSpPr>
                <a:spLocks noChangeArrowheads="1"/>
              </p:cNvSpPr>
              <p:nvPr/>
            </p:nvSpPr>
            <p:spPr bwMode="auto">
              <a:xfrm>
                <a:off x="4896" y="2304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56" name="Text Box 25"/>
              <p:cNvSpPr txBox="1">
                <a:spLocks noChangeArrowheads="1"/>
              </p:cNvSpPr>
              <p:nvPr/>
            </p:nvSpPr>
            <p:spPr bwMode="auto">
              <a:xfrm>
                <a:off x="5058" y="2537"/>
                <a:ext cx="26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9pPr>
              </a:lstStyle>
              <a:p>
                <a:pPr algn="l" eaLnBrk="1" hangingPunct="1"/>
                <a:r>
                  <a:rPr lang="en-US"/>
                  <a:t>...</a:t>
                </a:r>
                <a:endParaRPr lang="en-US"/>
              </a:p>
            </p:txBody>
          </p:sp>
          <p:sp>
            <p:nvSpPr>
              <p:cNvPr id="21557" name="Rectangle 26"/>
              <p:cNvSpPr>
                <a:spLocks noChangeArrowheads="1"/>
              </p:cNvSpPr>
              <p:nvPr/>
            </p:nvSpPr>
            <p:spPr bwMode="auto">
              <a:xfrm>
                <a:off x="4896" y="2880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58" name="Rectangle 27"/>
              <p:cNvSpPr>
                <a:spLocks noChangeArrowheads="1"/>
              </p:cNvSpPr>
              <p:nvPr/>
            </p:nvSpPr>
            <p:spPr bwMode="auto">
              <a:xfrm>
                <a:off x="4896" y="3120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59" name="Rectangle 28"/>
              <p:cNvSpPr>
                <a:spLocks noChangeArrowheads="1"/>
              </p:cNvSpPr>
              <p:nvPr/>
            </p:nvSpPr>
            <p:spPr bwMode="auto">
              <a:xfrm>
                <a:off x="4896" y="3360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60" name="Text Box 29"/>
              <p:cNvSpPr txBox="1">
                <a:spLocks noChangeArrowheads="1"/>
              </p:cNvSpPr>
              <p:nvPr/>
            </p:nvSpPr>
            <p:spPr bwMode="auto">
              <a:xfrm>
                <a:off x="3871" y="892"/>
                <a:ext cx="1103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9pPr>
              </a:lstStyle>
              <a:p>
                <a:pPr eaLnBrk="1" hangingPunct="1"/>
                <a:r>
                  <a:rPr lang="en-US" dirty="0" err="1"/>
                  <a:t>m_array</a:t>
                </a:r>
                <a:r>
                  <a:rPr lang="en-US" dirty="0"/>
                  <a:t>    </a:t>
                </a:r>
                <a:endParaRPr lang="en-US" dirty="0"/>
              </a:p>
            </p:txBody>
          </p:sp>
          <p:sp>
            <p:nvSpPr>
              <p:cNvPr id="21561" name="Text Box 30"/>
              <p:cNvSpPr txBox="1">
                <a:spLocks noChangeArrowheads="1"/>
              </p:cNvSpPr>
              <p:nvPr/>
            </p:nvSpPr>
            <p:spPr bwMode="auto">
              <a:xfrm>
                <a:off x="5088" y="1488"/>
                <a:ext cx="26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9pPr>
              </a:lstStyle>
              <a:p>
                <a:pPr algn="l" eaLnBrk="1" hangingPunct="1"/>
                <a:r>
                  <a:rPr lang="en-US"/>
                  <a:t>...</a:t>
                </a:r>
                <a:endParaRPr lang="en-US"/>
              </a:p>
            </p:txBody>
          </p:sp>
        </p:grpSp>
        <p:sp>
          <p:nvSpPr>
            <p:cNvPr id="21543" name="Text Box 31"/>
            <p:cNvSpPr txBox="1">
              <a:spLocks noChangeArrowheads="1"/>
            </p:cNvSpPr>
            <p:nvPr/>
          </p:nvSpPr>
          <p:spPr bwMode="auto">
            <a:xfrm>
              <a:off x="4617" y="1166"/>
              <a:ext cx="35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eaLnBrk="1" hangingPunct="1"/>
              <a:r>
                <a:rPr lang="en-US" sz="1800"/>
                <a:t>[0] </a:t>
              </a:r>
              <a:endParaRPr lang="en-US" sz="1800"/>
            </a:p>
          </p:txBody>
        </p:sp>
        <p:sp>
          <p:nvSpPr>
            <p:cNvPr id="21544" name="Text Box 32"/>
            <p:cNvSpPr txBox="1">
              <a:spLocks noChangeArrowheads="1"/>
            </p:cNvSpPr>
            <p:nvPr/>
          </p:nvSpPr>
          <p:spPr bwMode="auto">
            <a:xfrm>
              <a:off x="4614" y="1371"/>
              <a:ext cx="41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eaLnBrk="1" hangingPunct="1"/>
              <a:r>
                <a:rPr lang="en-US" sz="1800"/>
                <a:t>[1]   </a:t>
              </a:r>
              <a:endParaRPr lang="en-US" sz="1800"/>
            </a:p>
          </p:txBody>
        </p:sp>
        <p:sp>
          <p:nvSpPr>
            <p:cNvPr id="21545" name="Text Box 33"/>
            <p:cNvSpPr txBox="1">
              <a:spLocks noChangeArrowheads="1"/>
            </p:cNvSpPr>
            <p:nvPr/>
          </p:nvSpPr>
          <p:spPr bwMode="auto">
            <a:xfrm>
              <a:off x="4350" y="1967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algn="l" eaLnBrk="1" hangingPunct="1"/>
              <a:r>
                <a:rPr lang="en-US" sz="1800"/>
                <a:t>[5223]</a:t>
              </a:r>
              <a:endParaRPr lang="en-US" sz="1800"/>
            </a:p>
          </p:txBody>
        </p:sp>
        <p:sp>
          <p:nvSpPr>
            <p:cNvPr id="21546" name="Text Box 34"/>
            <p:cNvSpPr txBox="1">
              <a:spLocks noChangeArrowheads="1"/>
            </p:cNvSpPr>
            <p:nvPr/>
          </p:nvSpPr>
          <p:spPr bwMode="auto">
            <a:xfrm>
              <a:off x="4272" y="3021"/>
              <a:ext cx="6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algn="l" eaLnBrk="1" hangingPunct="1"/>
              <a:r>
                <a:rPr lang="en-US" sz="1800"/>
                <a:t>[83947]</a:t>
              </a:r>
              <a:endParaRPr lang="en-US" sz="1800"/>
            </a:p>
          </p:txBody>
        </p:sp>
        <p:sp>
          <p:nvSpPr>
            <p:cNvPr id="21547" name="Text Box 35"/>
            <p:cNvSpPr txBox="1">
              <a:spLocks noChangeArrowheads="1"/>
            </p:cNvSpPr>
            <p:nvPr/>
          </p:nvSpPr>
          <p:spPr bwMode="auto">
            <a:xfrm>
              <a:off x="4278" y="3270"/>
              <a:ext cx="664" cy="4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algn="l" eaLnBrk="1" hangingPunct="1"/>
              <a:r>
                <a:rPr lang="en-US" sz="1800"/>
                <a:t>[83948]</a:t>
              </a:r>
              <a:endParaRPr lang="en-US" sz="1800"/>
            </a:p>
            <a:p>
              <a:pPr algn="l" eaLnBrk="1" hangingPunct="1"/>
              <a:endParaRPr lang="en-US" sz="800"/>
            </a:p>
            <a:p>
              <a:pPr algn="l" eaLnBrk="1" hangingPunct="1"/>
              <a:r>
                <a:rPr lang="en-US" sz="1800"/>
                <a:t>[83949]</a:t>
              </a:r>
              <a:endParaRPr lang="en-US" sz="1800"/>
            </a:p>
          </p:txBody>
        </p:sp>
        <p:sp>
          <p:nvSpPr>
            <p:cNvPr id="21548" name="Text Box 36"/>
            <p:cNvSpPr txBox="1">
              <a:spLocks noChangeArrowheads="1"/>
            </p:cNvSpPr>
            <p:nvPr/>
          </p:nvSpPr>
          <p:spPr bwMode="auto">
            <a:xfrm>
              <a:off x="4350" y="2187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algn="l" eaLnBrk="1" hangingPunct="1"/>
              <a:r>
                <a:rPr lang="en-US" sz="1800"/>
                <a:t>[5224]</a:t>
              </a:r>
              <a:endParaRPr lang="en-US" sz="1800"/>
            </a:p>
          </p:txBody>
        </p:sp>
        <p:sp>
          <p:nvSpPr>
            <p:cNvPr id="21549" name="Text Box 37"/>
            <p:cNvSpPr txBox="1">
              <a:spLocks noChangeArrowheads="1"/>
            </p:cNvSpPr>
            <p:nvPr/>
          </p:nvSpPr>
          <p:spPr bwMode="auto">
            <a:xfrm>
              <a:off x="4356" y="2421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algn="l" eaLnBrk="1" hangingPunct="1"/>
              <a:r>
                <a:rPr lang="en-US" sz="1800"/>
                <a:t>[5225]</a:t>
              </a:r>
              <a:endParaRPr lang="en-US" sz="1800"/>
            </a:p>
          </p:txBody>
        </p:sp>
        <p:sp>
          <p:nvSpPr>
            <p:cNvPr id="21550" name="Rectangle 38"/>
            <p:cNvSpPr>
              <a:spLocks noChangeArrowheads="1"/>
            </p:cNvSpPr>
            <p:nvPr/>
          </p:nvSpPr>
          <p:spPr bwMode="auto">
            <a:xfrm>
              <a:off x="5080" y="3631"/>
              <a:ext cx="26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...</a:t>
              </a:r>
              <a:endParaRPr lang="en-US"/>
            </a:p>
          </p:txBody>
        </p:sp>
      </p:grpSp>
      <p:sp>
        <p:nvSpPr>
          <p:cNvPr id="62" name="Rounded Rectangular Callout 61" hidden="1"/>
          <p:cNvSpPr>
            <a:spLocks noChangeArrowheads="1"/>
          </p:cNvSpPr>
          <p:nvPr/>
        </p:nvSpPr>
        <p:spPr bwMode="auto">
          <a:xfrm flipH="1">
            <a:off x="4797996" y="1195628"/>
            <a:ext cx="2647831" cy="1395172"/>
          </a:xfrm>
          <a:prstGeom prst="wedgeRoundRectCallout">
            <a:avLst>
              <a:gd name="adj1" fmla="val -69522"/>
              <a:gd name="adj2" fmla="val 123459"/>
              <a:gd name="adj3" fmla="val 16667"/>
            </a:avLst>
          </a:prstGeom>
          <a:solidFill>
            <a:srgbClr val="E7F9BF"/>
          </a:solidFill>
          <a:ln w="9525" algn="ctr">
            <a:solidFill>
              <a:schemeClr val="tx1"/>
            </a:solidFill>
            <a:round/>
          </a:ln>
        </p:spPr>
        <p:txBody>
          <a:bodyPr anchor="ctr"/>
          <a:lstStyle/>
          <a:p>
            <a:r>
              <a:rPr lang="en-US" sz="1700" dirty="0"/>
              <a:t>The </a:t>
            </a:r>
            <a:r>
              <a:rPr lang="en-US" sz="1700" dirty="0">
                <a:solidFill>
                  <a:srgbClr val="FF0000"/>
                </a:solidFill>
              </a:rPr>
              <a:t>true</a:t>
            </a:r>
            <a:r>
              <a:rPr lang="en-US" sz="1700" dirty="0"/>
              <a:t> value in this bucket indicates that the value </a:t>
            </a:r>
            <a:r>
              <a:rPr lang="en-US" sz="1700" dirty="0">
                <a:solidFill>
                  <a:srgbClr val="FF0000"/>
                </a:solidFill>
              </a:rPr>
              <a:t>111,105,224</a:t>
            </a:r>
            <a:r>
              <a:rPr lang="en-US" sz="1700" dirty="0"/>
              <a:t> has been stored in our hash table.</a:t>
            </a:r>
            <a:endParaRPr lang="en-US" sz="1700" dirty="0">
              <a:solidFill>
                <a:schemeClr val="tx1"/>
              </a:solidFill>
            </a:endParaRPr>
          </a:p>
        </p:txBody>
      </p:sp>
      <p:sp>
        <p:nvSpPr>
          <p:cNvPr id="63" name="Rounded Rectangular Callout 62" hidden="1"/>
          <p:cNvSpPr>
            <a:spLocks noChangeArrowheads="1"/>
          </p:cNvSpPr>
          <p:nvPr/>
        </p:nvSpPr>
        <p:spPr bwMode="auto">
          <a:xfrm flipH="1">
            <a:off x="4401343" y="5310428"/>
            <a:ext cx="2647831" cy="1395172"/>
          </a:xfrm>
          <a:prstGeom prst="wedgeRoundRectCallout">
            <a:avLst>
              <a:gd name="adj1" fmla="val -82903"/>
              <a:gd name="adj2" fmla="val -46232"/>
              <a:gd name="adj3" fmla="val 16667"/>
            </a:avLst>
          </a:prstGeom>
          <a:solidFill>
            <a:srgbClr val="E7F9BF"/>
          </a:solidFill>
          <a:ln w="9525" algn="ctr">
            <a:solidFill>
              <a:schemeClr val="tx1"/>
            </a:solidFill>
            <a:round/>
          </a:ln>
        </p:spPr>
        <p:txBody>
          <a:bodyPr anchor="ctr"/>
          <a:lstStyle/>
          <a:p>
            <a:r>
              <a:rPr lang="en-US" sz="1700" dirty="0"/>
              <a:t>The </a:t>
            </a:r>
            <a:r>
              <a:rPr lang="en-US" sz="1700" dirty="0">
                <a:solidFill>
                  <a:srgbClr val="FF0000"/>
                </a:solidFill>
              </a:rPr>
              <a:t>true</a:t>
            </a:r>
            <a:r>
              <a:rPr lang="en-US" sz="1700" dirty="0"/>
              <a:t> value in this bucket indicates that the value </a:t>
            </a:r>
            <a:r>
              <a:rPr lang="en-US" sz="1700" dirty="0">
                <a:solidFill>
                  <a:srgbClr val="FF0000"/>
                </a:solidFill>
              </a:rPr>
              <a:t>400,683,948 </a:t>
            </a:r>
            <a:r>
              <a:rPr lang="en-US" sz="1700" dirty="0"/>
              <a:t>has been stored in our hash table.</a:t>
            </a:r>
            <a:endParaRPr lang="en-US" sz="1700" dirty="0">
              <a:solidFill>
                <a:schemeClr val="tx1"/>
              </a:solidFill>
            </a:endParaRPr>
          </a:p>
        </p:txBody>
      </p:sp>
      <p:sp>
        <p:nvSpPr>
          <p:cNvPr id="74" name="Line 5"/>
          <p:cNvSpPr>
            <a:spLocks noChangeShapeType="1"/>
          </p:cNvSpPr>
          <p:nvPr/>
        </p:nvSpPr>
        <p:spPr bwMode="auto">
          <a:xfrm>
            <a:off x="273260" y="6378864"/>
            <a:ext cx="3810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" name="Line 5"/>
          <p:cNvSpPr>
            <a:spLocks noChangeShapeType="1"/>
          </p:cNvSpPr>
          <p:nvPr/>
        </p:nvSpPr>
        <p:spPr bwMode="auto">
          <a:xfrm>
            <a:off x="185968" y="1545535"/>
            <a:ext cx="3810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" name="Line 5"/>
          <p:cNvSpPr>
            <a:spLocks noChangeShapeType="1"/>
          </p:cNvSpPr>
          <p:nvPr/>
        </p:nvSpPr>
        <p:spPr bwMode="auto">
          <a:xfrm>
            <a:off x="528868" y="2011898"/>
            <a:ext cx="3810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" name="Line 5"/>
          <p:cNvSpPr>
            <a:spLocks noChangeShapeType="1"/>
          </p:cNvSpPr>
          <p:nvPr/>
        </p:nvSpPr>
        <p:spPr bwMode="auto">
          <a:xfrm>
            <a:off x="523711" y="2291622"/>
            <a:ext cx="3810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" name="Text Box 39"/>
          <p:cNvSpPr txBox="1">
            <a:spLocks noChangeArrowheads="1"/>
          </p:cNvSpPr>
          <p:nvPr/>
        </p:nvSpPr>
        <p:spPr bwMode="auto">
          <a:xfrm>
            <a:off x="7981077" y="5183670"/>
            <a:ext cx="70403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l" eaLnBrk="1" hangingPunct="1"/>
            <a:r>
              <a:rPr lang="en-US" sz="2000" b="1" dirty="0">
                <a:solidFill>
                  <a:srgbClr val="FF0000"/>
                </a:solidFill>
              </a:rPr>
              <a:t>true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50" name="Text Box 3"/>
          <p:cNvSpPr txBox="1">
            <a:spLocks noChangeArrowheads="1"/>
          </p:cNvSpPr>
          <p:nvPr/>
        </p:nvSpPr>
        <p:spPr bwMode="auto">
          <a:xfrm>
            <a:off x="5440680" y="757816"/>
            <a:ext cx="329374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r>
              <a:rPr lang="en-US" dirty="0">
                <a:solidFill>
                  <a:schemeClr val="tx1"/>
                </a:solidFill>
              </a:rPr>
              <a:t>Ok, let’s </a:t>
            </a:r>
            <a:r>
              <a:rPr lang="en-US" dirty="0">
                <a:solidFill>
                  <a:srgbClr val="6600CC"/>
                </a:solidFill>
              </a:rPr>
              <a:t>add the last ID# </a:t>
            </a:r>
            <a:r>
              <a:rPr lang="en-US" dirty="0">
                <a:solidFill>
                  <a:schemeClr val="tx1"/>
                </a:solidFill>
              </a:rPr>
              <a:t>to our table…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ounded Rectangular Callout 3"/>
          <p:cNvSpPr/>
          <p:nvPr/>
        </p:nvSpPr>
        <p:spPr bwMode="auto">
          <a:xfrm>
            <a:off x="2744752" y="856244"/>
            <a:ext cx="2667000" cy="788408"/>
          </a:xfrm>
          <a:prstGeom prst="wedgeRoundRectCallout">
            <a:avLst>
              <a:gd name="adj1" fmla="val -39103"/>
              <a:gd name="adj2" fmla="val 77134"/>
              <a:gd name="adj3" fmla="val 16667"/>
            </a:avLst>
          </a:prstGeom>
          <a:solidFill>
            <a:srgbClr val="E7F9B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eaLnBrk="1" hangingPunct="1"/>
            <a:r>
              <a:rPr lang="en-US" sz="1600" dirty="0">
                <a:solidFill>
                  <a:srgbClr val="6600CC"/>
                </a:solidFill>
              </a:rPr>
              <a:t>222,205,224 </a:t>
            </a:r>
            <a:r>
              <a:rPr lang="en-US" sz="1600" dirty="0">
                <a:solidFill>
                  <a:srgbClr val="FF3300"/>
                </a:solidFill>
              </a:rPr>
              <a:t>% </a:t>
            </a:r>
            <a:r>
              <a:rPr lang="en-US" sz="1600" dirty="0">
                <a:solidFill>
                  <a:srgbClr val="6600CC"/>
                </a:solidFill>
              </a:rPr>
              <a:t>100,000 </a:t>
            </a:r>
            <a:r>
              <a:rPr lang="en-US" dirty="0">
                <a:solidFill>
                  <a:srgbClr val="FF3300"/>
                </a:solidFill>
              </a:rPr>
              <a:t>= </a:t>
            </a:r>
            <a:r>
              <a:rPr lang="en-US" dirty="0">
                <a:solidFill>
                  <a:srgbClr val="FF0000"/>
                </a:solidFill>
              </a:rPr>
              <a:t>5,224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3" name="Rectangle 52"/>
          <p:cNvSpPr/>
          <p:nvPr/>
        </p:nvSpPr>
        <p:spPr bwMode="auto">
          <a:xfrm>
            <a:off x="6620907" y="3394144"/>
            <a:ext cx="2303089" cy="60311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54" name="Text Box 39"/>
          <p:cNvSpPr txBox="1">
            <a:spLocks noChangeArrowheads="1"/>
          </p:cNvSpPr>
          <p:nvPr/>
        </p:nvSpPr>
        <p:spPr bwMode="auto">
          <a:xfrm>
            <a:off x="7981077" y="3497745"/>
            <a:ext cx="70403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l" eaLnBrk="1" hangingPunct="1"/>
            <a:r>
              <a:rPr lang="en-US" sz="2000" b="1" dirty="0">
                <a:solidFill>
                  <a:srgbClr val="FF0000"/>
                </a:solidFill>
              </a:rPr>
              <a:t>true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55" name="Rounded Rectangular Callout 54"/>
          <p:cNvSpPr>
            <a:spLocks noChangeArrowheads="1"/>
          </p:cNvSpPr>
          <p:nvPr/>
        </p:nvSpPr>
        <p:spPr bwMode="auto">
          <a:xfrm flipH="1">
            <a:off x="3920779" y="2079588"/>
            <a:ext cx="4073904" cy="1230832"/>
          </a:xfrm>
          <a:prstGeom prst="wedgeRoundRectCallout">
            <a:avLst>
              <a:gd name="adj1" fmla="val -48477"/>
              <a:gd name="adj2" fmla="val 69583"/>
              <a:gd name="adj3" fmla="val 16667"/>
            </a:avLst>
          </a:prstGeom>
          <a:solidFill>
            <a:srgbClr val="E7F9BF"/>
          </a:solidFill>
          <a:ln w="9525" algn="ctr">
            <a:solidFill>
              <a:schemeClr val="tx1"/>
            </a:solidFill>
            <a:round/>
          </a:ln>
        </p:spPr>
        <p:txBody>
          <a:bodyPr anchor="ctr"/>
          <a:lstStyle/>
          <a:p>
            <a:endParaRPr lang="en-US" sz="800" dirty="0"/>
          </a:p>
          <a:p>
            <a:pPr eaLnBrk="1" hangingPunct="1"/>
            <a:r>
              <a:rPr lang="en-US" sz="2000" dirty="0">
                <a:solidFill>
                  <a:schemeClr val="tx1"/>
                </a:solidFill>
              </a:rPr>
              <a:t>But wait! We already stored a </a:t>
            </a:r>
            <a:r>
              <a:rPr lang="en-US" sz="2000" dirty="0">
                <a:solidFill>
                  <a:srgbClr val="FF0000"/>
                </a:solidFill>
              </a:rPr>
              <a:t>true</a:t>
            </a:r>
            <a:r>
              <a:rPr lang="en-US" sz="2000" dirty="0">
                <a:solidFill>
                  <a:schemeClr val="tx1"/>
                </a:solidFill>
              </a:rPr>
              <a:t> value in bucket </a:t>
            </a:r>
            <a:r>
              <a:rPr lang="en-US" sz="2000" dirty="0">
                <a:solidFill>
                  <a:srgbClr val="FF0000"/>
                </a:solidFill>
              </a:rPr>
              <a:t>5,224</a:t>
            </a:r>
            <a:r>
              <a:rPr lang="en-US" sz="2000" dirty="0">
                <a:solidFill>
                  <a:schemeClr val="tx1"/>
                </a:solidFill>
              </a:rPr>
              <a:t> to represent value </a:t>
            </a:r>
            <a:r>
              <a:rPr lang="en-US" sz="2000" dirty="0">
                <a:solidFill>
                  <a:srgbClr val="FF0000"/>
                </a:solidFill>
              </a:rPr>
              <a:t>111,105,224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56" name="Rounded Rectangular Callout 55"/>
          <p:cNvSpPr>
            <a:spLocks noChangeArrowheads="1"/>
          </p:cNvSpPr>
          <p:nvPr/>
        </p:nvSpPr>
        <p:spPr bwMode="auto">
          <a:xfrm flipH="1">
            <a:off x="326299" y="160016"/>
            <a:ext cx="3014453" cy="2010187"/>
          </a:xfrm>
          <a:prstGeom prst="wedgeRoundRectCallout">
            <a:avLst>
              <a:gd name="adj1" fmla="val -397"/>
              <a:gd name="adj2" fmla="val 92638"/>
              <a:gd name="adj3" fmla="val 16667"/>
            </a:avLst>
          </a:prstGeom>
          <a:solidFill>
            <a:srgbClr val="E7F9BF"/>
          </a:solidFill>
          <a:ln w="9525" algn="ctr">
            <a:solidFill>
              <a:schemeClr val="tx1"/>
            </a:solidFill>
            <a:round/>
          </a:ln>
        </p:spPr>
        <p:txBody>
          <a:bodyPr anchor="ctr"/>
          <a:lstStyle/>
          <a:p>
            <a:pPr eaLnBrk="1" hangingPunct="1"/>
            <a:r>
              <a:rPr lang="en-US" sz="2000" dirty="0">
                <a:solidFill>
                  <a:schemeClr val="tx1"/>
                </a:solidFill>
              </a:rPr>
              <a:t>But our mapping function wants to also put a </a:t>
            </a:r>
            <a:r>
              <a:rPr lang="en-US" sz="2000" dirty="0">
                <a:solidFill>
                  <a:srgbClr val="FF0000"/>
                </a:solidFill>
              </a:rPr>
              <a:t>true</a:t>
            </a:r>
            <a:r>
              <a:rPr lang="en-US" sz="2000" dirty="0">
                <a:solidFill>
                  <a:schemeClr val="tx1"/>
                </a:solidFill>
              </a:rPr>
              <a:t> value in slot </a:t>
            </a:r>
            <a:r>
              <a:rPr lang="en-US" sz="2000" dirty="0">
                <a:solidFill>
                  <a:srgbClr val="FF0000"/>
                </a:solidFill>
              </a:rPr>
              <a:t>5,224</a:t>
            </a:r>
            <a:r>
              <a:rPr lang="en-US" sz="2000" dirty="0">
                <a:solidFill>
                  <a:schemeClr val="tx1"/>
                </a:solidFill>
              </a:rPr>
              <a:t> to represent </a:t>
            </a:r>
            <a:r>
              <a:rPr lang="en-US" sz="2000" dirty="0">
                <a:solidFill>
                  <a:srgbClr val="FF0000"/>
                </a:solidFill>
              </a:rPr>
              <a:t>222,205,224</a:t>
            </a:r>
            <a:r>
              <a:rPr lang="en-US" sz="2000" dirty="0">
                <a:solidFill>
                  <a:schemeClr val="tx1"/>
                </a:solidFill>
              </a:rPr>
              <a:t>!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57" name="Rounded Rectangular Callout 56"/>
          <p:cNvSpPr>
            <a:spLocks noChangeArrowheads="1"/>
          </p:cNvSpPr>
          <p:nvPr/>
        </p:nvSpPr>
        <p:spPr bwMode="auto">
          <a:xfrm flipH="1">
            <a:off x="4672011" y="4666387"/>
            <a:ext cx="3002126" cy="1919124"/>
          </a:xfrm>
          <a:prstGeom prst="wedgeRoundRectCallout">
            <a:avLst>
              <a:gd name="adj1" fmla="val -61558"/>
              <a:gd name="adj2" fmla="val -97766"/>
              <a:gd name="adj3" fmla="val 16667"/>
            </a:avLst>
          </a:prstGeom>
          <a:solidFill>
            <a:srgbClr val="E7F9BF"/>
          </a:solidFill>
          <a:ln w="9525" algn="ctr">
            <a:solidFill>
              <a:schemeClr val="tx1"/>
            </a:solidFill>
            <a:round/>
          </a:ln>
        </p:spPr>
        <p:txBody>
          <a:bodyPr anchor="ctr"/>
          <a:lstStyle/>
          <a:p>
            <a:endParaRPr lang="en-US" sz="900" dirty="0"/>
          </a:p>
          <a:p>
            <a:pPr eaLnBrk="1" hangingPunct="1"/>
            <a:r>
              <a:rPr lang="en-US" sz="2000" dirty="0">
                <a:solidFill>
                  <a:schemeClr val="tx1"/>
                </a:solidFill>
              </a:rPr>
              <a:t>How can I tell if my hash table holds </a:t>
            </a:r>
            <a:r>
              <a:rPr lang="en-US" sz="2000" dirty="0">
                <a:solidFill>
                  <a:srgbClr val="FF0000"/>
                </a:solidFill>
              </a:rPr>
              <a:t>222,205,224</a:t>
            </a:r>
            <a:r>
              <a:rPr lang="en-US" sz="2000" dirty="0">
                <a:solidFill>
                  <a:schemeClr val="tx1"/>
                </a:solidFill>
              </a:rPr>
              <a:t> or </a:t>
            </a:r>
            <a:r>
              <a:rPr lang="en-US" sz="2000" dirty="0">
                <a:solidFill>
                  <a:srgbClr val="FF0000"/>
                </a:solidFill>
              </a:rPr>
              <a:t>111,105,224</a:t>
            </a:r>
            <a:r>
              <a:rPr lang="en-US" sz="2000" dirty="0">
                <a:solidFill>
                  <a:schemeClr val="tx1"/>
                </a:solidFill>
              </a:rPr>
              <a:t>?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58" name="Text Box 43"/>
          <p:cNvSpPr txBox="1">
            <a:spLocks noChangeArrowheads="1"/>
          </p:cNvSpPr>
          <p:nvPr/>
        </p:nvSpPr>
        <p:spPr bwMode="auto">
          <a:xfrm>
            <a:off x="4160884" y="3651671"/>
            <a:ext cx="2347912" cy="835025"/>
          </a:xfrm>
          <a:prstGeom prst="rect">
            <a:avLst/>
          </a:prstGeom>
          <a:solidFill>
            <a:srgbClr val="FFCCFF"/>
          </a:solidFill>
          <a:ln w="12700">
            <a:solidFill>
              <a:schemeClr val="tx1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r>
              <a:rPr lang="en-US" dirty="0"/>
              <a:t>This is called a </a:t>
            </a:r>
            <a:r>
              <a:rPr lang="en-US" dirty="0">
                <a:solidFill>
                  <a:srgbClr val="A50021"/>
                </a:solidFill>
              </a:rPr>
              <a:t>collision</a:t>
            </a:r>
            <a:r>
              <a:rPr lang="en-US" dirty="0"/>
              <a:t>!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87 -0.00324 L 0.02622 -0.73472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7700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7" y="-365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7700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0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0060" grpId="0"/>
      <p:bldP spid="770060" grpId="1"/>
      <p:bldP spid="770060" grpId="3"/>
      <p:bldP spid="74" grpId="0" animBg="1"/>
      <p:bldP spid="75" grpId="0" animBg="1"/>
      <p:bldP spid="75" grpId="1" animBg="1"/>
      <p:bldP spid="76" grpId="0" animBg="1"/>
      <p:bldP spid="76" grpId="1" animBg="1"/>
      <p:bldP spid="87" grpId="0" animBg="1"/>
      <p:bldP spid="87" grpId="1" animBg="1"/>
      <p:bldP spid="50" grpId="0"/>
      <p:bldP spid="4" grpId="0" animBg="1"/>
      <p:bldP spid="4" grpId="1" animBg="1"/>
      <p:bldP spid="53" grpId="0" animBg="1"/>
      <p:bldP spid="58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fld id="{F044A7CB-0F9A-48F1-9B3F-D737DD10C3F1}" type="slidenum">
              <a:rPr lang="en-US" sz="1400" smtClean="0">
                <a:solidFill>
                  <a:schemeClr val="tx1"/>
                </a:solidFill>
                <a:latin typeface="Times New Roman" panose="02020503050405090304" pitchFamily="18" charset="0"/>
              </a:rPr>
            </a:fld>
            <a:endParaRPr lang="en-US" sz="140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  <p:sp>
        <p:nvSpPr>
          <p:cNvPr id="23556" name="Text Box 3"/>
          <p:cNvSpPr txBox="1">
            <a:spLocks noChangeArrowheads="1"/>
          </p:cNvSpPr>
          <p:nvPr/>
        </p:nvSpPr>
        <p:spPr bwMode="auto">
          <a:xfrm>
            <a:off x="182789" y="1396533"/>
            <a:ext cx="3555198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r>
              <a:rPr lang="en-US" dirty="0">
                <a:cs typeface="Courier New" panose="02070409020205090404" pitchFamily="49" charset="0"/>
              </a:rPr>
              <a:t>A </a:t>
            </a:r>
            <a:r>
              <a:rPr lang="en-US" dirty="0">
                <a:solidFill>
                  <a:srgbClr val="006666"/>
                </a:solidFill>
                <a:cs typeface="Courier New" panose="02070409020205090404" pitchFamily="49" charset="0"/>
              </a:rPr>
              <a:t>collision</a:t>
            </a:r>
            <a:r>
              <a:rPr lang="en-US" dirty="0">
                <a:cs typeface="Courier New" panose="02070409020205090404" pitchFamily="49" charset="0"/>
              </a:rPr>
              <a:t> is a condition where </a:t>
            </a:r>
            <a:r>
              <a:rPr lang="en-US" dirty="0">
                <a:solidFill>
                  <a:srgbClr val="6600CC"/>
                </a:solidFill>
                <a:cs typeface="Courier New" panose="02070409020205090404" pitchFamily="49" charset="0"/>
              </a:rPr>
              <a:t>two or more values </a:t>
            </a:r>
            <a:r>
              <a:rPr lang="en-US" dirty="0">
                <a:cs typeface="Courier New" panose="02070409020205090404" pitchFamily="49" charset="0"/>
              </a:rPr>
              <a:t>both map to the same bucket in the array. </a:t>
            </a:r>
            <a:endParaRPr lang="en-US" dirty="0"/>
          </a:p>
        </p:txBody>
      </p:sp>
      <p:sp>
        <p:nvSpPr>
          <p:cNvPr id="774178" name="Text Box 34"/>
          <p:cNvSpPr txBox="1">
            <a:spLocks noChangeArrowheads="1"/>
          </p:cNvSpPr>
          <p:nvPr/>
        </p:nvSpPr>
        <p:spPr bwMode="auto">
          <a:xfrm>
            <a:off x="182787" y="3652132"/>
            <a:ext cx="3555199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r>
              <a:rPr lang="en-US" dirty="0">
                <a:cs typeface="Courier New" panose="02070409020205090404" pitchFamily="49" charset="0"/>
              </a:rPr>
              <a:t>we can’t tell what value was actually </a:t>
            </a:r>
            <a:br>
              <a:rPr lang="en-US" dirty="0">
                <a:cs typeface="Courier New" panose="02070409020205090404" pitchFamily="49" charset="0"/>
              </a:rPr>
            </a:br>
            <a:r>
              <a:rPr lang="en-US" dirty="0">
                <a:cs typeface="Courier New" panose="02070409020205090404" pitchFamily="49" charset="0"/>
              </a:rPr>
              <a:t>stored in the array!</a:t>
            </a:r>
            <a:endParaRPr lang="en-US" dirty="0"/>
          </a:p>
        </p:txBody>
      </p:sp>
      <p:grpSp>
        <p:nvGrpSpPr>
          <p:cNvPr id="36" name="Group 18"/>
          <p:cNvGrpSpPr/>
          <p:nvPr/>
        </p:nvGrpSpPr>
        <p:grpSpPr bwMode="auto">
          <a:xfrm>
            <a:off x="6572250" y="1676400"/>
            <a:ext cx="2266950" cy="4545013"/>
            <a:chOff x="4140" y="1056"/>
            <a:chExt cx="1428" cy="2863"/>
          </a:xfrm>
        </p:grpSpPr>
        <p:grpSp>
          <p:nvGrpSpPr>
            <p:cNvPr id="37" name="Group 19"/>
            <p:cNvGrpSpPr/>
            <p:nvPr/>
          </p:nvGrpSpPr>
          <p:grpSpPr bwMode="auto">
            <a:xfrm>
              <a:off x="4140" y="1056"/>
              <a:ext cx="1428" cy="2688"/>
              <a:chOff x="4140" y="912"/>
              <a:chExt cx="1428" cy="2688"/>
            </a:xfrm>
          </p:grpSpPr>
          <p:sp>
            <p:nvSpPr>
              <p:cNvPr id="46" name="Rectangle 20"/>
              <p:cNvSpPr>
                <a:spLocks noChangeArrowheads="1"/>
              </p:cNvSpPr>
              <p:nvPr/>
            </p:nvSpPr>
            <p:spPr bwMode="auto">
              <a:xfrm>
                <a:off x="4896" y="1008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7" name="Rectangle 21"/>
              <p:cNvSpPr>
                <a:spLocks noChangeArrowheads="1"/>
              </p:cNvSpPr>
              <p:nvPr/>
            </p:nvSpPr>
            <p:spPr bwMode="auto">
              <a:xfrm>
                <a:off x="4896" y="1248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" name="Rectangle 22"/>
              <p:cNvSpPr>
                <a:spLocks noChangeArrowheads="1"/>
              </p:cNvSpPr>
              <p:nvPr/>
            </p:nvSpPr>
            <p:spPr bwMode="auto">
              <a:xfrm>
                <a:off x="4896" y="1824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9" name="Rectangle 23"/>
              <p:cNvSpPr>
                <a:spLocks noChangeArrowheads="1"/>
              </p:cNvSpPr>
              <p:nvPr/>
            </p:nvSpPr>
            <p:spPr bwMode="auto">
              <a:xfrm>
                <a:off x="4896" y="2064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" name="Rectangle 24"/>
              <p:cNvSpPr>
                <a:spLocks noChangeArrowheads="1"/>
              </p:cNvSpPr>
              <p:nvPr/>
            </p:nvSpPr>
            <p:spPr bwMode="auto">
              <a:xfrm>
                <a:off x="4896" y="2304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" name="Text Box 25"/>
              <p:cNvSpPr txBox="1">
                <a:spLocks noChangeArrowheads="1"/>
              </p:cNvSpPr>
              <p:nvPr/>
            </p:nvSpPr>
            <p:spPr bwMode="auto">
              <a:xfrm>
                <a:off x="5058" y="2537"/>
                <a:ext cx="26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9pPr>
              </a:lstStyle>
              <a:p>
                <a:pPr algn="l" eaLnBrk="1" hangingPunct="1"/>
                <a:r>
                  <a:rPr lang="en-US"/>
                  <a:t>...</a:t>
                </a:r>
                <a:endParaRPr lang="en-US"/>
              </a:p>
            </p:txBody>
          </p:sp>
          <p:sp>
            <p:nvSpPr>
              <p:cNvPr id="52" name="Rectangle 26"/>
              <p:cNvSpPr>
                <a:spLocks noChangeArrowheads="1"/>
              </p:cNvSpPr>
              <p:nvPr/>
            </p:nvSpPr>
            <p:spPr bwMode="auto">
              <a:xfrm>
                <a:off x="4896" y="2880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" name="Rectangle 27"/>
              <p:cNvSpPr>
                <a:spLocks noChangeArrowheads="1"/>
              </p:cNvSpPr>
              <p:nvPr/>
            </p:nvSpPr>
            <p:spPr bwMode="auto">
              <a:xfrm>
                <a:off x="4896" y="3120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" name="Rectangle 28"/>
              <p:cNvSpPr>
                <a:spLocks noChangeArrowheads="1"/>
              </p:cNvSpPr>
              <p:nvPr/>
            </p:nvSpPr>
            <p:spPr bwMode="auto">
              <a:xfrm>
                <a:off x="4896" y="3360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" name="Text Box 29"/>
              <p:cNvSpPr txBox="1">
                <a:spLocks noChangeArrowheads="1"/>
              </p:cNvSpPr>
              <p:nvPr/>
            </p:nvSpPr>
            <p:spPr bwMode="auto">
              <a:xfrm>
                <a:off x="4140" y="912"/>
                <a:ext cx="82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9pPr>
              </a:lstStyle>
              <a:p>
                <a:pPr eaLnBrk="1" hangingPunct="1"/>
                <a:r>
                  <a:rPr lang="en-US"/>
                  <a:t>array    </a:t>
                </a:r>
                <a:endParaRPr lang="en-US"/>
              </a:p>
            </p:txBody>
          </p:sp>
          <p:sp>
            <p:nvSpPr>
              <p:cNvPr id="56" name="Text Box 30"/>
              <p:cNvSpPr txBox="1">
                <a:spLocks noChangeArrowheads="1"/>
              </p:cNvSpPr>
              <p:nvPr/>
            </p:nvSpPr>
            <p:spPr bwMode="auto">
              <a:xfrm>
                <a:off x="5088" y="1488"/>
                <a:ext cx="26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9pPr>
              </a:lstStyle>
              <a:p>
                <a:pPr algn="l" eaLnBrk="1" hangingPunct="1"/>
                <a:r>
                  <a:rPr lang="en-US"/>
                  <a:t>...</a:t>
                </a:r>
                <a:endParaRPr lang="en-US"/>
              </a:p>
            </p:txBody>
          </p:sp>
        </p:grpSp>
        <p:sp>
          <p:nvSpPr>
            <p:cNvPr id="38" name="Text Box 31"/>
            <p:cNvSpPr txBox="1">
              <a:spLocks noChangeArrowheads="1"/>
            </p:cNvSpPr>
            <p:nvPr/>
          </p:nvSpPr>
          <p:spPr bwMode="auto">
            <a:xfrm>
              <a:off x="4617" y="1166"/>
              <a:ext cx="35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eaLnBrk="1" hangingPunct="1"/>
              <a:r>
                <a:rPr lang="en-US" sz="1800"/>
                <a:t>[0] </a:t>
              </a:r>
              <a:endParaRPr lang="en-US" sz="1800"/>
            </a:p>
          </p:txBody>
        </p:sp>
        <p:sp>
          <p:nvSpPr>
            <p:cNvPr id="39" name="Text Box 32"/>
            <p:cNvSpPr txBox="1">
              <a:spLocks noChangeArrowheads="1"/>
            </p:cNvSpPr>
            <p:nvPr/>
          </p:nvSpPr>
          <p:spPr bwMode="auto">
            <a:xfrm>
              <a:off x="4614" y="1371"/>
              <a:ext cx="41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eaLnBrk="1" hangingPunct="1"/>
              <a:r>
                <a:rPr lang="en-US" sz="1800"/>
                <a:t>[1]   </a:t>
              </a:r>
              <a:endParaRPr lang="en-US" sz="1800"/>
            </a:p>
          </p:txBody>
        </p:sp>
        <p:sp>
          <p:nvSpPr>
            <p:cNvPr id="40" name="Text Box 33"/>
            <p:cNvSpPr txBox="1">
              <a:spLocks noChangeArrowheads="1"/>
            </p:cNvSpPr>
            <p:nvPr/>
          </p:nvSpPr>
          <p:spPr bwMode="auto">
            <a:xfrm>
              <a:off x="4350" y="1967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algn="l" eaLnBrk="1" hangingPunct="1"/>
              <a:r>
                <a:rPr lang="en-US" sz="1800" dirty="0"/>
                <a:t>[5223]</a:t>
              </a:r>
              <a:endParaRPr lang="en-US" sz="1800" dirty="0"/>
            </a:p>
          </p:txBody>
        </p:sp>
        <p:sp>
          <p:nvSpPr>
            <p:cNvPr id="41" name="Text Box 34"/>
            <p:cNvSpPr txBox="1">
              <a:spLocks noChangeArrowheads="1"/>
            </p:cNvSpPr>
            <p:nvPr/>
          </p:nvSpPr>
          <p:spPr bwMode="auto">
            <a:xfrm>
              <a:off x="4272" y="3021"/>
              <a:ext cx="6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algn="l" eaLnBrk="1" hangingPunct="1"/>
              <a:r>
                <a:rPr lang="en-US" sz="1800"/>
                <a:t>[83947]</a:t>
              </a:r>
              <a:endParaRPr lang="en-US" sz="1800"/>
            </a:p>
          </p:txBody>
        </p:sp>
        <p:sp>
          <p:nvSpPr>
            <p:cNvPr id="42" name="Text Box 35"/>
            <p:cNvSpPr txBox="1">
              <a:spLocks noChangeArrowheads="1"/>
            </p:cNvSpPr>
            <p:nvPr/>
          </p:nvSpPr>
          <p:spPr bwMode="auto">
            <a:xfrm>
              <a:off x="4278" y="3270"/>
              <a:ext cx="664" cy="4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algn="l" eaLnBrk="1" hangingPunct="1"/>
              <a:r>
                <a:rPr lang="en-US" sz="1800"/>
                <a:t>[83948]</a:t>
              </a:r>
              <a:endParaRPr lang="en-US" sz="1800"/>
            </a:p>
            <a:p>
              <a:pPr algn="l" eaLnBrk="1" hangingPunct="1"/>
              <a:endParaRPr lang="en-US" sz="800"/>
            </a:p>
            <a:p>
              <a:pPr algn="l" eaLnBrk="1" hangingPunct="1"/>
              <a:r>
                <a:rPr lang="en-US" sz="1800"/>
                <a:t>[83949]</a:t>
              </a:r>
              <a:endParaRPr lang="en-US" sz="1800"/>
            </a:p>
          </p:txBody>
        </p:sp>
        <p:sp>
          <p:nvSpPr>
            <p:cNvPr id="43" name="Text Box 36"/>
            <p:cNvSpPr txBox="1">
              <a:spLocks noChangeArrowheads="1"/>
            </p:cNvSpPr>
            <p:nvPr/>
          </p:nvSpPr>
          <p:spPr bwMode="auto">
            <a:xfrm>
              <a:off x="4350" y="2187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algn="l" eaLnBrk="1" hangingPunct="1"/>
              <a:r>
                <a:rPr lang="en-US" sz="1800"/>
                <a:t>[5224]</a:t>
              </a:r>
              <a:endParaRPr lang="en-US" sz="1800"/>
            </a:p>
          </p:txBody>
        </p:sp>
        <p:sp>
          <p:nvSpPr>
            <p:cNvPr id="44" name="Text Box 37"/>
            <p:cNvSpPr txBox="1">
              <a:spLocks noChangeArrowheads="1"/>
            </p:cNvSpPr>
            <p:nvPr/>
          </p:nvSpPr>
          <p:spPr bwMode="auto">
            <a:xfrm>
              <a:off x="4356" y="2421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algn="l" eaLnBrk="1" hangingPunct="1"/>
              <a:r>
                <a:rPr lang="en-US" sz="1800"/>
                <a:t>[5225]</a:t>
              </a:r>
              <a:endParaRPr lang="en-US" sz="1800"/>
            </a:p>
          </p:txBody>
        </p:sp>
        <p:sp>
          <p:nvSpPr>
            <p:cNvPr id="45" name="Rectangle 38"/>
            <p:cNvSpPr>
              <a:spLocks noChangeArrowheads="1"/>
            </p:cNvSpPr>
            <p:nvPr/>
          </p:nvSpPr>
          <p:spPr bwMode="auto">
            <a:xfrm>
              <a:off x="5080" y="3631"/>
              <a:ext cx="26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/>
                <a:t>...</a:t>
              </a:r>
              <a:endParaRPr lang="en-US"/>
            </a:p>
          </p:txBody>
        </p:sp>
      </p:grpSp>
      <p:sp>
        <p:nvSpPr>
          <p:cNvPr id="68" name="Text Box 54"/>
          <p:cNvSpPr txBox="1">
            <a:spLocks noChangeArrowheads="1"/>
          </p:cNvSpPr>
          <p:nvPr/>
        </p:nvSpPr>
        <p:spPr bwMode="auto">
          <a:xfrm>
            <a:off x="7987468" y="3497745"/>
            <a:ext cx="70403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l" eaLnBrk="1" hangingPunct="1"/>
            <a:r>
              <a:rPr lang="en-US" sz="2000" b="1" dirty="0">
                <a:solidFill>
                  <a:schemeClr val="accent6"/>
                </a:solidFill>
              </a:rPr>
              <a:t>true</a:t>
            </a:r>
            <a:endParaRPr lang="en-US" sz="2000" b="1" dirty="0">
              <a:solidFill>
                <a:schemeClr val="accent6"/>
              </a:solidFill>
            </a:endParaRPr>
          </a:p>
        </p:txBody>
      </p:sp>
      <p:sp>
        <p:nvSpPr>
          <p:cNvPr id="75" name="Text Box 34"/>
          <p:cNvSpPr txBox="1">
            <a:spLocks noChangeArrowheads="1"/>
          </p:cNvSpPr>
          <p:nvPr/>
        </p:nvSpPr>
        <p:spPr bwMode="auto">
          <a:xfrm>
            <a:off x="20876" y="5495320"/>
            <a:ext cx="386600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r>
              <a:rPr lang="en-US" dirty="0">
                <a:cs typeface="Courier New" panose="02070409020205090404" pitchFamily="49" charset="0"/>
              </a:rPr>
              <a:t>Let’s see how to fix </a:t>
            </a:r>
            <a:br>
              <a:rPr lang="en-US" dirty="0">
                <a:cs typeface="Courier New" panose="02070409020205090404" pitchFamily="49" charset="0"/>
              </a:rPr>
            </a:br>
            <a:r>
              <a:rPr lang="en-US" dirty="0">
                <a:cs typeface="Courier New" panose="02070409020205090404" pitchFamily="49" charset="0"/>
              </a:rPr>
              <a:t>this problem!</a:t>
            </a:r>
            <a:endParaRPr lang="en-US" dirty="0"/>
          </a:p>
        </p:txBody>
      </p:sp>
      <p:grpSp>
        <p:nvGrpSpPr>
          <p:cNvPr id="19" name="Group 18"/>
          <p:cNvGrpSpPr/>
          <p:nvPr/>
        </p:nvGrpSpPr>
        <p:grpSpPr>
          <a:xfrm>
            <a:off x="4082888" y="2790417"/>
            <a:ext cx="3789775" cy="1902098"/>
            <a:chOff x="4082888" y="2750312"/>
            <a:chExt cx="3789775" cy="1902098"/>
          </a:xfrm>
        </p:grpSpPr>
        <p:grpSp>
          <p:nvGrpSpPr>
            <p:cNvPr id="7" name="Group 6"/>
            <p:cNvGrpSpPr/>
            <p:nvPr/>
          </p:nvGrpSpPr>
          <p:grpSpPr>
            <a:xfrm>
              <a:off x="4082888" y="2750312"/>
              <a:ext cx="3789775" cy="1902098"/>
              <a:chOff x="3458281" y="2670102"/>
              <a:chExt cx="4405902" cy="1902098"/>
            </a:xfrm>
          </p:grpSpPr>
          <p:sp>
            <p:nvSpPr>
              <p:cNvPr id="3" name="Rectangle 2"/>
              <p:cNvSpPr/>
              <p:nvPr/>
            </p:nvSpPr>
            <p:spPr>
              <a:xfrm>
                <a:off x="3480185" y="2670102"/>
                <a:ext cx="16683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sz="1800" dirty="0">
                    <a:solidFill>
                      <a:srgbClr val="006666"/>
                    </a:solidFill>
                  </a:rPr>
                  <a:t>111,105,224</a:t>
                </a:r>
                <a:endParaRPr lang="en-US" sz="1800" dirty="0">
                  <a:solidFill>
                    <a:srgbClr val="006666"/>
                  </a:solidFill>
                </a:endParaRPr>
              </a:p>
            </p:txBody>
          </p:sp>
          <p:sp>
            <p:nvSpPr>
              <p:cNvPr id="70" name="Rectangle 69"/>
              <p:cNvSpPr/>
              <p:nvPr/>
            </p:nvSpPr>
            <p:spPr>
              <a:xfrm>
                <a:off x="3458281" y="4202868"/>
                <a:ext cx="200003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sz="1800" dirty="0">
                    <a:solidFill>
                      <a:srgbClr val="0070C0"/>
                    </a:solidFill>
                  </a:rPr>
                  <a:t>222,205,224</a:t>
                </a:r>
                <a:r>
                  <a:rPr lang="en-US" sz="1800" dirty="0">
                    <a:solidFill>
                      <a:srgbClr val="FF0000"/>
                    </a:solidFill>
                  </a:rPr>
                  <a:t> </a:t>
                </a:r>
                <a:r>
                  <a:rPr lang="en-US" sz="180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 </a:t>
                </a:r>
                <a:endParaRPr lang="en-US" sz="18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" name="Straight Arrow Connector 4"/>
              <p:cNvCxnSpPr/>
              <p:nvPr/>
            </p:nvCxnSpPr>
            <p:spPr bwMode="auto">
              <a:xfrm>
                <a:off x="6064442" y="3505200"/>
                <a:ext cx="1779148" cy="0"/>
              </a:xfrm>
              <a:prstGeom prst="straightConnector1">
                <a:avLst/>
              </a:prstGeom>
              <a:solidFill>
                <a:srgbClr val="E7F9BF"/>
              </a:solidFill>
              <a:ln w="38100" cap="flat" cmpd="sng" algn="ctr">
                <a:solidFill>
                  <a:srgbClr val="006666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cxnSp>
            <p:nvCxnSpPr>
              <p:cNvPr id="73" name="Straight Arrow Connector 72"/>
              <p:cNvCxnSpPr/>
              <p:nvPr/>
            </p:nvCxnSpPr>
            <p:spPr bwMode="auto">
              <a:xfrm>
                <a:off x="6060124" y="3652132"/>
                <a:ext cx="1804059" cy="1458"/>
              </a:xfrm>
              <a:prstGeom prst="straightConnector1">
                <a:avLst/>
              </a:prstGeom>
              <a:solidFill>
                <a:srgbClr val="E7F9BF"/>
              </a:solidFill>
              <a:ln w="38100" cap="flat" cmpd="sng" algn="ctr">
                <a:solidFill>
                  <a:srgbClr val="0070C0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</p:grpSp>
        <p:grpSp>
          <p:nvGrpSpPr>
            <p:cNvPr id="18" name="Group 17"/>
            <p:cNvGrpSpPr/>
            <p:nvPr/>
          </p:nvGrpSpPr>
          <p:grpSpPr>
            <a:xfrm>
              <a:off x="4732219" y="3119644"/>
              <a:ext cx="1718959" cy="1171455"/>
              <a:chOff x="4732219" y="3119644"/>
              <a:chExt cx="1718959" cy="1171455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5612487" y="3394850"/>
                <a:ext cx="83869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dirty="0">
                    <a:solidFill>
                      <a:srgbClr val="6600CC"/>
                    </a:solidFill>
                    <a:sym typeface="Wingdings" panose="05000000000000000000" pitchFamily="2" charset="2"/>
                  </a:rPr>
                  <a:t>f</a:t>
                </a:r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(</a:t>
                </a:r>
                <a:r>
                  <a:rPr lang="en-US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x</a:t>
                </a:r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)</a:t>
                </a:r>
                <a:r>
                  <a:rPr lang="en-US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 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3" name="Straight Arrow Connector 12"/>
              <p:cNvCxnSpPr>
                <a:stCxn id="3" idx="2"/>
              </p:cNvCxnSpPr>
              <p:nvPr/>
            </p:nvCxnSpPr>
            <p:spPr bwMode="auto">
              <a:xfrm>
                <a:off x="4819233" y="3119644"/>
                <a:ext cx="880267" cy="449892"/>
              </a:xfrm>
              <a:prstGeom prst="straightConnector1">
                <a:avLst/>
              </a:prstGeom>
              <a:solidFill>
                <a:srgbClr val="E7F9BF"/>
              </a:solidFill>
              <a:ln w="28575" cap="flat" cmpd="sng" algn="ctr">
                <a:solidFill>
                  <a:srgbClr val="006666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cxnSp>
            <p:nvCxnSpPr>
              <p:cNvPr id="61" name="Straight Arrow Connector 60"/>
              <p:cNvCxnSpPr/>
              <p:nvPr/>
            </p:nvCxnSpPr>
            <p:spPr bwMode="auto">
              <a:xfrm flipV="1">
                <a:off x="4732219" y="3653589"/>
                <a:ext cx="982781" cy="637510"/>
              </a:xfrm>
              <a:prstGeom prst="straightConnector1">
                <a:avLst/>
              </a:prstGeom>
              <a:solidFill>
                <a:srgbClr val="E7F9BF"/>
              </a:solidFill>
              <a:ln w="28575" cap="flat" cmpd="sng" algn="ctr">
                <a:solidFill>
                  <a:srgbClr val="0070C0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</p:grpSp>
      </p:grpSp>
      <p:sp>
        <p:nvSpPr>
          <p:cNvPr id="58" name="Rectangle 2"/>
          <p:cNvSpPr>
            <a:spLocks noGrp="1" noChangeArrowheads="1"/>
          </p:cNvSpPr>
          <p:nvPr>
            <p:ph type="title"/>
          </p:nvPr>
        </p:nvSpPr>
        <p:spPr>
          <a:xfrm>
            <a:off x="319088" y="-147759"/>
            <a:ext cx="8494712" cy="1143000"/>
          </a:xfrm>
          <a:noFill/>
        </p:spPr>
        <p:txBody>
          <a:bodyPr/>
          <a:lstStyle/>
          <a:p>
            <a:pPr eaLnBrk="1" hangingPunct="1"/>
            <a:r>
              <a:rPr lang="en-US" sz="3600" dirty="0"/>
              <a:t>The (Almost) Hash Table: </a:t>
            </a:r>
            <a:r>
              <a:rPr lang="en-US" sz="3600" dirty="0">
                <a:solidFill>
                  <a:srgbClr val="FF0000"/>
                </a:solidFill>
              </a:rPr>
              <a:t>A problem!</a:t>
            </a:r>
            <a:endParaRPr lang="en-US" sz="3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fld id="{D8ACC729-B27E-42F8-A57F-3EFE465FF6DF}" type="slidenum">
              <a:rPr lang="en-US" sz="1400" smtClean="0">
                <a:solidFill>
                  <a:schemeClr val="tx1"/>
                </a:solidFill>
                <a:latin typeface="Times New Roman" panose="02020503050405090304" pitchFamily="18" charset="0"/>
              </a:rPr>
            </a:fld>
            <a:endParaRPr lang="en-US" sz="140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  <p:sp>
        <p:nvSpPr>
          <p:cNvPr id="45" name="Text Box 5"/>
          <p:cNvSpPr txBox="1">
            <a:spLocks noChangeArrowheads="1"/>
          </p:cNvSpPr>
          <p:nvPr/>
        </p:nvSpPr>
        <p:spPr bwMode="auto">
          <a:xfrm>
            <a:off x="260985" y="1820711"/>
            <a:ext cx="442789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r>
              <a:rPr lang="en-US" sz="1800" dirty="0">
                <a:cs typeface="Courier New" panose="02070409020205090404" pitchFamily="49" charset="0"/>
              </a:rPr>
              <a:t>As before, we use our mapping function to locate the right bucket in our array.</a:t>
            </a:r>
            <a:endParaRPr lang="en-US" sz="1800" dirty="0">
              <a:cs typeface="Courier New" panose="02070409020205090404" pitchFamily="49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501389" y="2896295"/>
            <a:ext cx="41181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sz="1800" dirty="0">
                <a:solidFill>
                  <a:srgbClr val="6600CC"/>
                </a:solidFill>
              </a:rPr>
              <a:t>If the target bucket is empty</a:t>
            </a:r>
            <a:r>
              <a:rPr lang="en-US" sz="1800" dirty="0">
                <a:solidFill>
                  <a:schemeClr val="tx1"/>
                </a:solidFill>
              </a:rPr>
              <a:t>, we can store our value there.</a:t>
            </a:r>
            <a:endParaRPr lang="en-US" sz="1800" dirty="0">
              <a:solidFill>
                <a:schemeClr val="tx1"/>
              </a:solidFill>
              <a:cs typeface="Courier New" panose="02070409020205090404" pitchFamily="49" charset="0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404262" y="5317934"/>
            <a:ext cx="431244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sz="1800" dirty="0">
                <a:solidFill>
                  <a:srgbClr val="6600CC"/>
                </a:solidFill>
              </a:rPr>
              <a:t>If the bucket is occupied</a:t>
            </a:r>
            <a:r>
              <a:rPr lang="en-US" sz="1800" dirty="0">
                <a:solidFill>
                  <a:schemeClr val="tx1"/>
                </a:solidFill>
              </a:rPr>
              <a:t>, scan down from that bucket until we hit the first open bucket. Put the new value there.</a:t>
            </a:r>
            <a:endParaRPr lang="en-US" sz="1800" dirty="0">
              <a:solidFill>
                <a:schemeClr val="tx1"/>
              </a:solidFill>
              <a:cs typeface="Courier New" panose="02070409020205090404" pitchFamily="49" charset="0"/>
            </a:endParaRPr>
          </a:p>
        </p:txBody>
      </p:sp>
      <p:grpSp>
        <p:nvGrpSpPr>
          <p:cNvPr id="159" name="Group 18"/>
          <p:cNvGrpSpPr/>
          <p:nvPr/>
        </p:nvGrpSpPr>
        <p:grpSpPr bwMode="auto">
          <a:xfrm>
            <a:off x="6572250" y="1676400"/>
            <a:ext cx="2266950" cy="4284663"/>
            <a:chOff x="4140" y="1056"/>
            <a:chExt cx="1428" cy="2699"/>
          </a:xfrm>
        </p:grpSpPr>
        <p:grpSp>
          <p:nvGrpSpPr>
            <p:cNvPr id="160" name="Group 19"/>
            <p:cNvGrpSpPr/>
            <p:nvPr/>
          </p:nvGrpSpPr>
          <p:grpSpPr bwMode="auto">
            <a:xfrm>
              <a:off x="4140" y="1056"/>
              <a:ext cx="1428" cy="2688"/>
              <a:chOff x="4140" y="912"/>
              <a:chExt cx="1428" cy="2688"/>
            </a:xfrm>
          </p:grpSpPr>
          <p:sp>
            <p:nvSpPr>
              <p:cNvPr id="169" name="Rectangle 20"/>
              <p:cNvSpPr>
                <a:spLocks noChangeArrowheads="1"/>
              </p:cNvSpPr>
              <p:nvPr/>
            </p:nvSpPr>
            <p:spPr bwMode="auto">
              <a:xfrm>
                <a:off x="4896" y="1008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0" name="Rectangle 21"/>
              <p:cNvSpPr>
                <a:spLocks noChangeArrowheads="1"/>
              </p:cNvSpPr>
              <p:nvPr/>
            </p:nvSpPr>
            <p:spPr bwMode="auto">
              <a:xfrm>
                <a:off x="4896" y="1248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1" name="Rectangle 22"/>
              <p:cNvSpPr>
                <a:spLocks noChangeArrowheads="1"/>
              </p:cNvSpPr>
              <p:nvPr/>
            </p:nvSpPr>
            <p:spPr bwMode="auto">
              <a:xfrm>
                <a:off x="4896" y="1824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2" name="Rectangle 23"/>
              <p:cNvSpPr>
                <a:spLocks noChangeArrowheads="1"/>
              </p:cNvSpPr>
              <p:nvPr/>
            </p:nvSpPr>
            <p:spPr bwMode="auto">
              <a:xfrm>
                <a:off x="4896" y="2064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3" name="Rectangle 24"/>
              <p:cNvSpPr>
                <a:spLocks noChangeArrowheads="1"/>
              </p:cNvSpPr>
              <p:nvPr/>
            </p:nvSpPr>
            <p:spPr bwMode="auto">
              <a:xfrm>
                <a:off x="4896" y="2304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4" name="Text Box 25"/>
              <p:cNvSpPr txBox="1">
                <a:spLocks noChangeArrowheads="1"/>
              </p:cNvSpPr>
              <p:nvPr/>
            </p:nvSpPr>
            <p:spPr bwMode="auto">
              <a:xfrm>
                <a:off x="5058" y="2537"/>
                <a:ext cx="26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9pPr>
              </a:lstStyle>
              <a:p>
                <a:pPr algn="l" eaLnBrk="1" hangingPunct="1"/>
                <a:r>
                  <a:rPr lang="en-US" dirty="0"/>
                  <a:t>...</a:t>
                </a:r>
                <a:endParaRPr lang="en-US" dirty="0"/>
              </a:p>
            </p:txBody>
          </p:sp>
          <p:sp>
            <p:nvSpPr>
              <p:cNvPr id="175" name="Rectangle 26"/>
              <p:cNvSpPr>
                <a:spLocks noChangeArrowheads="1"/>
              </p:cNvSpPr>
              <p:nvPr/>
            </p:nvSpPr>
            <p:spPr bwMode="auto">
              <a:xfrm>
                <a:off x="4896" y="2880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6" name="Rectangle 27"/>
              <p:cNvSpPr>
                <a:spLocks noChangeArrowheads="1"/>
              </p:cNvSpPr>
              <p:nvPr/>
            </p:nvSpPr>
            <p:spPr bwMode="auto">
              <a:xfrm>
                <a:off x="4896" y="3120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7" name="Rectangle 28"/>
              <p:cNvSpPr>
                <a:spLocks noChangeArrowheads="1"/>
              </p:cNvSpPr>
              <p:nvPr/>
            </p:nvSpPr>
            <p:spPr bwMode="auto">
              <a:xfrm>
                <a:off x="4896" y="3360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8" name="Text Box 29"/>
              <p:cNvSpPr txBox="1">
                <a:spLocks noChangeArrowheads="1"/>
              </p:cNvSpPr>
              <p:nvPr/>
            </p:nvSpPr>
            <p:spPr bwMode="auto">
              <a:xfrm>
                <a:off x="4140" y="912"/>
                <a:ext cx="82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9pPr>
              </a:lstStyle>
              <a:p>
                <a:pPr eaLnBrk="1" hangingPunct="1"/>
                <a:r>
                  <a:rPr lang="en-US"/>
                  <a:t>array    </a:t>
                </a:r>
                <a:endParaRPr lang="en-US"/>
              </a:p>
            </p:txBody>
          </p:sp>
          <p:sp>
            <p:nvSpPr>
              <p:cNvPr id="179" name="Text Box 30"/>
              <p:cNvSpPr txBox="1">
                <a:spLocks noChangeArrowheads="1"/>
              </p:cNvSpPr>
              <p:nvPr/>
            </p:nvSpPr>
            <p:spPr bwMode="auto">
              <a:xfrm>
                <a:off x="5088" y="1488"/>
                <a:ext cx="26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9pPr>
              </a:lstStyle>
              <a:p>
                <a:pPr algn="l" eaLnBrk="1" hangingPunct="1"/>
                <a:r>
                  <a:rPr lang="en-US"/>
                  <a:t>...</a:t>
                </a:r>
                <a:endParaRPr lang="en-US"/>
              </a:p>
            </p:txBody>
          </p:sp>
        </p:grpSp>
        <p:sp>
          <p:nvSpPr>
            <p:cNvPr id="161" name="Text Box 31"/>
            <p:cNvSpPr txBox="1">
              <a:spLocks noChangeArrowheads="1"/>
            </p:cNvSpPr>
            <p:nvPr/>
          </p:nvSpPr>
          <p:spPr bwMode="auto">
            <a:xfrm>
              <a:off x="4617" y="1166"/>
              <a:ext cx="35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eaLnBrk="1" hangingPunct="1"/>
              <a:r>
                <a:rPr lang="en-US" sz="1800"/>
                <a:t>[0] </a:t>
              </a:r>
              <a:endParaRPr lang="en-US" sz="1800"/>
            </a:p>
          </p:txBody>
        </p:sp>
        <p:sp>
          <p:nvSpPr>
            <p:cNvPr id="162" name="Text Box 32"/>
            <p:cNvSpPr txBox="1">
              <a:spLocks noChangeArrowheads="1"/>
            </p:cNvSpPr>
            <p:nvPr/>
          </p:nvSpPr>
          <p:spPr bwMode="auto">
            <a:xfrm>
              <a:off x="4614" y="1371"/>
              <a:ext cx="41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eaLnBrk="1" hangingPunct="1"/>
              <a:r>
                <a:rPr lang="en-US" sz="1800"/>
                <a:t>[1]   </a:t>
              </a:r>
              <a:endParaRPr lang="en-US" sz="1800"/>
            </a:p>
          </p:txBody>
        </p:sp>
        <p:sp>
          <p:nvSpPr>
            <p:cNvPr id="163" name="Text Box 33"/>
            <p:cNvSpPr txBox="1">
              <a:spLocks noChangeArrowheads="1"/>
            </p:cNvSpPr>
            <p:nvPr/>
          </p:nvSpPr>
          <p:spPr bwMode="auto">
            <a:xfrm>
              <a:off x="4350" y="1967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algn="l" eaLnBrk="1" hangingPunct="1"/>
              <a:r>
                <a:rPr lang="en-US" sz="1800" dirty="0"/>
                <a:t>[5223]</a:t>
              </a:r>
              <a:endParaRPr lang="en-US" sz="1800" dirty="0"/>
            </a:p>
          </p:txBody>
        </p:sp>
        <p:sp>
          <p:nvSpPr>
            <p:cNvPr id="164" name="Text Box 34"/>
            <p:cNvSpPr txBox="1">
              <a:spLocks noChangeArrowheads="1"/>
            </p:cNvSpPr>
            <p:nvPr/>
          </p:nvSpPr>
          <p:spPr bwMode="auto">
            <a:xfrm>
              <a:off x="4272" y="3021"/>
              <a:ext cx="67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algn="l" eaLnBrk="1" hangingPunct="1"/>
              <a:r>
                <a:rPr lang="en-US" sz="1800" dirty="0"/>
                <a:t>[99997]</a:t>
              </a:r>
              <a:endParaRPr lang="en-US" sz="1800" dirty="0"/>
            </a:p>
          </p:txBody>
        </p:sp>
        <p:sp>
          <p:nvSpPr>
            <p:cNvPr id="165" name="Text Box 35"/>
            <p:cNvSpPr txBox="1">
              <a:spLocks noChangeArrowheads="1"/>
            </p:cNvSpPr>
            <p:nvPr/>
          </p:nvSpPr>
          <p:spPr bwMode="auto">
            <a:xfrm>
              <a:off x="4278" y="3270"/>
              <a:ext cx="670" cy="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algn="l" eaLnBrk="1" hangingPunct="1"/>
              <a:r>
                <a:rPr lang="en-US" sz="1800" dirty="0"/>
                <a:t>[99998]</a:t>
              </a:r>
              <a:endParaRPr lang="en-US" sz="1800" dirty="0"/>
            </a:p>
            <a:p>
              <a:pPr algn="l" eaLnBrk="1" hangingPunct="1"/>
              <a:endParaRPr lang="en-US" sz="800" dirty="0"/>
            </a:p>
            <a:p>
              <a:pPr algn="l" eaLnBrk="1" hangingPunct="1"/>
              <a:r>
                <a:rPr lang="en-US" sz="1800" dirty="0"/>
                <a:t>[99999]</a:t>
              </a:r>
              <a:endParaRPr lang="en-US" sz="1800" dirty="0"/>
            </a:p>
          </p:txBody>
        </p:sp>
        <p:sp>
          <p:nvSpPr>
            <p:cNvPr id="166" name="Text Box 36"/>
            <p:cNvSpPr txBox="1">
              <a:spLocks noChangeArrowheads="1"/>
            </p:cNvSpPr>
            <p:nvPr/>
          </p:nvSpPr>
          <p:spPr bwMode="auto">
            <a:xfrm>
              <a:off x="4350" y="2187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algn="l" eaLnBrk="1" hangingPunct="1"/>
              <a:r>
                <a:rPr lang="en-US" sz="1800"/>
                <a:t>[5224]</a:t>
              </a:r>
              <a:endParaRPr lang="en-US" sz="1800"/>
            </a:p>
          </p:txBody>
        </p:sp>
        <p:sp>
          <p:nvSpPr>
            <p:cNvPr id="167" name="Text Box 37"/>
            <p:cNvSpPr txBox="1">
              <a:spLocks noChangeArrowheads="1"/>
            </p:cNvSpPr>
            <p:nvPr/>
          </p:nvSpPr>
          <p:spPr bwMode="auto">
            <a:xfrm>
              <a:off x="4356" y="2421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algn="l" eaLnBrk="1" hangingPunct="1"/>
              <a:r>
                <a:rPr lang="en-US" sz="1800" dirty="0"/>
                <a:t>[5225]</a:t>
              </a:r>
              <a:endParaRPr lang="en-US" sz="1800" dirty="0"/>
            </a:p>
          </p:txBody>
        </p:sp>
      </p:grpSp>
      <p:sp>
        <p:nvSpPr>
          <p:cNvPr id="9" name="Rounded Rectangle 8"/>
          <p:cNvSpPr/>
          <p:nvPr/>
        </p:nvSpPr>
        <p:spPr bwMode="auto">
          <a:xfrm>
            <a:off x="7765063" y="3481366"/>
            <a:ext cx="1074138" cy="422590"/>
          </a:xfrm>
          <a:prstGeom prst="roundRect">
            <a:avLst/>
          </a:pr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7745083" y="3564816"/>
            <a:ext cx="1149675" cy="307777"/>
            <a:chOff x="9332166" y="3057837"/>
            <a:chExt cx="1149675" cy="307777"/>
          </a:xfrm>
          <a:noFill/>
        </p:grpSpPr>
        <p:sp>
          <p:nvSpPr>
            <p:cNvPr id="38" name="Rectangle 37"/>
            <p:cNvSpPr/>
            <p:nvPr/>
          </p:nvSpPr>
          <p:spPr bwMode="auto">
            <a:xfrm>
              <a:off x="9502285" y="3144944"/>
              <a:ext cx="793818" cy="76007"/>
            </a:xfrm>
            <a:prstGeom prst="rect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9332166" y="3057837"/>
              <a:ext cx="1149675" cy="307777"/>
            </a:xfrm>
            <a:prstGeom prst="rect">
              <a:avLst/>
            </a:prstGeom>
            <a:grp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111,105,224</a:t>
              </a:r>
              <a:endParaRPr lang="en-US" sz="14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7726515" y="3928188"/>
            <a:ext cx="1186543" cy="292388"/>
            <a:chOff x="9320268" y="3130222"/>
            <a:chExt cx="1186543" cy="292388"/>
          </a:xfrm>
        </p:grpSpPr>
        <p:sp>
          <p:nvSpPr>
            <p:cNvPr id="43" name="Rectangle 42"/>
            <p:cNvSpPr/>
            <p:nvPr/>
          </p:nvSpPr>
          <p:spPr bwMode="auto">
            <a:xfrm>
              <a:off x="9502285" y="3144944"/>
              <a:ext cx="793818" cy="76007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9320268" y="3130222"/>
              <a:ext cx="1186543" cy="2923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300" dirty="0">
                  <a:solidFill>
                    <a:srgbClr val="FF0000"/>
                  </a:solidFill>
                </a:rPr>
                <a:t>222,205,224</a:t>
              </a:r>
              <a:endParaRPr lang="en-US" sz="13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43" name="Group 142"/>
          <p:cNvGrpSpPr/>
          <p:nvPr/>
        </p:nvGrpSpPr>
        <p:grpSpPr>
          <a:xfrm>
            <a:off x="4609222" y="3695702"/>
            <a:ext cx="3126509" cy="611394"/>
            <a:chOff x="4496700" y="729233"/>
            <a:chExt cx="3126509" cy="611394"/>
          </a:xfrm>
        </p:grpSpPr>
        <p:sp>
          <p:nvSpPr>
            <p:cNvPr id="144" name="TextBox 143"/>
            <p:cNvSpPr txBox="1"/>
            <p:nvPr/>
          </p:nvSpPr>
          <p:spPr>
            <a:xfrm>
              <a:off x="4496700" y="971295"/>
              <a:ext cx="24384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6600CC"/>
                  </a:solidFill>
                </a:rPr>
                <a:t>222,205,224 </a:t>
              </a:r>
              <a:r>
                <a:rPr lang="en-US" sz="1800" dirty="0">
                  <a:solidFill>
                    <a:schemeClr val="tx1"/>
                  </a:solidFill>
                  <a:sym typeface="Wingdings" panose="05000000000000000000" pitchFamily="2" charset="2"/>
                </a:rPr>
                <a:t> </a:t>
              </a:r>
              <a:r>
                <a:rPr lang="en-US" sz="1800" dirty="0">
                  <a:solidFill>
                    <a:srgbClr val="6600CC"/>
                  </a:solidFill>
                  <a:sym typeface="Wingdings" panose="05000000000000000000" pitchFamily="2" charset="2"/>
                </a:rPr>
                <a:t>f</a:t>
              </a:r>
              <a:r>
                <a:rPr lang="en-US" sz="1800" dirty="0">
                  <a:solidFill>
                    <a:schemeClr val="tx1"/>
                  </a:solidFill>
                  <a:sym typeface="Wingdings" panose="05000000000000000000" pitchFamily="2" charset="2"/>
                </a:rPr>
                <a:t>(</a:t>
              </a:r>
              <a:r>
                <a:rPr lang="en-US" sz="1800" dirty="0">
                  <a:solidFill>
                    <a:srgbClr val="FF0000"/>
                  </a:solidFill>
                  <a:sym typeface="Wingdings" panose="05000000000000000000" pitchFamily="2" charset="2"/>
                </a:rPr>
                <a:t>x</a:t>
              </a:r>
              <a:r>
                <a:rPr lang="en-US" sz="1800" dirty="0">
                  <a:solidFill>
                    <a:srgbClr val="6600CC"/>
                  </a:solidFill>
                  <a:sym typeface="Wingdings" panose="05000000000000000000" pitchFamily="2" charset="2"/>
                </a:rPr>
                <a:t>) </a:t>
              </a:r>
              <a:endParaRPr lang="en-US" sz="1800" dirty="0">
                <a:solidFill>
                  <a:schemeClr val="tx1"/>
                </a:solidFill>
              </a:endParaRPr>
            </a:p>
          </p:txBody>
        </p:sp>
        <p:cxnSp>
          <p:nvCxnSpPr>
            <p:cNvPr id="145" name="Straight Arrow Connector 144"/>
            <p:cNvCxnSpPr/>
            <p:nvPr/>
          </p:nvCxnSpPr>
          <p:spPr bwMode="auto">
            <a:xfrm flipV="1">
              <a:off x="6802628" y="729233"/>
              <a:ext cx="820581" cy="426728"/>
            </a:xfrm>
            <a:prstGeom prst="straightConnector1">
              <a:avLst/>
            </a:prstGeom>
            <a:solidFill>
              <a:srgbClr val="E7F9BF"/>
            </a:solidFill>
            <a:ln w="3810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3" name="Group 2"/>
          <p:cNvGrpSpPr/>
          <p:nvPr/>
        </p:nvGrpSpPr>
        <p:grpSpPr>
          <a:xfrm>
            <a:off x="4719678" y="3182820"/>
            <a:ext cx="2974361" cy="512880"/>
            <a:chOff x="4479824" y="971295"/>
            <a:chExt cx="2974361" cy="512880"/>
          </a:xfrm>
        </p:grpSpPr>
        <p:sp>
          <p:nvSpPr>
            <p:cNvPr id="29" name="TextBox 28"/>
            <p:cNvSpPr txBox="1"/>
            <p:nvPr/>
          </p:nvSpPr>
          <p:spPr>
            <a:xfrm>
              <a:off x="4479824" y="971295"/>
              <a:ext cx="23599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6600CC"/>
                  </a:solidFill>
                </a:rPr>
                <a:t>111,105,224 </a:t>
              </a:r>
              <a:r>
                <a:rPr lang="en-US" sz="1800" dirty="0">
                  <a:solidFill>
                    <a:schemeClr val="tx1"/>
                  </a:solidFill>
                  <a:sym typeface="Wingdings" panose="05000000000000000000" pitchFamily="2" charset="2"/>
                </a:rPr>
                <a:t></a:t>
              </a:r>
              <a:r>
                <a:rPr lang="en-US" sz="1800" dirty="0">
                  <a:solidFill>
                    <a:srgbClr val="6600CC"/>
                  </a:solidFill>
                  <a:sym typeface="Wingdings" panose="05000000000000000000" pitchFamily="2" charset="2"/>
                </a:rPr>
                <a:t> f</a:t>
              </a:r>
              <a:r>
                <a:rPr lang="en-US" sz="1800" dirty="0">
                  <a:solidFill>
                    <a:schemeClr val="tx1"/>
                  </a:solidFill>
                  <a:sym typeface="Wingdings" panose="05000000000000000000" pitchFamily="2" charset="2"/>
                </a:rPr>
                <a:t>(</a:t>
              </a:r>
              <a:r>
                <a:rPr lang="en-US" sz="1800" dirty="0">
                  <a:solidFill>
                    <a:srgbClr val="FF0000"/>
                  </a:solidFill>
                  <a:sym typeface="Wingdings" panose="05000000000000000000" pitchFamily="2" charset="2"/>
                </a:rPr>
                <a:t>x</a:t>
              </a:r>
              <a:r>
                <a:rPr lang="en-US" sz="1800" dirty="0">
                  <a:solidFill>
                    <a:schemeClr val="tx1"/>
                  </a:solidFill>
                  <a:sym typeface="Wingdings" panose="05000000000000000000" pitchFamily="2" charset="2"/>
                </a:rPr>
                <a:t>)  </a:t>
              </a:r>
              <a:endParaRPr lang="en-US" sz="1800" dirty="0">
                <a:solidFill>
                  <a:schemeClr val="tx1"/>
                </a:solidFill>
              </a:endParaRPr>
            </a:p>
          </p:txBody>
        </p:sp>
        <p:cxnSp>
          <p:nvCxnSpPr>
            <p:cNvPr id="31" name="Straight Arrow Connector 30"/>
            <p:cNvCxnSpPr/>
            <p:nvPr/>
          </p:nvCxnSpPr>
          <p:spPr bwMode="auto">
            <a:xfrm>
              <a:off x="6665771" y="1155961"/>
              <a:ext cx="788414" cy="328214"/>
            </a:xfrm>
            <a:prstGeom prst="straightConnector1">
              <a:avLst/>
            </a:prstGeom>
            <a:solidFill>
              <a:srgbClr val="E7F9BF"/>
            </a:solidFill>
            <a:ln w="3810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146" name="Rounded Rectangular Callout 145"/>
          <p:cNvSpPr>
            <a:spLocks noChangeArrowheads="1"/>
          </p:cNvSpPr>
          <p:nvPr/>
        </p:nvSpPr>
        <p:spPr bwMode="auto">
          <a:xfrm flipH="1">
            <a:off x="4570830" y="660418"/>
            <a:ext cx="3810000" cy="1107056"/>
          </a:xfrm>
          <a:prstGeom prst="wedgeRoundRectCallout">
            <a:avLst>
              <a:gd name="adj1" fmla="val -54321"/>
              <a:gd name="adj2" fmla="val 39166"/>
              <a:gd name="adj3" fmla="val 16667"/>
            </a:avLst>
          </a:prstGeom>
          <a:solidFill>
            <a:srgbClr val="E2FEEF"/>
          </a:solidFill>
          <a:ln w="9525" algn="ctr">
            <a:solidFill>
              <a:schemeClr val="tx1"/>
            </a:solidFill>
            <a:round/>
          </a:ln>
        </p:spPr>
        <p:txBody>
          <a:bodyPr anchor="ctr"/>
          <a:lstStyle/>
          <a:p>
            <a:endParaRPr lang="en-US" sz="700" dirty="0"/>
          </a:p>
          <a:p>
            <a:pPr eaLnBrk="1" hangingPunct="1"/>
            <a:r>
              <a:rPr lang="en-US" sz="1800" dirty="0">
                <a:solidFill>
                  <a:schemeClr val="tx1"/>
                </a:solidFill>
              </a:rPr>
              <a:t>This bucket was already </a:t>
            </a:r>
            <a:r>
              <a:rPr lang="en-US" sz="1800" dirty="0">
                <a:solidFill>
                  <a:srgbClr val="FF0000"/>
                </a:solidFill>
              </a:rPr>
              <a:t>filled</a:t>
            </a:r>
            <a:r>
              <a:rPr lang="en-US" sz="1800" dirty="0">
                <a:solidFill>
                  <a:schemeClr val="tx1"/>
                </a:solidFill>
              </a:rPr>
              <a:t>, so we can’t put our value here!</a:t>
            </a:r>
            <a:endParaRPr lang="en-US" sz="1800" dirty="0">
              <a:solidFill>
                <a:schemeClr val="tx1"/>
              </a:solidFill>
            </a:endParaRPr>
          </a:p>
          <a:p>
            <a:pPr eaLnBrk="1" hangingPunct="1"/>
            <a:r>
              <a:rPr lang="en-US" sz="1800" dirty="0">
                <a:solidFill>
                  <a:srgbClr val="6600CC"/>
                </a:solidFill>
              </a:rPr>
              <a:t>Let’s scan down for an open spot.</a:t>
            </a:r>
            <a:endParaRPr lang="en-US" sz="1800" dirty="0">
              <a:solidFill>
                <a:srgbClr val="6600CC"/>
              </a:solidFill>
            </a:endParaRPr>
          </a:p>
        </p:txBody>
      </p:sp>
      <p:sp>
        <p:nvSpPr>
          <p:cNvPr id="196" name="Rectangle 195"/>
          <p:cNvSpPr/>
          <p:nvPr/>
        </p:nvSpPr>
        <p:spPr>
          <a:xfrm>
            <a:off x="404262" y="3964194"/>
            <a:ext cx="420351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sz="1800" dirty="0">
                <a:solidFill>
                  <a:schemeClr val="tx1"/>
                </a:solidFill>
              </a:rPr>
              <a:t>However, instead of storing </a:t>
            </a:r>
            <a:r>
              <a:rPr lang="en-US" sz="1800" dirty="0">
                <a:solidFill>
                  <a:srgbClr val="FF0000"/>
                </a:solidFill>
              </a:rPr>
              <a:t>true</a:t>
            </a:r>
            <a:r>
              <a:rPr lang="en-US" sz="1800" dirty="0">
                <a:solidFill>
                  <a:schemeClr val="tx1"/>
                </a:solidFill>
              </a:rPr>
              <a:t> in the bucket,  we store our </a:t>
            </a:r>
            <a:r>
              <a:rPr lang="en-US" sz="1800" dirty="0">
                <a:solidFill>
                  <a:srgbClr val="FF0000"/>
                </a:solidFill>
              </a:rPr>
              <a:t>full original value </a:t>
            </a:r>
            <a:r>
              <a:rPr lang="en-US" sz="1800" dirty="0">
                <a:solidFill>
                  <a:schemeClr val="tx1"/>
                </a:solidFill>
              </a:rPr>
              <a:t>– this prevents ambiguity!</a:t>
            </a:r>
            <a:endParaRPr lang="en-US" sz="1800" dirty="0">
              <a:solidFill>
                <a:schemeClr val="tx1"/>
              </a:solidFill>
              <a:cs typeface="Courier New" panose="02070409020205090404" pitchFamily="49" charset="0"/>
            </a:endParaRPr>
          </a:p>
        </p:txBody>
      </p:sp>
      <p:sp>
        <p:nvSpPr>
          <p:cNvPr id="158" name="Rounded Rectangular Callout 157"/>
          <p:cNvSpPr>
            <a:spLocks noChangeArrowheads="1"/>
          </p:cNvSpPr>
          <p:nvPr/>
        </p:nvSpPr>
        <p:spPr bwMode="auto">
          <a:xfrm flipH="1">
            <a:off x="4725247" y="4514200"/>
            <a:ext cx="3038614" cy="1066825"/>
          </a:xfrm>
          <a:prstGeom prst="wedgeRoundRectCallout">
            <a:avLst>
              <a:gd name="adj1" fmla="val -52495"/>
              <a:gd name="adj2" fmla="val -45635"/>
              <a:gd name="adj3" fmla="val 16667"/>
            </a:avLst>
          </a:prstGeom>
          <a:solidFill>
            <a:srgbClr val="E2FEEF"/>
          </a:solidFill>
          <a:ln w="9525" algn="ctr">
            <a:solidFill>
              <a:schemeClr val="tx1"/>
            </a:solidFill>
            <a:round/>
          </a:ln>
        </p:spPr>
        <p:txBody>
          <a:bodyPr anchor="ctr"/>
          <a:lstStyle/>
          <a:p>
            <a:endParaRPr lang="en-US" sz="700" dirty="0"/>
          </a:p>
          <a:p>
            <a:pPr eaLnBrk="1" hangingPunct="1"/>
            <a:r>
              <a:rPr lang="en-US" sz="1800" dirty="0">
                <a:solidFill>
                  <a:schemeClr val="tx1"/>
                </a:solidFill>
              </a:rPr>
              <a:t>This next bucket is </a:t>
            </a:r>
            <a:r>
              <a:rPr lang="en-US" sz="1800" dirty="0">
                <a:solidFill>
                  <a:srgbClr val="FF0000"/>
                </a:solidFill>
              </a:rPr>
              <a:t>empty</a:t>
            </a:r>
            <a:r>
              <a:rPr lang="en-US" sz="1800" dirty="0">
                <a:solidFill>
                  <a:schemeClr val="tx1"/>
                </a:solidFill>
              </a:rPr>
              <a:t>, so we can put our new value here!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51" name="Rounded Rectangular Callout 50"/>
          <p:cNvSpPr>
            <a:spLocks noChangeArrowheads="1"/>
          </p:cNvSpPr>
          <p:nvPr/>
        </p:nvSpPr>
        <p:spPr bwMode="auto">
          <a:xfrm flipH="1">
            <a:off x="4725247" y="5603907"/>
            <a:ext cx="2784218" cy="1254546"/>
          </a:xfrm>
          <a:prstGeom prst="wedgeRoundRectCallout">
            <a:avLst>
              <a:gd name="adj1" fmla="val -63068"/>
              <a:gd name="adj2" fmla="val 367"/>
              <a:gd name="adj3" fmla="val 16667"/>
            </a:avLst>
          </a:prstGeom>
          <a:solidFill>
            <a:srgbClr val="E2FEEF"/>
          </a:solidFill>
          <a:ln w="9525" algn="ctr">
            <a:solidFill>
              <a:schemeClr val="tx1"/>
            </a:solidFill>
            <a:round/>
          </a:ln>
        </p:spPr>
        <p:txBody>
          <a:bodyPr anchor="ctr"/>
          <a:lstStyle/>
          <a:p>
            <a:endParaRPr lang="en-US" sz="700" dirty="0"/>
          </a:p>
          <a:p>
            <a:pPr eaLnBrk="1" hangingPunct="1"/>
            <a:r>
              <a:rPr lang="en-US" sz="1800" dirty="0">
                <a:solidFill>
                  <a:schemeClr val="tx1"/>
                </a:solidFill>
              </a:rPr>
              <a:t>This bucket is currently </a:t>
            </a:r>
            <a:r>
              <a:rPr lang="en-US" sz="1800" dirty="0">
                <a:solidFill>
                  <a:srgbClr val="FF0000"/>
                </a:solidFill>
              </a:rPr>
              <a:t>empty</a:t>
            </a:r>
            <a:r>
              <a:rPr lang="en-US" sz="1800" dirty="0">
                <a:solidFill>
                  <a:schemeClr val="tx1"/>
                </a:solidFill>
              </a:rPr>
              <a:t>, so we can put our new value here.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4716708" y="3198168"/>
            <a:ext cx="15039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6600CC"/>
                </a:solidFill>
              </a:rPr>
              <a:t>111,105,224 </a:t>
            </a:r>
            <a:endParaRPr lang="en-US" sz="1800" dirty="0"/>
          </a:p>
        </p:txBody>
      </p:sp>
      <p:sp>
        <p:nvSpPr>
          <p:cNvPr id="198" name="Rectangle 197"/>
          <p:cNvSpPr/>
          <p:nvPr/>
        </p:nvSpPr>
        <p:spPr>
          <a:xfrm>
            <a:off x="4610172" y="3945483"/>
            <a:ext cx="16514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6600CC"/>
                </a:solidFill>
              </a:rPr>
              <a:t>222,205,224 </a:t>
            </a:r>
            <a:endParaRPr lang="en-US" sz="1800" dirty="0"/>
          </a:p>
        </p:txBody>
      </p:sp>
      <p:sp>
        <p:nvSpPr>
          <p:cNvPr id="200" name="Rectangle 2"/>
          <p:cNvSpPr>
            <a:spLocks noGrp="1" noChangeArrowheads="1"/>
          </p:cNvSpPr>
          <p:nvPr>
            <p:ph type="title"/>
          </p:nvPr>
        </p:nvSpPr>
        <p:spPr>
          <a:xfrm>
            <a:off x="260985" y="-76200"/>
            <a:ext cx="8883015" cy="1143000"/>
          </a:xfrm>
          <a:noFill/>
        </p:spPr>
        <p:txBody>
          <a:bodyPr/>
          <a:lstStyle/>
          <a:p>
            <a:pPr eaLnBrk="1" hangingPunct="1"/>
            <a:r>
              <a:rPr lang="en-US" sz="2800" dirty="0">
                <a:solidFill>
                  <a:schemeClr val="tx1"/>
                </a:solidFill>
              </a:rPr>
              <a:t>Closed Hash Table with </a:t>
            </a:r>
            <a:r>
              <a:rPr lang="en-US" sz="2800" dirty="0">
                <a:solidFill>
                  <a:srgbClr val="6600CC"/>
                </a:solidFill>
              </a:rPr>
              <a:t>Linear Probing: </a:t>
            </a:r>
            <a:r>
              <a:rPr lang="en-US" sz="2800" dirty="0">
                <a:solidFill>
                  <a:srgbClr val="FF0000"/>
                </a:solidFill>
              </a:rPr>
              <a:t>Insertion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49" name="Text Box 4"/>
          <p:cNvSpPr txBox="1">
            <a:spLocks noChangeArrowheads="1"/>
          </p:cNvSpPr>
          <p:nvPr/>
        </p:nvSpPr>
        <p:spPr bwMode="auto">
          <a:xfrm>
            <a:off x="260985" y="1082389"/>
            <a:ext cx="436529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l" eaLnBrk="1" hangingPunct="1"/>
            <a:r>
              <a:rPr lang="en-US" sz="2800" dirty="0">
                <a:solidFill>
                  <a:srgbClr val="FF0000"/>
                </a:solidFill>
                <a:cs typeface="Courier New" panose="02070409020205090404" pitchFamily="49" charset="0"/>
              </a:rPr>
              <a:t>Linear Probing Insertion: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26"/>
          <p:cNvSpPr>
            <a:spLocks noChangeArrowheads="1"/>
          </p:cNvSpPr>
          <p:nvPr/>
        </p:nvSpPr>
        <p:spPr bwMode="auto">
          <a:xfrm>
            <a:off x="7771454" y="4267200"/>
            <a:ext cx="1066800" cy="381000"/>
          </a:xfrm>
          <a:prstGeom prst="rect">
            <a:avLst/>
          </a:prstGeom>
          <a:solidFill>
            <a:srgbClr val="EBEBFF"/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7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fld id="{D8ACC729-B27E-42F8-A57F-3EFE465FF6DF}" type="slidenum">
              <a:rPr lang="en-US" sz="1400" smtClean="0">
                <a:solidFill>
                  <a:schemeClr val="tx1"/>
                </a:solidFill>
                <a:latin typeface="Times New Roman" panose="02020503050405090304" pitchFamily="18" charset="0"/>
              </a:rPr>
            </a:fld>
            <a:endParaRPr lang="en-US" sz="140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  <p:sp>
        <p:nvSpPr>
          <p:cNvPr id="45" name="Text Box 5"/>
          <p:cNvSpPr txBox="1">
            <a:spLocks noChangeArrowheads="1"/>
          </p:cNvSpPr>
          <p:nvPr/>
        </p:nvSpPr>
        <p:spPr bwMode="auto">
          <a:xfrm>
            <a:off x="249178" y="2050259"/>
            <a:ext cx="442789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r>
              <a:rPr lang="en-US" sz="1800" dirty="0">
                <a:cs typeface="Courier New" panose="02070409020205090404" pitchFamily="49" charset="0"/>
              </a:rPr>
              <a:t>To search our hash table, we use a similar approach.</a:t>
            </a:r>
            <a:endParaRPr lang="en-US" sz="1800" dirty="0">
              <a:cs typeface="Courier New" panose="02070409020205090404" pitchFamily="49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415835" y="2926778"/>
            <a:ext cx="41181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sz="1800" dirty="0">
                <a:solidFill>
                  <a:schemeClr val="tx1"/>
                </a:solidFill>
              </a:rPr>
              <a:t>We </a:t>
            </a:r>
            <a:r>
              <a:rPr lang="en-US" sz="1800" dirty="0">
                <a:solidFill>
                  <a:srgbClr val="6600CC"/>
                </a:solidFill>
              </a:rPr>
              <a:t>compute a target bucket number </a:t>
            </a:r>
            <a:r>
              <a:rPr lang="en-US" sz="1800" dirty="0">
                <a:solidFill>
                  <a:schemeClr val="tx1"/>
                </a:solidFill>
              </a:rPr>
              <a:t>with our mapping function.</a:t>
            </a:r>
            <a:endParaRPr lang="en-US" sz="1800" dirty="0">
              <a:solidFill>
                <a:schemeClr val="tx1"/>
              </a:solidFill>
              <a:cs typeface="Courier New" panose="02070409020205090404" pitchFamily="49" charset="0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296776" y="4729673"/>
            <a:ext cx="431244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sz="1800" dirty="0">
                <a:solidFill>
                  <a:schemeClr val="tx1"/>
                </a:solidFill>
              </a:rPr>
              <a:t>If we don’t find our value, we </a:t>
            </a:r>
            <a:r>
              <a:rPr lang="en-US" sz="1800" dirty="0">
                <a:solidFill>
                  <a:srgbClr val="6600CC"/>
                </a:solidFill>
              </a:rPr>
              <a:t>scan linearly</a:t>
            </a:r>
            <a:r>
              <a:rPr lang="en-US" sz="1800" dirty="0">
                <a:solidFill>
                  <a:schemeClr val="tx1"/>
                </a:solidFill>
              </a:rPr>
              <a:t> down the array until we either find our value or hit an empty bucket.</a:t>
            </a:r>
            <a:endParaRPr lang="en-US" sz="1800" dirty="0">
              <a:solidFill>
                <a:schemeClr val="tx1"/>
              </a:solidFill>
              <a:cs typeface="Courier New" panose="02070409020205090404" pitchFamily="49" charset="0"/>
            </a:endParaRPr>
          </a:p>
        </p:txBody>
      </p:sp>
      <p:grpSp>
        <p:nvGrpSpPr>
          <p:cNvPr id="159" name="Group 18"/>
          <p:cNvGrpSpPr/>
          <p:nvPr/>
        </p:nvGrpSpPr>
        <p:grpSpPr bwMode="auto">
          <a:xfrm>
            <a:off x="6572250" y="1676400"/>
            <a:ext cx="2266950" cy="4278313"/>
            <a:chOff x="4140" y="1056"/>
            <a:chExt cx="1428" cy="2695"/>
          </a:xfrm>
        </p:grpSpPr>
        <p:grpSp>
          <p:nvGrpSpPr>
            <p:cNvPr id="160" name="Group 19"/>
            <p:cNvGrpSpPr/>
            <p:nvPr/>
          </p:nvGrpSpPr>
          <p:grpSpPr bwMode="auto">
            <a:xfrm>
              <a:off x="4140" y="1056"/>
              <a:ext cx="1428" cy="2688"/>
              <a:chOff x="4140" y="912"/>
              <a:chExt cx="1428" cy="2688"/>
            </a:xfrm>
          </p:grpSpPr>
          <p:sp>
            <p:nvSpPr>
              <p:cNvPr id="169" name="Rectangle 20"/>
              <p:cNvSpPr>
                <a:spLocks noChangeArrowheads="1"/>
              </p:cNvSpPr>
              <p:nvPr/>
            </p:nvSpPr>
            <p:spPr bwMode="auto">
              <a:xfrm>
                <a:off x="4896" y="1008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0" name="Rectangle 21"/>
              <p:cNvSpPr>
                <a:spLocks noChangeArrowheads="1"/>
              </p:cNvSpPr>
              <p:nvPr/>
            </p:nvSpPr>
            <p:spPr bwMode="auto">
              <a:xfrm>
                <a:off x="4896" y="1248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1" name="Rectangle 22"/>
              <p:cNvSpPr>
                <a:spLocks noChangeArrowheads="1"/>
              </p:cNvSpPr>
              <p:nvPr/>
            </p:nvSpPr>
            <p:spPr bwMode="auto">
              <a:xfrm>
                <a:off x="4896" y="1824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2" name="Rectangle 23"/>
              <p:cNvSpPr>
                <a:spLocks noChangeArrowheads="1"/>
              </p:cNvSpPr>
              <p:nvPr/>
            </p:nvSpPr>
            <p:spPr bwMode="auto">
              <a:xfrm>
                <a:off x="4896" y="2064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3" name="Rectangle 24"/>
              <p:cNvSpPr>
                <a:spLocks noChangeArrowheads="1"/>
              </p:cNvSpPr>
              <p:nvPr/>
            </p:nvSpPr>
            <p:spPr bwMode="auto">
              <a:xfrm>
                <a:off x="4896" y="2304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4" name="Text Box 25"/>
              <p:cNvSpPr txBox="1">
                <a:spLocks noChangeArrowheads="1"/>
              </p:cNvSpPr>
              <p:nvPr/>
            </p:nvSpPr>
            <p:spPr bwMode="auto">
              <a:xfrm>
                <a:off x="5098" y="2622"/>
                <a:ext cx="26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9pPr>
              </a:lstStyle>
              <a:p>
                <a:pPr algn="l" eaLnBrk="1" hangingPunct="1"/>
                <a:r>
                  <a:rPr lang="en-US" dirty="0"/>
                  <a:t>...</a:t>
                </a:r>
                <a:endParaRPr lang="en-US" dirty="0"/>
              </a:p>
            </p:txBody>
          </p:sp>
          <p:sp>
            <p:nvSpPr>
              <p:cNvPr id="175" name="Rectangle 26"/>
              <p:cNvSpPr>
                <a:spLocks noChangeArrowheads="1"/>
              </p:cNvSpPr>
              <p:nvPr/>
            </p:nvSpPr>
            <p:spPr bwMode="auto">
              <a:xfrm>
                <a:off x="4896" y="2880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6" name="Rectangle 27"/>
              <p:cNvSpPr>
                <a:spLocks noChangeArrowheads="1"/>
              </p:cNvSpPr>
              <p:nvPr/>
            </p:nvSpPr>
            <p:spPr bwMode="auto">
              <a:xfrm>
                <a:off x="4896" y="3120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7" name="Rectangle 28"/>
              <p:cNvSpPr>
                <a:spLocks noChangeArrowheads="1"/>
              </p:cNvSpPr>
              <p:nvPr/>
            </p:nvSpPr>
            <p:spPr bwMode="auto">
              <a:xfrm>
                <a:off x="4896" y="3360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8" name="Text Box 29"/>
              <p:cNvSpPr txBox="1">
                <a:spLocks noChangeArrowheads="1"/>
              </p:cNvSpPr>
              <p:nvPr/>
            </p:nvSpPr>
            <p:spPr bwMode="auto">
              <a:xfrm>
                <a:off x="4140" y="912"/>
                <a:ext cx="82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9pPr>
              </a:lstStyle>
              <a:p>
                <a:pPr eaLnBrk="1" hangingPunct="1"/>
                <a:r>
                  <a:rPr lang="en-US"/>
                  <a:t>array    </a:t>
                </a:r>
                <a:endParaRPr lang="en-US"/>
              </a:p>
            </p:txBody>
          </p:sp>
          <p:sp>
            <p:nvSpPr>
              <p:cNvPr id="179" name="Text Box 30"/>
              <p:cNvSpPr txBox="1">
                <a:spLocks noChangeArrowheads="1"/>
              </p:cNvSpPr>
              <p:nvPr/>
            </p:nvSpPr>
            <p:spPr bwMode="auto">
              <a:xfrm>
                <a:off x="5088" y="1488"/>
                <a:ext cx="26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9pPr>
              </a:lstStyle>
              <a:p>
                <a:pPr algn="l" eaLnBrk="1" hangingPunct="1"/>
                <a:r>
                  <a:rPr lang="en-US"/>
                  <a:t>...</a:t>
                </a:r>
                <a:endParaRPr lang="en-US"/>
              </a:p>
            </p:txBody>
          </p:sp>
        </p:grpSp>
        <p:sp>
          <p:nvSpPr>
            <p:cNvPr id="161" name="Text Box 31"/>
            <p:cNvSpPr txBox="1">
              <a:spLocks noChangeArrowheads="1"/>
            </p:cNvSpPr>
            <p:nvPr/>
          </p:nvSpPr>
          <p:spPr bwMode="auto">
            <a:xfrm>
              <a:off x="4617" y="1166"/>
              <a:ext cx="35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eaLnBrk="1" hangingPunct="1"/>
              <a:r>
                <a:rPr lang="en-US" sz="1800"/>
                <a:t>[0] </a:t>
              </a:r>
              <a:endParaRPr lang="en-US" sz="1800"/>
            </a:p>
          </p:txBody>
        </p:sp>
        <p:sp>
          <p:nvSpPr>
            <p:cNvPr id="162" name="Text Box 32"/>
            <p:cNvSpPr txBox="1">
              <a:spLocks noChangeArrowheads="1"/>
            </p:cNvSpPr>
            <p:nvPr/>
          </p:nvSpPr>
          <p:spPr bwMode="auto">
            <a:xfrm>
              <a:off x="4614" y="1371"/>
              <a:ext cx="41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eaLnBrk="1" hangingPunct="1"/>
              <a:r>
                <a:rPr lang="en-US" sz="1800"/>
                <a:t>[1]   </a:t>
              </a:r>
              <a:endParaRPr lang="en-US" sz="1800"/>
            </a:p>
          </p:txBody>
        </p:sp>
        <p:sp>
          <p:nvSpPr>
            <p:cNvPr id="163" name="Text Box 33"/>
            <p:cNvSpPr txBox="1">
              <a:spLocks noChangeArrowheads="1"/>
            </p:cNvSpPr>
            <p:nvPr/>
          </p:nvSpPr>
          <p:spPr bwMode="auto">
            <a:xfrm>
              <a:off x="4350" y="1967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algn="l" eaLnBrk="1" hangingPunct="1"/>
              <a:r>
                <a:rPr lang="en-US" sz="1800" dirty="0"/>
                <a:t>[5223]</a:t>
              </a:r>
              <a:endParaRPr lang="en-US" sz="1800" dirty="0"/>
            </a:p>
          </p:txBody>
        </p:sp>
        <p:sp>
          <p:nvSpPr>
            <p:cNvPr id="164" name="Text Box 34"/>
            <p:cNvSpPr txBox="1">
              <a:spLocks noChangeArrowheads="1"/>
            </p:cNvSpPr>
            <p:nvPr/>
          </p:nvSpPr>
          <p:spPr bwMode="auto">
            <a:xfrm>
              <a:off x="4272" y="3021"/>
              <a:ext cx="67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algn="l" eaLnBrk="1" hangingPunct="1"/>
              <a:r>
                <a:rPr lang="en-US" sz="1800" dirty="0"/>
                <a:t>[99997]</a:t>
              </a:r>
              <a:endParaRPr lang="en-US" sz="1800" dirty="0"/>
            </a:p>
          </p:txBody>
        </p:sp>
        <p:sp>
          <p:nvSpPr>
            <p:cNvPr id="165" name="Text Box 35"/>
            <p:cNvSpPr txBox="1">
              <a:spLocks noChangeArrowheads="1"/>
            </p:cNvSpPr>
            <p:nvPr/>
          </p:nvSpPr>
          <p:spPr bwMode="auto">
            <a:xfrm>
              <a:off x="4278" y="3270"/>
              <a:ext cx="664" cy="4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algn="l" eaLnBrk="1" hangingPunct="1"/>
              <a:r>
                <a:rPr lang="en-US" sz="1800" dirty="0"/>
                <a:t>[99998]</a:t>
              </a:r>
              <a:endParaRPr lang="en-US" sz="1800" dirty="0"/>
            </a:p>
            <a:p>
              <a:pPr algn="l" eaLnBrk="1" hangingPunct="1"/>
              <a:endParaRPr lang="en-US" sz="800" dirty="0"/>
            </a:p>
            <a:p>
              <a:pPr algn="l" eaLnBrk="1" hangingPunct="1"/>
              <a:r>
                <a:rPr lang="en-US" sz="1800" dirty="0"/>
                <a:t>[99999]</a:t>
              </a:r>
              <a:endParaRPr lang="en-US" sz="1800" dirty="0"/>
            </a:p>
          </p:txBody>
        </p:sp>
        <p:sp>
          <p:nvSpPr>
            <p:cNvPr id="166" name="Text Box 36"/>
            <p:cNvSpPr txBox="1">
              <a:spLocks noChangeArrowheads="1"/>
            </p:cNvSpPr>
            <p:nvPr/>
          </p:nvSpPr>
          <p:spPr bwMode="auto">
            <a:xfrm>
              <a:off x="4350" y="2187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algn="l" eaLnBrk="1" hangingPunct="1"/>
              <a:r>
                <a:rPr lang="en-US" sz="1800"/>
                <a:t>[5224]</a:t>
              </a:r>
              <a:endParaRPr lang="en-US" sz="1800"/>
            </a:p>
          </p:txBody>
        </p:sp>
        <p:sp>
          <p:nvSpPr>
            <p:cNvPr id="167" name="Text Box 37"/>
            <p:cNvSpPr txBox="1">
              <a:spLocks noChangeArrowheads="1"/>
            </p:cNvSpPr>
            <p:nvPr/>
          </p:nvSpPr>
          <p:spPr bwMode="auto">
            <a:xfrm>
              <a:off x="4356" y="2421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algn="l" eaLnBrk="1" hangingPunct="1"/>
              <a:r>
                <a:rPr lang="en-US" sz="1800" dirty="0"/>
                <a:t>[5225]</a:t>
              </a:r>
              <a:endParaRPr lang="en-US" sz="1800" dirty="0"/>
            </a:p>
          </p:txBody>
        </p:sp>
      </p:grpSp>
      <p:sp>
        <p:nvSpPr>
          <p:cNvPr id="9" name="Rounded Rectangle 8"/>
          <p:cNvSpPr/>
          <p:nvPr/>
        </p:nvSpPr>
        <p:spPr bwMode="auto">
          <a:xfrm>
            <a:off x="7765063" y="3481366"/>
            <a:ext cx="1074138" cy="422590"/>
          </a:xfrm>
          <a:prstGeom prst="roundRect">
            <a:avLst/>
          </a:pr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7745083" y="3564816"/>
            <a:ext cx="1149675" cy="307777"/>
            <a:chOff x="9332166" y="3057837"/>
            <a:chExt cx="1149675" cy="307777"/>
          </a:xfrm>
          <a:noFill/>
        </p:grpSpPr>
        <p:sp>
          <p:nvSpPr>
            <p:cNvPr id="38" name="Rectangle 37"/>
            <p:cNvSpPr/>
            <p:nvPr/>
          </p:nvSpPr>
          <p:spPr bwMode="auto">
            <a:xfrm>
              <a:off x="9502285" y="3144944"/>
              <a:ext cx="793818" cy="76007"/>
            </a:xfrm>
            <a:prstGeom prst="rect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9332166" y="3057837"/>
              <a:ext cx="1149675" cy="307777"/>
            </a:xfrm>
            <a:prstGeom prst="rect">
              <a:avLst/>
            </a:prstGeom>
            <a:grp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111,105,224</a:t>
              </a:r>
              <a:endParaRPr lang="en-US" sz="14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7726515" y="3928188"/>
            <a:ext cx="1186543" cy="292388"/>
            <a:chOff x="9320268" y="3130222"/>
            <a:chExt cx="1186543" cy="292388"/>
          </a:xfrm>
        </p:grpSpPr>
        <p:sp>
          <p:nvSpPr>
            <p:cNvPr id="43" name="Rectangle 42"/>
            <p:cNvSpPr/>
            <p:nvPr/>
          </p:nvSpPr>
          <p:spPr bwMode="auto">
            <a:xfrm>
              <a:off x="9502285" y="3144944"/>
              <a:ext cx="793818" cy="76007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9320268" y="3130222"/>
              <a:ext cx="1186543" cy="2923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300" dirty="0">
                  <a:solidFill>
                    <a:srgbClr val="FF0000"/>
                  </a:solidFill>
                </a:rPr>
                <a:t>222,205,224</a:t>
              </a:r>
              <a:endParaRPr lang="en-US" sz="13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43" name="Group 142"/>
          <p:cNvGrpSpPr/>
          <p:nvPr/>
        </p:nvGrpSpPr>
        <p:grpSpPr>
          <a:xfrm>
            <a:off x="4539453" y="3026160"/>
            <a:ext cx="3174972" cy="543917"/>
            <a:chOff x="4496700" y="971295"/>
            <a:chExt cx="3174972" cy="543917"/>
          </a:xfrm>
        </p:grpSpPr>
        <p:sp>
          <p:nvSpPr>
            <p:cNvPr id="144" name="TextBox 143"/>
            <p:cNvSpPr txBox="1"/>
            <p:nvPr/>
          </p:nvSpPr>
          <p:spPr>
            <a:xfrm>
              <a:off x="4496700" y="971295"/>
              <a:ext cx="24384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6600CC"/>
                  </a:solidFill>
                </a:rPr>
                <a:t>222,205,224 </a:t>
              </a:r>
              <a:r>
                <a:rPr lang="en-US" sz="1800" dirty="0">
                  <a:solidFill>
                    <a:schemeClr val="tx1"/>
                  </a:solidFill>
                  <a:sym typeface="Wingdings" panose="05000000000000000000" pitchFamily="2" charset="2"/>
                </a:rPr>
                <a:t> </a:t>
              </a:r>
              <a:r>
                <a:rPr lang="en-US" sz="1800" dirty="0">
                  <a:solidFill>
                    <a:srgbClr val="6600CC"/>
                  </a:solidFill>
                  <a:sym typeface="Wingdings" panose="05000000000000000000" pitchFamily="2" charset="2"/>
                </a:rPr>
                <a:t>f</a:t>
              </a:r>
              <a:r>
                <a:rPr lang="en-US" sz="1800" dirty="0">
                  <a:solidFill>
                    <a:schemeClr val="tx1"/>
                  </a:solidFill>
                  <a:sym typeface="Wingdings" panose="05000000000000000000" pitchFamily="2" charset="2"/>
                </a:rPr>
                <a:t>(</a:t>
              </a:r>
              <a:r>
                <a:rPr lang="en-US" sz="1800" dirty="0">
                  <a:solidFill>
                    <a:srgbClr val="FF0000"/>
                  </a:solidFill>
                  <a:sym typeface="Wingdings" panose="05000000000000000000" pitchFamily="2" charset="2"/>
                </a:rPr>
                <a:t>x</a:t>
              </a:r>
              <a:r>
                <a:rPr lang="en-US" sz="1800" dirty="0">
                  <a:solidFill>
                    <a:srgbClr val="6600CC"/>
                  </a:solidFill>
                  <a:sym typeface="Wingdings" panose="05000000000000000000" pitchFamily="2" charset="2"/>
                </a:rPr>
                <a:t>) </a:t>
              </a:r>
              <a:endParaRPr lang="en-US" sz="1800" dirty="0">
                <a:solidFill>
                  <a:schemeClr val="tx1"/>
                </a:solidFill>
              </a:endParaRPr>
            </a:p>
          </p:txBody>
        </p:sp>
        <p:cxnSp>
          <p:nvCxnSpPr>
            <p:cNvPr id="145" name="Straight Arrow Connector 144"/>
            <p:cNvCxnSpPr/>
            <p:nvPr/>
          </p:nvCxnSpPr>
          <p:spPr bwMode="auto">
            <a:xfrm>
              <a:off x="6802628" y="1155961"/>
              <a:ext cx="869044" cy="359251"/>
            </a:xfrm>
            <a:prstGeom prst="straightConnector1">
              <a:avLst/>
            </a:prstGeom>
            <a:solidFill>
              <a:srgbClr val="E7F9BF"/>
            </a:solidFill>
            <a:ln w="3810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3" name="Group 2"/>
          <p:cNvGrpSpPr/>
          <p:nvPr/>
        </p:nvGrpSpPr>
        <p:grpSpPr>
          <a:xfrm>
            <a:off x="4673172" y="2380253"/>
            <a:ext cx="3053343" cy="1124947"/>
            <a:chOff x="4475926" y="303784"/>
            <a:chExt cx="3053343" cy="1124947"/>
          </a:xfrm>
        </p:grpSpPr>
        <p:sp>
          <p:nvSpPr>
            <p:cNvPr id="29" name="TextBox 28"/>
            <p:cNvSpPr txBox="1"/>
            <p:nvPr/>
          </p:nvSpPr>
          <p:spPr>
            <a:xfrm>
              <a:off x="4475926" y="303784"/>
              <a:ext cx="23599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6600CC"/>
                  </a:solidFill>
                </a:rPr>
                <a:t>111,105,224 </a:t>
              </a:r>
              <a:r>
                <a:rPr lang="en-US" sz="1800" dirty="0">
                  <a:solidFill>
                    <a:schemeClr val="tx1"/>
                  </a:solidFill>
                  <a:sym typeface="Wingdings" panose="05000000000000000000" pitchFamily="2" charset="2"/>
                </a:rPr>
                <a:t></a:t>
              </a:r>
              <a:r>
                <a:rPr lang="en-US" sz="1800" dirty="0">
                  <a:solidFill>
                    <a:srgbClr val="6600CC"/>
                  </a:solidFill>
                  <a:sym typeface="Wingdings" panose="05000000000000000000" pitchFamily="2" charset="2"/>
                </a:rPr>
                <a:t> f</a:t>
              </a:r>
              <a:r>
                <a:rPr lang="en-US" sz="1800" dirty="0">
                  <a:solidFill>
                    <a:schemeClr val="tx1"/>
                  </a:solidFill>
                  <a:sym typeface="Wingdings" panose="05000000000000000000" pitchFamily="2" charset="2"/>
                </a:rPr>
                <a:t>(</a:t>
              </a:r>
              <a:r>
                <a:rPr lang="en-US" sz="1800" dirty="0">
                  <a:solidFill>
                    <a:srgbClr val="FF0000"/>
                  </a:solidFill>
                  <a:sym typeface="Wingdings" panose="05000000000000000000" pitchFamily="2" charset="2"/>
                </a:rPr>
                <a:t>x</a:t>
              </a:r>
              <a:r>
                <a:rPr lang="en-US" sz="1800" dirty="0">
                  <a:solidFill>
                    <a:schemeClr val="tx1"/>
                  </a:solidFill>
                  <a:sym typeface="Wingdings" panose="05000000000000000000" pitchFamily="2" charset="2"/>
                </a:rPr>
                <a:t>)  </a:t>
              </a:r>
              <a:endParaRPr lang="en-US" sz="1800" dirty="0">
                <a:solidFill>
                  <a:schemeClr val="tx1"/>
                </a:solidFill>
              </a:endParaRPr>
            </a:p>
          </p:txBody>
        </p:sp>
        <p:cxnSp>
          <p:nvCxnSpPr>
            <p:cNvPr id="31" name="Straight Arrow Connector 30"/>
            <p:cNvCxnSpPr/>
            <p:nvPr/>
          </p:nvCxnSpPr>
          <p:spPr bwMode="auto">
            <a:xfrm>
              <a:off x="6661873" y="625597"/>
              <a:ext cx="867396" cy="803134"/>
            </a:xfrm>
            <a:prstGeom prst="straightConnector1">
              <a:avLst/>
            </a:prstGeom>
            <a:solidFill>
              <a:srgbClr val="E7F9BF"/>
            </a:solidFill>
            <a:ln w="3810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196" name="Rectangle 195"/>
          <p:cNvSpPr/>
          <p:nvPr/>
        </p:nvSpPr>
        <p:spPr>
          <a:xfrm>
            <a:off x="326659" y="3850208"/>
            <a:ext cx="42035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sz="1800" dirty="0">
                <a:solidFill>
                  <a:schemeClr val="tx1"/>
                </a:solidFill>
              </a:rPr>
              <a:t>We then look in that bucket for our value. </a:t>
            </a:r>
            <a:r>
              <a:rPr lang="en-US" sz="1800" dirty="0">
                <a:solidFill>
                  <a:srgbClr val="6600CC"/>
                </a:solidFill>
              </a:rPr>
              <a:t>If we find it, great!</a:t>
            </a:r>
            <a:endParaRPr lang="en-US" sz="1800" dirty="0">
              <a:solidFill>
                <a:srgbClr val="6600CC"/>
              </a:solidFill>
              <a:cs typeface="Courier New" panose="02070409020205090404" pitchFamily="49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343841" y="5913184"/>
            <a:ext cx="52601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sz="1800" dirty="0">
                <a:solidFill>
                  <a:schemeClr val="tx1"/>
                </a:solidFill>
              </a:rPr>
              <a:t>If while </a:t>
            </a:r>
            <a:r>
              <a:rPr lang="en-US" sz="1800" dirty="0" err="1">
                <a:solidFill>
                  <a:schemeClr val="tx1"/>
                </a:solidFill>
              </a:rPr>
              <a:t>sacning</a:t>
            </a:r>
            <a:r>
              <a:rPr lang="en-US" sz="1800" dirty="0">
                <a:solidFill>
                  <a:schemeClr val="tx1"/>
                </a:solidFill>
              </a:rPr>
              <a:t>, you run into an </a:t>
            </a:r>
            <a:r>
              <a:rPr lang="en-US" sz="1800" dirty="0">
                <a:solidFill>
                  <a:srgbClr val="6600CC"/>
                </a:solidFill>
              </a:rPr>
              <a:t>empty bucket</a:t>
            </a:r>
            <a:r>
              <a:rPr lang="en-US" sz="1800" dirty="0">
                <a:solidFill>
                  <a:schemeClr val="tx1"/>
                </a:solidFill>
              </a:rPr>
              <a:t>, 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it means: </a:t>
            </a:r>
            <a:r>
              <a:rPr lang="en-US" sz="1800" dirty="0">
                <a:solidFill>
                  <a:srgbClr val="FF0000"/>
                </a:solidFill>
              </a:rPr>
              <a:t>your value isn’t in the array.</a:t>
            </a:r>
            <a:endParaRPr lang="en-US" sz="1800" dirty="0">
              <a:solidFill>
                <a:srgbClr val="FF0000"/>
              </a:solidFill>
              <a:cs typeface="Courier New" panose="02070409020205090404" pitchFamily="49" charset="0"/>
            </a:endParaRPr>
          </a:p>
        </p:txBody>
      </p:sp>
      <p:grpSp>
        <p:nvGrpSpPr>
          <p:cNvPr id="55" name="Group 54"/>
          <p:cNvGrpSpPr/>
          <p:nvPr/>
        </p:nvGrpSpPr>
        <p:grpSpPr>
          <a:xfrm>
            <a:off x="4599434" y="3809510"/>
            <a:ext cx="3114991" cy="444840"/>
            <a:chOff x="4406086" y="895787"/>
            <a:chExt cx="3114991" cy="444840"/>
          </a:xfrm>
        </p:grpSpPr>
        <p:sp>
          <p:nvSpPr>
            <p:cNvPr id="56" name="TextBox 55"/>
            <p:cNvSpPr txBox="1"/>
            <p:nvPr/>
          </p:nvSpPr>
          <p:spPr>
            <a:xfrm>
              <a:off x="4406086" y="971295"/>
              <a:ext cx="25074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6600CC"/>
                  </a:solidFill>
                </a:rPr>
                <a:t>333,305,224 </a:t>
              </a:r>
              <a:r>
                <a:rPr lang="en-US" sz="1800" dirty="0">
                  <a:solidFill>
                    <a:schemeClr val="tx1"/>
                  </a:solidFill>
                  <a:sym typeface="Wingdings" panose="05000000000000000000" pitchFamily="2" charset="2"/>
                </a:rPr>
                <a:t></a:t>
              </a:r>
              <a:r>
                <a:rPr lang="en-US" sz="1800" dirty="0">
                  <a:solidFill>
                    <a:srgbClr val="6600CC"/>
                  </a:solidFill>
                  <a:sym typeface="Wingdings" panose="05000000000000000000" pitchFamily="2" charset="2"/>
                </a:rPr>
                <a:t> f</a:t>
              </a:r>
              <a:r>
                <a:rPr lang="en-US" sz="1800" dirty="0">
                  <a:solidFill>
                    <a:schemeClr val="tx1"/>
                  </a:solidFill>
                  <a:sym typeface="Wingdings" panose="05000000000000000000" pitchFamily="2" charset="2"/>
                </a:rPr>
                <a:t>(</a:t>
              </a:r>
              <a:r>
                <a:rPr lang="en-US" sz="1800" dirty="0">
                  <a:solidFill>
                    <a:srgbClr val="FF0000"/>
                  </a:solidFill>
                  <a:sym typeface="Wingdings" panose="05000000000000000000" pitchFamily="2" charset="2"/>
                </a:rPr>
                <a:t>x</a:t>
              </a:r>
              <a:r>
                <a:rPr lang="en-US" sz="1800" dirty="0">
                  <a:solidFill>
                    <a:schemeClr val="tx1"/>
                  </a:solidFill>
                  <a:sym typeface="Wingdings" panose="05000000000000000000" pitchFamily="2" charset="2"/>
                </a:rPr>
                <a:t>)  </a:t>
              </a:r>
              <a:endParaRPr lang="en-US" sz="1800" dirty="0">
                <a:solidFill>
                  <a:schemeClr val="tx1"/>
                </a:solidFill>
              </a:endParaRPr>
            </a:p>
          </p:txBody>
        </p:sp>
        <p:cxnSp>
          <p:nvCxnSpPr>
            <p:cNvPr id="57" name="Straight Arrow Connector 56"/>
            <p:cNvCxnSpPr/>
            <p:nvPr/>
          </p:nvCxnSpPr>
          <p:spPr bwMode="auto">
            <a:xfrm flipV="1">
              <a:off x="6665771" y="895787"/>
              <a:ext cx="855306" cy="260174"/>
            </a:xfrm>
            <a:prstGeom prst="straightConnector1">
              <a:avLst/>
            </a:prstGeom>
            <a:solidFill>
              <a:srgbClr val="E7F9BF"/>
            </a:solidFill>
            <a:ln w="38100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59" name="Rounded Rectangle 58"/>
          <p:cNvSpPr/>
          <p:nvPr/>
        </p:nvSpPr>
        <p:spPr bwMode="auto">
          <a:xfrm>
            <a:off x="7770359" y="3492224"/>
            <a:ext cx="1074138" cy="422590"/>
          </a:xfrm>
          <a:prstGeom prst="roundRect">
            <a:avLst/>
          </a:pr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65" name="Text Box 4"/>
          <p:cNvSpPr txBox="1">
            <a:spLocks noChangeArrowheads="1"/>
          </p:cNvSpPr>
          <p:nvPr/>
        </p:nvSpPr>
        <p:spPr bwMode="auto">
          <a:xfrm>
            <a:off x="260985" y="1082389"/>
            <a:ext cx="446308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l" eaLnBrk="1" hangingPunct="1"/>
            <a:r>
              <a:rPr lang="en-US" sz="2800" dirty="0">
                <a:solidFill>
                  <a:srgbClr val="FF0000"/>
                </a:solidFill>
                <a:cs typeface="Courier New" panose="02070409020205090404" pitchFamily="49" charset="0"/>
              </a:rPr>
              <a:t>Linear Probing Searching: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62" name="Rectangle 2"/>
          <p:cNvSpPr>
            <a:spLocks noGrp="1" noChangeArrowheads="1"/>
          </p:cNvSpPr>
          <p:nvPr>
            <p:ph type="title"/>
          </p:nvPr>
        </p:nvSpPr>
        <p:spPr>
          <a:xfrm>
            <a:off x="260985" y="-76200"/>
            <a:ext cx="8883015" cy="1143000"/>
          </a:xfrm>
          <a:noFill/>
        </p:spPr>
        <p:txBody>
          <a:bodyPr/>
          <a:lstStyle/>
          <a:p>
            <a:pPr eaLnBrk="1" hangingPunct="1"/>
            <a:r>
              <a:rPr lang="en-US" sz="2800" dirty="0">
                <a:solidFill>
                  <a:schemeClr val="tx1"/>
                </a:solidFill>
              </a:rPr>
              <a:t>Closed Hash Table with </a:t>
            </a:r>
            <a:r>
              <a:rPr lang="en-US" sz="2800" dirty="0">
                <a:solidFill>
                  <a:srgbClr val="6600CC"/>
                </a:solidFill>
              </a:rPr>
              <a:t>Linear Probing: </a:t>
            </a:r>
            <a:r>
              <a:rPr lang="en-US" sz="2800" dirty="0">
                <a:solidFill>
                  <a:srgbClr val="FF0000"/>
                </a:solidFill>
              </a:rPr>
              <a:t>Searching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64" name="Rounded Rectangle 63"/>
          <p:cNvSpPr/>
          <p:nvPr/>
        </p:nvSpPr>
        <p:spPr bwMode="auto">
          <a:xfrm>
            <a:off x="7782717" y="5954713"/>
            <a:ext cx="1074138" cy="422590"/>
          </a:xfrm>
          <a:prstGeom prst="roundRect">
            <a:avLst/>
          </a:pr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fld id="{D8ACC729-B27E-42F8-A57F-3EFE465FF6DF}" type="slidenum">
              <a:rPr lang="en-US" sz="1400" smtClean="0">
                <a:solidFill>
                  <a:schemeClr val="tx1"/>
                </a:solidFill>
                <a:latin typeface="Times New Roman" panose="02020503050405090304" pitchFamily="18" charset="0"/>
              </a:rPr>
            </a:fld>
            <a:endParaRPr lang="en-US" sz="140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  <p:grpSp>
        <p:nvGrpSpPr>
          <p:cNvPr id="159" name="Group 18"/>
          <p:cNvGrpSpPr/>
          <p:nvPr/>
        </p:nvGrpSpPr>
        <p:grpSpPr bwMode="auto">
          <a:xfrm>
            <a:off x="6572250" y="1676400"/>
            <a:ext cx="2266950" cy="4278313"/>
            <a:chOff x="4140" y="1056"/>
            <a:chExt cx="1428" cy="2695"/>
          </a:xfrm>
        </p:grpSpPr>
        <p:grpSp>
          <p:nvGrpSpPr>
            <p:cNvPr id="160" name="Group 19"/>
            <p:cNvGrpSpPr/>
            <p:nvPr/>
          </p:nvGrpSpPr>
          <p:grpSpPr bwMode="auto">
            <a:xfrm>
              <a:off x="4140" y="1056"/>
              <a:ext cx="1428" cy="2688"/>
              <a:chOff x="4140" y="912"/>
              <a:chExt cx="1428" cy="2688"/>
            </a:xfrm>
          </p:grpSpPr>
          <p:sp>
            <p:nvSpPr>
              <p:cNvPr id="169" name="Rectangle 20"/>
              <p:cNvSpPr>
                <a:spLocks noChangeArrowheads="1"/>
              </p:cNvSpPr>
              <p:nvPr/>
            </p:nvSpPr>
            <p:spPr bwMode="auto">
              <a:xfrm>
                <a:off x="4896" y="1008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0" name="Rectangle 21"/>
              <p:cNvSpPr>
                <a:spLocks noChangeArrowheads="1"/>
              </p:cNvSpPr>
              <p:nvPr/>
            </p:nvSpPr>
            <p:spPr bwMode="auto">
              <a:xfrm>
                <a:off x="4896" y="1248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1" name="Rectangle 22"/>
              <p:cNvSpPr>
                <a:spLocks noChangeArrowheads="1"/>
              </p:cNvSpPr>
              <p:nvPr/>
            </p:nvSpPr>
            <p:spPr bwMode="auto">
              <a:xfrm>
                <a:off x="4896" y="1824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2" name="Rectangle 23"/>
              <p:cNvSpPr>
                <a:spLocks noChangeArrowheads="1"/>
              </p:cNvSpPr>
              <p:nvPr/>
            </p:nvSpPr>
            <p:spPr bwMode="auto">
              <a:xfrm>
                <a:off x="4896" y="2064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3" name="Rectangle 24"/>
              <p:cNvSpPr>
                <a:spLocks noChangeArrowheads="1"/>
              </p:cNvSpPr>
              <p:nvPr/>
            </p:nvSpPr>
            <p:spPr bwMode="auto">
              <a:xfrm>
                <a:off x="4896" y="2304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4" name="Text Box 25"/>
              <p:cNvSpPr txBox="1">
                <a:spLocks noChangeArrowheads="1"/>
              </p:cNvSpPr>
              <p:nvPr/>
            </p:nvSpPr>
            <p:spPr bwMode="auto">
              <a:xfrm>
                <a:off x="5058" y="2537"/>
                <a:ext cx="26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9pPr>
              </a:lstStyle>
              <a:p>
                <a:pPr algn="l" eaLnBrk="1" hangingPunct="1"/>
                <a:r>
                  <a:rPr lang="en-US"/>
                  <a:t>...</a:t>
                </a:r>
                <a:endParaRPr lang="en-US"/>
              </a:p>
            </p:txBody>
          </p:sp>
          <p:sp>
            <p:nvSpPr>
              <p:cNvPr id="175" name="Rectangle 26"/>
              <p:cNvSpPr>
                <a:spLocks noChangeArrowheads="1"/>
              </p:cNvSpPr>
              <p:nvPr/>
            </p:nvSpPr>
            <p:spPr bwMode="auto">
              <a:xfrm>
                <a:off x="4896" y="2880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6" name="Rectangle 27"/>
              <p:cNvSpPr>
                <a:spLocks noChangeArrowheads="1"/>
              </p:cNvSpPr>
              <p:nvPr/>
            </p:nvSpPr>
            <p:spPr bwMode="auto">
              <a:xfrm>
                <a:off x="4896" y="3120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7" name="Rectangle 28"/>
              <p:cNvSpPr>
                <a:spLocks noChangeArrowheads="1"/>
              </p:cNvSpPr>
              <p:nvPr/>
            </p:nvSpPr>
            <p:spPr bwMode="auto">
              <a:xfrm>
                <a:off x="4896" y="3360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8" name="Text Box 29"/>
              <p:cNvSpPr txBox="1">
                <a:spLocks noChangeArrowheads="1"/>
              </p:cNvSpPr>
              <p:nvPr/>
            </p:nvSpPr>
            <p:spPr bwMode="auto">
              <a:xfrm>
                <a:off x="4140" y="912"/>
                <a:ext cx="82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9pPr>
              </a:lstStyle>
              <a:p>
                <a:pPr eaLnBrk="1" hangingPunct="1"/>
                <a:r>
                  <a:rPr lang="en-US"/>
                  <a:t>array    </a:t>
                </a:r>
                <a:endParaRPr lang="en-US"/>
              </a:p>
            </p:txBody>
          </p:sp>
          <p:sp>
            <p:nvSpPr>
              <p:cNvPr id="179" name="Text Box 30"/>
              <p:cNvSpPr txBox="1">
                <a:spLocks noChangeArrowheads="1"/>
              </p:cNvSpPr>
              <p:nvPr/>
            </p:nvSpPr>
            <p:spPr bwMode="auto">
              <a:xfrm>
                <a:off x="5088" y="1488"/>
                <a:ext cx="26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9pPr>
              </a:lstStyle>
              <a:p>
                <a:pPr algn="l" eaLnBrk="1" hangingPunct="1"/>
                <a:r>
                  <a:rPr lang="en-US"/>
                  <a:t>...</a:t>
                </a:r>
                <a:endParaRPr lang="en-US"/>
              </a:p>
            </p:txBody>
          </p:sp>
        </p:grpSp>
        <p:sp>
          <p:nvSpPr>
            <p:cNvPr id="161" name="Text Box 31"/>
            <p:cNvSpPr txBox="1">
              <a:spLocks noChangeArrowheads="1"/>
            </p:cNvSpPr>
            <p:nvPr/>
          </p:nvSpPr>
          <p:spPr bwMode="auto">
            <a:xfrm>
              <a:off x="4617" y="1166"/>
              <a:ext cx="35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eaLnBrk="1" hangingPunct="1"/>
              <a:r>
                <a:rPr lang="en-US" sz="1800"/>
                <a:t>[0] </a:t>
              </a:r>
              <a:endParaRPr lang="en-US" sz="1800"/>
            </a:p>
          </p:txBody>
        </p:sp>
        <p:sp>
          <p:nvSpPr>
            <p:cNvPr id="162" name="Text Box 32"/>
            <p:cNvSpPr txBox="1">
              <a:spLocks noChangeArrowheads="1"/>
            </p:cNvSpPr>
            <p:nvPr/>
          </p:nvSpPr>
          <p:spPr bwMode="auto">
            <a:xfrm>
              <a:off x="4614" y="1371"/>
              <a:ext cx="41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eaLnBrk="1" hangingPunct="1"/>
              <a:r>
                <a:rPr lang="en-US" sz="1800"/>
                <a:t>[1]   </a:t>
              </a:r>
              <a:endParaRPr lang="en-US" sz="1800"/>
            </a:p>
          </p:txBody>
        </p:sp>
        <p:sp>
          <p:nvSpPr>
            <p:cNvPr id="163" name="Text Box 33"/>
            <p:cNvSpPr txBox="1">
              <a:spLocks noChangeArrowheads="1"/>
            </p:cNvSpPr>
            <p:nvPr/>
          </p:nvSpPr>
          <p:spPr bwMode="auto">
            <a:xfrm>
              <a:off x="4350" y="1967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algn="l" eaLnBrk="1" hangingPunct="1"/>
              <a:r>
                <a:rPr lang="en-US" sz="1800" dirty="0"/>
                <a:t>[5223]</a:t>
              </a:r>
              <a:endParaRPr lang="en-US" sz="1800" dirty="0"/>
            </a:p>
          </p:txBody>
        </p:sp>
        <p:sp>
          <p:nvSpPr>
            <p:cNvPr id="164" name="Text Box 34"/>
            <p:cNvSpPr txBox="1">
              <a:spLocks noChangeArrowheads="1"/>
            </p:cNvSpPr>
            <p:nvPr/>
          </p:nvSpPr>
          <p:spPr bwMode="auto">
            <a:xfrm>
              <a:off x="4272" y="3021"/>
              <a:ext cx="67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algn="l" eaLnBrk="1" hangingPunct="1"/>
              <a:r>
                <a:rPr lang="en-US" sz="1800" dirty="0"/>
                <a:t>[99997]</a:t>
              </a:r>
              <a:endParaRPr lang="en-US" sz="1800" dirty="0"/>
            </a:p>
          </p:txBody>
        </p:sp>
        <p:sp>
          <p:nvSpPr>
            <p:cNvPr id="165" name="Text Box 35"/>
            <p:cNvSpPr txBox="1">
              <a:spLocks noChangeArrowheads="1"/>
            </p:cNvSpPr>
            <p:nvPr/>
          </p:nvSpPr>
          <p:spPr bwMode="auto">
            <a:xfrm>
              <a:off x="4278" y="3270"/>
              <a:ext cx="664" cy="4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algn="l" eaLnBrk="1" hangingPunct="1"/>
              <a:r>
                <a:rPr lang="en-US" sz="1800" dirty="0"/>
                <a:t>[99998]</a:t>
              </a:r>
              <a:endParaRPr lang="en-US" sz="1800" dirty="0"/>
            </a:p>
            <a:p>
              <a:pPr algn="l" eaLnBrk="1" hangingPunct="1"/>
              <a:endParaRPr lang="en-US" sz="800" dirty="0"/>
            </a:p>
            <a:p>
              <a:pPr algn="l" eaLnBrk="1" hangingPunct="1"/>
              <a:r>
                <a:rPr lang="en-US" sz="1800" dirty="0"/>
                <a:t>[99999]</a:t>
              </a:r>
              <a:endParaRPr lang="en-US" sz="1800" dirty="0"/>
            </a:p>
          </p:txBody>
        </p:sp>
        <p:sp>
          <p:nvSpPr>
            <p:cNvPr id="166" name="Text Box 36"/>
            <p:cNvSpPr txBox="1">
              <a:spLocks noChangeArrowheads="1"/>
            </p:cNvSpPr>
            <p:nvPr/>
          </p:nvSpPr>
          <p:spPr bwMode="auto">
            <a:xfrm>
              <a:off x="4350" y="2187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algn="l" eaLnBrk="1" hangingPunct="1"/>
              <a:r>
                <a:rPr lang="en-US" sz="1800"/>
                <a:t>[5224]</a:t>
              </a:r>
              <a:endParaRPr lang="en-US" sz="1800"/>
            </a:p>
          </p:txBody>
        </p:sp>
        <p:sp>
          <p:nvSpPr>
            <p:cNvPr id="167" name="Text Box 37"/>
            <p:cNvSpPr txBox="1">
              <a:spLocks noChangeArrowheads="1"/>
            </p:cNvSpPr>
            <p:nvPr/>
          </p:nvSpPr>
          <p:spPr bwMode="auto">
            <a:xfrm>
              <a:off x="4356" y="2421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algn="l" eaLnBrk="1" hangingPunct="1"/>
              <a:r>
                <a:rPr lang="en-US" sz="1800" dirty="0"/>
                <a:t>[5225]</a:t>
              </a:r>
              <a:endParaRPr lang="en-US" sz="1800" dirty="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7745083" y="3564816"/>
            <a:ext cx="1149675" cy="307777"/>
            <a:chOff x="9332166" y="3057837"/>
            <a:chExt cx="1149675" cy="307777"/>
          </a:xfrm>
          <a:noFill/>
        </p:grpSpPr>
        <p:sp>
          <p:nvSpPr>
            <p:cNvPr id="38" name="Rectangle 37"/>
            <p:cNvSpPr/>
            <p:nvPr/>
          </p:nvSpPr>
          <p:spPr bwMode="auto">
            <a:xfrm>
              <a:off x="9502285" y="3144944"/>
              <a:ext cx="793818" cy="76007"/>
            </a:xfrm>
            <a:prstGeom prst="rect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9332166" y="3057837"/>
              <a:ext cx="1149675" cy="307777"/>
            </a:xfrm>
            <a:prstGeom prst="rect">
              <a:avLst/>
            </a:prstGeom>
            <a:grp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111,105,224</a:t>
              </a:r>
              <a:endParaRPr lang="en-US" sz="14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7726515" y="3928188"/>
            <a:ext cx="1186543" cy="292388"/>
            <a:chOff x="9320268" y="3130222"/>
            <a:chExt cx="1186543" cy="292388"/>
          </a:xfrm>
        </p:grpSpPr>
        <p:sp>
          <p:nvSpPr>
            <p:cNvPr id="43" name="Rectangle 42"/>
            <p:cNvSpPr/>
            <p:nvPr/>
          </p:nvSpPr>
          <p:spPr bwMode="auto">
            <a:xfrm>
              <a:off x="9502285" y="3144944"/>
              <a:ext cx="793818" cy="76007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9320268" y="3130222"/>
              <a:ext cx="1186543" cy="2923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300" dirty="0">
                  <a:solidFill>
                    <a:srgbClr val="FF0000"/>
                  </a:solidFill>
                </a:rPr>
                <a:t>222,205,224</a:t>
              </a:r>
              <a:endParaRPr lang="en-US" sz="1300" dirty="0">
                <a:solidFill>
                  <a:srgbClr val="FF0000"/>
                </a:solidFill>
              </a:endParaRPr>
            </a:p>
          </p:txBody>
        </p:sp>
      </p:grpSp>
      <p:sp>
        <p:nvSpPr>
          <p:cNvPr id="193" name="Text Box 5"/>
          <p:cNvSpPr txBox="1">
            <a:spLocks noChangeArrowheads="1"/>
          </p:cNvSpPr>
          <p:nvPr/>
        </p:nvSpPr>
        <p:spPr bwMode="auto">
          <a:xfrm>
            <a:off x="679732" y="1923738"/>
            <a:ext cx="4315498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r>
              <a:rPr lang="en-US" dirty="0">
                <a:cs typeface="Courier New" panose="02070409020205090404" pitchFamily="49" charset="0"/>
              </a:rPr>
              <a:t>This approach addresses collisions by </a:t>
            </a:r>
            <a:r>
              <a:rPr lang="en-US" dirty="0">
                <a:solidFill>
                  <a:srgbClr val="6600CC"/>
                </a:solidFill>
                <a:cs typeface="Courier New" panose="02070409020205090404" pitchFamily="49" charset="0"/>
              </a:rPr>
              <a:t>putting each value </a:t>
            </a:r>
            <a:r>
              <a:rPr lang="en-US" dirty="0">
                <a:solidFill>
                  <a:srgbClr val="FF0000"/>
                </a:solidFill>
                <a:cs typeface="Courier New" panose="02070409020205090404" pitchFamily="49" charset="0"/>
              </a:rPr>
              <a:t>as close as possible </a:t>
            </a:r>
            <a:r>
              <a:rPr lang="en-US" dirty="0">
                <a:solidFill>
                  <a:schemeClr val="tx1"/>
                </a:solidFill>
                <a:cs typeface="Courier New" panose="02070409020205090404" pitchFamily="49" charset="0"/>
              </a:rPr>
              <a:t>to its</a:t>
            </a:r>
            <a:r>
              <a:rPr lang="en-US" dirty="0">
                <a:solidFill>
                  <a:srgbClr val="6600CC"/>
                </a:solidFill>
                <a:cs typeface="Courier New" panose="020704090202050904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cs typeface="Courier New" panose="02070409020205090404" pitchFamily="49" charset="0"/>
              </a:rPr>
              <a:t>intended bucket</a:t>
            </a:r>
            <a:r>
              <a:rPr lang="en-US" dirty="0">
                <a:cs typeface="Courier New" panose="02070409020205090404" pitchFamily="49" charset="0"/>
              </a:rPr>
              <a:t>.</a:t>
            </a:r>
            <a:endParaRPr lang="en-US" dirty="0">
              <a:cs typeface="Courier New" panose="02070409020205090404" pitchFamily="49" charset="0"/>
            </a:endParaRPr>
          </a:p>
        </p:txBody>
      </p:sp>
      <p:sp>
        <p:nvSpPr>
          <p:cNvPr id="194" name="Text Box 5"/>
          <p:cNvSpPr txBox="1">
            <a:spLocks noChangeArrowheads="1"/>
          </p:cNvSpPr>
          <p:nvPr/>
        </p:nvSpPr>
        <p:spPr bwMode="auto">
          <a:xfrm>
            <a:off x="736937" y="3908302"/>
            <a:ext cx="4315498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r>
              <a:rPr lang="en-US" dirty="0">
                <a:cs typeface="Courier New" panose="02070409020205090404" pitchFamily="49" charset="0"/>
              </a:rPr>
              <a:t>Since we </a:t>
            </a:r>
            <a:r>
              <a:rPr lang="en-US" dirty="0">
                <a:solidFill>
                  <a:srgbClr val="6600CC"/>
                </a:solidFill>
                <a:cs typeface="Courier New" panose="02070409020205090404" pitchFamily="49" charset="0"/>
              </a:rPr>
              <a:t>store every original value </a:t>
            </a:r>
            <a:r>
              <a:rPr lang="en-US" dirty="0">
                <a:solidFill>
                  <a:schemeClr val="tx1"/>
                </a:solidFill>
                <a:cs typeface="Courier New" panose="02070409020205090404" pitchFamily="49" charset="0"/>
              </a:rPr>
              <a:t>(e.g., </a:t>
            </a:r>
            <a:r>
              <a:rPr lang="en-US" dirty="0">
                <a:solidFill>
                  <a:srgbClr val="FF0000"/>
                </a:solidFill>
                <a:cs typeface="Courier New" panose="02070409020205090404" pitchFamily="49" charset="0"/>
              </a:rPr>
              <a:t>111,105,224</a:t>
            </a:r>
            <a:r>
              <a:rPr lang="en-US" dirty="0">
                <a:solidFill>
                  <a:schemeClr val="tx1"/>
                </a:solidFill>
                <a:cs typeface="Courier New" panose="02070409020205090404" pitchFamily="49" charset="0"/>
              </a:rPr>
              <a:t>) </a:t>
            </a:r>
            <a:r>
              <a:rPr lang="en-US" dirty="0">
                <a:cs typeface="Courier New" panose="02070409020205090404" pitchFamily="49" charset="0"/>
              </a:rPr>
              <a:t>in the array, there is </a:t>
            </a:r>
            <a:r>
              <a:rPr lang="en-US" dirty="0">
                <a:solidFill>
                  <a:srgbClr val="6600CC"/>
                </a:solidFill>
                <a:cs typeface="Courier New" panose="02070409020205090404" pitchFamily="49" charset="0"/>
              </a:rPr>
              <a:t>no chance of ambiguity</a:t>
            </a:r>
            <a:r>
              <a:rPr lang="en-US" dirty="0">
                <a:cs typeface="Courier New" panose="02070409020205090404" pitchFamily="49" charset="0"/>
              </a:rPr>
              <a:t>.</a:t>
            </a:r>
            <a:endParaRPr lang="en-US" dirty="0">
              <a:cs typeface="Courier New" panose="02070409020205090404" pitchFamily="49" charset="0"/>
            </a:endParaRPr>
          </a:p>
        </p:txBody>
      </p:sp>
      <p:sp>
        <p:nvSpPr>
          <p:cNvPr id="4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76200"/>
            <a:ext cx="7772400" cy="1143000"/>
          </a:xfrm>
          <a:noFill/>
        </p:spPr>
        <p:txBody>
          <a:bodyPr/>
          <a:lstStyle/>
          <a:p>
            <a:pPr eaLnBrk="1" hangingPunct="1"/>
            <a:r>
              <a:rPr lang="en-US" sz="3200" dirty="0">
                <a:solidFill>
                  <a:schemeClr val="tx1"/>
                </a:solidFill>
              </a:rPr>
              <a:t>Closed Hash Table with </a:t>
            </a:r>
            <a:r>
              <a:rPr lang="en-US" sz="3200" dirty="0">
                <a:solidFill>
                  <a:srgbClr val="6600CC"/>
                </a:solidFill>
              </a:rPr>
              <a:t>Linear Probing</a:t>
            </a:r>
            <a:endParaRPr lang="en-US" sz="3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fld id="{D8ACC729-B27E-42F8-A57F-3EFE465FF6DF}" type="slidenum">
              <a:rPr lang="en-US" sz="1400" smtClean="0">
                <a:solidFill>
                  <a:schemeClr val="tx1"/>
                </a:solidFill>
                <a:latin typeface="Times New Roman" panose="02020503050405090304" pitchFamily="18" charset="0"/>
              </a:rPr>
            </a:fld>
            <a:endParaRPr lang="en-US" sz="140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  <p:grpSp>
        <p:nvGrpSpPr>
          <p:cNvPr id="159" name="Group 18"/>
          <p:cNvGrpSpPr/>
          <p:nvPr/>
        </p:nvGrpSpPr>
        <p:grpSpPr bwMode="auto">
          <a:xfrm>
            <a:off x="6572250" y="1676400"/>
            <a:ext cx="2266950" cy="4278313"/>
            <a:chOff x="4140" y="1056"/>
            <a:chExt cx="1428" cy="2695"/>
          </a:xfrm>
        </p:grpSpPr>
        <p:grpSp>
          <p:nvGrpSpPr>
            <p:cNvPr id="160" name="Group 19"/>
            <p:cNvGrpSpPr/>
            <p:nvPr/>
          </p:nvGrpSpPr>
          <p:grpSpPr bwMode="auto">
            <a:xfrm>
              <a:off x="4140" y="1056"/>
              <a:ext cx="1428" cy="2688"/>
              <a:chOff x="4140" y="912"/>
              <a:chExt cx="1428" cy="2688"/>
            </a:xfrm>
          </p:grpSpPr>
          <p:sp>
            <p:nvSpPr>
              <p:cNvPr id="169" name="Rectangle 20"/>
              <p:cNvSpPr>
                <a:spLocks noChangeArrowheads="1"/>
              </p:cNvSpPr>
              <p:nvPr/>
            </p:nvSpPr>
            <p:spPr bwMode="auto">
              <a:xfrm>
                <a:off x="4896" y="1008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0" name="Rectangle 21"/>
              <p:cNvSpPr>
                <a:spLocks noChangeArrowheads="1"/>
              </p:cNvSpPr>
              <p:nvPr/>
            </p:nvSpPr>
            <p:spPr bwMode="auto">
              <a:xfrm>
                <a:off x="4896" y="1248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1" name="Rectangle 22"/>
              <p:cNvSpPr>
                <a:spLocks noChangeArrowheads="1"/>
              </p:cNvSpPr>
              <p:nvPr/>
            </p:nvSpPr>
            <p:spPr bwMode="auto">
              <a:xfrm>
                <a:off x="4896" y="1824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2" name="Rectangle 23"/>
              <p:cNvSpPr>
                <a:spLocks noChangeArrowheads="1"/>
              </p:cNvSpPr>
              <p:nvPr/>
            </p:nvSpPr>
            <p:spPr bwMode="auto">
              <a:xfrm>
                <a:off x="4896" y="2064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3" name="Rectangle 24"/>
              <p:cNvSpPr>
                <a:spLocks noChangeArrowheads="1"/>
              </p:cNvSpPr>
              <p:nvPr/>
            </p:nvSpPr>
            <p:spPr bwMode="auto">
              <a:xfrm>
                <a:off x="4896" y="2304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4" name="Text Box 25"/>
              <p:cNvSpPr txBox="1">
                <a:spLocks noChangeArrowheads="1"/>
              </p:cNvSpPr>
              <p:nvPr/>
            </p:nvSpPr>
            <p:spPr bwMode="auto">
              <a:xfrm>
                <a:off x="5058" y="2537"/>
                <a:ext cx="26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9pPr>
              </a:lstStyle>
              <a:p>
                <a:pPr algn="l" eaLnBrk="1" hangingPunct="1"/>
                <a:r>
                  <a:rPr lang="en-US"/>
                  <a:t>...</a:t>
                </a:r>
                <a:endParaRPr lang="en-US"/>
              </a:p>
            </p:txBody>
          </p:sp>
          <p:sp>
            <p:nvSpPr>
              <p:cNvPr id="175" name="Rectangle 26"/>
              <p:cNvSpPr>
                <a:spLocks noChangeArrowheads="1"/>
              </p:cNvSpPr>
              <p:nvPr/>
            </p:nvSpPr>
            <p:spPr bwMode="auto">
              <a:xfrm>
                <a:off x="4896" y="2880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6" name="Rectangle 27"/>
              <p:cNvSpPr>
                <a:spLocks noChangeArrowheads="1"/>
              </p:cNvSpPr>
              <p:nvPr/>
            </p:nvSpPr>
            <p:spPr bwMode="auto">
              <a:xfrm>
                <a:off x="4896" y="3120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7" name="Rectangle 28"/>
              <p:cNvSpPr>
                <a:spLocks noChangeArrowheads="1"/>
              </p:cNvSpPr>
              <p:nvPr/>
            </p:nvSpPr>
            <p:spPr bwMode="auto">
              <a:xfrm>
                <a:off x="4896" y="3360"/>
                <a:ext cx="672" cy="240"/>
              </a:xfrm>
              <a:prstGeom prst="rect">
                <a:avLst/>
              </a:prstGeom>
              <a:solidFill>
                <a:srgbClr val="EBEBFF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8" name="Text Box 29"/>
              <p:cNvSpPr txBox="1">
                <a:spLocks noChangeArrowheads="1"/>
              </p:cNvSpPr>
              <p:nvPr/>
            </p:nvSpPr>
            <p:spPr bwMode="auto">
              <a:xfrm>
                <a:off x="4140" y="912"/>
                <a:ext cx="82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9pPr>
              </a:lstStyle>
              <a:p>
                <a:pPr eaLnBrk="1" hangingPunct="1"/>
                <a:r>
                  <a:rPr lang="en-US"/>
                  <a:t>array    </a:t>
                </a:r>
                <a:endParaRPr lang="en-US"/>
              </a:p>
            </p:txBody>
          </p:sp>
          <p:sp>
            <p:nvSpPr>
              <p:cNvPr id="179" name="Text Box 30"/>
              <p:cNvSpPr txBox="1">
                <a:spLocks noChangeArrowheads="1"/>
              </p:cNvSpPr>
              <p:nvPr/>
            </p:nvSpPr>
            <p:spPr bwMode="auto">
              <a:xfrm>
                <a:off x="5088" y="1488"/>
                <a:ext cx="26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9pPr>
              </a:lstStyle>
              <a:p>
                <a:pPr algn="l" eaLnBrk="1" hangingPunct="1"/>
                <a:r>
                  <a:rPr lang="en-US"/>
                  <a:t>...</a:t>
                </a:r>
                <a:endParaRPr lang="en-US"/>
              </a:p>
            </p:txBody>
          </p:sp>
        </p:grpSp>
        <p:sp>
          <p:nvSpPr>
            <p:cNvPr id="161" name="Text Box 31"/>
            <p:cNvSpPr txBox="1">
              <a:spLocks noChangeArrowheads="1"/>
            </p:cNvSpPr>
            <p:nvPr/>
          </p:nvSpPr>
          <p:spPr bwMode="auto">
            <a:xfrm>
              <a:off x="4617" y="1166"/>
              <a:ext cx="35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eaLnBrk="1" hangingPunct="1"/>
              <a:r>
                <a:rPr lang="en-US" sz="1800"/>
                <a:t>[0] </a:t>
              </a:r>
              <a:endParaRPr lang="en-US" sz="1800"/>
            </a:p>
          </p:txBody>
        </p:sp>
        <p:sp>
          <p:nvSpPr>
            <p:cNvPr id="162" name="Text Box 32"/>
            <p:cNvSpPr txBox="1">
              <a:spLocks noChangeArrowheads="1"/>
            </p:cNvSpPr>
            <p:nvPr/>
          </p:nvSpPr>
          <p:spPr bwMode="auto">
            <a:xfrm>
              <a:off x="4614" y="1371"/>
              <a:ext cx="41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eaLnBrk="1" hangingPunct="1"/>
              <a:r>
                <a:rPr lang="en-US" sz="1800"/>
                <a:t>[1]   </a:t>
              </a:r>
              <a:endParaRPr lang="en-US" sz="1800"/>
            </a:p>
          </p:txBody>
        </p:sp>
        <p:sp>
          <p:nvSpPr>
            <p:cNvPr id="163" name="Text Box 33"/>
            <p:cNvSpPr txBox="1">
              <a:spLocks noChangeArrowheads="1"/>
            </p:cNvSpPr>
            <p:nvPr/>
          </p:nvSpPr>
          <p:spPr bwMode="auto">
            <a:xfrm>
              <a:off x="4350" y="1967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algn="l" eaLnBrk="1" hangingPunct="1"/>
              <a:r>
                <a:rPr lang="en-US" sz="1800" dirty="0"/>
                <a:t>[5223]</a:t>
              </a:r>
              <a:endParaRPr lang="en-US" sz="1800" dirty="0"/>
            </a:p>
          </p:txBody>
        </p:sp>
        <p:sp>
          <p:nvSpPr>
            <p:cNvPr id="164" name="Text Box 34"/>
            <p:cNvSpPr txBox="1">
              <a:spLocks noChangeArrowheads="1"/>
            </p:cNvSpPr>
            <p:nvPr/>
          </p:nvSpPr>
          <p:spPr bwMode="auto">
            <a:xfrm>
              <a:off x="4272" y="3021"/>
              <a:ext cx="67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algn="l" eaLnBrk="1" hangingPunct="1"/>
              <a:r>
                <a:rPr lang="en-US" sz="1800" dirty="0"/>
                <a:t>[99997]</a:t>
              </a:r>
              <a:endParaRPr lang="en-US" sz="1800" dirty="0"/>
            </a:p>
          </p:txBody>
        </p:sp>
        <p:sp>
          <p:nvSpPr>
            <p:cNvPr id="165" name="Text Box 35"/>
            <p:cNvSpPr txBox="1">
              <a:spLocks noChangeArrowheads="1"/>
            </p:cNvSpPr>
            <p:nvPr/>
          </p:nvSpPr>
          <p:spPr bwMode="auto">
            <a:xfrm>
              <a:off x="4278" y="3270"/>
              <a:ext cx="664" cy="4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algn="l" eaLnBrk="1" hangingPunct="1"/>
              <a:r>
                <a:rPr lang="en-US" sz="1800" dirty="0"/>
                <a:t>[99998]</a:t>
              </a:r>
              <a:endParaRPr lang="en-US" sz="1800" dirty="0"/>
            </a:p>
            <a:p>
              <a:pPr algn="l" eaLnBrk="1" hangingPunct="1"/>
              <a:endParaRPr lang="en-US" sz="800" dirty="0"/>
            </a:p>
            <a:p>
              <a:pPr algn="l" eaLnBrk="1" hangingPunct="1"/>
              <a:r>
                <a:rPr lang="en-US" sz="1800" dirty="0"/>
                <a:t>[99999]</a:t>
              </a:r>
              <a:endParaRPr lang="en-US" sz="1800" dirty="0"/>
            </a:p>
          </p:txBody>
        </p:sp>
        <p:sp>
          <p:nvSpPr>
            <p:cNvPr id="166" name="Text Box 36"/>
            <p:cNvSpPr txBox="1">
              <a:spLocks noChangeArrowheads="1"/>
            </p:cNvSpPr>
            <p:nvPr/>
          </p:nvSpPr>
          <p:spPr bwMode="auto">
            <a:xfrm>
              <a:off x="4350" y="2187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algn="l" eaLnBrk="1" hangingPunct="1"/>
              <a:r>
                <a:rPr lang="en-US" sz="1800"/>
                <a:t>[5224]</a:t>
              </a:r>
              <a:endParaRPr lang="en-US" sz="1800"/>
            </a:p>
          </p:txBody>
        </p:sp>
        <p:sp>
          <p:nvSpPr>
            <p:cNvPr id="167" name="Text Box 37"/>
            <p:cNvSpPr txBox="1">
              <a:spLocks noChangeArrowheads="1"/>
            </p:cNvSpPr>
            <p:nvPr/>
          </p:nvSpPr>
          <p:spPr bwMode="auto">
            <a:xfrm>
              <a:off x="4356" y="2421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algn="l" eaLnBrk="1" hangingPunct="1"/>
              <a:r>
                <a:rPr lang="en-US" sz="1800" dirty="0"/>
                <a:t>[5225]</a:t>
              </a:r>
              <a:endParaRPr lang="en-US" sz="1800" dirty="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7745083" y="3564816"/>
            <a:ext cx="1149675" cy="307777"/>
            <a:chOff x="9332166" y="3057837"/>
            <a:chExt cx="1149675" cy="307777"/>
          </a:xfrm>
          <a:noFill/>
        </p:grpSpPr>
        <p:sp>
          <p:nvSpPr>
            <p:cNvPr id="38" name="Rectangle 37"/>
            <p:cNvSpPr/>
            <p:nvPr/>
          </p:nvSpPr>
          <p:spPr bwMode="auto">
            <a:xfrm>
              <a:off x="9502285" y="3144944"/>
              <a:ext cx="793818" cy="76007"/>
            </a:xfrm>
            <a:prstGeom prst="rect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9332166" y="3057837"/>
              <a:ext cx="1149675" cy="307777"/>
            </a:xfrm>
            <a:prstGeom prst="rect">
              <a:avLst/>
            </a:prstGeom>
            <a:grp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111,105,224</a:t>
              </a:r>
              <a:endParaRPr lang="en-US" sz="14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7726515" y="3928188"/>
            <a:ext cx="1186543" cy="292388"/>
            <a:chOff x="9320268" y="3130222"/>
            <a:chExt cx="1186543" cy="292388"/>
          </a:xfrm>
        </p:grpSpPr>
        <p:sp>
          <p:nvSpPr>
            <p:cNvPr id="43" name="Rectangle 42"/>
            <p:cNvSpPr/>
            <p:nvPr/>
          </p:nvSpPr>
          <p:spPr bwMode="auto">
            <a:xfrm>
              <a:off x="9502285" y="3144944"/>
              <a:ext cx="793818" cy="76007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9320268" y="3130222"/>
              <a:ext cx="1186543" cy="2923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300" dirty="0">
                  <a:solidFill>
                    <a:srgbClr val="FF0000"/>
                  </a:solidFill>
                </a:rPr>
                <a:t>222,205,224</a:t>
              </a:r>
              <a:endParaRPr lang="en-US" sz="1300" dirty="0">
                <a:solidFill>
                  <a:srgbClr val="FF0000"/>
                </a:solidFill>
              </a:endParaRPr>
            </a:p>
          </p:txBody>
        </p:sp>
      </p:grpSp>
      <p:sp>
        <p:nvSpPr>
          <p:cNvPr id="193" name="Text Box 5"/>
          <p:cNvSpPr txBox="1">
            <a:spLocks noChangeArrowheads="1"/>
          </p:cNvSpPr>
          <p:nvPr/>
        </p:nvSpPr>
        <p:spPr bwMode="auto">
          <a:xfrm>
            <a:off x="803638" y="988285"/>
            <a:ext cx="472275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r>
              <a:rPr lang="en-US" dirty="0">
                <a:cs typeface="Courier New" panose="02070409020205090404" pitchFamily="49" charset="0"/>
              </a:rPr>
              <a:t>So why do we call this a </a:t>
            </a:r>
            <a:br>
              <a:rPr lang="en-US" dirty="0">
                <a:cs typeface="Courier New" panose="02070409020205090404" pitchFamily="49" charset="0"/>
              </a:rPr>
            </a:br>
            <a:r>
              <a:rPr lang="en-US" dirty="0">
                <a:solidFill>
                  <a:srgbClr val="6600CC"/>
                </a:solidFill>
                <a:cs typeface="Courier New" panose="02070409020205090404" pitchFamily="49" charset="0"/>
              </a:rPr>
              <a:t>“Closed” hash table</a:t>
            </a:r>
            <a:r>
              <a:rPr lang="en-US" dirty="0">
                <a:cs typeface="Courier New" panose="02070409020205090404" pitchFamily="49" charset="0"/>
              </a:rPr>
              <a:t>???</a:t>
            </a:r>
            <a:endParaRPr lang="en-US" dirty="0">
              <a:cs typeface="Courier New" panose="02070409020205090404" pitchFamily="49" charset="0"/>
            </a:endParaRPr>
          </a:p>
        </p:txBody>
      </p:sp>
      <p:sp>
        <p:nvSpPr>
          <p:cNvPr id="194" name="Text Box 5"/>
          <p:cNvSpPr txBox="1">
            <a:spLocks noChangeArrowheads="1"/>
          </p:cNvSpPr>
          <p:nvPr/>
        </p:nvSpPr>
        <p:spPr bwMode="auto">
          <a:xfrm>
            <a:off x="525369" y="2027367"/>
            <a:ext cx="5279297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r>
              <a:rPr lang="en-US" dirty="0">
                <a:cs typeface="Courier New" panose="02070409020205090404" pitchFamily="49" charset="0"/>
              </a:rPr>
              <a:t>Since our data is stored in a </a:t>
            </a:r>
            <a:br>
              <a:rPr lang="en-US" dirty="0">
                <a:cs typeface="Courier New" panose="02070409020205090404" pitchFamily="49" charset="0"/>
              </a:rPr>
            </a:br>
            <a:r>
              <a:rPr lang="en-US" dirty="0">
                <a:solidFill>
                  <a:srgbClr val="6600CC"/>
                </a:solidFill>
                <a:cs typeface="Courier New" panose="02070409020205090404" pitchFamily="49" charset="0"/>
              </a:rPr>
              <a:t>fixed-size array</a:t>
            </a:r>
            <a:r>
              <a:rPr lang="en-US" dirty="0">
                <a:cs typeface="Courier New" panose="02070409020205090404" pitchFamily="49" charset="0"/>
              </a:rPr>
              <a:t>, there are a </a:t>
            </a:r>
            <a:br>
              <a:rPr lang="en-US" dirty="0">
                <a:cs typeface="Courier New" panose="02070409020205090404" pitchFamily="49" charset="0"/>
              </a:rPr>
            </a:br>
            <a:r>
              <a:rPr lang="en-US" dirty="0">
                <a:solidFill>
                  <a:srgbClr val="FF0000"/>
                </a:solidFill>
                <a:cs typeface="Courier New" panose="02070409020205090404" pitchFamily="49" charset="0"/>
              </a:rPr>
              <a:t>fixed (closed) number of buckets </a:t>
            </a:r>
            <a:r>
              <a:rPr lang="en-US" dirty="0">
                <a:cs typeface="Courier New" panose="02070409020205090404" pitchFamily="49" charset="0"/>
              </a:rPr>
              <a:t>for us to put values.</a:t>
            </a:r>
            <a:endParaRPr lang="en-US" dirty="0">
              <a:cs typeface="Courier New" panose="02070409020205090404" pitchFamily="49" charset="0"/>
            </a:endParaRPr>
          </a:p>
        </p:txBody>
      </p:sp>
      <p:sp>
        <p:nvSpPr>
          <p:cNvPr id="195" name="Text Box 5"/>
          <p:cNvSpPr txBox="1">
            <a:spLocks noChangeArrowheads="1"/>
          </p:cNvSpPr>
          <p:nvPr/>
        </p:nvSpPr>
        <p:spPr bwMode="auto">
          <a:xfrm>
            <a:off x="120515" y="3794552"/>
            <a:ext cx="608900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r>
              <a:rPr lang="en-US" dirty="0">
                <a:cs typeface="Courier New" panose="02070409020205090404" pitchFamily="49" charset="0"/>
              </a:rPr>
              <a:t>Once </a:t>
            </a:r>
            <a:r>
              <a:rPr lang="en-US" dirty="0">
                <a:solidFill>
                  <a:srgbClr val="FF0000"/>
                </a:solidFill>
                <a:cs typeface="Courier New" panose="02070409020205090404" pitchFamily="49" charset="0"/>
              </a:rPr>
              <a:t>we run out </a:t>
            </a:r>
            <a:r>
              <a:rPr lang="en-US" dirty="0">
                <a:cs typeface="Courier New" panose="02070409020205090404" pitchFamily="49" charset="0"/>
              </a:rPr>
              <a:t>of empty buckets, </a:t>
            </a:r>
            <a:br>
              <a:rPr lang="en-US" dirty="0">
                <a:cs typeface="Courier New" panose="02070409020205090404" pitchFamily="49" charset="0"/>
              </a:rPr>
            </a:br>
            <a:r>
              <a:rPr lang="en-US" dirty="0">
                <a:cs typeface="Courier New" panose="02070409020205090404" pitchFamily="49" charset="0"/>
              </a:rPr>
              <a:t>we </a:t>
            </a:r>
            <a:r>
              <a:rPr lang="en-US" dirty="0">
                <a:solidFill>
                  <a:srgbClr val="FF0000"/>
                </a:solidFill>
                <a:cs typeface="Courier New" panose="02070409020205090404" pitchFamily="49" charset="0"/>
              </a:rPr>
              <a:t>can’t add new values</a:t>
            </a:r>
            <a:r>
              <a:rPr lang="en-US" dirty="0">
                <a:cs typeface="Courier New" panose="02070409020205090404" pitchFamily="49" charset="0"/>
              </a:rPr>
              <a:t>…</a:t>
            </a:r>
            <a:endParaRPr lang="en-US" dirty="0">
              <a:cs typeface="Courier New" panose="02070409020205090404" pitchFamily="49" charset="0"/>
            </a:endParaRPr>
          </a:p>
        </p:txBody>
      </p:sp>
      <p:sp>
        <p:nvSpPr>
          <p:cNvPr id="40" name="Text Box 5"/>
          <p:cNvSpPr txBox="1">
            <a:spLocks noChangeArrowheads="1"/>
          </p:cNvSpPr>
          <p:nvPr/>
        </p:nvSpPr>
        <p:spPr bwMode="auto">
          <a:xfrm>
            <a:off x="270190" y="5942816"/>
            <a:ext cx="57896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r>
              <a:rPr lang="en-US" dirty="0">
                <a:cs typeface="Courier New" panose="02070409020205090404" pitchFamily="49" charset="0"/>
              </a:rPr>
              <a:t>Ok, let’s see the </a:t>
            </a:r>
            <a:r>
              <a:rPr lang="en-US" dirty="0">
                <a:solidFill>
                  <a:srgbClr val="FF0000"/>
                </a:solidFill>
                <a:cs typeface="Courier New" panose="02070409020205090404" pitchFamily="49" charset="0"/>
              </a:rPr>
              <a:t>C++ code </a:t>
            </a:r>
            <a:r>
              <a:rPr lang="en-US" dirty="0">
                <a:cs typeface="Courier New" panose="02070409020205090404" pitchFamily="49" charset="0"/>
              </a:rPr>
              <a:t>now!</a:t>
            </a:r>
            <a:endParaRPr lang="en-US" dirty="0">
              <a:cs typeface="Courier New" panose="02070409020205090404" pitchFamily="49" charset="0"/>
            </a:endParaRPr>
          </a:p>
        </p:txBody>
      </p:sp>
      <p:sp>
        <p:nvSpPr>
          <p:cNvPr id="4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76200"/>
            <a:ext cx="7772400" cy="1143000"/>
          </a:xfrm>
          <a:noFill/>
        </p:spPr>
        <p:txBody>
          <a:bodyPr/>
          <a:lstStyle/>
          <a:p>
            <a:pPr eaLnBrk="1" hangingPunct="1"/>
            <a:r>
              <a:rPr lang="en-US" sz="3200" dirty="0">
                <a:solidFill>
                  <a:schemeClr val="tx1"/>
                </a:solidFill>
              </a:rPr>
              <a:t>Closed Hash Table with </a:t>
            </a:r>
            <a:r>
              <a:rPr lang="en-US" sz="3200" dirty="0">
                <a:solidFill>
                  <a:srgbClr val="6600CC"/>
                </a:solidFill>
              </a:rPr>
              <a:t>Linear Probing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35" name="Text Box 5"/>
          <p:cNvSpPr txBox="1">
            <a:spLocks noChangeArrowheads="1"/>
          </p:cNvSpPr>
          <p:nvPr/>
        </p:nvSpPr>
        <p:spPr bwMode="auto">
          <a:xfrm>
            <a:off x="120515" y="4816705"/>
            <a:ext cx="608900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6600CC"/>
                </a:solidFill>
                <a:cs typeface="Courier New" panose="02070409020205090404" pitchFamily="49" charset="0"/>
              </a:rPr>
              <a:t>Linked lists </a:t>
            </a:r>
            <a:r>
              <a:rPr lang="en-US" dirty="0">
                <a:cs typeface="Courier New" panose="02070409020205090404" pitchFamily="49" charset="0"/>
              </a:rPr>
              <a:t>and </a:t>
            </a:r>
            <a:r>
              <a:rPr lang="en-US" dirty="0">
                <a:solidFill>
                  <a:srgbClr val="6600CC"/>
                </a:solidFill>
                <a:cs typeface="Courier New" panose="02070409020205090404" pitchFamily="49" charset="0"/>
              </a:rPr>
              <a:t>binary search trees</a:t>
            </a:r>
            <a:r>
              <a:rPr lang="en-US" dirty="0">
                <a:cs typeface="Courier New" panose="02070409020205090404" pitchFamily="49" charset="0"/>
              </a:rPr>
              <a:t> </a:t>
            </a:r>
            <a:br>
              <a:rPr lang="en-US" dirty="0">
                <a:cs typeface="Courier New" panose="02070409020205090404" pitchFamily="49" charset="0"/>
              </a:rPr>
            </a:br>
            <a:r>
              <a:rPr lang="en-US" dirty="0">
                <a:solidFill>
                  <a:srgbClr val="FF0000"/>
                </a:solidFill>
                <a:cs typeface="Courier New" panose="02070409020205090404" pitchFamily="49" charset="0"/>
              </a:rPr>
              <a:t>don’t have this problem</a:t>
            </a:r>
            <a:r>
              <a:rPr lang="en-US" dirty="0">
                <a:cs typeface="Courier New" panose="02070409020205090404" pitchFamily="49" charset="0"/>
              </a:rPr>
              <a:t>!</a:t>
            </a:r>
            <a:endParaRPr lang="en-US" dirty="0">
              <a:cs typeface="Courier New" panose="02070409020205090404" pitchFamily="49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40" name="Rectangle 2"/>
          <p:cNvSpPr>
            <a:spLocks noChangeArrowheads="1"/>
          </p:cNvSpPr>
          <p:nvPr/>
        </p:nvSpPr>
        <p:spPr bwMode="auto">
          <a:xfrm>
            <a:off x="3733800" y="76200"/>
            <a:ext cx="82232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2800" dirty="0"/>
              <a:t>Linear Probing:</a:t>
            </a:r>
            <a:endParaRPr lang="en-US" sz="2800" dirty="0"/>
          </a:p>
          <a:p>
            <a:r>
              <a:rPr lang="en-US" sz="2800" dirty="0">
                <a:solidFill>
                  <a:srgbClr val="C00000"/>
                </a:solidFill>
              </a:rPr>
              <a:t>Inserting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116742" name="Rectangle 6"/>
          <p:cNvSpPr>
            <a:spLocks noChangeArrowheads="1"/>
          </p:cNvSpPr>
          <p:nvPr/>
        </p:nvSpPr>
        <p:spPr bwMode="auto">
          <a:xfrm>
            <a:off x="381000" y="61913"/>
            <a:ext cx="6019800" cy="6529387"/>
          </a:xfrm>
          <a:prstGeom prst="rect">
            <a:avLst/>
          </a:prstGeom>
          <a:solidFill>
            <a:srgbClr val="FFFFE5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sz="1700" b="1" dirty="0">
                <a:latin typeface="Courier New" panose="02070409020205090404" pitchFamily="49" charset="0"/>
              </a:rPr>
              <a:t>const int NUM_BUCK = 10;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endParaRPr lang="en-US" sz="8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class </a:t>
            </a:r>
            <a:r>
              <a:rPr lang="en-US" sz="1700" b="1" dirty="0" err="1">
                <a:latin typeface="Courier New" panose="02070409020205090404" pitchFamily="49" charset="0"/>
              </a:rPr>
              <a:t>HashTable</a:t>
            </a:r>
            <a:r>
              <a:rPr lang="en-US" sz="1700" b="1" dirty="0">
                <a:latin typeface="Courier New" panose="02070409020205090404" pitchFamily="49" charset="0"/>
              </a:rPr>
              <a:t> </a:t>
            </a:r>
            <a:br>
              <a:rPr lang="en-US" sz="1700" b="1" dirty="0">
                <a:latin typeface="Courier New" panose="02070409020205090404" pitchFamily="49" charset="0"/>
              </a:rPr>
            </a:br>
            <a:r>
              <a:rPr lang="en-US" sz="1200" b="1" dirty="0">
                <a:latin typeface="Courier New" panose="02070409020205090404" pitchFamily="49" charset="0"/>
              </a:rPr>
              <a:t>{</a:t>
            </a:r>
            <a:endParaRPr lang="en-US" sz="12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public: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endParaRPr lang="en-US" sz="4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  void insert(</a:t>
            </a:r>
            <a:r>
              <a:rPr lang="en-US" sz="1700" b="1" dirty="0" err="1">
                <a:latin typeface="Courier New" panose="02070409020205090404" pitchFamily="49" charset="0"/>
              </a:rPr>
              <a:t>int</a:t>
            </a:r>
            <a:r>
              <a:rPr lang="en-US" sz="1700" b="1" dirty="0">
                <a:latin typeface="Courier New" panose="02070409020205090404" pitchFamily="49" charset="0"/>
              </a:rPr>
              <a:t> </a:t>
            </a:r>
            <a:r>
              <a:rPr lang="en-US" sz="1700" b="1" dirty="0" err="1">
                <a:latin typeface="Courier New" panose="02070409020205090404" pitchFamily="49" charset="0"/>
              </a:rPr>
              <a:t>idNum</a:t>
            </a:r>
            <a:r>
              <a:rPr lang="en-US" sz="1700" b="1" dirty="0">
                <a:latin typeface="Courier New" panose="02070409020205090404" pitchFamily="49" charset="0"/>
              </a:rPr>
              <a:t>)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r>
              <a:rPr lang="en-US" sz="1300" b="1" dirty="0">
                <a:latin typeface="Courier New" panose="02070409020205090404" pitchFamily="49" charset="0"/>
              </a:rPr>
              <a:t>   {</a:t>
            </a:r>
            <a:endParaRPr lang="en-US" sz="13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     int bucket = </a:t>
            </a:r>
            <a:r>
              <a:rPr lang="en-US" sz="1700" b="1" dirty="0" err="1">
                <a:latin typeface="Courier New" panose="02070409020205090404" pitchFamily="49" charset="0"/>
              </a:rPr>
              <a:t>mapFunc</a:t>
            </a:r>
            <a:r>
              <a:rPr lang="en-US" sz="1700" b="1" dirty="0">
                <a:latin typeface="Courier New" panose="02070409020205090404" pitchFamily="49" charset="0"/>
              </a:rPr>
              <a:t>(</a:t>
            </a:r>
            <a:r>
              <a:rPr lang="en-US" sz="1700" b="1" dirty="0" err="1">
                <a:latin typeface="Courier New" panose="02070409020205090404" pitchFamily="49" charset="0"/>
              </a:rPr>
              <a:t>idNum</a:t>
            </a:r>
            <a:r>
              <a:rPr lang="en-US" sz="1700" b="1" dirty="0">
                <a:latin typeface="Courier New" panose="02070409020205090404" pitchFamily="49" charset="0"/>
              </a:rPr>
              <a:t>);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r>
              <a:rPr lang="en-US" sz="1200" b="1" dirty="0">
                <a:latin typeface="Courier New" panose="02070409020205090404" pitchFamily="49" charset="0"/>
              </a:rPr>
              <a:t>  </a:t>
            </a:r>
            <a:endParaRPr lang="en-US" sz="12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    </a:t>
            </a:r>
            <a:r>
              <a:rPr lang="en-US" sz="1700" dirty="0">
                <a:latin typeface="Courier New" panose="02070409020205090404" pitchFamily="49" charset="0"/>
              </a:rPr>
              <a:t> </a:t>
            </a:r>
            <a:r>
              <a:rPr lang="en-US" sz="1700" b="1" dirty="0">
                <a:latin typeface="Courier New" panose="02070409020205090404" pitchFamily="49" charset="0"/>
              </a:rPr>
              <a:t>for (</a:t>
            </a:r>
            <a:r>
              <a:rPr lang="en-US" sz="1700" b="1" dirty="0" err="1">
                <a:latin typeface="Courier New" panose="02070409020205090404" pitchFamily="49" charset="0"/>
              </a:rPr>
              <a:t>int</a:t>
            </a:r>
            <a:r>
              <a:rPr lang="en-US" sz="1000" b="1" dirty="0">
                <a:latin typeface="Courier New" panose="02070409020205090404" pitchFamily="49" charset="0"/>
              </a:rPr>
              <a:t> </a:t>
            </a:r>
            <a:r>
              <a:rPr lang="en-US" sz="1700" b="1" dirty="0">
                <a:latin typeface="Courier New" panose="02070409020205090404" pitchFamily="49" charset="0"/>
              </a:rPr>
              <a:t>tries=0;tries&lt;</a:t>
            </a:r>
            <a:r>
              <a:rPr lang="en-US" sz="1700" b="1" dirty="0" err="1">
                <a:latin typeface="Courier New" panose="02070409020205090404" pitchFamily="49" charset="0"/>
              </a:rPr>
              <a:t>NUM_BUCK;tries</a:t>
            </a:r>
            <a:r>
              <a:rPr lang="en-US" sz="1700" b="1" dirty="0">
                <a:latin typeface="Courier New" panose="02070409020205090404" pitchFamily="49" charset="0"/>
              </a:rPr>
              <a:t>++)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r>
              <a:rPr lang="en-US" sz="1300" b="1" dirty="0">
                <a:latin typeface="Courier New" panose="02070409020205090404" pitchFamily="49" charset="0"/>
              </a:rPr>
              <a:t>       {</a:t>
            </a:r>
            <a:endParaRPr lang="en-US" sz="13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        if (</a:t>
            </a:r>
            <a:r>
              <a:rPr lang="en-US" sz="1700" b="1" dirty="0" err="1">
                <a:latin typeface="Courier New" panose="02070409020205090404" pitchFamily="49" charset="0"/>
              </a:rPr>
              <a:t>m_buckets</a:t>
            </a:r>
            <a:r>
              <a:rPr lang="en-US" sz="1700" b="1" dirty="0">
                <a:latin typeface="Courier New" panose="02070409020205090404" pitchFamily="49" charset="0"/>
              </a:rPr>
              <a:t>[bucket].used == false)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r>
              <a:rPr lang="en-US" sz="1300" b="1" dirty="0">
                <a:latin typeface="Courier New" panose="02070409020205090404" pitchFamily="49" charset="0"/>
              </a:rPr>
              <a:t>           {</a:t>
            </a:r>
            <a:endParaRPr lang="en-US" sz="13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           </a:t>
            </a:r>
            <a:r>
              <a:rPr lang="en-US" sz="1700" b="1" dirty="0" err="1">
                <a:latin typeface="Courier New" panose="02070409020205090404" pitchFamily="49" charset="0"/>
              </a:rPr>
              <a:t>m_buckets</a:t>
            </a:r>
            <a:r>
              <a:rPr lang="en-US" sz="1700" b="1" dirty="0">
                <a:latin typeface="Courier New" panose="02070409020205090404" pitchFamily="49" charset="0"/>
              </a:rPr>
              <a:t>[bucket].</a:t>
            </a:r>
            <a:r>
              <a:rPr lang="en-US" sz="1700" b="1" dirty="0" err="1">
                <a:latin typeface="Courier New" panose="02070409020205090404" pitchFamily="49" charset="0"/>
              </a:rPr>
              <a:t>idNum</a:t>
            </a:r>
            <a:r>
              <a:rPr lang="en-US" sz="1700" b="1" dirty="0">
                <a:latin typeface="Courier New" panose="02070409020205090404" pitchFamily="49" charset="0"/>
              </a:rPr>
              <a:t> = </a:t>
            </a:r>
            <a:r>
              <a:rPr lang="en-US" sz="1700" b="1" dirty="0" err="1">
                <a:latin typeface="Courier New" panose="02070409020205090404" pitchFamily="49" charset="0"/>
              </a:rPr>
              <a:t>idNum</a:t>
            </a:r>
            <a:r>
              <a:rPr lang="en-US" sz="1700" b="1" dirty="0">
                <a:latin typeface="Courier New" panose="02070409020205090404" pitchFamily="49" charset="0"/>
              </a:rPr>
              <a:t>;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           </a:t>
            </a:r>
            <a:r>
              <a:rPr lang="en-US" sz="1700" b="1" dirty="0" err="1">
                <a:latin typeface="Courier New" panose="02070409020205090404" pitchFamily="49" charset="0"/>
              </a:rPr>
              <a:t>m_buckets</a:t>
            </a:r>
            <a:r>
              <a:rPr lang="en-US" sz="1700" b="1" dirty="0">
                <a:latin typeface="Courier New" panose="02070409020205090404" pitchFamily="49" charset="0"/>
              </a:rPr>
              <a:t>[bucket].used = true;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           return;</a:t>
            </a:r>
            <a:endParaRPr lang="en-US" sz="1700" b="1" dirty="0">
              <a:latin typeface="Courier New" panose="02070409020205090404" pitchFamily="49" charset="0"/>
            </a:endParaRPr>
          </a:p>
          <a:p>
            <a:pPr lvl="1" algn="l"/>
            <a:r>
              <a:rPr lang="en-US" sz="1300" b="1" dirty="0">
                <a:latin typeface="Courier New" panose="02070409020205090404" pitchFamily="49" charset="0"/>
              </a:rPr>
              <a:t>      }</a:t>
            </a:r>
            <a:endParaRPr lang="en-US" sz="13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        bucket = (bucket + 1) % NUM_BUCK;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r>
              <a:rPr lang="en-US" sz="1300" b="1" dirty="0">
                <a:latin typeface="Courier New" panose="02070409020205090404" pitchFamily="49" charset="0"/>
              </a:rPr>
              <a:t>       }</a:t>
            </a:r>
            <a:endParaRPr lang="en-US" sz="13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     // no room left in hash table!!!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r>
              <a:rPr lang="en-US" sz="1300" b="1" dirty="0">
                <a:latin typeface="Courier New" panose="02070409020205090404" pitchFamily="49" charset="0"/>
              </a:rPr>
              <a:t>   }</a:t>
            </a:r>
            <a:endParaRPr lang="en-US" sz="1300" b="1" dirty="0">
              <a:latin typeface="Courier New" panose="02070409020205090404" pitchFamily="49" charset="0"/>
            </a:endParaRPr>
          </a:p>
          <a:p>
            <a:pPr algn="l"/>
            <a:endParaRPr lang="en-US" sz="8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private: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   int </a:t>
            </a:r>
            <a:r>
              <a:rPr lang="en-US" sz="1700" b="1" dirty="0" err="1">
                <a:latin typeface="Courier New" panose="02070409020205090404" pitchFamily="49" charset="0"/>
              </a:rPr>
              <a:t>mapFunc</a:t>
            </a:r>
            <a:r>
              <a:rPr lang="en-US" sz="1700" b="1" dirty="0">
                <a:latin typeface="Courier New" panose="02070409020205090404" pitchFamily="49" charset="0"/>
              </a:rPr>
              <a:t>(int </a:t>
            </a:r>
            <a:r>
              <a:rPr lang="en-US" sz="1700" b="1" dirty="0" err="1">
                <a:latin typeface="Courier New" panose="02070409020205090404" pitchFamily="49" charset="0"/>
              </a:rPr>
              <a:t>idNum</a:t>
            </a:r>
            <a:r>
              <a:rPr lang="en-US" sz="1700" b="1" dirty="0">
                <a:latin typeface="Courier New" panose="02070409020205090404" pitchFamily="49" charset="0"/>
              </a:rPr>
              <a:t>) const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       {  return </a:t>
            </a:r>
            <a:r>
              <a:rPr lang="en-US" sz="1700" b="1" dirty="0" err="1">
                <a:latin typeface="Courier New" panose="02070409020205090404" pitchFamily="49" charset="0"/>
              </a:rPr>
              <a:t>idNum</a:t>
            </a:r>
            <a:r>
              <a:rPr lang="en-US" sz="1700" b="1" dirty="0">
                <a:latin typeface="Courier New" panose="02070409020205090404" pitchFamily="49" charset="0"/>
              </a:rPr>
              <a:t> % NUM_BUCK;  }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endParaRPr lang="en-US" sz="11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   BUCKET </a:t>
            </a:r>
            <a:r>
              <a:rPr lang="en-US" sz="1700" b="1" dirty="0" err="1">
                <a:latin typeface="Courier New" panose="02070409020205090404" pitchFamily="49" charset="0"/>
              </a:rPr>
              <a:t>m_buckets</a:t>
            </a:r>
            <a:r>
              <a:rPr lang="en-US" sz="1700" b="1" dirty="0">
                <a:latin typeface="Courier New" panose="02070409020205090404" pitchFamily="49" charset="0"/>
              </a:rPr>
              <a:t>[NUM_BUCK];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};</a:t>
            </a:r>
            <a:endParaRPr lang="en-US" sz="1700" b="1" dirty="0">
              <a:latin typeface="Courier New" panose="02070409020205090404" pitchFamily="49" charset="0"/>
            </a:endParaRPr>
          </a:p>
        </p:txBody>
      </p:sp>
      <p:sp>
        <p:nvSpPr>
          <p:cNvPr id="116743" name="Slide Number Placeholder 4"/>
          <p:cNvSpPr txBox="1">
            <a:spLocks noGrp="1"/>
          </p:cNvSpPr>
          <p:nvPr/>
        </p:nvSpPr>
        <p:spPr bwMode="auto">
          <a:xfrm>
            <a:off x="-1447800" y="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r" eaLnBrk="1" hangingPunct="1"/>
            <a:fld id="{208CA1A7-D615-43F4-85FD-E477E5D95D0A}" type="slidenum">
              <a:rPr lang="en-US" sz="1400">
                <a:solidFill>
                  <a:schemeClr val="tx1"/>
                </a:solidFill>
                <a:latin typeface="Times New Roman" panose="02020503050405090304" pitchFamily="18" charset="0"/>
              </a:rPr>
            </a:fld>
            <a:endParaRPr lang="en-US" sz="140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  <p:sp>
        <p:nvSpPr>
          <p:cNvPr id="116760" name="Text Box 24"/>
          <p:cNvSpPr txBox="1">
            <a:spLocks noChangeArrowheads="1"/>
          </p:cNvSpPr>
          <p:nvPr/>
        </p:nvSpPr>
        <p:spPr bwMode="auto">
          <a:xfrm>
            <a:off x="8197850" y="1651000"/>
            <a:ext cx="365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  </a:t>
            </a:r>
            <a:endParaRPr lang="en-US"/>
          </a:p>
        </p:txBody>
      </p:sp>
      <p:sp>
        <p:nvSpPr>
          <p:cNvPr id="116761" name="Text Box 25"/>
          <p:cNvSpPr txBox="1">
            <a:spLocks noChangeArrowheads="1"/>
          </p:cNvSpPr>
          <p:nvPr/>
        </p:nvSpPr>
        <p:spPr bwMode="auto">
          <a:xfrm>
            <a:off x="5364163" y="4375150"/>
            <a:ext cx="2746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 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ChangeArrowheads="1"/>
          </p:cNvSpPr>
          <p:nvPr/>
        </p:nvSpPr>
        <p:spPr bwMode="auto">
          <a:xfrm>
            <a:off x="3733800" y="76200"/>
            <a:ext cx="82232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2800" dirty="0"/>
              <a:t>Linear Probing:</a:t>
            </a:r>
            <a:endParaRPr lang="en-US" sz="2800" dirty="0"/>
          </a:p>
          <a:p>
            <a:r>
              <a:rPr lang="en-US" sz="2800" dirty="0">
                <a:solidFill>
                  <a:srgbClr val="C00000"/>
                </a:solidFill>
              </a:rPr>
              <a:t>Inserting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118787" name="Rectangle 3"/>
          <p:cNvSpPr>
            <a:spLocks noChangeArrowheads="1"/>
          </p:cNvSpPr>
          <p:nvPr/>
        </p:nvSpPr>
        <p:spPr bwMode="auto">
          <a:xfrm>
            <a:off x="381000" y="61913"/>
            <a:ext cx="6019800" cy="6605587"/>
          </a:xfrm>
          <a:prstGeom prst="rect">
            <a:avLst/>
          </a:prstGeom>
          <a:solidFill>
            <a:srgbClr val="FFFFE5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sz="1700" b="1" dirty="0">
                <a:latin typeface="Courier New" panose="02070409020205090404" pitchFamily="49" charset="0"/>
              </a:rPr>
              <a:t>const int NUM_BUCK = 10;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endParaRPr lang="en-US" sz="8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class </a:t>
            </a:r>
            <a:r>
              <a:rPr lang="en-US" sz="1700" b="1" dirty="0" err="1">
                <a:latin typeface="Courier New" panose="02070409020205090404" pitchFamily="49" charset="0"/>
              </a:rPr>
              <a:t>HashTable</a:t>
            </a:r>
            <a:r>
              <a:rPr lang="en-US" sz="1700" b="1" dirty="0">
                <a:latin typeface="Courier New" panose="02070409020205090404" pitchFamily="49" charset="0"/>
              </a:rPr>
              <a:t> </a:t>
            </a:r>
            <a:br>
              <a:rPr lang="en-US" sz="1700" b="1" dirty="0">
                <a:latin typeface="Courier New" panose="02070409020205090404" pitchFamily="49" charset="0"/>
              </a:rPr>
            </a:br>
            <a:r>
              <a:rPr lang="en-US" sz="1200" b="1" dirty="0">
                <a:latin typeface="Courier New" panose="02070409020205090404" pitchFamily="49" charset="0"/>
              </a:rPr>
              <a:t>{</a:t>
            </a:r>
            <a:endParaRPr lang="en-US" sz="12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public: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endParaRPr lang="en-US" sz="4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  void insert(int </a:t>
            </a:r>
            <a:r>
              <a:rPr lang="en-US" sz="1700" b="1" dirty="0" err="1">
                <a:latin typeface="Courier New" panose="02070409020205090404" pitchFamily="49" charset="0"/>
              </a:rPr>
              <a:t>idNum</a:t>
            </a:r>
            <a:r>
              <a:rPr lang="en-US" sz="1700" b="1" dirty="0">
                <a:latin typeface="Courier New" panose="02070409020205090404" pitchFamily="49" charset="0"/>
              </a:rPr>
              <a:t>)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r>
              <a:rPr lang="en-US" sz="1300" b="1" dirty="0">
                <a:latin typeface="Courier New" panose="02070409020205090404" pitchFamily="49" charset="0"/>
              </a:rPr>
              <a:t>   {</a:t>
            </a:r>
            <a:endParaRPr lang="en-US" sz="13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     int bucket = </a:t>
            </a:r>
            <a:r>
              <a:rPr lang="en-US" sz="1700" b="1" dirty="0" err="1">
                <a:latin typeface="Courier New" panose="02070409020205090404" pitchFamily="49" charset="0"/>
              </a:rPr>
              <a:t>mapFunc</a:t>
            </a:r>
            <a:r>
              <a:rPr lang="en-US" sz="1700" b="1" dirty="0">
                <a:latin typeface="Courier New" panose="02070409020205090404" pitchFamily="49" charset="0"/>
              </a:rPr>
              <a:t>(</a:t>
            </a:r>
            <a:r>
              <a:rPr lang="en-US" sz="1700" b="1" dirty="0" err="1">
                <a:latin typeface="Courier New" panose="02070409020205090404" pitchFamily="49" charset="0"/>
              </a:rPr>
              <a:t>idNum</a:t>
            </a:r>
            <a:r>
              <a:rPr lang="en-US" sz="1700" b="1" dirty="0">
                <a:latin typeface="Courier New" panose="02070409020205090404" pitchFamily="49" charset="0"/>
              </a:rPr>
              <a:t>);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 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     for (int</a:t>
            </a:r>
            <a:r>
              <a:rPr lang="en-US" sz="1000" b="1" dirty="0">
                <a:latin typeface="Courier New" panose="02070409020205090404" pitchFamily="49" charset="0"/>
              </a:rPr>
              <a:t> </a:t>
            </a:r>
            <a:r>
              <a:rPr lang="en-US" sz="1700" b="1" dirty="0">
                <a:latin typeface="Courier New" panose="02070409020205090404" pitchFamily="49" charset="0"/>
              </a:rPr>
              <a:t>tries=0;tries&lt;</a:t>
            </a:r>
            <a:r>
              <a:rPr lang="en-US" sz="1700" b="1" dirty="0" err="1">
                <a:latin typeface="Courier New" panose="02070409020205090404" pitchFamily="49" charset="0"/>
              </a:rPr>
              <a:t>NUM_BUCK;tries</a:t>
            </a:r>
            <a:r>
              <a:rPr lang="en-US" sz="1700" b="1" dirty="0">
                <a:latin typeface="Courier New" panose="02070409020205090404" pitchFamily="49" charset="0"/>
              </a:rPr>
              <a:t>++)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r>
              <a:rPr lang="en-US" sz="1300" b="1" dirty="0">
                <a:latin typeface="Courier New" panose="02070409020205090404" pitchFamily="49" charset="0"/>
              </a:rPr>
              <a:t>       {</a:t>
            </a:r>
            <a:endParaRPr lang="en-US" sz="13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        if (</a:t>
            </a:r>
            <a:r>
              <a:rPr lang="en-US" sz="1700" b="1" dirty="0" err="1">
                <a:latin typeface="Courier New" panose="02070409020205090404" pitchFamily="49" charset="0"/>
              </a:rPr>
              <a:t>m_buckets</a:t>
            </a:r>
            <a:r>
              <a:rPr lang="en-US" sz="1700" b="1" dirty="0">
                <a:latin typeface="Courier New" panose="02070409020205090404" pitchFamily="49" charset="0"/>
              </a:rPr>
              <a:t>[bucket].used == false)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r>
              <a:rPr lang="en-US" sz="1300" b="1" dirty="0">
                <a:latin typeface="Courier New" panose="02070409020205090404" pitchFamily="49" charset="0"/>
              </a:rPr>
              <a:t>           {</a:t>
            </a:r>
            <a:endParaRPr lang="en-US" sz="13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           </a:t>
            </a:r>
            <a:r>
              <a:rPr lang="en-US" sz="1700" b="1" dirty="0" err="1">
                <a:latin typeface="Courier New" panose="02070409020205090404" pitchFamily="49" charset="0"/>
              </a:rPr>
              <a:t>m_buckets</a:t>
            </a:r>
            <a:r>
              <a:rPr lang="en-US" sz="1700" b="1" dirty="0">
                <a:latin typeface="Courier New" panose="02070409020205090404" pitchFamily="49" charset="0"/>
              </a:rPr>
              <a:t>[bucket].</a:t>
            </a:r>
            <a:r>
              <a:rPr lang="en-US" sz="1700" b="1" dirty="0" err="1">
                <a:latin typeface="Courier New" panose="02070409020205090404" pitchFamily="49" charset="0"/>
              </a:rPr>
              <a:t>idNum</a:t>
            </a:r>
            <a:r>
              <a:rPr lang="en-US" sz="1700" b="1" dirty="0">
                <a:latin typeface="Courier New" panose="02070409020205090404" pitchFamily="49" charset="0"/>
              </a:rPr>
              <a:t> = </a:t>
            </a:r>
            <a:r>
              <a:rPr lang="en-US" sz="1700" b="1" dirty="0" err="1">
                <a:latin typeface="Courier New" panose="02070409020205090404" pitchFamily="49" charset="0"/>
              </a:rPr>
              <a:t>idNum</a:t>
            </a:r>
            <a:r>
              <a:rPr lang="en-US" sz="1700" b="1" dirty="0">
                <a:latin typeface="Courier New" panose="02070409020205090404" pitchFamily="49" charset="0"/>
              </a:rPr>
              <a:t>;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           </a:t>
            </a:r>
            <a:r>
              <a:rPr lang="en-US" sz="1700" b="1" dirty="0" err="1">
                <a:latin typeface="Courier New" panose="02070409020205090404" pitchFamily="49" charset="0"/>
              </a:rPr>
              <a:t>m_buckets</a:t>
            </a:r>
            <a:r>
              <a:rPr lang="en-US" sz="1700" b="1" dirty="0">
                <a:latin typeface="Courier New" panose="02070409020205090404" pitchFamily="49" charset="0"/>
              </a:rPr>
              <a:t>[bucket].used = true;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           return;</a:t>
            </a:r>
            <a:endParaRPr lang="en-US" sz="1700" b="1" dirty="0">
              <a:latin typeface="Courier New" panose="02070409020205090404" pitchFamily="49" charset="0"/>
            </a:endParaRPr>
          </a:p>
          <a:p>
            <a:pPr lvl="1" algn="l"/>
            <a:r>
              <a:rPr lang="en-US" sz="1300" b="1" dirty="0">
                <a:latin typeface="Courier New" panose="02070409020205090404" pitchFamily="49" charset="0"/>
              </a:rPr>
              <a:t>      }</a:t>
            </a:r>
            <a:endParaRPr lang="en-US" sz="13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        bucket = (bucket + 1) % NUM_BUCK;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r>
              <a:rPr lang="en-US" sz="1300" b="1" dirty="0">
                <a:latin typeface="Courier New" panose="02070409020205090404" pitchFamily="49" charset="0"/>
              </a:rPr>
              <a:t>       }</a:t>
            </a:r>
            <a:endParaRPr lang="en-US" sz="13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     // no room left in hash table!!!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r>
              <a:rPr lang="en-US" sz="1300" b="1" dirty="0">
                <a:latin typeface="Courier New" panose="02070409020205090404" pitchFamily="49" charset="0"/>
              </a:rPr>
              <a:t>   }</a:t>
            </a:r>
            <a:endParaRPr lang="en-US" sz="1300" b="1" dirty="0">
              <a:latin typeface="Courier New" panose="02070409020205090404" pitchFamily="49" charset="0"/>
            </a:endParaRPr>
          </a:p>
          <a:p>
            <a:pPr algn="l"/>
            <a:endParaRPr lang="en-US" sz="8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private: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   int </a:t>
            </a:r>
            <a:r>
              <a:rPr lang="en-US" sz="1700" b="1" dirty="0" err="1">
                <a:latin typeface="Courier New" panose="02070409020205090404" pitchFamily="49" charset="0"/>
              </a:rPr>
              <a:t>mapFunc</a:t>
            </a:r>
            <a:r>
              <a:rPr lang="en-US" sz="1700" b="1" dirty="0">
                <a:latin typeface="Courier New" panose="02070409020205090404" pitchFamily="49" charset="0"/>
              </a:rPr>
              <a:t>(int </a:t>
            </a:r>
            <a:r>
              <a:rPr lang="en-US" sz="1700" b="1" dirty="0" err="1">
                <a:latin typeface="Courier New" panose="02070409020205090404" pitchFamily="49" charset="0"/>
              </a:rPr>
              <a:t>idNum</a:t>
            </a:r>
            <a:r>
              <a:rPr lang="en-US" sz="1700" b="1" dirty="0">
                <a:latin typeface="Courier New" panose="02070409020205090404" pitchFamily="49" charset="0"/>
              </a:rPr>
              <a:t>) const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       {  return </a:t>
            </a:r>
            <a:r>
              <a:rPr lang="en-US" sz="1700" b="1" dirty="0" err="1">
                <a:latin typeface="Courier New" panose="02070409020205090404" pitchFamily="49" charset="0"/>
              </a:rPr>
              <a:t>idNum</a:t>
            </a:r>
            <a:r>
              <a:rPr lang="en-US" sz="1700" b="1" dirty="0">
                <a:latin typeface="Courier New" panose="02070409020205090404" pitchFamily="49" charset="0"/>
              </a:rPr>
              <a:t> % NUM_BUCK;  }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endParaRPr lang="en-US" sz="11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   BUCKET </a:t>
            </a:r>
            <a:r>
              <a:rPr lang="en-US" sz="1700" b="1" dirty="0" err="1">
                <a:latin typeface="Courier New" panose="02070409020205090404" pitchFamily="49" charset="0"/>
              </a:rPr>
              <a:t>m_buckets</a:t>
            </a:r>
            <a:r>
              <a:rPr lang="en-US" sz="1700" b="1" dirty="0">
                <a:latin typeface="Courier New" panose="02070409020205090404" pitchFamily="49" charset="0"/>
              </a:rPr>
              <a:t>[NUM_BUCK];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};</a:t>
            </a:r>
            <a:endParaRPr lang="en-US" sz="1700" b="1" dirty="0">
              <a:solidFill>
                <a:srgbClr val="0000FF"/>
              </a:solidFill>
              <a:latin typeface="Courier New" panose="02070409020205090404" pitchFamily="49" charset="0"/>
            </a:endParaRPr>
          </a:p>
        </p:txBody>
      </p:sp>
      <p:sp>
        <p:nvSpPr>
          <p:cNvPr id="118788" name="Slide Number Placeholder 4"/>
          <p:cNvSpPr txBox="1">
            <a:spLocks noGrp="1"/>
          </p:cNvSpPr>
          <p:nvPr/>
        </p:nvSpPr>
        <p:spPr bwMode="auto">
          <a:xfrm>
            <a:off x="-1447800" y="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r" eaLnBrk="1" hangingPunct="1"/>
            <a:fld id="{67E2100D-B497-461E-9A07-F876E63690A1}" type="slidenum">
              <a:rPr lang="en-US" sz="1400">
                <a:solidFill>
                  <a:schemeClr val="tx1"/>
                </a:solidFill>
                <a:latin typeface="Times New Roman" panose="02020503050405090304" pitchFamily="18" charset="0"/>
              </a:rPr>
            </a:fld>
            <a:endParaRPr lang="en-US" sz="140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  <p:sp>
        <p:nvSpPr>
          <p:cNvPr id="22533" name="Text Box 4"/>
          <p:cNvSpPr txBox="1">
            <a:spLocks noChangeArrowheads="1"/>
          </p:cNvSpPr>
          <p:nvPr/>
        </p:nvSpPr>
        <p:spPr bwMode="auto">
          <a:xfrm>
            <a:off x="6610350" y="4129088"/>
            <a:ext cx="2381250" cy="2576512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l" eaLnBrk="1" hangingPunct="1"/>
            <a:r>
              <a:rPr lang="en-US" sz="1800" b="1">
                <a:latin typeface="Courier New" panose="02070409020205090404" pitchFamily="49" charset="0"/>
                <a:cs typeface="Courier New" panose="02070409020205090404" pitchFamily="49" charset="0"/>
              </a:rPr>
              <a:t>main()</a:t>
            </a:r>
            <a:endParaRPr lang="en-US" sz="1800" b="1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>
                <a:latin typeface="Courier New" panose="02070409020205090404" pitchFamily="49" charset="0"/>
                <a:cs typeface="Courier New" panose="02070409020205090404" pitchFamily="49" charset="0"/>
              </a:rPr>
              <a:t>{</a:t>
            </a:r>
            <a:endParaRPr lang="en-US" sz="1800"/>
          </a:p>
          <a:p>
            <a:pPr algn="l" eaLnBrk="1" hangingPunct="1"/>
            <a:r>
              <a:rPr lang="en-US" sz="1800" b="1">
                <a:latin typeface="Courier New" panose="02070409020205090404" pitchFamily="49" charset="0"/>
                <a:cs typeface="Courier New" panose="02070409020205090404" pitchFamily="49" charset="0"/>
              </a:rPr>
              <a:t>  HashTable ht;</a:t>
            </a:r>
            <a:endParaRPr lang="en-US" sz="1800" b="1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endParaRPr lang="en-US" sz="1800" b="1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>
                <a:latin typeface="Courier New" panose="02070409020205090404" pitchFamily="49" charset="0"/>
                <a:cs typeface="Courier New" panose="02070409020205090404" pitchFamily="49" charset="0"/>
              </a:rPr>
              <a:t>  ht.insert(29);</a:t>
            </a:r>
            <a:endParaRPr lang="en-US" sz="1800" b="1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>
                <a:latin typeface="Courier New" panose="02070409020205090404" pitchFamily="49" charset="0"/>
                <a:cs typeface="Courier New" panose="02070409020205090404" pitchFamily="49" charset="0"/>
              </a:rPr>
              <a:t>  ht.insert(65);</a:t>
            </a:r>
            <a:endParaRPr lang="en-US" sz="1800" b="1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>
                <a:latin typeface="Courier New" panose="02070409020205090404" pitchFamily="49" charset="0"/>
                <a:cs typeface="Courier New" panose="02070409020205090404" pitchFamily="49" charset="0"/>
              </a:rPr>
              <a:t>  ht.insert(79);</a:t>
            </a:r>
            <a:endParaRPr lang="en-US" sz="1800" b="1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endParaRPr lang="en-US" sz="1800" b="1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>
                <a:latin typeface="Courier New" panose="02070409020205090404" pitchFamily="49" charset="0"/>
                <a:cs typeface="Courier New" panose="02070409020205090404" pitchFamily="49" charset="0"/>
              </a:rPr>
              <a:t>}</a:t>
            </a:r>
            <a:endParaRPr lang="en-US" sz="1800" b="1">
              <a:latin typeface="Courier New" panose="02070409020205090404" pitchFamily="49" charset="0"/>
              <a:cs typeface="Courier New" panose="02070409020205090404" pitchFamily="49" charset="0"/>
            </a:endParaRPr>
          </a:p>
        </p:txBody>
      </p:sp>
      <p:grpSp>
        <p:nvGrpSpPr>
          <p:cNvPr id="118896" name="Group 112"/>
          <p:cNvGrpSpPr/>
          <p:nvPr/>
        </p:nvGrpSpPr>
        <p:grpSpPr bwMode="auto">
          <a:xfrm>
            <a:off x="6537325" y="1271588"/>
            <a:ext cx="2725738" cy="2574925"/>
            <a:chOff x="4118" y="801"/>
            <a:chExt cx="1717" cy="1622"/>
          </a:xfrm>
        </p:grpSpPr>
        <p:grpSp>
          <p:nvGrpSpPr>
            <p:cNvPr id="118894" name="Group 110"/>
            <p:cNvGrpSpPr/>
            <p:nvPr/>
          </p:nvGrpSpPr>
          <p:grpSpPr bwMode="auto">
            <a:xfrm>
              <a:off x="4245" y="801"/>
              <a:ext cx="1590" cy="1622"/>
              <a:chOff x="4218" y="801"/>
              <a:chExt cx="1590" cy="1622"/>
            </a:xfrm>
          </p:grpSpPr>
          <p:grpSp>
            <p:nvGrpSpPr>
              <p:cNvPr id="118848" name="Group 64"/>
              <p:cNvGrpSpPr/>
              <p:nvPr/>
            </p:nvGrpSpPr>
            <p:grpSpPr bwMode="auto">
              <a:xfrm>
                <a:off x="4221" y="801"/>
                <a:ext cx="1584" cy="212"/>
                <a:chOff x="2700" y="4428"/>
                <a:chExt cx="1584" cy="212"/>
              </a:xfrm>
            </p:grpSpPr>
            <p:sp>
              <p:nvSpPr>
                <p:cNvPr id="118829" name="Rectangle 152"/>
                <p:cNvSpPr>
                  <a:spLocks noChangeArrowheads="1"/>
                </p:cNvSpPr>
                <p:nvPr/>
              </p:nvSpPr>
              <p:spPr bwMode="auto">
                <a:xfrm>
                  <a:off x="2738" y="4455"/>
                  <a:ext cx="1438" cy="153"/>
                </a:xfrm>
                <a:prstGeom prst="rect">
                  <a:avLst/>
                </a:prstGeom>
                <a:solidFill>
                  <a:srgbClr val="E7F9BF"/>
                </a:solidFill>
                <a:ln w="9525" algn="ctr">
                  <a:solidFill>
                    <a:schemeClr val="tx1"/>
                  </a:solidFill>
                  <a:round/>
                </a:ln>
              </p:spPr>
              <p:txBody>
                <a:bodyPr anchor="ctr"/>
                <a:lstStyle/>
                <a:p>
                  <a:endParaRPr lang="en-US" sz="1600"/>
                </a:p>
              </p:txBody>
            </p:sp>
            <p:sp>
              <p:nvSpPr>
                <p:cNvPr id="118830" name="TextBox 153"/>
                <p:cNvSpPr txBox="1">
                  <a:spLocks noChangeArrowheads="1"/>
                </p:cNvSpPr>
                <p:nvPr/>
              </p:nvSpPr>
              <p:spPr bwMode="auto">
                <a:xfrm>
                  <a:off x="2700" y="4428"/>
                  <a:ext cx="1584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9pPr>
                </a:lstStyle>
                <a:p>
                  <a:pPr algn="l" eaLnBrk="1" hangingPunct="1"/>
                  <a:r>
                    <a:rPr lang="en-US" sz="1600"/>
                    <a:t>idNum:           used: </a:t>
                  </a:r>
                  <a:endParaRPr lang="en-US" sz="1600"/>
                </a:p>
              </p:txBody>
            </p:sp>
            <p:sp>
              <p:nvSpPr>
                <p:cNvPr id="118846" name="Rectangle 62"/>
                <p:cNvSpPr>
                  <a:spLocks noChangeArrowheads="1"/>
                </p:cNvSpPr>
                <p:nvPr/>
              </p:nvSpPr>
              <p:spPr bwMode="auto">
                <a:xfrm>
                  <a:off x="3936" y="4473"/>
                  <a:ext cx="192" cy="126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8847" name="Rectangle 63"/>
                <p:cNvSpPr>
                  <a:spLocks noChangeArrowheads="1"/>
                </p:cNvSpPr>
                <p:nvPr/>
              </p:nvSpPr>
              <p:spPr bwMode="auto">
                <a:xfrm>
                  <a:off x="3216" y="4479"/>
                  <a:ext cx="336" cy="113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8849" name="Group 65"/>
              <p:cNvGrpSpPr/>
              <p:nvPr/>
            </p:nvGrpSpPr>
            <p:grpSpPr bwMode="auto">
              <a:xfrm>
                <a:off x="4218" y="960"/>
                <a:ext cx="1584" cy="212"/>
                <a:chOff x="2700" y="4428"/>
                <a:chExt cx="1584" cy="212"/>
              </a:xfrm>
            </p:grpSpPr>
            <p:sp>
              <p:nvSpPr>
                <p:cNvPr id="118850" name="Rectangle 152"/>
                <p:cNvSpPr>
                  <a:spLocks noChangeArrowheads="1"/>
                </p:cNvSpPr>
                <p:nvPr/>
              </p:nvSpPr>
              <p:spPr bwMode="auto">
                <a:xfrm>
                  <a:off x="2738" y="4455"/>
                  <a:ext cx="1438" cy="153"/>
                </a:xfrm>
                <a:prstGeom prst="rect">
                  <a:avLst/>
                </a:prstGeom>
                <a:solidFill>
                  <a:srgbClr val="E7F9BF"/>
                </a:solidFill>
                <a:ln w="9525" algn="ctr">
                  <a:solidFill>
                    <a:schemeClr val="tx1"/>
                  </a:solidFill>
                  <a:round/>
                </a:ln>
              </p:spPr>
              <p:txBody>
                <a:bodyPr anchor="ctr"/>
                <a:lstStyle/>
                <a:p>
                  <a:endParaRPr lang="en-US" sz="1600"/>
                </a:p>
              </p:txBody>
            </p:sp>
            <p:sp>
              <p:nvSpPr>
                <p:cNvPr id="118851" name="TextBox 153"/>
                <p:cNvSpPr txBox="1">
                  <a:spLocks noChangeArrowheads="1"/>
                </p:cNvSpPr>
                <p:nvPr/>
              </p:nvSpPr>
              <p:spPr bwMode="auto">
                <a:xfrm>
                  <a:off x="2700" y="4428"/>
                  <a:ext cx="1584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9pPr>
                </a:lstStyle>
                <a:p>
                  <a:pPr algn="l" eaLnBrk="1" hangingPunct="1"/>
                  <a:r>
                    <a:rPr lang="en-US" sz="1600"/>
                    <a:t>idNum:           used: </a:t>
                  </a:r>
                  <a:endParaRPr lang="en-US" sz="1600"/>
                </a:p>
              </p:txBody>
            </p:sp>
            <p:sp>
              <p:nvSpPr>
                <p:cNvPr id="118852" name="Rectangle 68"/>
                <p:cNvSpPr>
                  <a:spLocks noChangeArrowheads="1"/>
                </p:cNvSpPr>
                <p:nvPr/>
              </p:nvSpPr>
              <p:spPr bwMode="auto">
                <a:xfrm>
                  <a:off x="3936" y="4473"/>
                  <a:ext cx="192" cy="126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8853" name="Rectangle 69"/>
                <p:cNvSpPr>
                  <a:spLocks noChangeArrowheads="1"/>
                </p:cNvSpPr>
                <p:nvPr/>
              </p:nvSpPr>
              <p:spPr bwMode="auto">
                <a:xfrm>
                  <a:off x="3216" y="4479"/>
                  <a:ext cx="336" cy="113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8854" name="Group 70"/>
              <p:cNvGrpSpPr/>
              <p:nvPr/>
            </p:nvGrpSpPr>
            <p:grpSpPr bwMode="auto">
              <a:xfrm>
                <a:off x="4218" y="1113"/>
                <a:ext cx="1584" cy="212"/>
                <a:chOff x="2700" y="4428"/>
                <a:chExt cx="1584" cy="212"/>
              </a:xfrm>
            </p:grpSpPr>
            <p:sp>
              <p:nvSpPr>
                <p:cNvPr id="118855" name="Rectangle 152"/>
                <p:cNvSpPr>
                  <a:spLocks noChangeArrowheads="1"/>
                </p:cNvSpPr>
                <p:nvPr/>
              </p:nvSpPr>
              <p:spPr bwMode="auto">
                <a:xfrm>
                  <a:off x="2738" y="4455"/>
                  <a:ext cx="1438" cy="153"/>
                </a:xfrm>
                <a:prstGeom prst="rect">
                  <a:avLst/>
                </a:prstGeom>
                <a:solidFill>
                  <a:srgbClr val="E7F9BF"/>
                </a:solidFill>
                <a:ln w="9525" algn="ctr">
                  <a:solidFill>
                    <a:schemeClr val="tx1"/>
                  </a:solidFill>
                  <a:round/>
                </a:ln>
              </p:spPr>
              <p:txBody>
                <a:bodyPr anchor="ctr"/>
                <a:lstStyle/>
                <a:p>
                  <a:endParaRPr lang="en-US" sz="1600"/>
                </a:p>
              </p:txBody>
            </p:sp>
            <p:sp>
              <p:nvSpPr>
                <p:cNvPr id="118856" name="TextBox 153"/>
                <p:cNvSpPr txBox="1">
                  <a:spLocks noChangeArrowheads="1"/>
                </p:cNvSpPr>
                <p:nvPr/>
              </p:nvSpPr>
              <p:spPr bwMode="auto">
                <a:xfrm>
                  <a:off x="2700" y="4428"/>
                  <a:ext cx="1584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9pPr>
                </a:lstStyle>
                <a:p>
                  <a:pPr algn="l" eaLnBrk="1" hangingPunct="1"/>
                  <a:r>
                    <a:rPr lang="en-US" sz="1600"/>
                    <a:t>idNum:           used: </a:t>
                  </a:r>
                  <a:endParaRPr lang="en-US" sz="1600"/>
                </a:p>
              </p:txBody>
            </p:sp>
            <p:sp>
              <p:nvSpPr>
                <p:cNvPr id="118857" name="Rectangle 73"/>
                <p:cNvSpPr>
                  <a:spLocks noChangeArrowheads="1"/>
                </p:cNvSpPr>
                <p:nvPr/>
              </p:nvSpPr>
              <p:spPr bwMode="auto">
                <a:xfrm>
                  <a:off x="3936" y="4473"/>
                  <a:ext cx="192" cy="126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8858" name="Rectangle 74"/>
                <p:cNvSpPr>
                  <a:spLocks noChangeArrowheads="1"/>
                </p:cNvSpPr>
                <p:nvPr/>
              </p:nvSpPr>
              <p:spPr bwMode="auto">
                <a:xfrm>
                  <a:off x="3216" y="4479"/>
                  <a:ext cx="336" cy="113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8859" name="Group 75"/>
              <p:cNvGrpSpPr/>
              <p:nvPr/>
            </p:nvGrpSpPr>
            <p:grpSpPr bwMode="auto">
              <a:xfrm>
                <a:off x="4224" y="1272"/>
                <a:ext cx="1584" cy="212"/>
                <a:chOff x="2700" y="4428"/>
                <a:chExt cx="1584" cy="212"/>
              </a:xfrm>
            </p:grpSpPr>
            <p:sp>
              <p:nvSpPr>
                <p:cNvPr id="118860" name="Rectangle 152"/>
                <p:cNvSpPr>
                  <a:spLocks noChangeArrowheads="1"/>
                </p:cNvSpPr>
                <p:nvPr/>
              </p:nvSpPr>
              <p:spPr bwMode="auto">
                <a:xfrm>
                  <a:off x="2738" y="4455"/>
                  <a:ext cx="1438" cy="153"/>
                </a:xfrm>
                <a:prstGeom prst="rect">
                  <a:avLst/>
                </a:prstGeom>
                <a:solidFill>
                  <a:srgbClr val="E7F9BF"/>
                </a:solidFill>
                <a:ln w="9525" algn="ctr">
                  <a:solidFill>
                    <a:schemeClr val="tx1"/>
                  </a:solidFill>
                  <a:round/>
                </a:ln>
              </p:spPr>
              <p:txBody>
                <a:bodyPr anchor="ctr"/>
                <a:lstStyle/>
                <a:p>
                  <a:endParaRPr lang="en-US" sz="1600"/>
                </a:p>
              </p:txBody>
            </p:sp>
            <p:sp>
              <p:nvSpPr>
                <p:cNvPr id="118861" name="TextBox 153"/>
                <p:cNvSpPr txBox="1">
                  <a:spLocks noChangeArrowheads="1"/>
                </p:cNvSpPr>
                <p:nvPr/>
              </p:nvSpPr>
              <p:spPr bwMode="auto">
                <a:xfrm>
                  <a:off x="2700" y="4428"/>
                  <a:ext cx="1584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9pPr>
                </a:lstStyle>
                <a:p>
                  <a:pPr algn="l" eaLnBrk="1" hangingPunct="1"/>
                  <a:r>
                    <a:rPr lang="en-US" sz="1600"/>
                    <a:t>idNum:           used: </a:t>
                  </a:r>
                  <a:endParaRPr lang="en-US" sz="1600"/>
                </a:p>
              </p:txBody>
            </p:sp>
            <p:sp>
              <p:nvSpPr>
                <p:cNvPr id="118862" name="Rectangle 78"/>
                <p:cNvSpPr>
                  <a:spLocks noChangeArrowheads="1"/>
                </p:cNvSpPr>
                <p:nvPr/>
              </p:nvSpPr>
              <p:spPr bwMode="auto">
                <a:xfrm>
                  <a:off x="3936" y="4473"/>
                  <a:ext cx="192" cy="126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8863" name="Rectangle 79"/>
                <p:cNvSpPr>
                  <a:spLocks noChangeArrowheads="1"/>
                </p:cNvSpPr>
                <p:nvPr/>
              </p:nvSpPr>
              <p:spPr bwMode="auto">
                <a:xfrm>
                  <a:off x="3216" y="4479"/>
                  <a:ext cx="336" cy="113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8864" name="Group 80"/>
              <p:cNvGrpSpPr/>
              <p:nvPr/>
            </p:nvGrpSpPr>
            <p:grpSpPr bwMode="auto">
              <a:xfrm>
                <a:off x="4218" y="1428"/>
                <a:ext cx="1584" cy="212"/>
                <a:chOff x="2700" y="4428"/>
                <a:chExt cx="1584" cy="212"/>
              </a:xfrm>
            </p:grpSpPr>
            <p:sp>
              <p:nvSpPr>
                <p:cNvPr id="118865" name="Rectangle 152"/>
                <p:cNvSpPr>
                  <a:spLocks noChangeArrowheads="1"/>
                </p:cNvSpPr>
                <p:nvPr/>
              </p:nvSpPr>
              <p:spPr bwMode="auto">
                <a:xfrm>
                  <a:off x="2738" y="4455"/>
                  <a:ext cx="1438" cy="153"/>
                </a:xfrm>
                <a:prstGeom prst="rect">
                  <a:avLst/>
                </a:prstGeom>
                <a:solidFill>
                  <a:srgbClr val="E7F9BF"/>
                </a:solidFill>
                <a:ln w="9525" algn="ctr">
                  <a:solidFill>
                    <a:schemeClr val="tx1"/>
                  </a:solidFill>
                  <a:round/>
                </a:ln>
              </p:spPr>
              <p:txBody>
                <a:bodyPr anchor="ctr"/>
                <a:lstStyle/>
                <a:p>
                  <a:endParaRPr lang="en-US" sz="1600"/>
                </a:p>
              </p:txBody>
            </p:sp>
            <p:sp>
              <p:nvSpPr>
                <p:cNvPr id="118866" name="TextBox 153"/>
                <p:cNvSpPr txBox="1">
                  <a:spLocks noChangeArrowheads="1"/>
                </p:cNvSpPr>
                <p:nvPr/>
              </p:nvSpPr>
              <p:spPr bwMode="auto">
                <a:xfrm>
                  <a:off x="2700" y="4428"/>
                  <a:ext cx="1584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9pPr>
                </a:lstStyle>
                <a:p>
                  <a:pPr algn="l" eaLnBrk="1" hangingPunct="1"/>
                  <a:r>
                    <a:rPr lang="en-US" sz="1600"/>
                    <a:t>idNum:           used: </a:t>
                  </a:r>
                  <a:endParaRPr lang="en-US" sz="1600"/>
                </a:p>
              </p:txBody>
            </p:sp>
            <p:sp>
              <p:nvSpPr>
                <p:cNvPr id="118867" name="Rectangle 83"/>
                <p:cNvSpPr>
                  <a:spLocks noChangeArrowheads="1"/>
                </p:cNvSpPr>
                <p:nvPr/>
              </p:nvSpPr>
              <p:spPr bwMode="auto">
                <a:xfrm>
                  <a:off x="3936" y="4473"/>
                  <a:ext cx="192" cy="126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8868" name="Rectangle 84"/>
                <p:cNvSpPr>
                  <a:spLocks noChangeArrowheads="1"/>
                </p:cNvSpPr>
                <p:nvPr/>
              </p:nvSpPr>
              <p:spPr bwMode="auto">
                <a:xfrm>
                  <a:off x="3216" y="4479"/>
                  <a:ext cx="336" cy="113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8869" name="Group 85"/>
              <p:cNvGrpSpPr/>
              <p:nvPr/>
            </p:nvGrpSpPr>
            <p:grpSpPr bwMode="auto">
              <a:xfrm>
                <a:off x="4224" y="1587"/>
                <a:ext cx="1584" cy="212"/>
                <a:chOff x="2700" y="4428"/>
                <a:chExt cx="1584" cy="212"/>
              </a:xfrm>
            </p:grpSpPr>
            <p:sp>
              <p:nvSpPr>
                <p:cNvPr id="118870" name="Rectangle 152"/>
                <p:cNvSpPr>
                  <a:spLocks noChangeArrowheads="1"/>
                </p:cNvSpPr>
                <p:nvPr/>
              </p:nvSpPr>
              <p:spPr bwMode="auto">
                <a:xfrm>
                  <a:off x="2738" y="4455"/>
                  <a:ext cx="1438" cy="153"/>
                </a:xfrm>
                <a:prstGeom prst="rect">
                  <a:avLst/>
                </a:prstGeom>
                <a:solidFill>
                  <a:srgbClr val="E7F9BF"/>
                </a:solidFill>
                <a:ln w="9525" algn="ctr">
                  <a:solidFill>
                    <a:schemeClr val="tx1"/>
                  </a:solidFill>
                  <a:round/>
                </a:ln>
              </p:spPr>
              <p:txBody>
                <a:bodyPr anchor="ctr"/>
                <a:lstStyle/>
                <a:p>
                  <a:endParaRPr lang="en-US" sz="1600"/>
                </a:p>
              </p:txBody>
            </p:sp>
            <p:sp>
              <p:nvSpPr>
                <p:cNvPr id="118871" name="TextBox 153"/>
                <p:cNvSpPr txBox="1">
                  <a:spLocks noChangeArrowheads="1"/>
                </p:cNvSpPr>
                <p:nvPr/>
              </p:nvSpPr>
              <p:spPr bwMode="auto">
                <a:xfrm>
                  <a:off x="2700" y="4428"/>
                  <a:ext cx="1584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9pPr>
                </a:lstStyle>
                <a:p>
                  <a:pPr algn="l" eaLnBrk="1" hangingPunct="1"/>
                  <a:r>
                    <a:rPr lang="en-US" sz="1600"/>
                    <a:t>idNum:           used: </a:t>
                  </a:r>
                  <a:endParaRPr lang="en-US" sz="1600"/>
                </a:p>
              </p:txBody>
            </p:sp>
            <p:sp>
              <p:nvSpPr>
                <p:cNvPr id="118872" name="Rectangle 88"/>
                <p:cNvSpPr>
                  <a:spLocks noChangeArrowheads="1"/>
                </p:cNvSpPr>
                <p:nvPr/>
              </p:nvSpPr>
              <p:spPr bwMode="auto">
                <a:xfrm>
                  <a:off x="3936" y="4473"/>
                  <a:ext cx="192" cy="126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8873" name="Rectangle 89"/>
                <p:cNvSpPr>
                  <a:spLocks noChangeArrowheads="1"/>
                </p:cNvSpPr>
                <p:nvPr/>
              </p:nvSpPr>
              <p:spPr bwMode="auto">
                <a:xfrm>
                  <a:off x="3216" y="4479"/>
                  <a:ext cx="336" cy="113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8874" name="Group 90"/>
              <p:cNvGrpSpPr/>
              <p:nvPr/>
            </p:nvGrpSpPr>
            <p:grpSpPr bwMode="auto">
              <a:xfrm>
                <a:off x="4224" y="1740"/>
                <a:ext cx="1584" cy="212"/>
                <a:chOff x="2700" y="4428"/>
                <a:chExt cx="1584" cy="212"/>
              </a:xfrm>
            </p:grpSpPr>
            <p:sp>
              <p:nvSpPr>
                <p:cNvPr id="118875" name="Rectangle 152"/>
                <p:cNvSpPr>
                  <a:spLocks noChangeArrowheads="1"/>
                </p:cNvSpPr>
                <p:nvPr/>
              </p:nvSpPr>
              <p:spPr bwMode="auto">
                <a:xfrm>
                  <a:off x="2738" y="4455"/>
                  <a:ext cx="1438" cy="153"/>
                </a:xfrm>
                <a:prstGeom prst="rect">
                  <a:avLst/>
                </a:prstGeom>
                <a:solidFill>
                  <a:srgbClr val="E7F9BF"/>
                </a:solidFill>
                <a:ln w="9525" algn="ctr">
                  <a:solidFill>
                    <a:schemeClr val="tx1"/>
                  </a:solidFill>
                  <a:round/>
                </a:ln>
              </p:spPr>
              <p:txBody>
                <a:bodyPr anchor="ctr"/>
                <a:lstStyle/>
                <a:p>
                  <a:endParaRPr lang="en-US" sz="1600"/>
                </a:p>
              </p:txBody>
            </p:sp>
            <p:sp>
              <p:nvSpPr>
                <p:cNvPr id="118876" name="TextBox 153"/>
                <p:cNvSpPr txBox="1">
                  <a:spLocks noChangeArrowheads="1"/>
                </p:cNvSpPr>
                <p:nvPr/>
              </p:nvSpPr>
              <p:spPr bwMode="auto">
                <a:xfrm>
                  <a:off x="2700" y="4428"/>
                  <a:ext cx="1584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9pPr>
                </a:lstStyle>
                <a:p>
                  <a:pPr algn="l" eaLnBrk="1" hangingPunct="1"/>
                  <a:r>
                    <a:rPr lang="en-US" sz="1600"/>
                    <a:t>idNum:           used: </a:t>
                  </a:r>
                  <a:endParaRPr lang="en-US" sz="1600"/>
                </a:p>
              </p:txBody>
            </p:sp>
            <p:sp>
              <p:nvSpPr>
                <p:cNvPr id="118877" name="Rectangle 93"/>
                <p:cNvSpPr>
                  <a:spLocks noChangeArrowheads="1"/>
                </p:cNvSpPr>
                <p:nvPr/>
              </p:nvSpPr>
              <p:spPr bwMode="auto">
                <a:xfrm>
                  <a:off x="3936" y="4473"/>
                  <a:ext cx="192" cy="126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8878" name="Rectangle 94"/>
                <p:cNvSpPr>
                  <a:spLocks noChangeArrowheads="1"/>
                </p:cNvSpPr>
                <p:nvPr/>
              </p:nvSpPr>
              <p:spPr bwMode="auto">
                <a:xfrm>
                  <a:off x="3216" y="4479"/>
                  <a:ext cx="336" cy="113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8879" name="Group 95"/>
              <p:cNvGrpSpPr/>
              <p:nvPr/>
            </p:nvGrpSpPr>
            <p:grpSpPr bwMode="auto">
              <a:xfrm>
                <a:off x="4221" y="1899"/>
                <a:ext cx="1584" cy="212"/>
                <a:chOff x="2700" y="4428"/>
                <a:chExt cx="1584" cy="212"/>
              </a:xfrm>
            </p:grpSpPr>
            <p:sp>
              <p:nvSpPr>
                <p:cNvPr id="118880" name="Rectangle 152"/>
                <p:cNvSpPr>
                  <a:spLocks noChangeArrowheads="1"/>
                </p:cNvSpPr>
                <p:nvPr/>
              </p:nvSpPr>
              <p:spPr bwMode="auto">
                <a:xfrm>
                  <a:off x="2738" y="4455"/>
                  <a:ext cx="1438" cy="153"/>
                </a:xfrm>
                <a:prstGeom prst="rect">
                  <a:avLst/>
                </a:prstGeom>
                <a:solidFill>
                  <a:srgbClr val="E7F9BF"/>
                </a:solidFill>
                <a:ln w="9525" algn="ctr">
                  <a:solidFill>
                    <a:schemeClr val="tx1"/>
                  </a:solidFill>
                  <a:round/>
                </a:ln>
              </p:spPr>
              <p:txBody>
                <a:bodyPr anchor="ctr"/>
                <a:lstStyle/>
                <a:p>
                  <a:endParaRPr lang="en-US" sz="1600"/>
                </a:p>
              </p:txBody>
            </p:sp>
            <p:sp>
              <p:nvSpPr>
                <p:cNvPr id="118881" name="TextBox 153"/>
                <p:cNvSpPr txBox="1">
                  <a:spLocks noChangeArrowheads="1"/>
                </p:cNvSpPr>
                <p:nvPr/>
              </p:nvSpPr>
              <p:spPr bwMode="auto">
                <a:xfrm>
                  <a:off x="2700" y="4428"/>
                  <a:ext cx="1584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9pPr>
                </a:lstStyle>
                <a:p>
                  <a:pPr algn="l" eaLnBrk="1" hangingPunct="1"/>
                  <a:r>
                    <a:rPr lang="en-US" sz="1600"/>
                    <a:t>idNum:           used: </a:t>
                  </a:r>
                  <a:endParaRPr lang="en-US" sz="1600"/>
                </a:p>
              </p:txBody>
            </p:sp>
            <p:sp>
              <p:nvSpPr>
                <p:cNvPr id="118882" name="Rectangle 98"/>
                <p:cNvSpPr>
                  <a:spLocks noChangeArrowheads="1"/>
                </p:cNvSpPr>
                <p:nvPr/>
              </p:nvSpPr>
              <p:spPr bwMode="auto">
                <a:xfrm>
                  <a:off x="3936" y="4473"/>
                  <a:ext cx="192" cy="126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8883" name="Rectangle 99"/>
                <p:cNvSpPr>
                  <a:spLocks noChangeArrowheads="1"/>
                </p:cNvSpPr>
                <p:nvPr/>
              </p:nvSpPr>
              <p:spPr bwMode="auto">
                <a:xfrm>
                  <a:off x="3216" y="4479"/>
                  <a:ext cx="336" cy="113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8884" name="Group 100"/>
              <p:cNvGrpSpPr/>
              <p:nvPr/>
            </p:nvGrpSpPr>
            <p:grpSpPr bwMode="auto">
              <a:xfrm>
                <a:off x="4221" y="2052"/>
                <a:ext cx="1584" cy="212"/>
                <a:chOff x="2700" y="4428"/>
                <a:chExt cx="1584" cy="212"/>
              </a:xfrm>
            </p:grpSpPr>
            <p:sp>
              <p:nvSpPr>
                <p:cNvPr id="118885" name="Rectangle 152"/>
                <p:cNvSpPr>
                  <a:spLocks noChangeArrowheads="1"/>
                </p:cNvSpPr>
                <p:nvPr/>
              </p:nvSpPr>
              <p:spPr bwMode="auto">
                <a:xfrm>
                  <a:off x="2738" y="4455"/>
                  <a:ext cx="1438" cy="153"/>
                </a:xfrm>
                <a:prstGeom prst="rect">
                  <a:avLst/>
                </a:prstGeom>
                <a:solidFill>
                  <a:srgbClr val="E7F9BF"/>
                </a:solidFill>
                <a:ln w="9525" algn="ctr">
                  <a:solidFill>
                    <a:schemeClr val="tx1"/>
                  </a:solidFill>
                  <a:round/>
                </a:ln>
              </p:spPr>
              <p:txBody>
                <a:bodyPr anchor="ctr"/>
                <a:lstStyle/>
                <a:p>
                  <a:endParaRPr lang="en-US" sz="1600"/>
                </a:p>
              </p:txBody>
            </p:sp>
            <p:sp>
              <p:nvSpPr>
                <p:cNvPr id="118886" name="TextBox 153"/>
                <p:cNvSpPr txBox="1">
                  <a:spLocks noChangeArrowheads="1"/>
                </p:cNvSpPr>
                <p:nvPr/>
              </p:nvSpPr>
              <p:spPr bwMode="auto">
                <a:xfrm>
                  <a:off x="2700" y="4428"/>
                  <a:ext cx="1584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9pPr>
                </a:lstStyle>
                <a:p>
                  <a:pPr algn="l" eaLnBrk="1" hangingPunct="1"/>
                  <a:r>
                    <a:rPr lang="en-US" sz="1600"/>
                    <a:t>idNum:           used: </a:t>
                  </a:r>
                  <a:endParaRPr lang="en-US" sz="1600"/>
                </a:p>
              </p:txBody>
            </p:sp>
            <p:sp>
              <p:nvSpPr>
                <p:cNvPr id="118887" name="Rectangle 103"/>
                <p:cNvSpPr>
                  <a:spLocks noChangeArrowheads="1"/>
                </p:cNvSpPr>
                <p:nvPr/>
              </p:nvSpPr>
              <p:spPr bwMode="auto">
                <a:xfrm>
                  <a:off x="3936" y="4473"/>
                  <a:ext cx="192" cy="126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8888" name="Rectangle 104"/>
                <p:cNvSpPr>
                  <a:spLocks noChangeArrowheads="1"/>
                </p:cNvSpPr>
                <p:nvPr/>
              </p:nvSpPr>
              <p:spPr bwMode="auto">
                <a:xfrm>
                  <a:off x="3216" y="4479"/>
                  <a:ext cx="336" cy="113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8889" name="Group 105"/>
              <p:cNvGrpSpPr/>
              <p:nvPr/>
            </p:nvGrpSpPr>
            <p:grpSpPr bwMode="auto">
              <a:xfrm>
                <a:off x="4218" y="2211"/>
                <a:ext cx="1584" cy="212"/>
                <a:chOff x="2700" y="4428"/>
                <a:chExt cx="1584" cy="212"/>
              </a:xfrm>
            </p:grpSpPr>
            <p:sp>
              <p:nvSpPr>
                <p:cNvPr id="118890" name="Rectangle 152"/>
                <p:cNvSpPr>
                  <a:spLocks noChangeArrowheads="1"/>
                </p:cNvSpPr>
                <p:nvPr/>
              </p:nvSpPr>
              <p:spPr bwMode="auto">
                <a:xfrm>
                  <a:off x="2738" y="4455"/>
                  <a:ext cx="1438" cy="153"/>
                </a:xfrm>
                <a:prstGeom prst="rect">
                  <a:avLst/>
                </a:prstGeom>
                <a:solidFill>
                  <a:srgbClr val="E7F9BF"/>
                </a:solidFill>
                <a:ln w="9525" algn="ctr">
                  <a:solidFill>
                    <a:schemeClr val="tx1"/>
                  </a:solidFill>
                  <a:round/>
                </a:ln>
              </p:spPr>
              <p:txBody>
                <a:bodyPr anchor="ctr"/>
                <a:lstStyle/>
                <a:p>
                  <a:endParaRPr lang="en-US" sz="1600"/>
                </a:p>
              </p:txBody>
            </p:sp>
            <p:sp>
              <p:nvSpPr>
                <p:cNvPr id="118891" name="TextBox 153"/>
                <p:cNvSpPr txBox="1">
                  <a:spLocks noChangeArrowheads="1"/>
                </p:cNvSpPr>
                <p:nvPr/>
              </p:nvSpPr>
              <p:spPr bwMode="auto">
                <a:xfrm>
                  <a:off x="2700" y="4428"/>
                  <a:ext cx="1584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9pPr>
                </a:lstStyle>
                <a:p>
                  <a:pPr algn="l" eaLnBrk="1" hangingPunct="1"/>
                  <a:r>
                    <a:rPr lang="en-US" sz="1600"/>
                    <a:t>idNum:           used: </a:t>
                  </a:r>
                  <a:endParaRPr lang="en-US" sz="1600"/>
                </a:p>
              </p:txBody>
            </p:sp>
            <p:sp>
              <p:nvSpPr>
                <p:cNvPr id="118892" name="Rectangle 108"/>
                <p:cNvSpPr>
                  <a:spLocks noChangeArrowheads="1"/>
                </p:cNvSpPr>
                <p:nvPr/>
              </p:nvSpPr>
              <p:spPr bwMode="auto">
                <a:xfrm>
                  <a:off x="3936" y="4473"/>
                  <a:ext cx="192" cy="126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8893" name="Rectangle 109"/>
                <p:cNvSpPr>
                  <a:spLocks noChangeArrowheads="1"/>
                </p:cNvSpPr>
                <p:nvPr/>
              </p:nvSpPr>
              <p:spPr bwMode="auto">
                <a:xfrm>
                  <a:off x="3216" y="4479"/>
                  <a:ext cx="336" cy="113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118895" name="Text Box 111"/>
            <p:cNvSpPr txBox="1">
              <a:spLocks noChangeArrowheads="1"/>
            </p:cNvSpPr>
            <p:nvPr/>
          </p:nvSpPr>
          <p:spPr bwMode="auto">
            <a:xfrm>
              <a:off x="4118" y="821"/>
              <a:ext cx="194" cy="15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/>
                <a:t>0</a:t>
              </a:r>
              <a:endParaRPr lang="en-US" sz="1600" b="1"/>
            </a:p>
            <a:p>
              <a:r>
                <a:rPr lang="en-US" sz="1600" b="1"/>
                <a:t>1</a:t>
              </a:r>
              <a:endParaRPr lang="en-US" sz="1600" b="1"/>
            </a:p>
            <a:p>
              <a:r>
                <a:rPr lang="en-US" sz="1600" b="1"/>
                <a:t>2</a:t>
              </a:r>
              <a:endParaRPr lang="en-US" sz="1600" b="1"/>
            </a:p>
            <a:p>
              <a:r>
                <a:rPr lang="en-US" sz="1600" b="1"/>
                <a:t>3</a:t>
              </a:r>
              <a:endParaRPr lang="en-US" sz="1600" b="1"/>
            </a:p>
            <a:p>
              <a:r>
                <a:rPr lang="en-US" sz="1600" b="1"/>
                <a:t>4</a:t>
              </a:r>
              <a:endParaRPr lang="en-US" sz="1600" b="1"/>
            </a:p>
            <a:p>
              <a:r>
                <a:rPr lang="en-US" sz="1600" b="1"/>
                <a:t>5</a:t>
              </a:r>
              <a:endParaRPr lang="en-US" sz="1600" b="1"/>
            </a:p>
            <a:p>
              <a:r>
                <a:rPr lang="en-US" sz="1600" b="1"/>
                <a:t>6</a:t>
              </a:r>
              <a:endParaRPr lang="en-US" sz="1600" b="1"/>
            </a:p>
            <a:p>
              <a:r>
                <a:rPr lang="en-US" sz="1600" b="1"/>
                <a:t>7</a:t>
              </a:r>
              <a:endParaRPr lang="en-US" sz="1600" b="1"/>
            </a:p>
            <a:p>
              <a:r>
                <a:rPr lang="en-US" sz="1600" b="1"/>
                <a:t>8</a:t>
              </a:r>
              <a:endParaRPr lang="en-US" sz="1600" b="1"/>
            </a:p>
            <a:p>
              <a:r>
                <a:rPr lang="en-US" sz="1600" b="1"/>
                <a:t>9</a:t>
              </a:r>
              <a:endParaRPr lang="en-US" sz="1600" b="1"/>
            </a:p>
          </p:txBody>
        </p:sp>
      </p:grpSp>
      <p:sp>
        <p:nvSpPr>
          <p:cNvPr id="220" name="Line 119"/>
          <p:cNvSpPr>
            <a:spLocks noChangeShapeType="1"/>
          </p:cNvSpPr>
          <p:nvPr/>
        </p:nvSpPr>
        <p:spPr bwMode="auto">
          <a:xfrm>
            <a:off x="6497638" y="4876800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8950" name="Text Box 166"/>
          <p:cNvSpPr txBox="1">
            <a:spLocks noChangeArrowheads="1"/>
          </p:cNvSpPr>
          <p:nvPr/>
        </p:nvSpPr>
        <p:spPr bwMode="auto">
          <a:xfrm>
            <a:off x="8694738" y="1292225"/>
            <a:ext cx="2873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rgbClr val="6600FF"/>
                </a:solidFill>
              </a:rPr>
              <a:t>f</a:t>
            </a:r>
            <a:endParaRPr lang="en-US" sz="1600" b="1">
              <a:solidFill>
                <a:srgbClr val="6600FF"/>
              </a:solidFill>
            </a:endParaRPr>
          </a:p>
        </p:txBody>
      </p:sp>
      <p:sp>
        <p:nvSpPr>
          <p:cNvPr id="118951" name="Text Box 167"/>
          <p:cNvSpPr txBox="1">
            <a:spLocks noChangeArrowheads="1"/>
          </p:cNvSpPr>
          <p:nvPr/>
        </p:nvSpPr>
        <p:spPr bwMode="auto">
          <a:xfrm>
            <a:off x="8704263" y="1530350"/>
            <a:ext cx="2873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rgbClr val="6600FF"/>
                </a:solidFill>
              </a:rPr>
              <a:t>f</a:t>
            </a:r>
            <a:endParaRPr lang="en-US" sz="1600" b="1">
              <a:solidFill>
                <a:srgbClr val="6600FF"/>
              </a:solidFill>
            </a:endParaRPr>
          </a:p>
        </p:txBody>
      </p:sp>
      <p:sp>
        <p:nvSpPr>
          <p:cNvPr id="118952" name="Text Box 168"/>
          <p:cNvSpPr txBox="1">
            <a:spLocks noChangeArrowheads="1"/>
          </p:cNvSpPr>
          <p:nvPr/>
        </p:nvSpPr>
        <p:spPr bwMode="auto">
          <a:xfrm>
            <a:off x="8704263" y="1787525"/>
            <a:ext cx="2873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rgbClr val="6600FF"/>
                </a:solidFill>
              </a:rPr>
              <a:t>f</a:t>
            </a:r>
            <a:endParaRPr lang="en-US" sz="1600" b="1">
              <a:solidFill>
                <a:srgbClr val="6600FF"/>
              </a:solidFill>
            </a:endParaRPr>
          </a:p>
        </p:txBody>
      </p:sp>
      <p:sp>
        <p:nvSpPr>
          <p:cNvPr id="118953" name="Text Box 169"/>
          <p:cNvSpPr txBox="1">
            <a:spLocks noChangeArrowheads="1"/>
          </p:cNvSpPr>
          <p:nvPr/>
        </p:nvSpPr>
        <p:spPr bwMode="auto">
          <a:xfrm>
            <a:off x="8713788" y="2025650"/>
            <a:ext cx="2873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rgbClr val="6600FF"/>
                </a:solidFill>
              </a:rPr>
              <a:t>f</a:t>
            </a:r>
            <a:endParaRPr lang="en-US" sz="1600" b="1">
              <a:solidFill>
                <a:srgbClr val="6600FF"/>
              </a:solidFill>
            </a:endParaRPr>
          </a:p>
        </p:txBody>
      </p:sp>
      <p:sp>
        <p:nvSpPr>
          <p:cNvPr id="118954" name="Text Box 170"/>
          <p:cNvSpPr txBox="1">
            <a:spLocks noChangeArrowheads="1"/>
          </p:cNvSpPr>
          <p:nvPr/>
        </p:nvSpPr>
        <p:spPr bwMode="auto">
          <a:xfrm>
            <a:off x="8704263" y="2273300"/>
            <a:ext cx="2873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rgbClr val="6600FF"/>
                </a:solidFill>
              </a:rPr>
              <a:t>f</a:t>
            </a:r>
            <a:endParaRPr lang="en-US" sz="1600" b="1">
              <a:solidFill>
                <a:srgbClr val="6600FF"/>
              </a:solidFill>
            </a:endParaRPr>
          </a:p>
        </p:txBody>
      </p:sp>
      <p:sp>
        <p:nvSpPr>
          <p:cNvPr id="118955" name="Text Box 171"/>
          <p:cNvSpPr txBox="1">
            <a:spLocks noChangeArrowheads="1"/>
          </p:cNvSpPr>
          <p:nvPr/>
        </p:nvSpPr>
        <p:spPr bwMode="auto">
          <a:xfrm>
            <a:off x="8713788" y="2511425"/>
            <a:ext cx="2873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rgbClr val="6600FF"/>
                </a:solidFill>
              </a:rPr>
              <a:t>f</a:t>
            </a:r>
            <a:endParaRPr lang="en-US" sz="1600" b="1">
              <a:solidFill>
                <a:srgbClr val="6600FF"/>
              </a:solidFill>
            </a:endParaRPr>
          </a:p>
        </p:txBody>
      </p:sp>
      <p:sp>
        <p:nvSpPr>
          <p:cNvPr id="118956" name="Text Box 172"/>
          <p:cNvSpPr txBox="1">
            <a:spLocks noChangeArrowheads="1"/>
          </p:cNvSpPr>
          <p:nvPr/>
        </p:nvSpPr>
        <p:spPr bwMode="auto">
          <a:xfrm>
            <a:off x="8713788" y="2768600"/>
            <a:ext cx="2873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rgbClr val="6600FF"/>
                </a:solidFill>
              </a:rPr>
              <a:t>f</a:t>
            </a:r>
            <a:endParaRPr lang="en-US" sz="1600" b="1">
              <a:solidFill>
                <a:srgbClr val="6600FF"/>
              </a:solidFill>
            </a:endParaRPr>
          </a:p>
        </p:txBody>
      </p:sp>
      <p:sp>
        <p:nvSpPr>
          <p:cNvPr id="118957" name="Text Box 173"/>
          <p:cNvSpPr txBox="1">
            <a:spLocks noChangeArrowheads="1"/>
          </p:cNvSpPr>
          <p:nvPr/>
        </p:nvSpPr>
        <p:spPr bwMode="auto">
          <a:xfrm>
            <a:off x="8723313" y="3006725"/>
            <a:ext cx="2873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rgbClr val="6600FF"/>
                </a:solidFill>
              </a:rPr>
              <a:t>f</a:t>
            </a:r>
            <a:endParaRPr lang="en-US" sz="1600" b="1">
              <a:solidFill>
                <a:srgbClr val="6600FF"/>
              </a:solidFill>
            </a:endParaRPr>
          </a:p>
        </p:txBody>
      </p:sp>
      <p:sp>
        <p:nvSpPr>
          <p:cNvPr id="118958" name="Text Box 174"/>
          <p:cNvSpPr txBox="1">
            <a:spLocks noChangeArrowheads="1"/>
          </p:cNvSpPr>
          <p:nvPr/>
        </p:nvSpPr>
        <p:spPr bwMode="auto">
          <a:xfrm>
            <a:off x="8728075" y="3268663"/>
            <a:ext cx="2873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rgbClr val="6600FF"/>
                </a:solidFill>
              </a:rPr>
              <a:t>f</a:t>
            </a:r>
            <a:endParaRPr lang="en-US" sz="1600" b="1">
              <a:solidFill>
                <a:srgbClr val="6600FF"/>
              </a:solidFill>
            </a:endParaRPr>
          </a:p>
        </p:txBody>
      </p:sp>
      <p:sp>
        <p:nvSpPr>
          <p:cNvPr id="118959" name="Text Box 175"/>
          <p:cNvSpPr txBox="1">
            <a:spLocks noChangeArrowheads="1"/>
          </p:cNvSpPr>
          <p:nvPr/>
        </p:nvSpPr>
        <p:spPr bwMode="auto">
          <a:xfrm>
            <a:off x="8737600" y="3506788"/>
            <a:ext cx="2873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rgbClr val="6600FF"/>
                </a:solidFill>
              </a:rPr>
              <a:t>f</a:t>
            </a:r>
            <a:endParaRPr lang="en-US" sz="1600" b="1">
              <a:solidFill>
                <a:srgbClr val="6600FF"/>
              </a:solidFill>
            </a:endParaRPr>
          </a:p>
        </p:txBody>
      </p:sp>
      <p:sp>
        <p:nvSpPr>
          <p:cNvPr id="2" name="Line 119"/>
          <p:cNvSpPr>
            <a:spLocks noChangeShapeType="1"/>
          </p:cNvSpPr>
          <p:nvPr/>
        </p:nvSpPr>
        <p:spPr bwMode="auto">
          <a:xfrm>
            <a:off x="6478588" y="5414963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" name="Line 119"/>
          <p:cNvSpPr>
            <a:spLocks noChangeShapeType="1"/>
          </p:cNvSpPr>
          <p:nvPr/>
        </p:nvSpPr>
        <p:spPr bwMode="auto">
          <a:xfrm>
            <a:off x="230188" y="1390650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8964" name="Text Box 180"/>
          <p:cNvSpPr txBox="1">
            <a:spLocks noChangeArrowheads="1"/>
          </p:cNvSpPr>
          <p:nvPr/>
        </p:nvSpPr>
        <p:spPr bwMode="auto">
          <a:xfrm>
            <a:off x="2917825" y="892175"/>
            <a:ext cx="555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6600FF"/>
                </a:solidFill>
              </a:rPr>
              <a:t>29</a:t>
            </a:r>
            <a:endParaRPr lang="en-US">
              <a:solidFill>
                <a:srgbClr val="6600FF"/>
              </a:solidFill>
            </a:endParaRPr>
          </a:p>
        </p:txBody>
      </p:sp>
      <p:sp>
        <p:nvSpPr>
          <p:cNvPr id="4" name="Line 119"/>
          <p:cNvSpPr>
            <a:spLocks noChangeShapeType="1"/>
          </p:cNvSpPr>
          <p:nvPr/>
        </p:nvSpPr>
        <p:spPr bwMode="auto">
          <a:xfrm>
            <a:off x="625475" y="1843088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5" name="AutoShape 99"/>
          <p:cNvSpPr>
            <a:spLocks noChangeArrowheads="1"/>
          </p:cNvSpPr>
          <p:nvPr/>
        </p:nvSpPr>
        <p:spPr bwMode="auto">
          <a:xfrm>
            <a:off x="3441700" y="0"/>
            <a:ext cx="3432175" cy="1163638"/>
          </a:xfrm>
          <a:prstGeom prst="wedgeRoundRectCallout">
            <a:avLst>
              <a:gd name="adj1" fmla="val -44079"/>
              <a:gd name="adj2" fmla="val 97338"/>
              <a:gd name="adj3" fmla="val 16667"/>
            </a:avLst>
          </a:prstGeom>
          <a:solidFill>
            <a:srgbClr val="006666"/>
          </a:solidFill>
          <a:ln w="41275">
            <a:solidFill>
              <a:srgbClr val="800000"/>
            </a:solidFill>
            <a:miter lim="800000"/>
          </a:ln>
        </p:spPr>
        <p:txBody>
          <a:bodyPr anchor="ctr"/>
          <a:lstStyle/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</p:txBody>
      </p:sp>
      <p:sp>
        <p:nvSpPr>
          <p:cNvPr id="176" name="Text Box 100"/>
          <p:cNvSpPr txBox="1">
            <a:spLocks noChangeArrowheads="1"/>
          </p:cNvSpPr>
          <p:nvPr/>
        </p:nvSpPr>
        <p:spPr bwMode="auto">
          <a:xfrm>
            <a:off x="3609975" y="101600"/>
            <a:ext cx="29860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l" eaLnBrk="1" hangingPunct="1"/>
            <a:r>
              <a:rPr lang="en-US" sz="1800">
                <a:solidFill>
                  <a:schemeClr val="bg1"/>
                </a:solidFill>
              </a:rPr>
              <a:t>bucket = 29% NUM_BUCK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177" name="Text Box 101"/>
          <p:cNvSpPr txBox="1">
            <a:spLocks noChangeArrowheads="1"/>
          </p:cNvSpPr>
          <p:nvPr/>
        </p:nvSpPr>
        <p:spPr bwMode="auto">
          <a:xfrm>
            <a:off x="3630613" y="671513"/>
            <a:ext cx="13049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l" eaLnBrk="1" hangingPunct="1"/>
            <a:r>
              <a:rPr lang="en-US" sz="1800">
                <a:solidFill>
                  <a:schemeClr val="bg1"/>
                </a:solidFill>
              </a:rPr>
              <a:t>bucket = 9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178" name="Text Box 102"/>
          <p:cNvSpPr txBox="1">
            <a:spLocks noChangeArrowheads="1"/>
          </p:cNvSpPr>
          <p:nvPr/>
        </p:nvSpPr>
        <p:spPr bwMode="auto">
          <a:xfrm>
            <a:off x="3616325" y="377825"/>
            <a:ext cx="20113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l" eaLnBrk="1" hangingPunct="1"/>
            <a:r>
              <a:rPr lang="en-US" sz="1800">
                <a:solidFill>
                  <a:schemeClr val="bg1"/>
                </a:solidFill>
              </a:rPr>
              <a:t>bucket = 29 % 10</a:t>
            </a:r>
            <a:endParaRPr lang="en-US" sz="1800">
              <a:solidFill>
                <a:schemeClr val="bg1"/>
              </a:solidFill>
            </a:endParaRPr>
          </a:p>
        </p:txBody>
      </p:sp>
      <p:grpSp>
        <p:nvGrpSpPr>
          <p:cNvPr id="118975" name="Group 191"/>
          <p:cNvGrpSpPr/>
          <p:nvPr/>
        </p:nvGrpSpPr>
        <p:grpSpPr bwMode="auto">
          <a:xfrm>
            <a:off x="4351338" y="1079500"/>
            <a:ext cx="1827212" cy="457200"/>
            <a:chOff x="-758" y="4939"/>
            <a:chExt cx="1151" cy="288"/>
          </a:xfrm>
        </p:grpSpPr>
        <p:sp>
          <p:nvSpPr>
            <p:cNvPr id="118973" name="Text Box 189"/>
            <p:cNvSpPr txBox="1">
              <a:spLocks noChangeArrowheads="1"/>
            </p:cNvSpPr>
            <p:nvPr/>
          </p:nvSpPr>
          <p:spPr bwMode="auto">
            <a:xfrm>
              <a:off x="-758" y="4939"/>
              <a:ext cx="7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6600FF"/>
                  </a:solidFill>
                </a:rPr>
                <a:t>bucket</a:t>
              </a:r>
              <a:endParaRPr lang="en-US">
                <a:solidFill>
                  <a:srgbClr val="6600FF"/>
                </a:solidFill>
              </a:endParaRPr>
            </a:p>
          </p:txBody>
        </p:sp>
        <p:sp>
          <p:nvSpPr>
            <p:cNvPr id="118974" name="Rectangle 190"/>
            <p:cNvSpPr>
              <a:spLocks noChangeArrowheads="1"/>
            </p:cNvSpPr>
            <p:nvPr/>
          </p:nvSpPr>
          <p:spPr bwMode="auto">
            <a:xfrm>
              <a:off x="-45" y="4960"/>
              <a:ext cx="438" cy="24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8979" name="Text Box 195"/>
          <p:cNvSpPr txBox="1">
            <a:spLocks noChangeArrowheads="1"/>
          </p:cNvSpPr>
          <p:nvPr/>
        </p:nvSpPr>
        <p:spPr bwMode="auto">
          <a:xfrm>
            <a:off x="5648325" y="1082675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9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5" name="Line 119"/>
          <p:cNvSpPr>
            <a:spLocks noChangeShapeType="1"/>
          </p:cNvSpPr>
          <p:nvPr/>
        </p:nvSpPr>
        <p:spPr bwMode="auto">
          <a:xfrm>
            <a:off x="615950" y="2347913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" name="Line 119"/>
          <p:cNvSpPr>
            <a:spLocks noChangeShapeType="1"/>
          </p:cNvSpPr>
          <p:nvPr/>
        </p:nvSpPr>
        <p:spPr bwMode="auto">
          <a:xfrm>
            <a:off x="1039813" y="2828925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8983" name="Oval 199"/>
          <p:cNvSpPr>
            <a:spLocks noChangeArrowheads="1"/>
          </p:cNvSpPr>
          <p:nvPr/>
        </p:nvSpPr>
        <p:spPr bwMode="auto">
          <a:xfrm>
            <a:off x="8729663" y="3508375"/>
            <a:ext cx="300037" cy="355600"/>
          </a:xfrm>
          <a:prstGeom prst="ellipse">
            <a:avLst/>
          </a:prstGeom>
          <a:noFill/>
          <a:ln w="38100" algn="ctr">
            <a:solidFill>
              <a:srgbClr val="6600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Line 119"/>
          <p:cNvSpPr>
            <a:spLocks noChangeShapeType="1"/>
          </p:cNvSpPr>
          <p:nvPr/>
        </p:nvSpPr>
        <p:spPr bwMode="auto">
          <a:xfrm>
            <a:off x="1377950" y="3281363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8985" name="Rectangle 201"/>
          <p:cNvSpPr>
            <a:spLocks noChangeArrowheads="1"/>
          </p:cNvSpPr>
          <p:nvPr/>
        </p:nvSpPr>
        <p:spPr bwMode="auto">
          <a:xfrm>
            <a:off x="7631113" y="3514725"/>
            <a:ext cx="431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rgbClr val="FF0000"/>
                </a:solidFill>
              </a:rPr>
              <a:t>29</a:t>
            </a:r>
            <a:endParaRPr lang="en-US" sz="1600" b="1">
              <a:solidFill>
                <a:srgbClr val="FF0000"/>
              </a:solidFill>
            </a:endParaRPr>
          </a:p>
        </p:txBody>
      </p:sp>
      <p:sp>
        <p:nvSpPr>
          <p:cNvPr id="8" name="Line 119"/>
          <p:cNvSpPr>
            <a:spLocks noChangeShapeType="1"/>
          </p:cNvSpPr>
          <p:nvPr/>
        </p:nvSpPr>
        <p:spPr bwMode="auto">
          <a:xfrm>
            <a:off x="1387475" y="3548063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8987" name="Text Box 203"/>
          <p:cNvSpPr txBox="1">
            <a:spLocks noChangeArrowheads="1"/>
          </p:cNvSpPr>
          <p:nvPr/>
        </p:nvSpPr>
        <p:spPr bwMode="auto">
          <a:xfrm>
            <a:off x="8709025" y="3535363"/>
            <a:ext cx="3254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rgbClr val="FF0000"/>
                </a:solidFill>
              </a:rPr>
              <a:t>T</a:t>
            </a:r>
            <a:endParaRPr lang="en-US" sz="1600" b="1">
              <a:solidFill>
                <a:srgbClr val="FF0000"/>
              </a:solidFill>
            </a:endParaRPr>
          </a:p>
        </p:txBody>
      </p:sp>
      <p:sp>
        <p:nvSpPr>
          <p:cNvPr id="9" name="Line 119"/>
          <p:cNvSpPr>
            <a:spLocks noChangeShapeType="1"/>
          </p:cNvSpPr>
          <p:nvPr/>
        </p:nvSpPr>
        <p:spPr bwMode="auto">
          <a:xfrm>
            <a:off x="1368425" y="3800475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" name="Line 119"/>
          <p:cNvSpPr>
            <a:spLocks noChangeShapeType="1"/>
          </p:cNvSpPr>
          <p:nvPr/>
        </p:nvSpPr>
        <p:spPr bwMode="auto">
          <a:xfrm>
            <a:off x="6477000" y="5686425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8992" name="Rectangle 208"/>
          <p:cNvSpPr>
            <a:spLocks noChangeArrowheads="1"/>
          </p:cNvSpPr>
          <p:nvPr/>
        </p:nvSpPr>
        <p:spPr bwMode="auto">
          <a:xfrm>
            <a:off x="6537325" y="3467100"/>
            <a:ext cx="2606675" cy="434975"/>
          </a:xfrm>
          <a:prstGeom prst="rect">
            <a:avLst/>
          </a:prstGeom>
          <a:noFill/>
          <a:ln w="63500" algn="ctr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ChangeArrowheads="1"/>
          </p:cNvSpPr>
          <p:nvPr/>
        </p:nvSpPr>
        <p:spPr bwMode="auto">
          <a:xfrm>
            <a:off x="3733800" y="76200"/>
            <a:ext cx="82232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2800" dirty="0"/>
              <a:t>Linear Probing:</a:t>
            </a:r>
            <a:endParaRPr lang="en-US" sz="2800" dirty="0"/>
          </a:p>
          <a:p>
            <a:r>
              <a:rPr lang="en-US" sz="2800" dirty="0">
                <a:solidFill>
                  <a:srgbClr val="C00000"/>
                </a:solidFill>
              </a:rPr>
              <a:t>Inserting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120836" name="Slide Number Placeholder 4"/>
          <p:cNvSpPr txBox="1">
            <a:spLocks noGrp="1"/>
          </p:cNvSpPr>
          <p:nvPr/>
        </p:nvSpPr>
        <p:spPr bwMode="auto">
          <a:xfrm>
            <a:off x="-1447800" y="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r" eaLnBrk="1" hangingPunct="1"/>
            <a:fld id="{898C7274-8124-49CA-A119-6BBB163B09BE}" type="slidenum">
              <a:rPr lang="en-US" sz="1400">
                <a:solidFill>
                  <a:schemeClr val="tx1"/>
                </a:solidFill>
                <a:latin typeface="Times New Roman" panose="02020503050405090304" pitchFamily="18" charset="0"/>
              </a:rPr>
            </a:fld>
            <a:endParaRPr lang="en-US" sz="140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  <p:sp>
        <p:nvSpPr>
          <p:cNvPr id="22533" name="Text Box 4"/>
          <p:cNvSpPr txBox="1">
            <a:spLocks noChangeArrowheads="1"/>
          </p:cNvSpPr>
          <p:nvPr/>
        </p:nvSpPr>
        <p:spPr bwMode="auto">
          <a:xfrm>
            <a:off x="6610350" y="4129088"/>
            <a:ext cx="2381250" cy="2576512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l" eaLnBrk="1" hangingPunct="1"/>
            <a:r>
              <a:rPr lang="en-US" sz="1800" b="1">
                <a:latin typeface="Courier New" panose="02070409020205090404" pitchFamily="49" charset="0"/>
                <a:cs typeface="Courier New" panose="02070409020205090404" pitchFamily="49" charset="0"/>
              </a:rPr>
              <a:t>main()</a:t>
            </a:r>
            <a:endParaRPr lang="en-US" sz="1800" b="1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>
                <a:latin typeface="Courier New" panose="02070409020205090404" pitchFamily="49" charset="0"/>
                <a:cs typeface="Courier New" panose="02070409020205090404" pitchFamily="49" charset="0"/>
              </a:rPr>
              <a:t>{</a:t>
            </a:r>
            <a:endParaRPr lang="en-US" sz="1800"/>
          </a:p>
          <a:p>
            <a:pPr algn="l" eaLnBrk="1" hangingPunct="1"/>
            <a:r>
              <a:rPr lang="en-US" sz="1800" b="1">
                <a:latin typeface="Courier New" panose="02070409020205090404" pitchFamily="49" charset="0"/>
                <a:cs typeface="Courier New" panose="02070409020205090404" pitchFamily="49" charset="0"/>
              </a:rPr>
              <a:t>  HashTable ht;</a:t>
            </a:r>
            <a:endParaRPr lang="en-US" sz="1800" b="1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endParaRPr lang="en-US" sz="1800" b="1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>
                <a:latin typeface="Courier New" panose="02070409020205090404" pitchFamily="49" charset="0"/>
                <a:cs typeface="Courier New" panose="02070409020205090404" pitchFamily="49" charset="0"/>
              </a:rPr>
              <a:t>  ht.insert(29);</a:t>
            </a:r>
            <a:endParaRPr lang="en-US" sz="1800" b="1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>
                <a:latin typeface="Courier New" panose="02070409020205090404" pitchFamily="49" charset="0"/>
                <a:cs typeface="Courier New" panose="02070409020205090404" pitchFamily="49" charset="0"/>
              </a:rPr>
              <a:t>  ht.insert(65);</a:t>
            </a:r>
            <a:endParaRPr lang="en-US" sz="1800" b="1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>
                <a:latin typeface="Courier New" panose="02070409020205090404" pitchFamily="49" charset="0"/>
                <a:cs typeface="Courier New" panose="02070409020205090404" pitchFamily="49" charset="0"/>
              </a:rPr>
              <a:t>  ht.insert(79);</a:t>
            </a:r>
            <a:endParaRPr lang="en-US" sz="1800" b="1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endParaRPr lang="en-US" sz="1800" b="1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>
                <a:latin typeface="Courier New" panose="02070409020205090404" pitchFamily="49" charset="0"/>
                <a:cs typeface="Courier New" panose="02070409020205090404" pitchFamily="49" charset="0"/>
              </a:rPr>
              <a:t>}</a:t>
            </a:r>
            <a:endParaRPr lang="en-US" sz="1800" b="1">
              <a:latin typeface="Courier New" panose="02070409020205090404" pitchFamily="49" charset="0"/>
              <a:cs typeface="Courier New" panose="02070409020205090404" pitchFamily="49" charset="0"/>
            </a:endParaRPr>
          </a:p>
        </p:txBody>
      </p:sp>
      <p:grpSp>
        <p:nvGrpSpPr>
          <p:cNvPr id="120838" name="Group 6"/>
          <p:cNvGrpSpPr/>
          <p:nvPr/>
        </p:nvGrpSpPr>
        <p:grpSpPr bwMode="auto">
          <a:xfrm>
            <a:off x="6537325" y="1271588"/>
            <a:ext cx="2725738" cy="2574925"/>
            <a:chOff x="4118" y="801"/>
            <a:chExt cx="1717" cy="1622"/>
          </a:xfrm>
        </p:grpSpPr>
        <p:grpSp>
          <p:nvGrpSpPr>
            <p:cNvPr id="120839" name="Group 7"/>
            <p:cNvGrpSpPr/>
            <p:nvPr/>
          </p:nvGrpSpPr>
          <p:grpSpPr bwMode="auto">
            <a:xfrm>
              <a:off x="4245" y="801"/>
              <a:ext cx="1590" cy="1622"/>
              <a:chOff x="4218" y="801"/>
              <a:chExt cx="1590" cy="1622"/>
            </a:xfrm>
          </p:grpSpPr>
          <p:grpSp>
            <p:nvGrpSpPr>
              <p:cNvPr id="120840" name="Group 8"/>
              <p:cNvGrpSpPr/>
              <p:nvPr/>
            </p:nvGrpSpPr>
            <p:grpSpPr bwMode="auto">
              <a:xfrm>
                <a:off x="4221" y="801"/>
                <a:ext cx="1584" cy="212"/>
                <a:chOff x="2700" y="4428"/>
                <a:chExt cx="1584" cy="212"/>
              </a:xfrm>
            </p:grpSpPr>
            <p:sp>
              <p:nvSpPr>
                <p:cNvPr id="120841" name="Rectangle 152"/>
                <p:cNvSpPr>
                  <a:spLocks noChangeArrowheads="1"/>
                </p:cNvSpPr>
                <p:nvPr/>
              </p:nvSpPr>
              <p:spPr bwMode="auto">
                <a:xfrm>
                  <a:off x="2738" y="4455"/>
                  <a:ext cx="1438" cy="153"/>
                </a:xfrm>
                <a:prstGeom prst="rect">
                  <a:avLst/>
                </a:prstGeom>
                <a:solidFill>
                  <a:srgbClr val="E7F9BF"/>
                </a:solidFill>
                <a:ln w="9525" algn="ctr">
                  <a:solidFill>
                    <a:schemeClr val="tx1"/>
                  </a:solidFill>
                  <a:round/>
                </a:ln>
              </p:spPr>
              <p:txBody>
                <a:bodyPr anchor="ctr"/>
                <a:lstStyle/>
                <a:p>
                  <a:endParaRPr lang="en-US" sz="1600"/>
                </a:p>
              </p:txBody>
            </p:sp>
            <p:sp>
              <p:nvSpPr>
                <p:cNvPr id="120842" name="TextBox 153"/>
                <p:cNvSpPr txBox="1">
                  <a:spLocks noChangeArrowheads="1"/>
                </p:cNvSpPr>
                <p:nvPr/>
              </p:nvSpPr>
              <p:spPr bwMode="auto">
                <a:xfrm>
                  <a:off x="2700" y="4428"/>
                  <a:ext cx="1584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9pPr>
                </a:lstStyle>
                <a:p>
                  <a:pPr algn="l" eaLnBrk="1" hangingPunct="1"/>
                  <a:r>
                    <a:rPr lang="en-US" sz="1600"/>
                    <a:t>idNum:           used: </a:t>
                  </a:r>
                  <a:endParaRPr lang="en-US" sz="1600"/>
                </a:p>
              </p:txBody>
            </p:sp>
            <p:sp>
              <p:nvSpPr>
                <p:cNvPr id="120843" name="Rectangle 11"/>
                <p:cNvSpPr>
                  <a:spLocks noChangeArrowheads="1"/>
                </p:cNvSpPr>
                <p:nvPr/>
              </p:nvSpPr>
              <p:spPr bwMode="auto">
                <a:xfrm>
                  <a:off x="3936" y="4473"/>
                  <a:ext cx="192" cy="126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0844" name="Rectangle 12"/>
                <p:cNvSpPr>
                  <a:spLocks noChangeArrowheads="1"/>
                </p:cNvSpPr>
                <p:nvPr/>
              </p:nvSpPr>
              <p:spPr bwMode="auto">
                <a:xfrm>
                  <a:off x="3216" y="4479"/>
                  <a:ext cx="336" cy="113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20845" name="Group 13"/>
              <p:cNvGrpSpPr/>
              <p:nvPr/>
            </p:nvGrpSpPr>
            <p:grpSpPr bwMode="auto">
              <a:xfrm>
                <a:off x="4218" y="960"/>
                <a:ext cx="1584" cy="212"/>
                <a:chOff x="2700" y="4428"/>
                <a:chExt cx="1584" cy="212"/>
              </a:xfrm>
            </p:grpSpPr>
            <p:sp>
              <p:nvSpPr>
                <p:cNvPr id="120846" name="Rectangle 152"/>
                <p:cNvSpPr>
                  <a:spLocks noChangeArrowheads="1"/>
                </p:cNvSpPr>
                <p:nvPr/>
              </p:nvSpPr>
              <p:spPr bwMode="auto">
                <a:xfrm>
                  <a:off x="2738" y="4455"/>
                  <a:ext cx="1438" cy="153"/>
                </a:xfrm>
                <a:prstGeom prst="rect">
                  <a:avLst/>
                </a:prstGeom>
                <a:solidFill>
                  <a:srgbClr val="E7F9BF"/>
                </a:solidFill>
                <a:ln w="9525" algn="ctr">
                  <a:solidFill>
                    <a:schemeClr val="tx1"/>
                  </a:solidFill>
                  <a:round/>
                </a:ln>
              </p:spPr>
              <p:txBody>
                <a:bodyPr anchor="ctr"/>
                <a:lstStyle/>
                <a:p>
                  <a:endParaRPr lang="en-US" sz="1600"/>
                </a:p>
              </p:txBody>
            </p:sp>
            <p:sp>
              <p:nvSpPr>
                <p:cNvPr id="120847" name="TextBox 153"/>
                <p:cNvSpPr txBox="1">
                  <a:spLocks noChangeArrowheads="1"/>
                </p:cNvSpPr>
                <p:nvPr/>
              </p:nvSpPr>
              <p:spPr bwMode="auto">
                <a:xfrm>
                  <a:off x="2700" y="4428"/>
                  <a:ext cx="1584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9pPr>
                </a:lstStyle>
                <a:p>
                  <a:pPr algn="l" eaLnBrk="1" hangingPunct="1"/>
                  <a:r>
                    <a:rPr lang="en-US" sz="1600"/>
                    <a:t>idNum:           used: </a:t>
                  </a:r>
                  <a:endParaRPr lang="en-US" sz="1600"/>
                </a:p>
              </p:txBody>
            </p:sp>
            <p:sp>
              <p:nvSpPr>
                <p:cNvPr id="120848" name="Rectangle 16"/>
                <p:cNvSpPr>
                  <a:spLocks noChangeArrowheads="1"/>
                </p:cNvSpPr>
                <p:nvPr/>
              </p:nvSpPr>
              <p:spPr bwMode="auto">
                <a:xfrm>
                  <a:off x="3936" y="4473"/>
                  <a:ext cx="192" cy="126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0849" name="Rectangle 17"/>
                <p:cNvSpPr>
                  <a:spLocks noChangeArrowheads="1"/>
                </p:cNvSpPr>
                <p:nvPr/>
              </p:nvSpPr>
              <p:spPr bwMode="auto">
                <a:xfrm>
                  <a:off x="3216" y="4479"/>
                  <a:ext cx="336" cy="113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20850" name="Group 18"/>
              <p:cNvGrpSpPr/>
              <p:nvPr/>
            </p:nvGrpSpPr>
            <p:grpSpPr bwMode="auto">
              <a:xfrm>
                <a:off x="4218" y="1113"/>
                <a:ext cx="1584" cy="212"/>
                <a:chOff x="2700" y="4428"/>
                <a:chExt cx="1584" cy="212"/>
              </a:xfrm>
            </p:grpSpPr>
            <p:sp>
              <p:nvSpPr>
                <p:cNvPr id="120851" name="Rectangle 152"/>
                <p:cNvSpPr>
                  <a:spLocks noChangeArrowheads="1"/>
                </p:cNvSpPr>
                <p:nvPr/>
              </p:nvSpPr>
              <p:spPr bwMode="auto">
                <a:xfrm>
                  <a:off x="2738" y="4455"/>
                  <a:ext cx="1438" cy="153"/>
                </a:xfrm>
                <a:prstGeom prst="rect">
                  <a:avLst/>
                </a:prstGeom>
                <a:solidFill>
                  <a:srgbClr val="E7F9BF"/>
                </a:solidFill>
                <a:ln w="9525" algn="ctr">
                  <a:solidFill>
                    <a:schemeClr val="tx1"/>
                  </a:solidFill>
                  <a:round/>
                </a:ln>
              </p:spPr>
              <p:txBody>
                <a:bodyPr anchor="ctr"/>
                <a:lstStyle/>
                <a:p>
                  <a:endParaRPr lang="en-US" sz="1600"/>
                </a:p>
              </p:txBody>
            </p:sp>
            <p:sp>
              <p:nvSpPr>
                <p:cNvPr id="120852" name="TextBox 153"/>
                <p:cNvSpPr txBox="1">
                  <a:spLocks noChangeArrowheads="1"/>
                </p:cNvSpPr>
                <p:nvPr/>
              </p:nvSpPr>
              <p:spPr bwMode="auto">
                <a:xfrm>
                  <a:off x="2700" y="4428"/>
                  <a:ext cx="1584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9pPr>
                </a:lstStyle>
                <a:p>
                  <a:pPr algn="l" eaLnBrk="1" hangingPunct="1"/>
                  <a:r>
                    <a:rPr lang="en-US" sz="1600"/>
                    <a:t>idNum:           used: </a:t>
                  </a:r>
                  <a:endParaRPr lang="en-US" sz="1600"/>
                </a:p>
              </p:txBody>
            </p:sp>
            <p:sp>
              <p:nvSpPr>
                <p:cNvPr id="120853" name="Rectangle 21"/>
                <p:cNvSpPr>
                  <a:spLocks noChangeArrowheads="1"/>
                </p:cNvSpPr>
                <p:nvPr/>
              </p:nvSpPr>
              <p:spPr bwMode="auto">
                <a:xfrm>
                  <a:off x="3936" y="4473"/>
                  <a:ext cx="192" cy="126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0854" name="Rectangle 22"/>
                <p:cNvSpPr>
                  <a:spLocks noChangeArrowheads="1"/>
                </p:cNvSpPr>
                <p:nvPr/>
              </p:nvSpPr>
              <p:spPr bwMode="auto">
                <a:xfrm>
                  <a:off x="3216" y="4479"/>
                  <a:ext cx="336" cy="113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20855" name="Group 23"/>
              <p:cNvGrpSpPr/>
              <p:nvPr/>
            </p:nvGrpSpPr>
            <p:grpSpPr bwMode="auto">
              <a:xfrm>
                <a:off x="4224" y="1272"/>
                <a:ext cx="1584" cy="212"/>
                <a:chOff x="2700" y="4428"/>
                <a:chExt cx="1584" cy="212"/>
              </a:xfrm>
            </p:grpSpPr>
            <p:sp>
              <p:nvSpPr>
                <p:cNvPr id="120856" name="Rectangle 152"/>
                <p:cNvSpPr>
                  <a:spLocks noChangeArrowheads="1"/>
                </p:cNvSpPr>
                <p:nvPr/>
              </p:nvSpPr>
              <p:spPr bwMode="auto">
                <a:xfrm>
                  <a:off x="2738" y="4455"/>
                  <a:ext cx="1438" cy="153"/>
                </a:xfrm>
                <a:prstGeom prst="rect">
                  <a:avLst/>
                </a:prstGeom>
                <a:solidFill>
                  <a:srgbClr val="E7F9BF"/>
                </a:solidFill>
                <a:ln w="9525" algn="ctr">
                  <a:solidFill>
                    <a:schemeClr val="tx1"/>
                  </a:solidFill>
                  <a:round/>
                </a:ln>
              </p:spPr>
              <p:txBody>
                <a:bodyPr anchor="ctr"/>
                <a:lstStyle/>
                <a:p>
                  <a:endParaRPr lang="en-US" sz="1600"/>
                </a:p>
              </p:txBody>
            </p:sp>
            <p:sp>
              <p:nvSpPr>
                <p:cNvPr id="120857" name="TextBox 153"/>
                <p:cNvSpPr txBox="1">
                  <a:spLocks noChangeArrowheads="1"/>
                </p:cNvSpPr>
                <p:nvPr/>
              </p:nvSpPr>
              <p:spPr bwMode="auto">
                <a:xfrm>
                  <a:off x="2700" y="4428"/>
                  <a:ext cx="1584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9pPr>
                </a:lstStyle>
                <a:p>
                  <a:pPr algn="l" eaLnBrk="1" hangingPunct="1"/>
                  <a:r>
                    <a:rPr lang="en-US" sz="1600"/>
                    <a:t>idNum:           used: </a:t>
                  </a:r>
                  <a:endParaRPr lang="en-US" sz="1600"/>
                </a:p>
              </p:txBody>
            </p:sp>
            <p:sp>
              <p:nvSpPr>
                <p:cNvPr id="120858" name="Rectangle 26"/>
                <p:cNvSpPr>
                  <a:spLocks noChangeArrowheads="1"/>
                </p:cNvSpPr>
                <p:nvPr/>
              </p:nvSpPr>
              <p:spPr bwMode="auto">
                <a:xfrm>
                  <a:off x="3936" y="4473"/>
                  <a:ext cx="192" cy="126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0859" name="Rectangle 27"/>
                <p:cNvSpPr>
                  <a:spLocks noChangeArrowheads="1"/>
                </p:cNvSpPr>
                <p:nvPr/>
              </p:nvSpPr>
              <p:spPr bwMode="auto">
                <a:xfrm>
                  <a:off x="3216" y="4479"/>
                  <a:ext cx="336" cy="113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20860" name="Group 28"/>
              <p:cNvGrpSpPr/>
              <p:nvPr/>
            </p:nvGrpSpPr>
            <p:grpSpPr bwMode="auto">
              <a:xfrm>
                <a:off x="4218" y="1428"/>
                <a:ext cx="1584" cy="212"/>
                <a:chOff x="2700" y="4428"/>
                <a:chExt cx="1584" cy="212"/>
              </a:xfrm>
            </p:grpSpPr>
            <p:sp>
              <p:nvSpPr>
                <p:cNvPr id="120861" name="Rectangle 152"/>
                <p:cNvSpPr>
                  <a:spLocks noChangeArrowheads="1"/>
                </p:cNvSpPr>
                <p:nvPr/>
              </p:nvSpPr>
              <p:spPr bwMode="auto">
                <a:xfrm>
                  <a:off x="2738" y="4455"/>
                  <a:ext cx="1438" cy="153"/>
                </a:xfrm>
                <a:prstGeom prst="rect">
                  <a:avLst/>
                </a:prstGeom>
                <a:solidFill>
                  <a:srgbClr val="E7F9BF"/>
                </a:solidFill>
                <a:ln w="9525" algn="ctr">
                  <a:solidFill>
                    <a:schemeClr val="tx1"/>
                  </a:solidFill>
                  <a:round/>
                </a:ln>
              </p:spPr>
              <p:txBody>
                <a:bodyPr anchor="ctr"/>
                <a:lstStyle/>
                <a:p>
                  <a:endParaRPr lang="en-US" sz="1600"/>
                </a:p>
              </p:txBody>
            </p:sp>
            <p:sp>
              <p:nvSpPr>
                <p:cNvPr id="120862" name="TextBox 153"/>
                <p:cNvSpPr txBox="1">
                  <a:spLocks noChangeArrowheads="1"/>
                </p:cNvSpPr>
                <p:nvPr/>
              </p:nvSpPr>
              <p:spPr bwMode="auto">
                <a:xfrm>
                  <a:off x="2700" y="4428"/>
                  <a:ext cx="1584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9pPr>
                </a:lstStyle>
                <a:p>
                  <a:pPr algn="l" eaLnBrk="1" hangingPunct="1"/>
                  <a:r>
                    <a:rPr lang="en-US" sz="1600"/>
                    <a:t>idNum:           used: </a:t>
                  </a:r>
                  <a:endParaRPr lang="en-US" sz="1600"/>
                </a:p>
              </p:txBody>
            </p:sp>
            <p:sp>
              <p:nvSpPr>
                <p:cNvPr id="120863" name="Rectangle 31"/>
                <p:cNvSpPr>
                  <a:spLocks noChangeArrowheads="1"/>
                </p:cNvSpPr>
                <p:nvPr/>
              </p:nvSpPr>
              <p:spPr bwMode="auto">
                <a:xfrm>
                  <a:off x="3936" y="4473"/>
                  <a:ext cx="192" cy="126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0864" name="Rectangle 32"/>
                <p:cNvSpPr>
                  <a:spLocks noChangeArrowheads="1"/>
                </p:cNvSpPr>
                <p:nvPr/>
              </p:nvSpPr>
              <p:spPr bwMode="auto">
                <a:xfrm>
                  <a:off x="3216" y="4479"/>
                  <a:ext cx="336" cy="113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20865" name="Group 33"/>
              <p:cNvGrpSpPr/>
              <p:nvPr/>
            </p:nvGrpSpPr>
            <p:grpSpPr bwMode="auto">
              <a:xfrm>
                <a:off x="4224" y="1587"/>
                <a:ext cx="1584" cy="212"/>
                <a:chOff x="2700" y="4428"/>
                <a:chExt cx="1584" cy="212"/>
              </a:xfrm>
            </p:grpSpPr>
            <p:sp>
              <p:nvSpPr>
                <p:cNvPr id="120866" name="Rectangle 152"/>
                <p:cNvSpPr>
                  <a:spLocks noChangeArrowheads="1"/>
                </p:cNvSpPr>
                <p:nvPr/>
              </p:nvSpPr>
              <p:spPr bwMode="auto">
                <a:xfrm>
                  <a:off x="2738" y="4455"/>
                  <a:ext cx="1438" cy="153"/>
                </a:xfrm>
                <a:prstGeom prst="rect">
                  <a:avLst/>
                </a:prstGeom>
                <a:solidFill>
                  <a:srgbClr val="E7F9BF"/>
                </a:solidFill>
                <a:ln w="9525" algn="ctr">
                  <a:solidFill>
                    <a:schemeClr val="tx1"/>
                  </a:solidFill>
                  <a:round/>
                </a:ln>
              </p:spPr>
              <p:txBody>
                <a:bodyPr anchor="ctr"/>
                <a:lstStyle/>
                <a:p>
                  <a:endParaRPr lang="en-US" sz="1600"/>
                </a:p>
              </p:txBody>
            </p:sp>
            <p:sp>
              <p:nvSpPr>
                <p:cNvPr id="120867" name="TextBox 153"/>
                <p:cNvSpPr txBox="1">
                  <a:spLocks noChangeArrowheads="1"/>
                </p:cNvSpPr>
                <p:nvPr/>
              </p:nvSpPr>
              <p:spPr bwMode="auto">
                <a:xfrm>
                  <a:off x="2700" y="4428"/>
                  <a:ext cx="1584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9pPr>
                </a:lstStyle>
                <a:p>
                  <a:pPr algn="l" eaLnBrk="1" hangingPunct="1"/>
                  <a:r>
                    <a:rPr lang="en-US" sz="1600"/>
                    <a:t>idNum:           used: </a:t>
                  </a:r>
                  <a:endParaRPr lang="en-US" sz="1600"/>
                </a:p>
              </p:txBody>
            </p:sp>
            <p:sp>
              <p:nvSpPr>
                <p:cNvPr id="120868" name="Rectangle 36"/>
                <p:cNvSpPr>
                  <a:spLocks noChangeArrowheads="1"/>
                </p:cNvSpPr>
                <p:nvPr/>
              </p:nvSpPr>
              <p:spPr bwMode="auto">
                <a:xfrm>
                  <a:off x="3936" y="4473"/>
                  <a:ext cx="192" cy="126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0869" name="Rectangle 37"/>
                <p:cNvSpPr>
                  <a:spLocks noChangeArrowheads="1"/>
                </p:cNvSpPr>
                <p:nvPr/>
              </p:nvSpPr>
              <p:spPr bwMode="auto">
                <a:xfrm>
                  <a:off x="3216" y="4479"/>
                  <a:ext cx="336" cy="113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20870" name="Group 38"/>
              <p:cNvGrpSpPr/>
              <p:nvPr/>
            </p:nvGrpSpPr>
            <p:grpSpPr bwMode="auto">
              <a:xfrm>
                <a:off x="4224" y="1740"/>
                <a:ext cx="1584" cy="212"/>
                <a:chOff x="2700" y="4428"/>
                <a:chExt cx="1584" cy="212"/>
              </a:xfrm>
            </p:grpSpPr>
            <p:sp>
              <p:nvSpPr>
                <p:cNvPr id="120871" name="Rectangle 152"/>
                <p:cNvSpPr>
                  <a:spLocks noChangeArrowheads="1"/>
                </p:cNvSpPr>
                <p:nvPr/>
              </p:nvSpPr>
              <p:spPr bwMode="auto">
                <a:xfrm>
                  <a:off x="2738" y="4455"/>
                  <a:ext cx="1438" cy="153"/>
                </a:xfrm>
                <a:prstGeom prst="rect">
                  <a:avLst/>
                </a:prstGeom>
                <a:solidFill>
                  <a:srgbClr val="E7F9BF"/>
                </a:solidFill>
                <a:ln w="9525" algn="ctr">
                  <a:solidFill>
                    <a:schemeClr val="tx1"/>
                  </a:solidFill>
                  <a:round/>
                </a:ln>
              </p:spPr>
              <p:txBody>
                <a:bodyPr anchor="ctr"/>
                <a:lstStyle/>
                <a:p>
                  <a:endParaRPr lang="en-US" sz="1600"/>
                </a:p>
              </p:txBody>
            </p:sp>
            <p:sp>
              <p:nvSpPr>
                <p:cNvPr id="120872" name="TextBox 153"/>
                <p:cNvSpPr txBox="1">
                  <a:spLocks noChangeArrowheads="1"/>
                </p:cNvSpPr>
                <p:nvPr/>
              </p:nvSpPr>
              <p:spPr bwMode="auto">
                <a:xfrm>
                  <a:off x="2700" y="4428"/>
                  <a:ext cx="1584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9pPr>
                </a:lstStyle>
                <a:p>
                  <a:pPr algn="l" eaLnBrk="1" hangingPunct="1"/>
                  <a:r>
                    <a:rPr lang="en-US" sz="1600"/>
                    <a:t>idNum:           used: </a:t>
                  </a:r>
                  <a:endParaRPr lang="en-US" sz="1600"/>
                </a:p>
              </p:txBody>
            </p:sp>
            <p:sp>
              <p:nvSpPr>
                <p:cNvPr id="120873" name="Rectangle 41"/>
                <p:cNvSpPr>
                  <a:spLocks noChangeArrowheads="1"/>
                </p:cNvSpPr>
                <p:nvPr/>
              </p:nvSpPr>
              <p:spPr bwMode="auto">
                <a:xfrm>
                  <a:off x="3936" y="4473"/>
                  <a:ext cx="192" cy="126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0874" name="Rectangle 42"/>
                <p:cNvSpPr>
                  <a:spLocks noChangeArrowheads="1"/>
                </p:cNvSpPr>
                <p:nvPr/>
              </p:nvSpPr>
              <p:spPr bwMode="auto">
                <a:xfrm>
                  <a:off x="3216" y="4479"/>
                  <a:ext cx="336" cy="113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20875" name="Group 43"/>
              <p:cNvGrpSpPr/>
              <p:nvPr/>
            </p:nvGrpSpPr>
            <p:grpSpPr bwMode="auto">
              <a:xfrm>
                <a:off x="4221" y="1899"/>
                <a:ext cx="1584" cy="212"/>
                <a:chOff x="2700" y="4428"/>
                <a:chExt cx="1584" cy="212"/>
              </a:xfrm>
            </p:grpSpPr>
            <p:sp>
              <p:nvSpPr>
                <p:cNvPr id="120876" name="Rectangle 152"/>
                <p:cNvSpPr>
                  <a:spLocks noChangeArrowheads="1"/>
                </p:cNvSpPr>
                <p:nvPr/>
              </p:nvSpPr>
              <p:spPr bwMode="auto">
                <a:xfrm>
                  <a:off x="2738" y="4455"/>
                  <a:ext cx="1438" cy="153"/>
                </a:xfrm>
                <a:prstGeom prst="rect">
                  <a:avLst/>
                </a:prstGeom>
                <a:solidFill>
                  <a:srgbClr val="E7F9BF"/>
                </a:solidFill>
                <a:ln w="9525" algn="ctr">
                  <a:solidFill>
                    <a:schemeClr val="tx1"/>
                  </a:solidFill>
                  <a:round/>
                </a:ln>
              </p:spPr>
              <p:txBody>
                <a:bodyPr anchor="ctr"/>
                <a:lstStyle/>
                <a:p>
                  <a:endParaRPr lang="en-US" sz="1600"/>
                </a:p>
              </p:txBody>
            </p:sp>
            <p:sp>
              <p:nvSpPr>
                <p:cNvPr id="120877" name="TextBox 153"/>
                <p:cNvSpPr txBox="1">
                  <a:spLocks noChangeArrowheads="1"/>
                </p:cNvSpPr>
                <p:nvPr/>
              </p:nvSpPr>
              <p:spPr bwMode="auto">
                <a:xfrm>
                  <a:off x="2700" y="4428"/>
                  <a:ext cx="1584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9pPr>
                </a:lstStyle>
                <a:p>
                  <a:pPr algn="l" eaLnBrk="1" hangingPunct="1"/>
                  <a:r>
                    <a:rPr lang="en-US" sz="1600"/>
                    <a:t>idNum:           used: </a:t>
                  </a:r>
                  <a:endParaRPr lang="en-US" sz="1600"/>
                </a:p>
              </p:txBody>
            </p:sp>
            <p:sp>
              <p:nvSpPr>
                <p:cNvPr id="120878" name="Rectangle 46"/>
                <p:cNvSpPr>
                  <a:spLocks noChangeArrowheads="1"/>
                </p:cNvSpPr>
                <p:nvPr/>
              </p:nvSpPr>
              <p:spPr bwMode="auto">
                <a:xfrm>
                  <a:off x="3936" y="4473"/>
                  <a:ext cx="192" cy="126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0879" name="Rectangle 47"/>
                <p:cNvSpPr>
                  <a:spLocks noChangeArrowheads="1"/>
                </p:cNvSpPr>
                <p:nvPr/>
              </p:nvSpPr>
              <p:spPr bwMode="auto">
                <a:xfrm>
                  <a:off x="3216" y="4479"/>
                  <a:ext cx="336" cy="113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20880" name="Group 48"/>
              <p:cNvGrpSpPr/>
              <p:nvPr/>
            </p:nvGrpSpPr>
            <p:grpSpPr bwMode="auto">
              <a:xfrm>
                <a:off x="4221" y="2052"/>
                <a:ext cx="1584" cy="212"/>
                <a:chOff x="2700" y="4428"/>
                <a:chExt cx="1584" cy="212"/>
              </a:xfrm>
            </p:grpSpPr>
            <p:sp>
              <p:nvSpPr>
                <p:cNvPr id="120881" name="Rectangle 152"/>
                <p:cNvSpPr>
                  <a:spLocks noChangeArrowheads="1"/>
                </p:cNvSpPr>
                <p:nvPr/>
              </p:nvSpPr>
              <p:spPr bwMode="auto">
                <a:xfrm>
                  <a:off x="2738" y="4455"/>
                  <a:ext cx="1438" cy="153"/>
                </a:xfrm>
                <a:prstGeom prst="rect">
                  <a:avLst/>
                </a:prstGeom>
                <a:solidFill>
                  <a:srgbClr val="E7F9BF"/>
                </a:solidFill>
                <a:ln w="9525" algn="ctr">
                  <a:solidFill>
                    <a:schemeClr val="tx1"/>
                  </a:solidFill>
                  <a:round/>
                </a:ln>
              </p:spPr>
              <p:txBody>
                <a:bodyPr anchor="ctr"/>
                <a:lstStyle/>
                <a:p>
                  <a:endParaRPr lang="en-US" sz="1600"/>
                </a:p>
              </p:txBody>
            </p:sp>
            <p:sp>
              <p:nvSpPr>
                <p:cNvPr id="120882" name="TextBox 153"/>
                <p:cNvSpPr txBox="1">
                  <a:spLocks noChangeArrowheads="1"/>
                </p:cNvSpPr>
                <p:nvPr/>
              </p:nvSpPr>
              <p:spPr bwMode="auto">
                <a:xfrm>
                  <a:off x="2700" y="4428"/>
                  <a:ext cx="1584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9pPr>
                </a:lstStyle>
                <a:p>
                  <a:pPr algn="l" eaLnBrk="1" hangingPunct="1"/>
                  <a:r>
                    <a:rPr lang="en-US" sz="1600"/>
                    <a:t>idNum:           used: </a:t>
                  </a:r>
                  <a:endParaRPr lang="en-US" sz="1600"/>
                </a:p>
              </p:txBody>
            </p:sp>
            <p:sp>
              <p:nvSpPr>
                <p:cNvPr id="120883" name="Rectangle 51"/>
                <p:cNvSpPr>
                  <a:spLocks noChangeArrowheads="1"/>
                </p:cNvSpPr>
                <p:nvPr/>
              </p:nvSpPr>
              <p:spPr bwMode="auto">
                <a:xfrm>
                  <a:off x="3936" y="4473"/>
                  <a:ext cx="192" cy="126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0884" name="Rectangle 52"/>
                <p:cNvSpPr>
                  <a:spLocks noChangeArrowheads="1"/>
                </p:cNvSpPr>
                <p:nvPr/>
              </p:nvSpPr>
              <p:spPr bwMode="auto">
                <a:xfrm>
                  <a:off x="3216" y="4479"/>
                  <a:ext cx="336" cy="113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20885" name="Group 53"/>
              <p:cNvGrpSpPr/>
              <p:nvPr/>
            </p:nvGrpSpPr>
            <p:grpSpPr bwMode="auto">
              <a:xfrm>
                <a:off x="4218" y="2211"/>
                <a:ext cx="1584" cy="212"/>
                <a:chOff x="2700" y="4428"/>
                <a:chExt cx="1584" cy="212"/>
              </a:xfrm>
            </p:grpSpPr>
            <p:sp>
              <p:nvSpPr>
                <p:cNvPr id="120886" name="Rectangle 152"/>
                <p:cNvSpPr>
                  <a:spLocks noChangeArrowheads="1"/>
                </p:cNvSpPr>
                <p:nvPr/>
              </p:nvSpPr>
              <p:spPr bwMode="auto">
                <a:xfrm>
                  <a:off x="2738" y="4455"/>
                  <a:ext cx="1438" cy="153"/>
                </a:xfrm>
                <a:prstGeom prst="rect">
                  <a:avLst/>
                </a:prstGeom>
                <a:solidFill>
                  <a:srgbClr val="E7F9BF"/>
                </a:solidFill>
                <a:ln w="9525" algn="ctr">
                  <a:solidFill>
                    <a:schemeClr val="tx1"/>
                  </a:solidFill>
                  <a:round/>
                </a:ln>
              </p:spPr>
              <p:txBody>
                <a:bodyPr anchor="ctr"/>
                <a:lstStyle/>
                <a:p>
                  <a:endParaRPr lang="en-US" sz="1600"/>
                </a:p>
              </p:txBody>
            </p:sp>
            <p:sp>
              <p:nvSpPr>
                <p:cNvPr id="120887" name="TextBox 153"/>
                <p:cNvSpPr txBox="1">
                  <a:spLocks noChangeArrowheads="1"/>
                </p:cNvSpPr>
                <p:nvPr/>
              </p:nvSpPr>
              <p:spPr bwMode="auto">
                <a:xfrm>
                  <a:off x="2700" y="4428"/>
                  <a:ext cx="1584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9pPr>
                </a:lstStyle>
                <a:p>
                  <a:pPr algn="l" eaLnBrk="1" hangingPunct="1"/>
                  <a:r>
                    <a:rPr lang="en-US" sz="1600"/>
                    <a:t>idNum:           used: </a:t>
                  </a:r>
                  <a:endParaRPr lang="en-US" sz="1600"/>
                </a:p>
              </p:txBody>
            </p:sp>
            <p:sp>
              <p:nvSpPr>
                <p:cNvPr id="120888" name="Rectangle 56"/>
                <p:cNvSpPr>
                  <a:spLocks noChangeArrowheads="1"/>
                </p:cNvSpPr>
                <p:nvPr/>
              </p:nvSpPr>
              <p:spPr bwMode="auto">
                <a:xfrm>
                  <a:off x="3936" y="4473"/>
                  <a:ext cx="192" cy="126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0889" name="Rectangle 57"/>
                <p:cNvSpPr>
                  <a:spLocks noChangeArrowheads="1"/>
                </p:cNvSpPr>
                <p:nvPr/>
              </p:nvSpPr>
              <p:spPr bwMode="auto">
                <a:xfrm>
                  <a:off x="3216" y="4479"/>
                  <a:ext cx="336" cy="113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120890" name="Text Box 58"/>
            <p:cNvSpPr txBox="1">
              <a:spLocks noChangeArrowheads="1"/>
            </p:cNvSpPr>
            <p:nvPr/>
          </p:nvSpPr>
          <p:spPr bwMode="auto">
            <a:xfrm>
              <a:off x="4118" y="821"/>
              <a:ext cx="194" cy="15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/>
                <a:t>0</a:t>
              </a:r>
              <a:endParaRPr lang="en-US" sz="1600" b="1"/>
            </a:p>
            <a:p>
              <a:r>
                <a:rPr lang="en-US" sz="1600" b="1"/>
                <a:t>1</a:t>
              </a:r>
              <a:endParaRPr lang="en-US" sz="1600" b="1"/>
            </a:p>
            <a:p>
              <a:r>
                <a:rPr lang="en-US" sz="1600" b="1"/>
                <a:t>2</a:t>
              </a:r>
              <a:endParaRPr lang="en-US" sz="1600" b="1"/>
            </a:p>
            <a:p>
              <a:r>
                <a:rPr lang="en-US" sz="1600" b="1"/>
                <a:t>3</a:t>
              </a:r>
              <a:endParaRPr lang="en-US" sz="1600" b="1"/>
            </a:p>
            <a:p>
              <a:r>
                <a:rPr lang="en-US" sz="1600" b="1"/>
                <a:t>4</a:t>
              </a:r>
              <a:endParaRPr lang="en-US" sz="1600" b="1"/>
            </a:p>
            <a:p>
              <a:r>
                <a:rPr lang="en-US" sz="1600" b="1"/>
                <a:t>5</a:t>
              </a:r>
              <a:endParaRPr lang="en-US" sz="1600" b="1"/>
            </a:p>
            <a:p>
              <a:r>
                <a:rPr lang="en-US" sz="1600" b="1"/>
                <a:t>6</a:t>
              </a:r>
              <a:endParaRPr lang="en-US" sz="1600" b="1"/>
            </a:p>
            <a:p>
              <a:r>
                <a:rPr lang="en-US" sz="1600" b="1"/>
                <a:t>7</a:t>
              </a:r>
              <a:endParaRPr lang="en-US" sz="1600" b="1"/>
            </a:p>
            <a:p>
              <a:r>
                <a:rPr lang="en-US" sz="1600" b="1"/>
                <a:t>8</a:t>
              </a:r>
              <a:endParaRPr lang="en-US" sz="1600" b="1"/>
            </a:p>
            <a:p>
              <a:r>
                <a:rPr lang="en-US" sz="1600" b="1"/>
                <a:t>9</a:t>
              </a:r>
              <a:endParaRPr lang="en-US" sz="1600" b="1"/>
            </a:p>
          </p:txBody>
        </p:sp>
      </p:grpSp>
      <p:sp>
        <p:nvSpPr>
          <p:cNvPr id="120892" name="Text Box 60"/>
          <p:cNvSpPr txBox="1">
            <a:spLocks noChangeArrowheads="1"/>
          </p:cNvSpPr>
          <p:nvPr/>
        </p:nvSpPr>
        <p:spPr bwMode="auto">
          <a:xfrm>
            <a:off x="8694738" y="1292225"/>
            <a:ext cx="2873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rgbClr val="6600FF"/>
                </a:solidFill>
              </a:rPr>
              <a:t>f</a:t>
            </a:r>
            <a:endParaRPr lang="en-US" sz="1600" b="1">
              <a:solidFill>
                <a:srgbClr val="6600FF"/>
              </a:solidFill>
            </a:endParaRPr>
          </a:p>
        </p:txBody>
      </p:sp>
      <p:sp>
        <p:nvSpPr>
          <p:cNvPr id="120893" name="Text Box 61"/>
          <p:cNvSpPr txBox="1">
            <a:spLocks noChangeArrowheads="1"/>
          </p:cNvSpPr>
          <p:nvPr/>
        </p:nvSpPr>
        <p:spPr bwMode="auto">
          <a:xfrm>
            <a:off x="8704263" y="1530350"/>
            <a:ext cx="2873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rgbClr val="6600FF"/>
                </a:solidFill>
              </a:rPr>
              <a:t>f</a:t>
            </a:r>
            <a:endParaRPr lang="en-US" sz="1600" b="1">
              <a:solidFill>
                <a:srgbClr val="6600FF"/>
              </a:solidFill>
            </a:endParaRPr>
          </a:p>
        </p:txBody>
      </p:sp>
      <p:sp>
        <p:nvSpPr>
          <p:cNvPr id="120894" name="Text Box 62"/>
          <p:cNvSpPr txBox="1">
            <a:spLocks noChangeArrowheads="1"/>
          </p:cNvSpPr>
          <p:nvPr/>
        </p:nvSpPr>
        <p:spPr bwMode="auto">
          <a:xfrm>
            <a:off x="8704263" y="1787525"/>
            <a:ext cx="2873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rgbClr val="6600FF"/>
                </a:solidFill>
              </a:rPr>
              <a:t>f</a:t>
            </a:r>
            <a:endParaRPr lang="en-US" sz="1600" b="1">
              <a:solidFill>
                <a:srgbClr val="6600FF"/>
              </a:solidFill>
            </a:endParaRPr>
          </a:p>
        </p:txBody>
      </p:sp>
      <p:sp>
        <p:nvSpPr>
          <p:cNvPr id="120895" name="Text Box 63"/>
          <p:cNvSpPr txBox="1">
            <a:spLocks noChangeArrowheads="1"/>
          </p:cNvSpPr>
          <p:nvPr/>
        </p:nvSpPr>
        <p:spPr bwMode="auto">
          <a:xfrm>
            <a:off x="8713788" y="2025650"/>
            <a:ext cx="2873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rgbClr val="6600FF"/>
                </a:solidFill>
              </a:rPr>
              <a:t>f</a:t>
            </a:r>
            <a:endParaRPr lang="en-US" sz="1600" b="1">
              <a:solidFill>
                <a:srgbClr val="6600FF"/>
              </a:solidFill>
            </a:endParaRPr>
          </a:p>
        </p:txBody>
      </p:sp>
      <p:sp>
        <p:nvSpPr>
          <p:cNvPr id="120896" name="Text Box 64"/>
          <p:cNvSpPr txBox="1">
            <a:spLocks noChangeArrowheads="1"/>
          </p:cNvSpPr>
          <p:nvPr/>
        </p:nvSpPr>
        <p:spPr bwMode="auto">
          <a:xfrm>
            <a:off x="8704263" y="2273300"/>
            <a:ext cx="2873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rgbClr val="6600FF"/>
                </a:solidFill>
              </a:rPr>
              <a:t>f</a:t>
            </a:r>
            <a:endParaRPr lang="en-US" sz="1600" b="1">
              <a:solidFill>
                <a:srgbClr val="6600FF"/>
              </a:solidFill>
            </a:endParaRPr>
          </a:p>
        </p:txBody>
      </p:sp>
      <p:sp>
        <p:nvSpPr>
          <p:cNvPr id="120897" name="Text Box 65"/>
          <p:cNvSpPr txBox="1">
            <a:spLocks noChangeArrowheads="1"/>
          </p:cNvSpPr>
          <p:nvPr/>
        </p:nvSpPr>
        <p:spPr bwMode="auto">
          <a:xfrm>
            <a:off x="8713788" y="2511425"/>
            <a:ext cx="2873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rgbClr val="6600FF"/>
                </a:solidFill>
              </a:rPr>
              <a:t>f</a:t>
            </a:r>
            <a:endParaRPr lang="en-US" sz="1600" b="1">
              <a:solidFill>
                <a:srgbClr val="6600FF"/>
              </a:solidFill>
            </a:endParaRPr>
          </a:p>
        </p:txBody>
      </p:sp>
      <p:sp>
        <p:nvSpPr>
          <p:cNvPr id="120898" name="Text Box 66"/>
          <p:cNvSpPr txBox="1">
            <a:spLocks noChangeArrowheads="1"/>
          </p:cNvSpPr>
          <p:nvPr/>
        </p:nvSpPr>
        <p:spPr bwMode="auto">
          <a:xfrm>
            <a:off x="8713788" y="2768600"/>
            <a:ext cx="2873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rgbClr val="6600FF"/>
                </a:solidFill>
              </a:rPr>
              <a:t>f</a:t>
            </a:r>
            <a:endParaRPr lang="en-US" sz="1600" b="1">
              <a:solidFill>
                <a:srgbClr val="6600FF"/>
              </a:solidFill>
            </a:endParaRPr>
          </a:p>
        </p:txBody>
      </p:sp>
      <p:sp>
        <p:nvSpPr>
          <p:cNvPr id="120899" name="Text Box 67"/>
          <p:cNvSpPr txBox="1">
            <a:spLocks noChangeArrowheads="1"/>
          </p:cNvSpPr>
          <p:nvPr/>
        </p:nvSpPr>
        <p:spPr bwMode="auto">
          <a:xfrm>
            <a:off x="8723313" y="3006725"/>
            <a:ext cx="2873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rgbClr val="6600FF"/>
                </a:solidFill>
              </a:rPr>
              <a:t>f</a:t>
            </a:r>
            <a:endParaRPr lang="en-US" sz="1600" b="1">
              <a:solidFill>
                <a:srgbClr val="6600FF"/>
              </a:solidFill>
            </a:endParaRPr>
          </a:p>
        </p:txBody>
      </p:sp>
      <p:sp>
        <p:nvSpPr>
          <p:cNvPr id="120900" name="Text Box 68"/>
          <p:cNvSpPr txBox="1">
            <a:spLocks noChangeArrowheads="1"/>
          </p:cNvSpPr>
          <p:nvPr/>
        </p:nvSpPr>
        <p:spPr bwMode="auto">
          <a:xfrm>
            <a:off x="8728075" y="3268663"/>
            <a:ext cx="2873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rgbClr val="6600FF"/>
                </a:solidFill>
              </a:rPr>
              <a:t>f</a:t>
            </a:r>
            <a:endParaRPr lang="en-US" sz="1600" b="1">
              <a:solidFill>
                <a:srgbClr val="6600FF"/>
              </a:solidFill>
            </a:endParaRPr>
          </a:p>
        </p:txBody>
      </p:sp>
      <p:grpSp>
        <p:nvGrpSpPr>
          <p:cNvPr id="120913" name="Group 81"/>
          <p:cNvGrpSpPr/>
          <p:nvPr/>
        </p:nvGrpSpPr>
        <p:grpSpPr bwMode="auto">
          <a:xfrm>
            <a:off x="4351338" y="1079500"/>
            <a:ext cx="1827212" cy="457200"/>
            <a:chOff x="-758" y="4939"/>
            <a:chExt cx="1151" cy="288"/>
          </a:xfrm>
        </p:grpSpPr>
        <p:sp>
          <p:nvSpPr>
            <p:cNvPr id="120914" name="Text Box 82"/>
            <p:cNvSpPr txBox="1">
              <a:spLocks noChangeArrowheads="1"/>
            </p:cNvSpPr>
            <p:nvPr/>
          </p:nvSpPr>
          <p:spPr bwMode="auto">
            <a:xfrm>
              <a:off x="-758" y="4939"/>
              <a:ext cx="7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6600FF"/>
                  </a:solidFill>
                </a:rPr>
                <a:t>bucket</a:t>
              </a:r>
              <a:endParaRPr lang="en-US">
                <a:solidFill>
                  <a:srgbClr val="6600FF"/>
                </a:solidFill>
              </a:endParaRPr>
            </a:p>
          </p:txBody>
        </p:sp>
        <p:sp>
          <p:nvSpPr>
            <p:cNvPr id="120915" name="Rectangle 83"/>
            <p:cNvSpPr>
              <a:spLocks noChangeArrowheads="1"/>
            </p:cNvSpPr>
            <p:nvPr/>
          </p:nvSpPr>
          <p:spPr bwMode="auto">
            <a:xfrm>
              <a:off x="-45" y="4960"/>
              <a:ext cx="438" cy="24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20922" name="Rectangle 90"/>
          <p:cNvSpPr>
            <a:spLocks noChangeArrowheads="1"/>
          </p:cNvSpPr>
          <p:nvPr/>
        </p:nvSpPr>
        <p:spPr bwMode="auto">
          <a:xfrm>
            <a:off x="7631113" y="3514725"/>
            <a:ext cx="431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rgbClr val="FF0000"/>
                </a:solidFill>
              </a:rPr>
              <a:t>29</a:t>
            </a:r>
            <a:endParaRPr lang="en-US" sz="1600" b="1">
              <a:solidFill>
                <a:srgbClr val="FF0000"/>
              </a:solidFill>
            </a:endParaRPr>
          </a:p>
        </p:txBody>
      </p:sp>
      <p:sp>
        <p:nvSpPr>
          <p:cNvPr id="120924" name="Text Box 92"/>
          <p:cNvSpPr txBox="1">
            <a:spLocks noChangeArrowheads="1"/>
          </p:cNvSpPr>
          <p:nvPr/>
        </p:nvSpPr>
        <p:spPr bwMode="auto">
          <a:xfrm>
            <a:off x="8709025" y="3535363"/>
            <a:ext cx="3254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rgbClr val="FF0000"/>
                </a:solidFill>
              </a:rPr>
              <a:t>T</a:t>
            </a:r>
            <a:endParaRPr lang="en-US" sz="1600" b="1">
              <a:solidFill>
                <a:srgbClr val="FF0000"/>
              </a:solidFill>
            </a:endParaRPr>
          </a:p>
        </p:txBody>
      </p:sp>
      <p:sp>
        <p:nvSpPr>
          <p:cNvPr id="120927" name="Rectangle 95"/>
          <p:cNvSpPr>
            <a:spLocks noChangeArrowheads="1"/>
          </p:cNvSpPr>
          <p:nvPr/>
        </p:nvSpPr>
        <p:spPr bwMode="auto">
          <a:xfrm>
            <a:off x="381000" y="61913"/>
            <a:ext cx="6019800" cy="6605587"/>
          </a:xfrm>
          <a:prstGeom prst="rect">
            <a:avLst/>
          </a:prstGeom>
          <a:solidFill>
            <a:srgbClr val="FFFFE5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sz="1700" b="1" dirty="0">
                <a:latin typeface="Courier New" panose="02070409020205090404" pitchFamily="49" charset="0"/>
              </a:rPr>
              <a:t>const int NUM_BUCK = 10;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endParaRPr lang="en-US" sz="8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class </a:t>
            </a:r>
            <a:r>
              <a:rPr lang="en-US" sz="1700" b="1" dirty="0" err="1">
                <a:latin typeface="Courier New" panose="02070409020205090404" pitchFamily="49" charset="0"/>
              </a:rPr>
              <a:t>HashTable</a:t>
            </a:r>
            <a:r>
              <a:rPr lang="en-US" sz="1700" b="1" dirty="0">
                <a:latin typeface="Courier New" panose="02070409020205090404" pitchFamily="49" charset="0"/>
              </a:rPr>
              <a:t> </a:t>
            </a:r>
            <a:br>
              <a:rPr lang="en-US" sz="1700" b="1" dirty="0">
                <a:latin typeface="Courier New" panose="02070409020205090404" pitchFamily="49" charset="0"/>
              </a:rPr>
            </a:br>
            <a:r>
              <a:rPr lang="en-US" sz="1200" b="1" dirty="0">
                <a:latin typeface="Courier New" panose="02070409020205090404" pitchFamily="49" charset="0"/>
              </a:rPr>
              <a:t>{</a:t>
            </a:r>
            <a:endParaRPr lang="en-US" sz="12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public: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endParaRPr lang="en-US" sz="4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  void insert(int </a:t>
            </a:r>
            <a:r>
              <a:rPr lang="en-US" sz="1700" b="1" dirty="0" err="1">
                <a:latin typeface="Courier New" panose="02070409020205090404" pitchFamily="49" charset="0"/>
              </a:rPr>
              <a:t>idNum</a:t>
            </a:r>
            <a:r>
              <a:rPr lang="en-US" sz="1700" b="1" dirty="0">
                <a:latin typeface="Courier New" panose="02070409020205090404" pitchFamily="49" charset="0"/>
              </a:rPr>
              <a:t>)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r>
              <a:rPr lang="en-US" sz="1300" b="1" dirty="0">
                <a:latin typeface="Courier New" panose="02070409020205090404" pitchFamily="49" charset="0"/>
              </a:rPr>
              <a:t>   {</a:t>
            </a:r>
            <a:endParaRPr lang="en-US" sz="13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     int bucket = </a:t>
            </a:r>
            <a:r>
              <a:rPr lang="en-US" sz="1700" b="1" dirty="0" err="1">
                <a:latin typeface="Courier New" panose="02070409020205090404" pitchFamily="49" charset="0"/>
              </a:rPr>
              <a:t>mapFunc</a:t>
            </a:r>
            <a:r>
              <a:rPr lang="en-US" sz="1700" b="1" dirty="0">
                <a:latin typeface="Courier New" panose="02070409020205090404" pitchFamily="49" charset="0"/>
              </a:rPr>
              <a:t>(</a:t>
            </a:r>
            <a:r>
              <a:rPr lang="en-US" sz="1700" b="1" dirty="0" err="1">
                <a:latin typeface="Courier New" panose="02070409020205090404" pitchFamily="49" charset="0"/>
              </a:rPr>
              <a:t>idNum</a:t>
            </a:r>
            <a:r>
              <a:rPr lang="en-US" sz="1700" b="1" dirty="0">
                <a:latin typeface="Courier New" panose="02070409020205090404" pitchFamily="49" charset="0"/>
              </a:rPr>
              <a:t>);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 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     for (int</a:t>
            </a:r>
            <a:r>
              <a:rPr lang="en-US" sz="1000" b="1" dirty="0">
                <a:latin typeface="Courier New" panose="02070409020205090404" pitchFamily="49" charset="0"/>
              </a:rPr>
              <a:t> </a:t>
            </a:r>
            <a:r>
              <a:rPr lang="en-US" sz="1700" b="1" dirty="0">
                <a:latin typeface="Courier New" panose="02070409020205090404" pitchFamily="49" charset="0"/>
              </a:rPr>
              <a:t>tries=0;tries&lt;</a:t>
            </a:r>
            <a:r>
              <a:rPr lang="en-US" sz="1700" b="1" dirty="0" err="1">
                <a:latin typeface="Courier New" panose="02070409020205090404" pitchFamily="49" charset="0"/>
              </a:rPr>
              <a:t>NUM_BUCK;tries</a:t>
            </a:r>
            <a:r>
              <a:rPr lang="en-US" sz="1700" b="1" dirty="0">
                <a:latin typeface="Courier New" panose="02070409020205090404" pitchFamily="49" charset="0"/>
              </a:rPr>
              <a:t>++)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r>
              <a:rPr lang="en-US" sz="1300" b="1" dirty="0">
                <a:latin typeface="Courier New" panose="02070409020205090404" pitchFamily="49" charset="0"/>
              </a:rPr>
              <a:t>       {</a:t>
            </a:r>
            <a:endParaRPr lang="en-US" sz="13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        if (</a:t>
            </a:r>
            <a:r>
              <a:rPr lang="en-US" sz="1700" b="1" dirty="0" err="1">
                <a:latin typeface="Courier New" panose="02070409020205090404" pitchFamily="49" charset="0"/>
              </a:rPr>
              <a:t>m_buckets</a:t>
            </a:r>
            <a:r>
              <a:rPr lang="en-US" sz="1700" b="1" dirty="0">
                <a:latin typeface="Courier New" panose="02070409020205090404" pitchFamily="49" charset="0"/>
              </a:rPr>
              <a:t>[bucket].used == false)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r>
              <a:rPr lang="en-US" sz="1300" b="1" dirty="0">
                <a:latin typeface="Courier New" panose="02070409020205090404" pitchFamily="49" charset="0"/>
              </a:rPr>
              <a:t>           {</a:t>
            </a:r>
            <a:endParaRPr lang="en-US" sz="13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           </a:t>
            </a:r>
            <a:r>
              <a:rPr lang="en-US" sz="1700" b="1" dirty="0" err="1">
                <a:latin typeface="Courier New" panose="02070409020205090404" pitchFamily="49" charset="0"/>
              </a:rPr>
              <a:t>m_buckets</a:t>
            </a:r>
            <a:r>
              <a:rPr lang="en-US" sz="1700" b="1" dirty="0">
                <a:latin typeface="Courier New" panose="02070409020205090404" pitchFamily="49" charset="0"/>
              </a:rPr>
              <a:t>[bucket].</a:t>
            </a:r>
            <a:r>
              <a:rPr lang="en-US" sz="1700" b="1" dirty="0" err="1">
                <a:latin typeface="Courier New" panose="02070409020205090404" pitchFamily="49" charset="0"/>
              </a:rPr>
              <a:t>idNum</a:t>
            </a:r>
            <a:r>
              <a:rPr lang="en-US" sz="1700" b="1" dirty="0">
                <a:latin typeface="Courier New" panose="02070409020205090404" pitchFamily="49" charset="0"/>
              </a:rPr>
              <a:t> = </a:t>
            </a:r>
            <a:r>
              <a:rPr lang="en-US" sz="1700" b="1" dirty="0" err="1">
                <a:latin typeface="Courier New" panose="02070409020205090404" pitchFamily="49" charset="0"/>
              </a:rPr>
              <a:t>idNum</a:t>
            </a:r>
            <a:r>
              <a:rPr lang="en-US" sz="1700" b="1" dirty="0">
                <a:latin typeface="Courier New" panose="02070409020205090404" pitchFamily="49" charset="0"/>
              </a:rPr>
              <a:t>;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           </a:t>
            </a:r>
            <a:r>
              <a:rPr lang="en-US" sz="1700" b="1" dirty="0" err="1">
                <a:latin typeface="Courier New" panose="02070409020205090404" pitchFamily="49" charset="0"/>
              </a:rPr>
              <a:t>m_buckets</a:t>
            </a:r>
            <a:r>
              <a:rPr lang="en-US" sz="1700" b="1" dirty="0">
                <a:latin typeface="Courier New" panose="02070409020205090404" pitchFamily="49" charset="0"/>
              </a:rPr>
              <a:t>[bucket].used = true;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           return;</a:t>
            </a:r>
            <a:endParaRPr lang="en-US" sz="1700" b="1" dirty="0">
              <a:latin typeface="Courier New" panose="02070409020205090404" pitchFamily="49" charset="0"/>
            </a:endParaRPr>
          </a:p>
          <a:p>
            <a:pPr lvl="1" algn="l"/>
            <a:r>
              <a:rPr lang="en-US" sz="1300" b="1" dirty="0">
                <a:latin typeface="Courier New" panose="02070409020205090404" pitchFamily="49" charset="0"/>
              </a:rPr>
              <a:t>      }</a:t>
            </a:r>
            <a:endParaRPr lang="en-US" sz="13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        bucket = (bucket + 1) % NUM_BUCK;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r>
              <a:rPr lang="en-US" sz="1300" b="1" dirty="0">
                <a:latin typeface="Courier New" panose="02070409020205090404" pitchFamily="49" charset="0"/>
              </a:rPr>
              <a:t>       }</a:t>
            </a:r>
            <a:endParaRPr lang="en-US" sz="13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     // no room left in hash table!!!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r>
              <a:rPr lang="en-US" sz="1300" b="1" dirty="0">
                <a:latin typeface="Courier New" panose="02070409020205090404" pitchFamily="49" charset="0"/>
              </a:rPr>
              <a:t>   }</a:t>
            </a:r>
            <a:endParaRPr lang="en-US" sz="1300" b="1" dirty="0">
              <a:latin typeface="Courier New" panose="02070409020205090404" pitchFamily="49" charset="0"/>
            </a:endParaRPr>
          </a:p>
          <a:p>
            <a:pPr algn="l"/>
            <a:endParaRPr lang="en-US" sz="8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private: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   int </a:t>
            </a:r>
            <a:r>
              <a:rPr lang="en-US" sz="1700" b="1" dirty="0" err="1">
                <a:latin typeface="Courier New" panose="02070409020205090404" pitchFamily="49" charset="0"/>
              </a:rPr>
              <a:t>mapFunc</a:t>
            </a:r>
            <a:r>
              <a:rPr lang="en-US" sz="1700" b="1" dirty="0">
                <a:latin typeface="Courier New" panose="02070409020205090404" pitchFamily="49" charset="0"/>
              </a:rPr>
              <a:t>(int </a:t>
            </a:r>
            <a:r>
              <a:rPr lang="en-US" sz="1700" b="1" dirty="0" err="1">
                <a:latin typeface="Courier New" panose="02070409020205090404" pitchFamily="49" charset="0"/>
              </a:rPr>
              <a:t>idNum</a:t>
            </a:r>
            <a:r>
              <a:rPr lang="en-US" sz="1700" b="1" dirty="0">
                <a:latin typeface="Courier New" panose="02070409020205090404" pitchFamily="49" charset="0"/>
              </a:rPr>
              <a:t>) const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       {  return </a:t>
            </a:r>
            <a:r>
              <a:rPr lang="en-US" sz="1700" b="1" dirty="0" err="1">
                <a:latin typeface="Courier New" panose="02070409020205090404" pitchFamily="49" charset="0"/>
              </a:rPr>
              <a:t>idNum</a:t>
            </a:r>
            <a:r>
              <a:rPr lang="en-US" sz="1700" b="1" dirty="0">
                <a:latin typeface="Courier New" panose="02070409020205090404" pitchFamily="49" charset="0"/>
              </a:rPr>
              <a:t> % NUM_BUCK;  }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endParaRPr lang="en-US" sz="11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   BUCKET </a:t>
            </a:r>
            <a:r>
              <a:rPr lang="en-US" sz="1700" b="1" dirty="0" err="1">
                <a:latin typeface="Courier New" panose="02070409020205090404" pitchFamily="49" charset="0"/>
              </a:rPr>
              <a:t>m_buckets</a:t>
            </a:r>
            <a:r>
              <a:rPr lang="en-US" sz="1700" b="1" dirty="0">
                <a:latin typeface="Courier New" panose="02070409020205090404" pitchFamily="49" charset="0"/>
              </a:rPr>
              <a:t>[NUM_BUCK];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};</a:t>
            </a:r>
            <a:endParaRPr lang="en-US" sz="1700" b="1" dirty="0">
              <a:solidFill>
                <a:srgbClr val="0000FF"/>
              </a:solidFill>
              <a:latin typeface="Courier New" panose="02070409020205090404" pitchFamily="49" charset="0"/>
            </a:endParaRPr>
          </a:p>
        </p:txBody>
      </p:sp>
      <p:sp>
        <p:nvSpPr>
          <p:cNvPr id="220" name="Line 119"/>
          <p:cNvSpPr>
            <a:spLocks noChangeShapeType="1"/>
          </p:cNvSpPr>
          <p:nvPr/>
        </p:nvSpPr>
        <p:spPr bwMode="auto">
          <a:xfrm>
            <a:off x="230188" y="1390650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0931" name="Text Box 99"/>
          <p:cNvSpPr txBox="1">
            <a:spLocks noChangeArrowheads="1"/>
          </p:cNvSpPr>
          <p:nvPr/>
        </p:nvSpPr>
        <p:spPr bwMode="auto">
          <a:xfrm>
            <a:off x="2917825" y="892175"/>
            <a:ext cx="555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6600FF"/>
                </a:solidFill>
              </a:rPr>
              <a:t>65</a:t>
            </a:r>
            <a:endParaRPr lang="en-US">
              <a:solidFill>
                <a:srgbClr val="6600FF"/>
              </a:solidFill>
            </a:endParaRPr>
          </a:p>
        </p:txBody>
      </p:sp>
      <p:sp>
        <p:nvSpPr>
          <p:cNvPr id="2" name="Line 119"/>
          <p:cNvSpPr>
            <a:spLocks noChangeShapeType="1"/>
          </p:cNvSpPr>
          <p:nvPr/>
        </p:nvSpPr>
        <p:spPr bwMode="auto">
          <a:xfrm>
            <a:off x="625475" y="1843088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5" name="AutoShape 99"/>
          <p:cNvSpPr>
            <a:spLocks noChangeArrowheads="1"/>
          </p:cNvSpPr>
          <p:nvPr/>
        </p:nvSpPr>
        <p:spPr bwMode="auto">
          <a:xfrm>
            <a:off x="3443288" y="0"/>
            <a:ext cx="3417887" cy="1176338"/>
          </a:xfrm>
          <a:prstGeom prst="wedgeRoundRectCallout">
            <a:avLst>
              <a:gd name="adj1" fmla="val -38806"/>
              <a:gd name="adj2" fmla="val 93319"/>
              <a:gd name="adj3" fmla="val 16667"/>
            </a:avLst>
          </a:prstGeom>
          <a:solidFill>
            <a:srgbClr val="006666"/>
          </a:solidFill>
          <a:ln w="41275">
            <a:solidFill>
              <a:srgbClr val="800000"/>
            </a:solidFill>
            <a:miter lim="800000"/>
          </a:ln>
        </p:spPr>
        <p:txBody>
          <a:bodyPr anchor="ctr"/>
          <a:lstStyle/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</p:txBody>
      </p:sp>
      <p:sp>
        <p:nvSpPr>
          <p:cNvPr id="176" name="Text Box 100"/>
          <p:cNvSpPr txBox="1">
            <a:spLocks noChangeArrowheads="1"/>
          </p:cNvSpPr>
          <p:nvPr/>
        </p:nvSpPr>
        <p:spPr bwMode="auto">
          <a:xfrm>
            <a:off x="3625850" y="142875"/>
            <a:ext cx="3054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l" eaLnBrk="1" hangingPunct="1"/>
            <a:r>
              <a:rPr lang="en-US" sz="1800">
                <a:solidFill>
                  <a:schemeClr val="bg1"/>
                </a:solidFill>
              </a:rPr>
              <a:t>bucket = 65 % NUM_BUCK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177" name="Text Box 101"/>
          <p:cNvSpPr txBox="1">
            <a:spLocks noChangeArrowheads="1"/>
          </p:cNvSpPr>
          <p:nvPr/>
        </p:nvSpPr>
        <p:spPr bwMode="auto">
          <a:xfrm>
            <a:off x="3646488" y="712788"/>
            <a:ext cx="13049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l" eaLnBrk="1" hangingPunct="1"/>
            <a:r>
              <a:rPr lang="en-US" sz="1800">
                <a:solidFill>
                  <a:schemeClr val="bg1"/>
                </a:solidFill>
              </a:rPr>
              <a:t>bucket = 5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178" name="Text Box 102"/>
          <p:cNvSpPr txBox="1">
            <a:spLocks noChangeArrowheads="1"/>
          </p:cNvSpPr>
          <p:nvPr/>
        </p:nvSpPr>
        <p:spPr bwMode="auto">
          <a:xfrm>
            <a:off x="3632200" y="419100"/>
            <a:ext cx="20113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l" eaLnBrk="1" hangingPunct="1"/>
            <a:r>
              <a:rPr lang="en-US" sz="1800">
                <a:solidFill>
                  <a:schemeClr val="bg1"/>
                </a:solidFill>
              </a:rPr>
              <a:t>bucket = 65 % 10</a:t>
            </a:r>
            <a:endParaRPr lang="en-US" sz="1800">
              <a:solidFill>
                <a:schemeClr val="bg1"/>
              </a:solidFill>
            </a:endParaRPr>
          </a:p>
        </p:txBody>
      </p:sp>
      <p:grpSp>
        <p:nvGrpSpPr>
          <p:cNvPr id="120940" name="Group 108"/>
          <p:cNvGrpSpPr/>
          <p:nvPr/>
        </p:nvGrpSpPr>
        <p:grpSpPr bwMode="auto">
          <a:xfrm>
            <a:off x="4351338" y="1079500"/>
            <a:ext cx="1827212" cy="457200"/>
            <a:chOff x="-758" y="4939"/>
            <a:chExt cx="1151" cy="288"/>
          </a:xfrm>
        </p:grpSpPr>
        <p:sp>
          <p:nvSpPr>
            <p:cNvPr id="120941" name="Text Box 109"/>
            <p:cNvSpPr txBox="1">
              <a:spLocks noChangeArrowheads="1"/>
            </p:cNvSpPr>
            <p:nvPr/>
          </p:nvSpPr>
          <p:spPr bwMode="auto">
            <a:xfrm>
              <a:off x="-758" y="4939"/>
              <a:ext cx="7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6600FF"/>
                  </a:solidFill>
                </a:rPr>
                <a:t>bucket</a:t>
              </a:r>
              <a:endParaRPr lang="en-US">
                <a:solidFill>
                  <a:srgbClr val="6600FF"/>
                </a:solidFill>
              </a:endParaRPr>
            </a:p>
          </p:txBody>
        </p:sp>
        <p:sp>
          <p:nvSpPr>
            <p:cNvPr id="120942" name="Rectangle 110"/>
            <p:cNvSpPr>
              <a:spLocks noChangeArrowheads="1"/>
            </p:cNvSpPr>
            <p:nvPr/>
          </p:nvSpPr>
          <p:spPr bwMode="auto">
            <a:xfrm>
              <a:off x="-45" y="4960"/>
              <a:ext cx="438" cy="24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20943" name="Text Box 111"/>
          <p:cNvSpPr txBox="1">
            <a:spLocks noChangeArrowheads="1"/>
          </p:cNvSpPr>
          <p:nvPr/>
        </p:nvSpPr>
        <p:spPr bwMode="auto">
          <a:xfrm>
            <a:off x="5648325" y="1082675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5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3" name="Line 119"/>
          <p:cNvSpPr>
            <a:spLocks noChangeShapeType="1"/>
          </p:cNvSpPr>
          <p:nvPr/>
        </p:nvSpPr>
        <p:spPr bwMode="auto">
          <a:xfrm>
            <a:off x="615950" y="2347913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" name="Line 119"/>
          <p:cNvSpPr>
            <a:spLocks noChangeShapeType="1"/>
          </p:cNvSpPr>
          <p:nvPr/>
        </p:nvSpPr>
        <p:spPr bwMode="auto">
          <a:xfrm>
            <a:off x="1039813" y="2828925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" name="Line 119"/>
          <p:cNvSpPr>
            <a:spLocks noChangeShapeType="1"/>
          </p:cNvSpPr>
          <p:nvPr/>
        </p:nvSpPr>
        <p:spPr bwMode="auto">
          <a:xfrm>
            <a:off x="1377950" y="3281363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" name="Line 119"/>
          <p:cNvSpPr>
            <a:spLocks noChangeShapeType="1"/>
          </p:cNvSpPr>
          <p:nvPr/>
        </p:nvSpPr>
        <p:spPr bwMode="auto">
          <a:xfrm>
            <a:off x="1387475" y="3548063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" name="Line 119"/>
          <p:cNvSpPr>
            <a:spLocks noChangeShapeType="1"/>
          </p:cNvSpPr>
          <p:nvPr/>
        </p:nvSpPr>
        <p:spPr bwMode="auto">
          <a:xfrm>
            <a:off x="1368425" y="3800475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" name="Line 119"/>
          <p:cNvSpPr>
            <a:spLocks noChangeShapeType="1"/>
          </p:cNvSpPr>
          <p:nvPr/>
        </p:nvSpPr>
        <p:spPr bwMode="auto">
          <a:xfrm>
            <a:off x="6477000" y="5686425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0952" name="Oval 120"/>
          <p:cNvSpPr>
            <a:spLocks noChangeArrowheads="1"/>
          </p:cNvSpPr>
          <p:nvPr/>
        </p:nvSpPr>
        <p:spPr bwMode="auto">
          <a:xfrm>
            <a:off x="8705850" y="2514600"/>
            <a:ext cx="300038" cy="355600"/>
          </a:xfrm>
          <a:prstGeom prst="ellipse">
            <a:avLst/>
          </a:prstGeom>
          <a:noFill/>
          <a:ln w="38100" algn="ctr">
            <a:solidFill>
              <a:srgbClr val="6600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953" name="Text Box 121"/>
          <p:cNvSpPr txBox="1">
            <a:spLocks noChangeArrowheads="1"/>
          </p:cNvSpPr>
          <p:nvPr/>
        </p:nvSpPr>
        <p:spPr bwMode="auto">
          <a:xfrm>
            <a:off x="8686800" y="2528888"/>
            <a:ext cx="3254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rgbClr val="FF0000"/>
                </a:solidFill>
              </a:rPr>
              <a:t>T</a:t>
            </a:r>
            <a:endParaRPr lang="en-US" sz="1600" b="1">
              <a:solidFill>
                <a:srgbClr val="FF0000"/>
              </a:solidFill>
            </a:endParaRPr>
          </a:p>
        </p:txBody>
      </p:sp>
      <p:sp>
        <p:nvSpPr>
          <p:cNvPr id="120954" name="Rectangle 122"/>
          <p:cNvSpPr>
            <a:spLocks noChangeArrowheads="1"/>
          </p:cNvSpPr>
          <p:nvPr/>
        </p:nvSpPr>
        <p:spPr bwMode="auto">
          <a:xfrm>
            <a:off x="7612063" y="2538413"/>
            <a:ext cx="431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rgbClr val="FF0000"/>
                </a:solidFill>
              </a:rPr>
              <a:t>65</a:t>
            </a:r>
            <a:endParaRPr lang="en-US" sz="1600" b="1">
              <a:solidFill>
                <a:srgbClr val="FF0000"/>
              </a:solidFill>
            </a:endParaRPr>
          </a:p>
        </p:txBody>
      </p:sp>
      <p:sp>
        <p:nvSpPr>
          <p:cNvPr id="9" name="Line 119"/>
          <p:cNvSpPr>
            <a:spLocks noChangeShapeType="1"/>
          </p:cNvSpPr>
          <p:nvPr/>
        </p:nvSpPr>
        <p:spPr bwMode="auto">
          <a:xfrm>
            <a:off x="6478588" y="5948363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0959" name="Rectangle 127"/>
          <p:cNvSpPr>
            <a:spLocks noChangeArrowheads="1"/>
          </p:cNvSpPr>
          <p:nvPr/>
        </p:nvSpPr>
        <p:spPr bwMode="auto">
          <a:xfrm>
            <a:off x="6537325" y="2466975"/>
            <a:ext cx="2606675" cy="434975"/>
          </a:xfrm>
          <a:prstGeom prst="rect">
            <a:avLst/>
          </a:prstGeom>
          <a:noFill/>
          <a:ln w="63500" algn="ctr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ChangeArrowheads="1"/>
          </p:cNvSpPr>
          <p:nvPr/>
        </p:nvSpPr>
        <p:spPr bwMode="auto">
          <a:xfrm>
            <a:off x="3733800" y="76200"/>
            <a:ext cx="82232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2800" dirty="0"/>
              <a:t>Linear Probing:</a:t>
            </a:r>
            <a:endParaRPr lang="en-US" sz="2800" dirty="0"/>
          </a:p>
          <a:p>
            <a:r>
              <a:rPr lang="en-US" sz="2800" dirty="0">
                <a:solidFill>
                  <a:srgbClr val="C00000"/>
                </a:solidFill>
              </a:rPr>
              <a:t>Inserting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122884" name="Slide Number Placeholder 4"/>
          <p:cNvSpPr txBox="1">
            <a:spLocks noGrp="1"/>
          </p:cNvSpPr>
          <p:nvPr/>
        </p:nvSpPr>
        <p:spPr bwMode="auto">
          <a:xfrm>
            <a:off x="-1447800" y="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r" eaLnBrk="1" hangingPunct="1"/>
            <a:fld id="{55A7D91F-55E5-4474-8D35-FF01915D3614}" type="slidenum">
              <a:rPr lang="en-US" sz="1400">
                <a:solidFill>
                  <a:schemeClr val="tx1"/>
                </a:solidFill>
                <a:latin typeface="Times New Roman" panose="02020503050405090304" pitchFamily="18" charset="0"/>
              </a:rPr>
            </a:fld>
            <a:endParaRPr lang="en-US" sz="140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  <p:sp>
        <p:nvSpPr>
          <p:cNvPr id="22533" name="Text Box 4"/>
          <p:cNvSpPr txBox="1">
            <a:spLocks noChangeArrowheads="1"/>
          </p:cNvSpPr>
          <p:nvPr/>
        </p:nvSpPr>
        <p:spPr bwMode="auto">
          <a:xfrm>
            <a:off x="6610350" y="4129088"/>
            <a:ext cx="2381250" cy="2576512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l" eaLnBrk="1" hangingPunct="1"/>
            <a:r>
              <a:rPr lang="en-US" sz="1800" b="1">
                <a:latin typeface="Courier New" panose="02070409020205090404" pitchFamily="49" charset="0"/>
                <a:cs typeface="Courier New" panose="02070409020205090404" pitchFamily="49" charset="0"/>
              </a:rPr>
              <a:t>main()</a:t>
            </a:r>
            <a:endParaRPr lang="en-US" sz="1800" b="1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>
                <a:latin typeface="Courier New" panose="02070409020205090404" pitchFamily="49" charset="0"/>
                <a:cs typeface="Courier New" panose="02070409020205090404" pitchFamily="49" charset="0"/>
              </a:rPr>
              <a:t>{</a:t>
            </a:r>
            <a:endParaRPr lang="en-US" sz="1800"/>
          </a:p>
          <a:p>
            <a:pPr algn="l" eaLnBrk="1" hangingPunct="1"/>
            <a:r>
              <a:rPr lang="en-US" sz="1800" b="1">
                <a:latin typeface="Courier New" panose="02070409020205090404" pitchFamily="49" charset="0"/>
                <a:cs typeface="Courier New" panose="02070409020205090404" pitchFamily="49" charset="0"/>
              </a:rPr>
              <a:t>  HashTable ht;</a:t>
            </a:r>
            <a:endParaRPr lang="en-US" sz="1800" b="1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endParaRPr lang="en-US" sz="1800" b="1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>
                <a:latin typeface="Courier New" panose="02070409020205090404" pitchFamily="49" charset="0"/>
                <a:cs typeface="Courier New" panose="02070409020205090404" pitchFamily="49" charset="0"/>
              </a:rPr>
              <a:t>  ht.insert(29);</a:t>
            </a:r>
            <a:endParaRPr lang="en-US" sz="1800" b="1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>
                <a:latin typeface="Courier New" panose="02070409020205090404" pitchFamily="49" charset="0"/>
                <a:cs typeface="Courier New" panose="02070409020205090404" pitchFamily="49" charset="0"/>
              </a:rPr>
              <a:t>  ht.insert(65);</a:t>
            </a:r>
            <a:endParaRPr lang="en-US" sz="1800" b="1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>
                <a:latin typeface="Courier New" panose="02070409020205090404" pitchFamily="49" charset="0"/>
                <a:cs typeface="Courier New" panose="02070409020205090404" pitchFamily="49" charset="0"/>
              </a:rPr>
              <a:t>  ht.insert(79);</a:t>
            </a:r>
            <a:endParaRPr lang="en-US" sz="1800" b="1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>
                <a:latin typeface="Courier New" panose="02070409020205090404" pitchFamily="49" charset="0"/>
                <a:cs typeface="Courier New" panose="02070409020205090404" pitchFamily="49" charset="0"/>
              </a:rPr>
              <a:t> </a:t>
            </a:r>
            <a:endParaRPr lang="en-US" sz="1800" b="1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>
                <a:latin typeface="Courier New" panose="02070409020205090404" pitchFamily="49" charset="0"/>
                <a:cs typeface="Courier New" panose="02070409020205090404" pitchFamily="49" charset="0"/>
              </a:rPr>
              <a:t>}</a:t>
            </a:r>
            <a:endParaRPr lang="en-US" sz="1800" b="1">
              <a:latin typeface="Courier New" panose="02070409020205090404" pitchFamily="49" charset="0"/>
              <a:cs typeface="Courier New" panose="02070409020205090404" pitchFamily="49" charset="0"/>
            </a:endParaRPr>
          </a:p>
        </p:txBody>
      </p:sp>
      <p:grpSp>
        <p:nvGrpSpPr>
          <p:cNvPr id="122886" name="Group 6"/>
          <p:cNvGrpSpPr/>
          <p:nvPr/>
        </p:nvGrpSpPr>
        <p:grpSpPr bwMode="auto">
          <a:xfrm>
            <a:off x="6537325" y="1271588"/>
            <a:ext cx="2725738" cy="2574925"/>
            <a:chOff x="4118" y="801"/>
            <a:chExt cx="1717" cy="1622"/>
          </a:xfrm>
        </p:grpSpPr>
        <p:grpSp>
          <p:nvGrpSpPr>
            <p:cNvPr id="122887" name="Group 7"/>
            <p:cNvGrpSpPr/>
            <p:nvPr/>
          </p:nvGrpSpPr>
          <p:grpSpPr bwMode="auto">
            <a:xfrm>
              <a:off x="4245" y="801"/>
              <a:ext cx="1590" cy="1622"/>
              <a:chOff x="4218" y="801"/>
              <a:chExt cx="1590" cy="1622"/>
            </a:xfrm>
          </p:grpSpPr>
          <p:grpSp>
            <p:nvGrpSpPr>
              <p:cNvPr id="122888" name="Group 8"/>
              <p:cNvGrpSpPr/>
              <p:nvPr/>
            </p:nvGrpSpPr>
            <p:grpSpPr bwMode="auto">
              <a:xfrm>
                <a:off x="4221" y="801"/>
                <a:ext cx="1584" cy="212"/>
                <a:chOff x="2700" y="4428"/>
                <a:chExt cx="1584" cy="212"/>
              </a:xfrm>
            </p:grpSpPr>
            <p:sp>
              <p:nvSpPr>
                <p:cNvPr id="122889" name="Rectangle 152"/>
                <p:cNvSpPr>
                  <a:spLocks noChangeArrowheads="1"/>
                </p:cNvSpPr>
                <p:nvPr/>
              </p:nvSpPr>
              <p:spPr bwMode="auto">
                <a:xfrm>
                  <a:off x="2738" y="4455"/>
                  <a:ext cx="1438" cy="153"/>
                </a:xfrm>
                <a:prstGeom prst="rect">
                  <a:avLst/>
                </a:prstGeom>
                <a:solidFill>
                  <a:srgbClr val="E7F9BF"/>
                </a:solidFill>
                <a:ln w="9525" algn="ctr">
                  <a:solidFill>
                    <a:schemeClr val="tx1"/>
                  </a:solidFill>
                  <a:round/>
                </a:ln>
              </p:spPr>
              <p:txBody>
                <a:bodyPr anchor="ctr"/>
                <a:lstStyle/>
                <a:p>
                  <a:endParaRPr lang="en-US" sz="1600"/>
                </a:p>
              </p:txBody>
            </p:sp>
            <p:sp>
              <p:nvSpPr>
                <p:cNvPr id="122890" name="TextBox 153"/>
                <p:cNvSpPr txBox="1">
                  <a:spLocks noChangeArrowheads="1"/>
                </p:cNvSpPr>
                <p:nvPr/>
              </p:nvSpPr>
              <p:spPr bwMode="auto">
                <a:xfrm>
                  <a:off x="2700" y="4428"/>
                  <a:ext cx="1584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9pPr>
                </a:lstStyle>
                <a:p>
                  <a:pPr algn="l" eaLnBrk="1" hangingPunct="1"/>
                  <a:r>
                    <a:rPr lang="en-US" sz="1600"/>
                    <a:t>idNum:           used: </a:t>
                  </a:r>
                  <a:endParaRPr lang="en-US" sz="1600"/>
                </a:p>
              </p:txBody>
            </p:sp>
            <p:sp>
              <p:nvSpPr>
                <p:cNvPr id="122891" name="Rectangle 11"/>
                <p:cNvSpPr>
                  <a:spLocks noChangeArrowheads="1"/>
                </p:cNvSpPr>
                <p:nvPr/>
              </p:nvSpPr>
              <p:spPr bwMode="auto">
                <a:xfrm>
                  <a:off x="3936" y="4473"/>
                  <a:ext cx="192" cy="126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2892" name="Rectangle 12"/>
                <p:cNvSpPr>
                  <a:spLocks noChangeArrowheads="1"/>
                </p:cNvSpPr>
                <p:nvPr/>
              </p:nvSpPr>
              <p:spPr bwMode="auto">
                <a:xfrm>
                  <a:off x="3216" y="4479"/>
                  <a:ext cx="336" cy="113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22893" name="Group 13"/>
              <p:cNvGrpSpPr/>
              <p:nvPr/>
            </p:nvGrpSpPr>
            <p:grpSpPr bwMode="auto">
              <a:xfrm>
                <a:off x="4218" y="960"/>
                <a:ext cx="1584" cy="212"/>
                <a:chOff x="2700" y="4428"/>
                <a:chExt cx="1584" cy="212"/>
              </a:xfrm>
            </p:grpSpPr>
            <p:sp>
              <p:nvSpPr>
                <p:cNvPr id="122894" name="Rectangle 152"/>
                <p:cNvSpPr>
                  <a:spLocks noChangeArrowheads="1"/>
                </p:cNvSpPr>
                <p:nvPr/>
              </p:nvSpPr>
              <p:spPr bwMode="auto">
                <a:xfrm>
                  <a:off x="2738" y="4455"/>
                  <a:ext cx="1438" cy="153"/>
                </a:xfrm>
                <a:prstGeom prst="rect">
                  <a:avLst/>
                </a:prstGeom>
                <a:solidFill>
                  <a:srgbClr val="E7F9BF"/>
                </a:solidFill>
                <a:ln w="9525" algn="ctr">
                  <a:solidFill>
                    <a:schemeClr val="tx1"/>
                  </a:solidFill>
                  <a:round/>
                </a:ln>
              </p:spPr>
              <p:txBody>
                <a:bodyPr anchor="ctr"/>
                <a:lstStyle/>
                <a:p>
                  <a:endParaRPr lang="en-US" sz="1600"/>
                </a:p>
              </p:txBody>
            </p:sp>
            <p:sp>
              <p:nvSpPr>
                <p:cNvPr id="122895" name="TextBox 153"/>
                <p:cNvSpPr txBox="1">
                  <a:spLocks noChangeArrowheads="1"/>
                </p:cNvSpPr>
                <p:nvPr/>
              </p:nvSpPr>
              <p:spPr bwMode="auto">
                <a:xfrm>
                  <a:off x="2700" y="4428"/>
                  <a:ext cx="1584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9pPr>
                </a:lstStyle>
                <a:p>
                  <a:pPr algn="l" eaLnBrk="1" hangingPunct="1"/>
                  <a:r>
                    <a:rPr lang="en-US" sz="1600"/>
                    <a:t>idNum:           used: </a:t>
                  </a:r>
                  <a:endParaRPr lang="en-US" sz="1600"/>
                </a:p>
              </p:txBody>
            </p:sp>
            <p:sp>
              <p:nvSpPr>
                <p:cNvPr id="122896" name="Rectangle 16"/>
                <p:cNvSpPr>
                  <a:spLocks noChangeArrowheads="1"/>
                </p:cNvSpPr>
                <p:nvPr/>
              </p:nvSpPr>
              <p:spPr bwMode="auto">
                <a:xfrm>
                  <a:off x="3936" y="4473"/>
                  <a:ext cx="192" cy="126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2897" name="Rectangle 17"/>
                <p:cNvSpPr>
                  <a:spLocks noChangeArrowheads="1"/>
                </p:cNvSpPr>
                <p:nvPr/>
              </p:nvSpPr>
              <p:spPr bwMode="auto">
                <a:xfrm>
                  <a:off x="3216" y="4479"/>
                  <a:ext cx="336" cy="113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22898" name="Group 18"/>
              <p:cNvGrpSpPr/>
              <p:nvPr/>
            </p:nvGrpSpPr>
            <p:grpSpPr bwMode="auto">
              <a:xfrm>
                <a:off x="4218" y="1113"/>
                <a:ext cx="1584" cy="212"/>
                <a:chOff x="2700" y="4428"/>
                <a:chExt cx="1584" cy="212"/>
              </a:xfrm>
            </p:grpSpPr>
            <p:sp>
              <p:nvSpPr>
                <p:cNvPr id="122899" name="Rectangle 152"/>
                <p:cNvSpPr>
                  <a:spLocks noChangeArrowheads="1"/>
                </p:cNvSpPr>
                <p:nvPr/>
              </p:nvSpPr>
              <p:spPr bwMode="auto">
                <a:xfrm>
                  <a:off x="2738" y="4455"/>
                  <a:ext cx="1438" cy="153"/>
                </a:xfrm>
                <a:prstGeom prst="rect">
                  <a:avLst/>
                </a:prstGeom>
                <a:solidFill>
                  <a:srgbClr val="E7F9BF"/>
                </a:solidFill>
                <a:ln w="9525" algn="ctr">
                  <a:solidFill>
                    <a:schemeClr val="tx1"/>
                  </a:solidFill>
                  <a:round/>
                </a:ln>
              </p:spPr>
              <p:txBody>
                <a:bodyPr anchor="ctr"/>
                <a:lstStyle/>
                <a:p>
                  <a:endParaRPr lang="en-US" sz="1600"/>
                </a:p>
              </p:txBody>
            </p:sp>
            <p:sp>
              <p:nvSpPr>
                <p:cNvPr id="122900" name="TextBox 153"/>
                <p:cNvSpPr txBox="1">
                  <a:spLocks noChangeArrowheads="1"/>
                </p:cNvSpPr>
                <p:nvPr/>
              </p:nvSpPr>
              <p:spPr bwMode="auto">
                <a:xfrm>
                  <a:off x="2700" y="4428"/>
                  <a:ext cx="1584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9pPr>
                </a:lstStyle>
                <a:p>
                  <a:pPr algn="l" eaLnBrk="1" hangingPunct="1"/>
                  <a:r>
                    <a:rPr lang="en-US" sz="1600"/>
                    <a:t>idNum:           used: </a:t>
                  </a:r>
                  <a:endParaRPr lang="en-US" sz="1600"/>
                </a:p>
              </p:txBody>
            </p:sp>
            <p:sp>
              <p:nvSpPr>
                <p:cNvPr id="122901" name="Rectangle 21"/>
                <p:cNvSpPr>
                  <a:spLocks noChangeArrowheads="1"/>
                </p:cNvSpPr>
                <p:nvPr/>
              </p:nvSpPr>
              <p:spPr bwMode="auto">
                <a:xfrm>
                  <a:off x="3936" y="4473"/>
                  <a:ext cx="192" cy="126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2902" name="Rectangle 22"/>
                <p:cNvSpPr>
                  <a:spLocks noChangeArrowheads="1"/>
                </p:cNvSpPr>
                <p:nvPr/>
              </p:nvSpPr>
              <p:spPr bwMode="auto">
                <a:xfrm>
                  <a:off x="3216" y="4479"/>
                  <a:ext cx="336" cy="113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22903" name="Group 23"/>
              <p:cNvGrpSpPr/>
              <p:nvPr/>
            </p:nvGrpSpPr>
            <p:grpSpPr bwMode="auto">
              <a:xfrm>
                <a:off x="4224" y="1272"/>
                <a:ext cx="1584" cy="212"/>
                <a:chOff x="2700" y="4428"/>
                <a:chExt cx="1584" cy="212"/>
              </a:xfrm>
            </p:grpSpPr>
            <p:sp>
              <p:nvSpPr>
                <p:cNvPr id="122904" name="Rectangle 152"/>
                <p:cNvSpPr>
                  <a:spLocks noChangeArrowheads="1"/>
                </p:cNvSpPr>
                <p:nvPr/>
              </p:nvSpPr>
              <p:spPr bwMode="auto">
                <a:xfrm>
                  <a:off x="2738" y="4455"/>
                  <a:ext cx="1438" cy="153"/>
                </a:xfrm>
                <a:prstGeom prst="rect">
                  <a:avLst/>
                </a:prstGeom>
                <a:solidFill>
                  <a:srgbClr val="E7F9BF"/>
                </a:solidFill>
                <a:ln w="9525" algn="ctr">
                  <a:solidFill>
                    <a:schemeClr val="tx1"/>
                  </a:solidFill>
                  <a:round/>
                </a:ln>
              </p:spPr>
              <p:txBody>
                <a:bodyPr anchor="ctr"/>
                <a:lstStyle/>
                <a:p>
                  <a:endParaRPr lang="en-US" sz="1600"/>
                </a:p>
              </p:txBody>
            </p:sp>
            <p:sp>
              <p:nvSpPr>
                <p:cNvPr id="122905" name="TextBox 153"/>
                <p:cNvSpPr txBox="1">
                  <a:spLocks noChangeArrowheads="1"/>
                </p:cNvSpPr>
                <p:nvPr/>
              </p:nvSpPr>
              <p:spPr bwMode="auto">
                <a:xfrm>
                  <a:off x="2700" y="4428"/>
                  <a:ext cx="1584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9pPr>
                </a:lstStyle>
                <a:p>
                  <a:pPr algn="l" eaLnBrk="1" hangingPunct="1"/>
                  <a:r>
                    <a:rPr lang="en-US" sz="1600"/>
                    <a:t>idNum:           used: </a:t>
                  </a:r>
                  <a:endParaRPr lang="en-US" sz="1600"/>
                </a:p>
              </p:txBody>
            </p:sp>
            <p:sp>
              <p:nvSpPr>
                <p:cNvPr id="122906" name="Rectangle 26"/>
                <p:cNvSpPr>
                  <a:spLocks noChangeArrowheads="1"/>
                </p:cNvSpPr>
                <p:nvPr/>
              </p:nvSpPr>
              <p:spPr bwMode="auto">
                <a:xfrm>
                  <a:off x="3936" y="4473"/>
                  <a:ext cx="192" cy="126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2907" name="Rectangle 27"/>
                <p:cNvSpPr>
                  <a:spLocks noChangeArrowheads="1"/>
                </p:cNvSpPr>
                <p:nvPr/>
              </p:nvSpPr>
              <p:spPr bwMode="auto">
                <a:xfrm>
                  <a:off x="3216" y="4479"/>
                  <a:ext cx="336" cy="113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22908" name="Group 28"/>
              <p:cNvGrpSpPr/>
              <p:nvPr/>
            </p:nvGrpSpPr>
            <p:grpSpPr bwMode="auto">
              <a:xfrm>
                <a:off x="4218" y="1428"/>
                <a:ext cx="1584" cy="212"/>
                <a:chOff x="2700" y="4428"/>
                <a:chExt cx="1584" cy="212"/>
              </a:xfrm>
            </p:grpSpPr>
            <p:sp>
              <p:nvSpPr>
                <p:cNvPr id="122909" name="Rectangle 152"/>
                <p:cNvSpPr>
                  <a:spLocks noChangeArrowheads="1"/>
                </p:cNvSpPr>
                <p:nvPr/>
              </p:nvSpPr>
              <p:spPr bwMode="auto">
                <a:xfrm>
                  <a:off x="2738" y="4455"/>
                  <a:ext cx="1438" cy="153"/>
                </a:xfrm>
                <a:prstGeom prst="rect">
                  <a:avLst/>
                </a:prstGeom>
                <a:solidFill>
                  <a:srgbClr val="E7F9BF"/>
                </a:solidFill>
                <a:ln w="9525" algn="ctr">
                  <a:solidFill>
                    <a:schemeClr val="tx1"/>
                  </a:solidFill>
                  <a:round/>
                </a:ln>
              </p:spPr>
              <p:txBody>
                <a:bodyPr anchor="ctr"/>
                <a:lstStyle/>
                <a:p>
                  <a:endParaRPr lang="en-US" sz="1600"/>
                </a:p>
              </p:txBody>
            </p:sp>
            <p:sp>
              <p:nvSpPr>
                <p:cNvPr id="122910" name="TextBox 153"/>
                <p:cNvSpPr txBox="1">
                  <a:spLocks noChangeArrowheads="1"/>
                </p:cNvSpPr>
                <p:nvPr/>
              </p:nvSpPr>
              <p:spPr bwMode="auto">
                <a:xfrm>
                  <a:off x="2700" y="4428"/>
                  <a:ext cx="1584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9pPr>
                </a:lstStyle>
                <a:p>
                  <a:pPr algn="l" eaLnBrk="1" hangingPunct="1"/>
                  <a:r>
                    <a:rPr lang="en-US" sz="1600"/>
                    <a:t>idNum:           used: </a:t>
                  </a:r>
                  <a:endParaRPr lang="en-US" sz="1600"/>
                </a:p>
              </p:txBody>
            </p:sp>
            <p:sp>
              <p:nvSpPr>
                <p:cNvPr id="122911" name="Rectangle 31"/>
                <p:cNvSpPr>
                  <a:spLocks noChangeArrowheads="1"/>
                </p:cNvSpPr>
                <p:nvPr/>
              </p:nvSpPr>
              <p:spPr bwMode="auto">
                <a:xfrm>
                  <a:off x="3936" y="4473"/>
                  <a:ext cx="192" cy="126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2912" name="Rectangle 32"/>
                <p:cNvSpPr>
                  <a:spLocks noChangeArrowheads="1"/>
                </p:cNvSpPr>
                <p:nvPr/>
              </p:nvSpPr>
              <p:spPr bwMode="auto">
                <a:xfrm>
                  <a:off x="3216" y="4479"/>
                  <a:ext cx="336" cy="113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22913" name="Group 33"/>
              <p:cNvGrpSpPr/>
              <p:nvPr/>
            </p:nvGrpSpPr>
            <p:grpSpPr bwMode="auto">
              <a:xfrm>
                <a:off x="4224" y="1587"/>
                <a:ext cx="1584" cy="212"/>
                <a:chOff x="2700" y="4428"/>
                <a:chExt cx="1584" cy="212"/>
              </a:xfrm>
            </p:grpSpPr>
            <p:sp>
              <p:nvSpPr>
                <p:cNvPr id="122914" name="Rectangle 152"/>
                <p:cNvSpPr>
                  <a:spLocks noChangeArrowheads="1"/>
                </p:cNvSpPr>
                <p:nvPr/>
              </p:nvSpPr>
              <p:spPr bwMode="auto">
                <a:xfrm>
                  <a:off x="2738" y="4455"/>
                  <a:ext cx="1438" cy="153"/>
                </a:xfrm>
                <a:prstGeom prst="rect">
                  <a:avLst/>
                </a:prstGeom>
                <a:solidFill>
                  <a:srgbClr val="E7F9BF"/>
                </a:solidFill>
                <a:ln w="9525" algn="ctr">
                  <a:solidFill>
                    <a:schemeClr val="tx1"/>
                  </a:solidFill>
                  <a:round/>
                </a:ln>
              </p:spPr>
              <p:txBody>
                <a:bodyPr anchor="ctr"/>
                <a:lstStyle/>
                <a:p>
                  <a:endParaRPr lang="en-US" sz="1600"/>
                </a:p>
              </p:txBody>
            </p:sp>
            <p:sp>
              <p:nvSpPr>
                <p:cNvPr id="122915" name="TextBox 153"/>
                <p:cNvSpPr txBox="1">
                  <a:spLocks noChangeArrowheads="1"/>
                </p:cNvSpPr>
                <p:nvPr/>
              </p:nvSpPr>
              <p:spPr bwMode="auto">
                <a:xfrm>
                  <a:off x="2700" y="4428"/>
                  <a:ext cx="1584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9pPr>
                </a:lstStyle>
                <a:p>
                  <a:pPr algn="l" eaLnBrk="1" hangingPunct="1"/>
                  <a:r>
                    <a:rPr lang="en-US" sz="1600"/>
                    <a:t>idNum:           used: </a:t>
                  </a:r>
                  <a:endParaRPr lang="en-US" sz="1600"/>
                </a:p>
              </p:txBody>
            </p:sp>
            <p:sp>
              <p:nvSpPr>
                <p:cNvPr id="122916" name="Rectangle 36"/>
                <p:cNvSpPr>
                  <a:spLocks noChangeArrowheads="1"/>
                </p:cNvSpPr>
                <p:nvPr/>
              </p:nvSpPr>
              <p:spPr bwMode="auto">
                <a:xfrm>
                  <a:off x="3936" y="4473"/>
                  <a:ext cx="192" cy="126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2917" name="Rectangle 37"/>
                <p:cNvSpPr>
                  <a:spLocks noChangeArrowheads="1"/>
                </p:cNvSpPr>
                <p:nvPr/>
              </p:nvSpPr>
              <p:spPr bwMode="auto">
                <a:xfrm>
                  <a:off x="3216" y="4479"/>
                  <a:ext cx="336" cy="113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22918" name="Group 38"/>
              <p:cNvGrpSpPr/>
              <p:nvPr/>
            </p:nvGrpSpPr>
            <p:grpSpPr bwMode="auto">
              <a:xfrm>
                <a:off x="4224" y="1740"/>
                <a:ext cx="1584" cy="212"/>
                <a:chOff x="2700" y="4428"/>
                <a:chExt cx="1584" cy="212"/>
              </a:xfrm>
            </p:grpSpPr>
            <p:sp>
              <p:nvSpPr>
                <p:cNvPr id="122919" name="Rectangle 152"/>
                <p:cNvSpPr>
                  <a:spLocks noChangeArrowheads="1"/>
                </p:cNvSpPr>
                <p:nvPr/>
              </p:nvSpPr>
              <p:spPr bwMode="auto">
                <a:xfrm>
                  <a:off x="2738" y="4455"/>
                  <a:ext cx="1438" cy="153"/>
                </a:xfrm>
                <a:prstGeom prst="rect">
                  <a:avLst/>
                </a:prstGeom>
                <a:solidFill>
                  <a:srgbClr val="E7F9BF"/>
                </a:solidFill>
                <a:ln w="9525" algn="ctr">
                  <a:solidFill>
                    <a:schemeClr val="tx1"/>
                  </a:solidFill>
                  <a:round/>
                </a:ln>
              </p:spPr>
              <p:txBody>
                <a:bodyPr anchor="ctr"/>
                <a:lstStyle/>
                <a:p>
                  <a:endParaRPr lang="en-US" sz="1600"/>
                </a:p>
              </p:txBody>
            </p:sp>
            <p:sp>
              <p:nvSpPr>
                <p:cNvPr id="122920" name="TextBox 153"/>
                <p:cNvSpPr txBox="1">
                  <a:spLocks noChangeArrowheads="1"/>
                </p:cNvSpPr>
                <p:nvPr/>
              </p:nvSpPr>
              <p:spPr bwMode="auto">
                <a:xfrm>
                  <a:off x="2700" y="4428"/>
                  <a:ext cx="1584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9pPr>
                </a:lstStyle>
                <a:p>
                  <a:pPr algn="l" eaLnBrk="1" hangingPunct="1"/>
                  <a:r>
                    <a:rPr lang="en-US" sz="1600"/>
                    <a:t>idNum:           used: </a:t>
                  </a:r>
                  <a:endParaRPr lang="en-US" sz="1600"/>
                </a:p>
              </p:txBody>
            </p:sp>
            <p:sp>
              <p:nvSpPr>
                <p:cNvPr id="122921" name="Rectangle 41"/>
                <p:cNvSpPr>
                  <a:spLocks noChangeArrowheads="1"/>
                </p:cNvSpPr>
                <p:nvPr/>
              </p:nvSpPr>
              <p:spPr bwMode="auto">
                <a:xfrm>
                  <a:off x="3936" y="4473"/>
                  <a:ext cx="192" cy="126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2922" name="Rectangle 42"/>
                <p:cNvSpPr>
                  <a:spLocks noChangeArrowheads="1"/>
                </p:cNvSpPr>
                <p:nvPr/>
              </p:nvSpPr>
              <p:spPr bwMode="auto">
                <a:xfrm>
                  <a:off x="3216" y="4479"/>
                  <a:ext cx="336" cy="113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22923" name="Group 43"/>
              <p:cNvGrpSpPr/>
              <p:nvPr/>
            </p:nvGrpSpPr>
            <p:grpSpPr bwMode="auto">
              <a:xfrm>
                <a:off x="4221" y="1899"/>
                <a:ext cx="1584" cy="212"/>
                <a:chOff x="2700" y="4428"/>
                <a:chExt cx="1584" cy="212"/>
              </a:xfrm>
            </p:grpSpPr>
            <p:sp>
              <p:nvSpPr>
                <p:cNvPr id="122924" name="Rectangle 152"/>
                <p:cNvSpPr>
                  <a:spLocks noChangeArrowheads="1"/>
                </p:cNvSpPr>
                <p:nvPr/>
              </p:nvSpPr>
              <p:spPr bwMode="auto">
                <a:xfrm>
                  <a:off x="2738" y="4455"/>
                  <a:ext cx="1438" cy="153"/>
                </a:xfrm>
                <a:prstGeom prst="rect">
                  <a:avLst/>
                </a:prstGeom>
                <a:solidFill>
                  <a:srgbClr val="E7F9BF"/>
                </a:solidFill>
                <a:ln w="9525" algn="ctr">
                  <a:solidFill>
                    <a:schemeClr val="tx1"/>
                  </a:solidFill>
                  <a:round/>
                </a:ln>
              </p:spPr>
              <p:txBody>
                <a:bodyPr anchor="ctr"/>
                <a:lstStyle/>
                <a:p>
                  <a:endParaRPr lang="en-US" sz="1600"/>
                </a:p>
              </p:txBody>
            </p:sp>
            <p:sp>
              <p:nvSpPr>
                <p:cNvPr id="122925" name="TextBox 153"/>
                <p:cNvSpPr txBox="1">
                  <a:spLocks noChangeArrowheads="1"/>
                </p:cNvSpPr>
                <p:nvPr/>
              </p:nvSpPr>
              <p:spPr bwMode="auto">
                <a:xfrm>
                  <a:off x="2700" y="4428"/>
                  <a:ext cx="1584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9pPr>
                </a:lstStyle>
                <a:p>
                  <a:pPr algn="l" eaLnBrk="1" hangingPunct="1"/>
                  <a:r>
                    <a:rPr lang="en-US" sz="1600"/>
                    <a:t>idNum:           used: </a:t>
                  </a:r>
                  <a:endParaRPr lang="en-US" sz="1600"/>
                </a:p>
              </p:txBody>
            </p:sp>
            <p:sp>
              <p:nvSpPr>
                <p:cNvPr id="122926" name="Rectangle 46"/>
                <p:cNvSpPr>
                  <a:spLocks noChangeArrowheads="1"/>
                </p:cNvSpPr>
                <p:nvPr/>
              </p:nvSpPr>
              <p:spPr bwMode="auto">
                <a:xfrm>
                  <a:off x="3936" y="4473"/>
                  <a:ext cx="192" cy="126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2927" name="Rectangle 47"/>
                <p:cNvSpPr>
                  <a:spLocks noChangeArrowheads="1"/>
                </p:cNvSpPr>
                <p:nvPr/>
              </p:nvSpPr>
              <p:spPr bwMode="auto">
                <a:xfrm>
                  <a:off x="3216" y="4479"/>
                  <a:ext cx="336" cy="113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22928" name="Group 48"/>
              <p:cNvGrpSpPr/>
              <p:nvPr/>
            </p:nvGrpSpPr>
            <p:grpSpPr bwMode="auto">
              <a:xfrm>
                <a:off x="4221" y="2052"/>
                <a:ext cx="1584" cy="212"/>
                <a:chOff x="2700" y="4428"/>
                <a:chExt cx="1584" cy="212"/>
              </a:xfrm>
            </p:grpSpPr>
            <p:sp>
              <p:nvSpPr>
                <p:cNvPr id="122929" name="Rectangle 152"/>
                <p:cNvSpPr>
                  <a:spLocks noChangeArrowheads="1"/>
                </p:cNvSpPr>
                <p:nvPr/>
              </p:nvSpPr>
              <p:spPr bwMode="auto">
                <a:xfrm>
                  <a:off x="2738" y="4455"/>
                  <a:ext cx="1438" cy="153"/>
                </a:xfrm>
                <a:prstGeom prst="rect">
                  <a:avLst/>
                </a:prstGeom>
                <a:solidFill>
                  <a:srgbClr val="E7F9BF"/>
                </a:solidFill>
                <a:ln w="9525" algn="ctr">
                  <a:solidFill>
                    <a:schemeClr val="tx1"/>
                  </a:solidFill>
                  <a:round/>
                </a:ln>
              </p:spPr>
              <p:txBody>
                <a:bodyPr anchor="ctr"/>
                <a:lstStyle/>
                <a:p>
                  <a:endParaRPr lang="en-US" sz="1600"/>
                </a:p>
              </p:txBody>
            </p:sp>
            <p:sp>
              <p:nvSpPr>
                <p:cNvPr id="122930" name="TextBox 153"/>
                <p:cNvSpPr txBox="1">
                  <a:spLocks noChangeArrowheads="1"/>
                </p:cNvSpPr>
                <p:nvPr/>
              </p:nvSpPr>
              <p:spPr bwMode="auto">
                <a:xfrm>
                  <a:off x="2700" y="4428"/>
                  <a:ext cx="1584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9pPr>
                </a:lstStyle>
                <a:p>
                  <a:pPr algn="l" eaLnBrk="1" hangingPunct="1"/>
                  <a:r>
                    <a:rPr lang="en-US" sz="1600"/>
                    <a:t>idNum:           used: </a:t>
                  </a:r>
                  <a:endParaRPr lang="en-US" sz="1600"/>
                </a:p>
              </p:txBody>
            </p:sp>
            <p:sp>
              <p:nvSpPr>
                <p:cNvPr id="122931" name="Rectangle 51"/>
                <p:cNvSpPr>
                  <a:spLocks noChangeArrowheads="1"/>
                </p:cNvSpPr>
                <p:nvPr/>
              </p:nvSpPr>
              <p:spPr bwMode="auto">
                <a:xfrm>
                  <a:off x="3936" y="4473"/>
                  <a:ext cx="192" cy="126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2932" name="Rectangle 52"/>
                <p:cNvSpPr>
                  <a:spLocks noChangeArrowheads="1"/>
                </p:cNvSpPr>
                <p:nvPr/>
              </p:nvSpPr>
              <p:spPr bwMode="auto">
                <a:xfrm>
                  <a:off x="3216" y="4479"/>
                  <a:ext cx="336" cy="113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22933" name="Group 53"/>
              <p:cNvGrpSpPr/>
              <p:nvPr/>
            </p:nvGrpSpPr>
            <p:grpSpPr bwMode="auto">
              <a:xfrm>
                <a:off x="4218" y="2211"/>
                <a:ext cx="1584" cy="212"/>
                <a:chOff x="2700" y="4428"/>
                <a:chExt cx="1584" cy="212"/>
              </a:xfrm>
            </p:grpSpPr>
            <p:sp>
              <p:nvSpPr>
                <p:cNvPr id="122934" name="Rectangle 152"/>
                <p:cNvSpPr>
                  <a:spLocks noChangeArrowheads="1"/>
                </p:cNvSpPr>
                <p:nvPr/>
              </p:nvSpPr>
              <p:spPr bwMode="auto">
                <a:xfrm>
                  <a:off x="2738" y="4455"/>
                  <a:ext cx="1438" cy="153"/>
                </a:xfrm>
                <a:prstGeom prst="rect">
                  <a:avLst/>
                </a:prstGeom>
                <a:solidFill>
                  <a:srgbClr val="E7F9BF"/>
                </a:solidFill>
                <a:ln w="9525" algn="ctr">
                  <a:solidFill>
                    <a:schemeClr val="tx1"/>
                  </a:solidFill>
                  <a:round/>
                </a:ln>
              </p:spPr>
              <p:txBody>
                <a:bodyPr anchor="ctr"/>
                <a:lstStyle/>
                <a:p>
                  <a:endParaRPr lang="en-US" sz="1600"/>
                </a:p>
              </p:txBody>
            </p:sp>
            <p:sp>
              <p:nvSpPr>
                <p:cNvPr id="122935" name="TextBox 153"/>
                <p:cNvSpPr txBox="1">
                  <a:spLocks noChangeArrowheads="1"/>
                </p:cNvSpPr>
                <p:nvPr/>
              </p:nvSpPr>
              <p:spPr bwMode="auto">
                <a:xfrm>
                  <a:off x="2700" y="4428"/>
                  <a:ext cx="1584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2"/>
                      </a:solidFill>
                      <a:latin typeface="Comic Sans MS" panose="030F0902030302020204" pitchFamily="66" charset="0"/>
                      <a:cs typeface="Times New Roman" panose="02020503050405090304" pitchFamily="18" charset="0"/>
                    </a:defRPr>
                  </a:lvl9pPr>
                </a:lstStyle>
                <a:p>
                  <a:pPr algn="l" eaLnBrk="1" hangingPunct="1"/>
                  <a:r>
                    <a:rPr lang="en-US" sz="1600"/>
                    <a:t>idNum:           used: </a:t>
                  </a:r>
                  <a:endParaRPr lang="en-US" sz="1600"/>
                </a:p>
              </p:txBody>
            </p:sp>
            <p:sp>
              <p:nvSpPr>
                <p:cNvPr id="122936" name="Rectangle 56"/>
                <p:cNvSpPr>
                  <a:spLocks noChangeArrowheads="1"/>
                </p:cNvSpPr>
                <p:nvPr/>
              </p:nvSpPr>
              <p:spPr bwMode="auto">
                <a:xfrm>
                  <a:off x="3936" y="4473"/>
                  <a:ext cx="192" cy="126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2937" name="Rectangle 57"/>
                <p:cNvSpPr>
                  <a:spLocks noChangeArrowheads="1"/>
                </p:cNvSpPr>
                <p:nvPr/>
              </p:nvSpPr>
              <p:spPr bwMode="auto">
                <a:xfrm>
                  <a:off x="3216" y="4479"/>
                  <a:ext cx="336" cy="113"/>
                </a:xfrm>
                <a:prstGeom prst="rect">
                  <a:avLst/>
                </a:prstGeom>
                <a:solidFill>
                  <a:srgbClr val="FCE1BC"/>
                </a:solidFill>
                <a:ln w="9525" algn="ctr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122938" name="Text Box 58"/>
            <p:cNvSpPr txBox="1">
              <a:spLocks noChangeArrowheads="1"/>
            </p:cNvSpPr>
            <p:nvPr/>
          </p:nvSpPr>
          <p:spPr bwMode="auto">
            <a:xfrm>
              <a:off x="4118" y="821"/>
              <a:ext cx="194" cy="15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/>
                <a:t>0</a:t>
              </a:r>
              <a:endParaRPr lang="en-US" sz="1600" b="1"/>
            </a:p>
            <a:p>
              <a:r>
                <a:rPr lang="en-US" sz="1600" b="1"/>
                <a:t>1</a:t>
              </a:r>
              <a:endParaRPr lang="en-US" sz="1600" b="1"/>
            </a:p>
            <a:p>
              <a:r>
                <a:rPr lang="en-US" sz="1600" b="1"/>
                <a:t>2</a:t>
              </a:r>
              <a:endParaRPr lang="en-US" sz="1600" b="1"/>
            </a:p>
            <a:p>
              <a:r>
                <a:rPr lang="en-US" sz="1600" b="1"/>
                <a:t>3</a:t>
              </a:r>
              <a:endParaRPr lang="en-US" sz="1600" b="1"/>
            </a:p>
            <a:p>
              <a:r>
                <a:rPr lang="en-US" sz="1600" b="1"/>
                <a:t>4</a:t>
              </a:r>
              <a:endParaRPr lang="en-US" sz="1600" b="1"/>
            </a:p>
            <a:p>
              <a:r>
                <a:rPr lang="en-US" sz="1600" b="1"/>
                <a:t>5</a:t>
              </a:r>
              <a:endParaRPr lang="en-US" sz="1600" b="1"/>
            </a:p>
            <a:p>
              <a:r>
                <a:rPr lang="en-US" sz="1600" b="1"/>
                <a:t>6</a:t>
              </a:r>
              <a:endParaRPr lang="en-US" sz="1600" b="1"/>
            </a:p>
            <a:p>
              <a:r>
                <a:rPr lang="en-US" sz="1600" b="1"/>
                <a:t>7</a:t>
              </a:r>
              <a:endParaRPr lang="en-US" sz="1600" b="1"/>
            </a:p>
            <a:p>
              <a:r>
                <a:rPr lang="en-US" sz="1600" b="1"/>
                <a:t>8</a:t>
              </a:r>
              <a:endParaRPr lang="en-US" sz="1600" b="1"/>
            </a:p>
            <a:p>
              <a:r>
                <a:rPr lang="en-US" sz="1600" b="1"/>
                <a:t>9</a:t>
              </a:r>
              <a:endParaRPr lang="en-US" sz="1600" b="1"/>
            </a:p>
          </p:txBody>
        </p:sp>
      </p:grpSp>
      <p:sp>
        <p:nvSpPr>
          <p:cNvPr id="122939" name="Text Box 59"/>
          <p:cNvSpPr txBox="1">
            <a:spLocks noChangeArrowheads="1"/>
          </p:cNvSpPr>
          <p:nvPr/>
        </p:nvSpPr>
        <p:spPr bwMode="auto">
          <a:xfrm>
            <a:off x="8694738" y="1292225"/>
            <a:ext cx="2873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rgbClr val="6600FF"/>
                </a:solidFill>
              </a:rPr>
              <a:t>f</a:t>
            </a:r>
            <a:endParaRPr lang="en-US" sz="1600" b="1">
              <a:solidFill>
                <a:srgbClr val="6600FF"/>
              </a:solidFill>
            </a:endParaRPr>
          </a:p>
        </p:txBody>
      </p:sp>
      <p:sp>
        <p:nvSpPr>
          <p:cNvPr id="122940" name="Text Box 60"/>
          <p:cNvSpPr txBox="1">
            <a:spLocks noChangeArrowheads="1"/>
          </p:cNvSpPr>
          <p:nvPr/>
        </p:nvSpPr>
        <p:spPr bwMode="auto">
          <a:xfrm>
            <a:off x="8704263" y="1530350"/>
            <a:ext cx="2873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rgbClr val="6600FF"/>
                </a:solidFill>
              </a:rPr>
              <a:t>f</a:t>
            </a:r>
            <a:endParaRPr lang="en-US" sz="1600" b="1">
              <a:solidFill>
                <a:srgbClr val="6600FF"/>
              </a:solidFill>
            </a:endParaRPr>
          </a:p>
        </p:txBody>
      </p:sp>
      <p:sp>
        <p:nvSpPr>
          <p:cNvPr id="122941" name="Text Box 61"/>
          <p:cNvSpPr txBox="1">
            <a:spLocks noChangeArrowheads="1"/>
          </p:cNvSpPr>
          <p:nvPr/>
        </p:nvSpPr>
        <p:spPr bwMode="auto">
          <a:xfrm>
            <a:off x="8704263" y="1787525"/>
            <a:ext cx="2873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rgbClr val="6600FF"/>
                </a:solidFill>
              </a:rPr>
              <a:t>f</a:t>
            </a:r>
            <a:endParaRPr lang="en-US" sz="1600" b="1">
              <a:solidFill>
                <a:srgbClr val="6600FF"/>
              </a:solidFill>
            </a:endParaRPr>
          </a:p>
        </p:txBody>
      </p:sp>
      <p:sp>
        <p:nvSpPr>
          <p:cNvPr id="122942" name="Text Box 62"/>
          <p:cNvSpPr txBox="1">
            <a:spLocks noChangeArrowheads="1"/>
          </p:cNvSpPr>
          <p:nvPr/>
        </p:nvSpPr>
        <p:spPr bwMode="auto">
          <a:xfrm>
            <a:off x="8713788" y="2025650"/>
            <a:ext cx="2873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rgbClr val="6600FF"/>
                </a:solidFill>
              </a:rPr>
              <a:t>f</a:t>
            </a:r>
            <a:endParaRPr lang="en-US" sz="1600" b="1">
              <a:solidFill>
                <a:srgbClr val="6600FF"/>
              </a:solidFill>
            </a:endParaRPr>
          </a:p>
        </p:txBody>
      </p:sp>
      <p:sp>
        <p:nvSpPr>
          <p:cNvPr id="122943" name="Text Box 63"/>
          <p:cNvSpPr txBox="1">
            <a:spLocks noChangeArrowheads="1"/>
          </p:cNvSpPr>
          <p:nvPr/>
        </p:nvSpPr>
        <p:spPr bwMode="auto">
          <a:xfrm>
            <a:off x="8704263" y="2273300"/>
            <a:ext cx="2873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rgbClr val="6600FF"/>
                </a:solidFill>
              </a:rPr>
              <a:t>f</a:t>
            </a:r>
            <a:endParaRPr lang="en-US" sz="1600" b="1">
              <a:solidFill>
                <a:srgbClr val="6600FF"/>
              </a:solidFill>
            </a:endParaRPr>
          </a:p>
        </p:txBody>
      </p:sp>
      <p:sp>
        <p:nvSpPr>
          <p:cNvPr id="122945" name="Text Box 65"/>
          <p:cNvSpPr txBox="1">
            <a:spLocks noChangeArrowheads="1"/>
          </p:cNvSpPr>
          <p:nvPr/>
        </p:nvSpPr>
        <p:spPr bwMode="auto">
          <a:xfrm>
            <a:off x="8713788" y="2768600"/>
            <a:ext cx="2873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rgbClr val="6600FF"/>
                </a:solidFill>
              </a:rPr>
              <a:t>f</a:t>
            </a:r>
            <a:endParaRPr lang="en-US" sz="1600" b="1">
              <a:solidFill>
                <a:srgbClr val="6600FF"/>
              </a:solidFill>
            </a:endParaRPr>
          </a:p>
        </p:txBody>
      </p:sp>
      <p:sp>
        <p:nvSpPr>
          <p:cNvPr id="122946" name="Text Box 66"/>
          <p:cNvSpPr txBox="1">
            <a:spLocks noChangeArrowheads="1"/>
          </p:cNvSpPr>
          <p:nvPr/>
        </p:nvSpPr>
        <p:spPr bwMode="auto">
          <a:xfrm>
            <a:off x="8723313" y="3006725"/>
            <a:ext cx="2873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rgbClr val="6600FF"/>
                </a:solidFill>
              </a:rPr>
              <a:t>f</a:t>
            </a:r>
            <a:endParaRPr lang="en-US" sz="1600" b="1">
              <a:solidFill>
                <a:srgbClr val="6600FF"/>
              </a:solidFill>
            </a:endParaRPr>
          </a:p>
        </p:txBody>
      </p:sp>
      <p:sp>
        <p:nvSpPr>
          <p:cNvPr id="122947" name="Text Box 67"/>
          <p:cNvSpPr txBox="1">
            <a:spLocks noChangeArrowheads="1"/>
          </p:cNvSpPr>
          <p:nvPr/>
        </p:nvSpPr>
        <p:spPr bwMode="auto">
          <a:xfrm>
            <a:off x="8728075" y="3268663"/>
            <a:ext cx="2873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rgbClr val="6600FF"/>
                </a:solidFill>
              </a:rPr>
              <a:t>f</a:t>
            </a:r>
            <a:endParaRPr lang="en-US" sz="1600" b="1">
              <a:solidFill>
                <a:srgbClr val="6600FF"/>
              </a:solidFill>
            </a:endParaRPr>
          </a:p>
        </p:txBody>
      </p:sp>
      <p:grpSp>
        <p:nvGrpSpPr>
          <p:cNvPr id="122948" name="Group 68"/>
          <p:cNvGrpSpPr/>
          <p:nvPr/>
        </p:nvGrpSpPr>
        <p:grpSpPr bwMode="auto">
          <a:xfrm>
            <a:off x="4351338" y="1079500"/>
            <a:ext cx="1827212" cy="457200"/>
            <a:chOff x="-758" y="4939"/>
            <a:chExt cx="1151" cy="288"/>
          </a:xfrm>
        </p:grpSpPr>
        <p:sp>
          <p:nvSpPr>
            <p:cNvPr id="122949" name="Text Box 69"/>
            <p:cNvSpPr txBox="1">
              <a:spLocks noChangeArrowheads="1"/>
            </p:cNvSpPr>
            <p:nvPr/>
          </p:nvSpPr>
          <p:spPr bwMode="auto">
            <a:xfrm>
              <a:off x="-758" y="4939"/>
              <a:ext cx="7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6600FF"/>
                  </a:solidFill>
                </a:rPr>
                <a:t>bucket</a:t>
              </a:r>
              <a:endParaRPr lang="en-US">
                <a:solidFill>
                  <a:srgbClr val="6600FF"/>
                </a:solidFill>
              </a:endParaRPr>
            </a:p>
          </p:txBody>
        </p:sp>
        <p:sp>
          <p:nvSpPr>
            <p:cNvPr id="122950" name="Rectangle 70"/>
            <p:cNvSpPr>
              <a:spLocks noChangeArrowheads="1"/>
            </p:cNvSpPr>
            <p:nvPr/>
          </p:nvSpPr>
          <p:spPr bwMode="auto">
            <a:xfrm>
              <a:off x="-45" y="4960"/>
              <a:ext cx="438" cy="24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22951" name="Rectangle 71"/>
          <p:cNvSpPr>
            <a:spLocks noChangeArrowheads="1"/>
          </p:cNvSpPr>
          <p:nvPr/>
        </p:nvSpPr>
        <p:spPr bwMode="auto">
          <a:xfrm>
            <a:off x="7631113" y="3514725"/>
            <a:ext cx="431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rgbClr val="FF0000"/>
                </a:solidFill>
              </a:rPr>
              <a:t>29</a:t>
            </a:r>
            <a:endParaRPr lang="en-US" sz="1600" b="1">
              <a:solidFill>
                <a:srgbClr val="FF0000"/>
              </a:solidFill>
            </a:endParaRPr>
          </a:p>
        </p:txBody>
      </p:sp>
      <p:sp>
        <p:nvSpPr>
          <p:cNvPr id="122952" name="Text Box 72"/>
          <p:cNvSpPr txBox="1">
            <a:spLocks noChangeArrowheads="1"/>
          </p:cNvSpPr>
          <p:nvPr/>
        </p:nvSpPr>
        <p:spPr bwMode="auto">
          <a:xfrm>
            <a:off x="8709025" y="3535363"/>
            <a:ext cx="3254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rgbClr val="FF0000"/>
                </a:solidFill>
              </a:rPr>
              <a:t>T</a:t>
            </a:r>
            <a:endParaRPr lang="en-US" sz="1600" b="1">
              <a:solidFill>
                <a:srgbClr val="FF0000"/>
              </a:solidFill>
            </a:endParaRPr>
          </a:p>
        </p:txBody>
      </p:sp>
      <p:sp>
        <p:nvSpPr>
          <p:cNvPr id="122953" name="Rectangle 73"/>
          <p:cNvSpPr>
            <a:spLocks noChangeArrowheads="1"/>
          </p:cNvSpPr>
          <p:nvPr/>
        </p:nvSpPr>
        <p:spPr bwMode="auto">
          <a:xfrm>
            <a:off x="381000" y="61913"/>
            <a:ext cx="6019800" cy="6605587"/>
          </a:xfrm>
          <a:prstGeom prst="rect">
            <a:avLst/>
          </a:prstGeom>
          <a:solidFill>
            <a:srgbClr val="FFFFE5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sz="1700" b="1" dirty="0">
                <a:latin typeface="Courier New" panose="02070409020205090404" pitchFamily="49" charset="0"/>
              </a:rPr>
              <a:t>const int NUM_BUCK = 10;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endParaRPr lang="en-US" sz="8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class </a:t>
            </a:r>
            <a:r>
              <a:rPr lang="en-US" sz="1700" b="1" dirty="0" err="1">
                <a:latin typeface="Courier New" panose="02070409020205090404" pitchFamily="49" charset="0"/>
              </a:rPr>
              <a:t>HashTable</a:t>
            </a:r>
            <a:r>
              <a:rPr lang="en-US" sz="1700" b="1" dirty="0">
                <a:latin typeface="Courier New" panose="02070409020205090404" pitchFamily="49" charset="0"/>
              </a:rPr>
              <a:t> </a:t>
            </a:r>
            <a:br>
              <a:rPr lang="en-US" sz="1700" b="1" dirty="0">
                <a:latin typeface="Courier New" panose="02070409020205090404" pitchFamily="49" charset="0"/>
              </a:rPr>
            </a:br>
            <a:r>
              <a:rPr lang="en-US" sz="1200" b="1" dirty="0">
                <a:latin typeface="Courier New" panose="02070409020205090404" pitchFamily="49" charset="0"/>
              </a:rPr>
              <a:t>{</a:t>
            </a:r>
            <a:endParaRPr lang="en-US" sz="12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public: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endParaRPr lang="en-US" sz="4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  void insert(int </a:t>
            </a:r>
            <a:r>
              <a:rPr lang="en-US" sz="1700" b="1" dirty="0" err="1">
                <a:latin typeface="Courier New" panose="02070409020205090404" pitchFamily="49" charset="0"/>
              </a:rPr>
              <a:t>idNum</a:t>
            </a:r>
            <a:r>
              <a:rPr lang="en-US" sz="1700" b="1" dirty="0">
                <a:latin typeface="Courier New" panose="02070409020205090404" pitchFamily="49" charset="0"/>
              </a:rPr>
              <a:t>)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r>
              <a:rPr lang="en-US" sz="1300" b="1" dirty="0">
                <a:latin typeface="Courier New" panose="02070409020205090404" pitchFamily="49" charset="0"/>
              </a:rPr>
              <a:t>   {</a:t>
            </a:r>
            <a:endParaRPr lang="en-US" sz="13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     int bucket = </a:t>
            </a:r>
            <a:r>
              <a:rPr lang="en-US" sz="1700" b="1" dirty="0" err="1">
                <a:latin typeface="Courier New" panose="02070409020205090404" pitchFamily="49" charset="0"/>
              </a:rPr>
              <a:t>mapFunc</a:t>
            </a:r>
            <a:r>
              <a:rPr lang="en-US" sz="1700" b="1" dirty="0">
                <a:latin typeface="Courier New" panose="02070409020205090404" pitchFamily="49" charset="0"/>
              </a:rPr>
              <a:t>(</a:t>
            </a:r>
            <a:r>
              <a:rPr lang="en-US" sz="1700" b="1" dirty="0" err="1">
                <a:latin typeface="Courier New" panose="02070409020205090404" pitchFamily="49" charset="0"/>
              </a:rPr>
              <a:t>idNum</a:t>
            </a:r>
            <a:r>
              <a:rPr lang="en-US" sz="1700" b="1" dirty="0">
                <a:latin typeface="Courier New" panose="02070409020205090404" pitchFamily="49" charset="0"/>
              </a:rPr>
              <a:t>);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 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     for (int</a:t>
            </a:r>
            <a:r>
              <a:rPr lang="en-US" sz="1000" b="1" dirty="0">
                <a:latin typeface="Courier New" panose="02070409020205090404" pitchFamily="49" charset="0"/>
              </a:rPr>
              <a:t> </a:t>
            </a:r>
            <a:r>
              <a:rPr lang="en-US" sz="1700" b="1" dirty="0">
                <a:latin typeface="Courier New" panose="02070409020205090404" pitchFamily="49" charset="0"/>
              </a:rPr>
              <a:t>tries=0;tries&lt;</a:t>
            </a:r>
            <a:r>
              <a:rPr lang="en-US" sz="1700" b="1" dirty="0" err="1">
                <a:latin typeface="Courier New" panose="02070409020205090404" pitchFamily="49" charset="0"/>
              </a:rPr>
              <a:t>NUM_BUCK;tries</a:t>
            </a:r>
            <a:r>
              <a:rPr lang="en-US" sz="1700" b="1" dirty="0">
                <a:latin typeface="Courier New" panose="02070409020205090404" pitchFamily="49" charset="0"/>
              </a:rPr>
              <a:t>++)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r>
              <a:rPr lang="en-US" sz="1300" b="1" dirty="0">
                <a:latin typeface="Courier New" panose="02070409020205090404" pitchFamily="49" charset="0"/>
              </a:rPr>
              <a:t>       {</a:t>
            </a:r>
            <a:endParaRPr lang="en-US" sz="13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        if (</a:t>
            </a:r>
            <a:r>
              <a:rPr lang="en-US" sz="1700" b="1" dirty="0" err="1">
                <a:latin typeface="Courier New" panose="02070409020205090404" pitchFamily="49" charset="0"/>
              </a:rPr>
              <a:t>m_buckets</a:t>
            </a:r>
            <a:r>
              <a:rPr lang="en-US" sz="1700" b="1" dirty="0">
                <a:latin typeface="Courier New" panose="02070409020205090404" pitchFamily="49" charset="0"/>
              </a:rPr>
              <a:t>[bucket].used == false)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r>
              <a:rPr lang="en-US" sz="1300" b="1" dirty="0">
                <a:latin typeface="Courier New" panose="02070409020205090404" pitchFamily="49" charset="0"/>
              </a:rPr>
              <a:t>           {</a:t>
            </a:r>
            <a:endParaRPr lang="en-US" sz="13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           </a:t>
            </a:r>
            <a:r>
              <a:rPr lang="en-US" sz="1700" b="1" dirty="0" err="1">
                <a:latin typeface="Courier New" panose="02070409020205090404" pitchFamily="49" charset="0"/>
              </a:rPr>
              <a:t>m_buckets</a:t>
            </a:r>
            <a:r>
              <a:rPr lang="en-US" sz="1700" b="1" dirty="0">
                <a:latin typeface="Courier New" panose="02070409020205090404" pitchFamily="49" charset="0"/>
              </a:rPr>
              <a:t>[bucket].</a:t>
            </a:r>
            <a:r>
              <a:rPr lang="en-US" sz="1700" b="1" dirty="0" err="1">
                <a:latin typeface="Courier New" panose="02070409020205090404" pitchFamily="49" charset="0"/>
              </a:rPr>
              <a:t>idNum</a:t>
            </a:r>
            <a:r>
              <a:rPr lang="en-US" sz="1700" b="1" dirty="0">
                <a:latin typeface="Courier New" panose="02070409020205090404" pitchFamily="49" charset="0"/>
              </a:rPr>
              <a:t> = </a:t>
            </a:r>
            <a:r>
              <a:rPr lang="en-US" sz="1700" b="1" dirty="0" err="1">
                <a:latin typeface="Courier New" panose="02070409020205090404" pitchFamily="49" charset="0"/>
              </a:rPr>
              <a:t>idNum</a:t>
            </a:r>
            <a:r>
              <a:rPr lang="en-US" sz="1700" b="1" dirty="0">
                <a:latin typeface="Courier New" panose="02070409020205090404" pitchFamily="49" charset="0"/>
              </a:rPr>
              <a:t>;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           </a:t>
            </a:r>
            <a:r>
              <a:rPr lang="en-US" sz="1700" b="1" dirty="0" err="1">
                <a:latin typeface="Courier New" panose="02070409020205090404" pitchFamily="49" charset="0"/>
              </a:rPr>
              <a:t>m_buckets</a:t>
            </a:r>
            <a:r>
              <a:rPr lang="en-US" sz="1700" b="1" dirty="0">
                <a:latin typeface="Courier New" panose="02070409020205090404" pitchFamily="49" charset="0"/>
              </a:rPr>
              <a:t>[bucket].used = true;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           return;</a:t>
            </a:r>
            <a:endParaRPr lang="en-US" sz="1700" b="1" dirty="0">
              <a:latin typeface="Courier New" panose="02070409020205090404" pitchFamily="49" charset="0"/>
            </a:endParaRPr>
          </a:p>
          <a:p>
            <a:pPr lvl="1" algn="l"/>
            <a:r>
              <a:rPr lang="en-US" sz="1300" b="1" dirty="0">
                <a:latin typeface="Courier New" panose="02070409020205090404" pitchFamily="49" charset="0"/>
              </a:rPr>
              <a:t>      }</a:t>
            </a:r>
            <a:endParaRPr lang="en-US" sz="13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        bucket = (bucket + 1) % NUM_BUCK;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r>
              <a:rPr lang="en-US" sz="1300" b="1" dirty="0">
                <a:latin typeface="Courier New" panose="02070409020205090404" pitchFamily="49" charset="0"/>
              </a:rPr>
              <a:t>       }</a:t>
            </a:r>
            <a:endParaRPr lang="en-US" sz="13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     // no room left in hash table!!!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r>
              <a:rPr lang="en-US" sz="1300" b="1" dirty="0">
                <a:latin typeface="Courier New" panose="02070409020205090404" pitchFamily="49" charset="0"/>
              </a:rPr>
              <a:t>   }</a:t>
            </a:r>
            <a:endParaRPr lang="en-US" sz="1300" b="1" dirty="0">
              <a:latin typeface="Courier New" panose="02070409020205090404" pitchFamily="49" charset="0"/>
            </a:endParaRPr>
          </a:p>
          <a:p>
            <a:pPr algn="l"/>
            <a:endParaRPr lang="en-US" sz="8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private: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   int </a:t>
            </a:r>
            <a:r>
              <a:rPr lang="en-US" sz="1700" b="1" dirty="0" err="1">
                <a:latin typeface="Courier New" panose="02070409020205090404" pitchFamily="49" charset="0"/>
              </a:rPr>
              <a:t>mapFunc</a:t>
            </a:r>
            <a:r>
              <a:rPr lang="en-US" sz="1700" b="1" dirty="0">
                <a:latin typeface="Courier New" panose="02070409020205090404" pitchFamily="49" charset="0"/>
              </a:rPr>
              <a:t>(int </a:t>
            </a:r>
            <a:r>
              <a:rPr lang="en-US" sz="1700" b="1" dirty="0" err="1">
                <a:latin typeface="Courier New" panose="02070409020205090404" pitchFamily="49" charset="0"/>
              </a:rPr>
              <a:t>idNum</a:t>
            </a:r>
            <a:r>
              <a:rPr lang="en-US" sz="1700" b="1" dirty="0">
                <a:latin typeface="Courier New" panose="02070409020205090404" pitchFamily="49" charset="0"/>
              </a:rPr>
              <a:t>) const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       {  return </a:t>
            </a:r>
            <a:r>
              <a:rPr lang="en-US" sz="1700" b="1" dirty="0" err="1">
                <a:latin typeface="Courier New" panose="02070409020205090404" pitchFamily="49" charset="0"/>
              </a:rPr>
              <a:t>idNum</a:t>
            </a:r>
            <a:r>
              <a:rPr lang="en-US" sz="1700" b="1" dirty="0">
                <a:latin typeface="Courier New" panose="02070409020205090404" pitchFamily="49" charset="0"/>
              </a:rPr>
              <a:t> % NUM_BUCK;  }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endParaRPr lang="en-US" sz="11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   BUCKET </a:t>
            </a:r>
            <a:r>
              <a:rPr lang="en-US" sz="1700" b="1" dirty="0" err="1">
                <a:latin typeface="Courier New" panose="02070409020205090404" pitchFamily="49" charset="0"/>
              </a:rPr>
              <a:t>m_buckets</a:t>
            </a:r>
            <a:r>
              <a:rPr lang="en-US" sz="1700" b="1" dirty="0">
                <a:latin typeface="Courier New" panose="02070409020205090404" pitchFamily="49" charset="0"/>
              </a:rPr>
              <a:t>[NUM_BUCK];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};</a:t>
            </a:r>
            <a:endParaRPr lang="en-US" sz="1700" b="1" dirty="0">
              <a:solidFill>
                <a:srgbClr val="0000FF"/>
              </a:solidFill>
              <a:latin typeface="Courier New" panose="02070409020205090404" pitchFamily="49" charset="0"/>
            </a:endParaRPr>
          </a:p>
        </p:txBody>
      </p:sp>
      <p:sp>
        <p:nvSpPr>
          <p:cNvPr id="220" name="Line 119"/>
          <p:cNvSpPr>
            <a:spLocks noChangeShapeType="1"/>
          </p:cNvSpPr>
          <p:nvPr/>
        </p:nvSpPr>
        <p:spPr bwMode="auto">
          <a:xfrm>
            <a:off x="230188" y="1390650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2955" name="Text Box 75"/>
          <p:cNvSpPr txBox="1">
            <a:spLocks noChangeArrowheads="1"/>
          </p:cNvSpPr>
          <p:nvPr/>
        </p:nvSpPr>
        <p:spPr bwMode="auto">
          <a:xfrm>
            <a:off x="2917825" y="892175"/>
            <a:ext cx="555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6600FF"/>
                </a:solidFill>
              </a:rPr>
              <a:t>79</a:t>
            </a:r>
            <a:endParaRPr lang="en-US">
              <a:solidFill>
                <a:srgbClr val="6600FF"/>
              </a:solidFill>
            </a:endParaRPr>
          </a:p>
        </p:txBody>
      </p:sp>
      <p:sp>
        <p:nvSpPr>
          <p:cNvPr id="2" name="Line 119"/>
          <p:cNvSpPr>
            <a:spLocks noChangeShapeType="1"/>
          </p:cNvSpPr>
          <p:nvPr/>
        </p:nvSpPr>
        <p:spPr bwMode="auto">
          <a:xfrm>
            <a:off x="625475" y="1843088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5" name="AutoShape 99"/>
          <p:cNvSpPr>
            <a:spLocks noChangeArrowheads="1"/>
          </p:cNvSpPr>
          <p:nvPr/>
        </p:nvSpPr>
        <p:spPr bwMode="auto">
          <a:xfrm>
            <a:off x="3376613" y="42863"/>
            <a:ext cx="3417887" cy="1128712"/>
          </a:xfrm>
          <a:prstGeom prst="wedgeRoundRectCallout">
            <a:avLst>
              <a:gd name="adj1" fmla="val -44056"/>
              <a:gd name="adj2" fmla="val 98806"/>
              <a:gd name="adj3" fmla="val 16667"/>
            </a:avLst>
          </a:prstGeom>
          <a:solidFill>
            <a:srgbClr val="006666"/>
          </a:solidFill>
          <a:ln w="41275">
            <a:solidFill>
              <a:srgbClr val="800000"/>
            </a:solidFill>
            <a:miter lim="800000"/>
          </a:ln>
        </p:spPr>
        <p:txBody>
          <a:bodyPr anchor="ctr"/>
          <a:lstStyle/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</p:txBody>
      </p:sp>
      <p:sp>
        <p:nvSpPr>
          <p:cNvPr id="176" name="Text Box 100"/>
          <p:cNvSpPr txBox="1">
            <a:spLocks noChangeArrowheads="1"/>
          </p:cNvSpPr>
          <p:nvPr/>
        </p:nvSpPr>
        <p:spPr bwMode="auto">
          <a:xfrm>
            <a:off x="3559175" y="109538"/>
            <a:ext cx="31226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l" eaLnBrk="1" hangingPunct="1"/>
            <a:r>
              <a:rPr lang="en-US" sz="1800">
                <a:solidFill>
                  <a:schemeClr val="bg1"/>
                </a:solidFill>
              </a:rPr>
              <a:t>bucket = 79  % NUM_BUCK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177" name="Text Box 101"/>
          <p:cNvSpPr txBox="1">
            <a:spLocks noChangeArrowheads="1"/>
          </p:cNvSpPr>
          <p:nvPr/>
        </p:nvSpPr>
        <p:spPr bwMode="auto">
          <a:xfrm>
            <a:off x="3579813" y="679450"/>
            <a:ext cx="13049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l" eaLnBrk="1" hangingPunct="1"/>
            <a:r>
              <a:rPr lang="en-US" sz="1800">
                <a:solidFill>
                  <a:schemeClr val="bg1"/>
                </a:solidFill>
              </a:rPr>
              <a:t>bucket = 9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178" name="Text Box 102"/>
          <p:cNvSpPr txBox="1">
            <a:spLocks noChangeArrowheads="1"/>
          </p:cNvSpPr>
          <p:nvPr/>
        </p:nvSpPr>
        <p:spPr bwMode="auto">
          <a:xfrm>
            <a:off x="3565525" y="385763"/>
            <a:ext cx="20796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l" eaLnBrk="1" hangingPunct="1"/>
            <a:r>
              <a:rPr lang="en-US" sz="1800">
                <a:solidFill>
                  <a:schemeClr val="bg1"/>
                </a:solidFill>
              </a:rPr>
              <a:t>bucket = 79  % 10</a:t>
            </a:r>
            <a:endParaRPr lang="en-US" sz="1800">
              <a:solidFill>
                <a:schemeClr val="bg1"/>
              </a:solidFill>
            </a:endParaRPr>
          </a:p>
        </p:txBody>
      </p:sp>
      <p:grpSp>
        <p:nvGrpSpPr>
          <p:cNvPr id="122964" name="Group 84"/>
          <p:cNvGrpSpPr/>
          <p:nvPr/>
        </p:nvGrpSpPr>
        <p:grpSpPr bwMode="auto">
          <a:xfrm>
            <a:off x="4351338" y="1079500"/>
            <a:ext cx="1827212" cy="457200"/>
            <a:chOff x="-758" y="4939"/>
            <a:chExt cx="1151" cy="288"/>
          </a:xfrm>
        </p:grpSpPr>
        <p:sp>
          <p:nvSpPr>
            <p:cNvPr id="122965" name="Text Box 85"/>
            <p:cNvSpPr txBox="1">
              <a:spLocks noChangeArrowheads="1"/>
            </p:cNvSpPr>
            <p:nvPr/>
          </p:nvSpPr>
          <p:spPr bwMode="auto">
            <a:xfrm>
              <a:off x="-758" y="4939"/>
              <a:ext cx="7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6600FF"/>
                  </a:solidFill>
                </a:rPr>
                <a:t>bucket</a:t>
              </a:r>
              <a:endParaRPr lang="en-US">
                <a:solidFill>
                  <a:srgbClr val="6600FF"/>
                </a:solidFill>
              </a:endParaRPr>
            </a:p>
          </p:txBody>
        </p:sp>
        <p:sp>
          <p:nvSpPr>
            <p:cNvPr id="122966" name="Rectangle 86"/>
            <p:cNvSpPr>
              <a:spLocks noChangeArrowheads="1"/>
            </p:cNvSpPr>
            <p:nvPr/>
          </p:nvSpPr>
          <p:spPr bwMode="auto">
            <a:xfrm>
              <a:off x="-45" y="4960"/>
              <a:ext cx="438" cy="24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22967" name="Text Box 87"/>
          <p:cNvSpPr txBox="1">
            <a:spLocks noChangeArrowheads="1"/>
          </p:cNvSpPr>
          <p:nvPr/>
        </p:nvSpPr>
        <p:spPr bwMode="auto">
          <a:xfrm>
            <a:off x="5648325" y="1082675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9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3" name="Line 119"/>
          <p:cNvSpPr>
            <a:spLocks noChangeShapeType="1"/>
          </p:cNvSpPr>
          <p:nvPr/>
        </p:nvSpPr>
        <p:spPr bwMode="auto">
          <a:xfrm>
            <a:off x="615950" y="2347913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" name="Line 119"/>
          <p:cNvSpPr>
            <a:spLocks noChangeShapeType="1"/>
          </p:cNvSpPr>
          <p:nvPr/>
        </p:nvSpPr>
        <p:spPr bwMode="auto">
          <a:xfrm>
            <a:off x="1039813" y="2828925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2977" name="Rectangle 97"/>
          <p:cNvSpPr>
            <a:spLocks noChangeArrowheads="1"/>
          </p:cNvSpPr>
          <p:nvPr/>
        </p:nvSpPr>
        <p:spPr bwMode="auto">
          <a:xfrm>
            <a:off x="7612063" y="2538413"/>
            <a:ext cx="431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rgbClr val="FF0000"/>
                </a:solidFill>
              </a:rPr>
              <a:t>65</a:t>
            </a:r>
            <a:endParaRPr lang="en-US" sz="1600" b="1">
              <a:solidFill>
                <a:srgbClr val="FF0000"/>
              </a:solidFill>
            </a:endParaRPr>
          </a:p>
        </p:txBody>
      </p:sp>
      <p:sp>
        <p:nvSpPr>
          <p:cNvPr id="5" name="Line 119"/>
          <p:cNvSpPr>
            <a:spLocks noChangeShapeType="1"/>
          </p:cNvSpPr>
          <p:nvPr/>
        </p:nvSpPr>
        <p:spPr bwMode="auto">
          <a:xfrm>
            <a:off x="6478588" y="5948363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2980" name="Oval 100"/>
          <p:cNvSpPr>
            <a:spLocks noChangeArrowheads="1"/>
          </p:cNvSpPr>
          <p:nvPr/>
        </p:nvSpPr>
        <p:spPr bwMode="auto">
          <a:xfrm>
            <a:off x="8729663" y="3524250"/>
            <a:ext cx="300037" cy="355600"/>
          </a:xfrm>
          <a:prstGeom prst="ellipse">
            <a:avLst/>
          </a:prstGeom>
          <a:noFill/>
          <a:ln w="38100" algn="ctr">
            <a:solidFill>
              <a:srgbClr val="6600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Line 119"/>
          <p:cNvSpPr>
            <a:spLocks noChangeShapeType="1"/>
          </p:cNvSpPr>
          <p:nvPr/>
        </p:nvSpPr>
        <p:spPr bwMode="auto">
          <a:xfrm>
            <a:off x="1020763" y="4238625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2983" name="Text Box 103"/>
          <p:cNvSpPr txBox="1">
            <a:spLocks noChangeArrowheads="1"/>
          </p:cNvSpPr>
          <p:nvPr/>
        </p:nvSpPr>
        <p:spPr bwMode="auto">
          <a:xfrm>
            <a:off x="5661025" y="1071563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0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7" name="Line 119"/>
          <p:cNvSpPr>
            <a:spLocks noChangeShapeType="1"/>
          </p:cNvSpPr>
          <p:nvPr/>
        </p:nvSpPr>
        <p:spPr bwMode="auto">
          <a:xfrm>
            <a:off x="612775" y="2341563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" name="Line 119"/>
          <p:cNvSpPr>
            <a:spLocks noChangeShapeType="1"/>
          </p:cNvSpPr>
          <p:nvPr/>
        </p:nvSpPr>
        <p:spPr bwMode="auto">
          <a:xfrm>
            <a:off x="1022350" y="2822575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" name="Line 119"/>
          <p:cNvSpPr>
            <a:spLocks noChangeShapeType="1"/>
          </p:cNvSpPr>
          <p:nvPr/>
        </p:nvSpPr>
        <p:spPr bwMode="auto">
          <a:xfrm>
            <a:off x="1417638" y="3275013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2987" name="Text Box 107"/>
          <p:cNvSpPr txBox="1">
            <a:spLocks noChangeArrowheads="1"/>
          </p:cNvSpPr>
          <p:nvPr/>
        </p:nvSpPr>
        <p:spPr bwMode="auto">
          <a:xfrm>
            <a:off x="8710613" y="1281113"/>
            <a:ext cx="3254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T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122988" name="Rectangle 108"/>
          <p:cNvSpPr>
            <a:spLocks noChangeArrowheads="1"/>
          </p:cNvSpPr>
          <p:nvPr/>
        </p:nvSpPr>
        <p:spPr bwMode="auto">
          <a:xfrm>
            <a:off x="7635875" y="1290638"/>
            <a:ext cx="431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rgbClr val="FF0000"/>
                </a:solidFill>
              </a:rPr>
              <a:t>79</a:t>
            </a:r>
            <a:endParaRPr lang="en-US" sz="1600" b="1">
              <a:solidFill>
                <a:srgbClr val="FF0000"/>
              </a:solidFill>
            </a:endParaRPr>
          </a:p>
        </p:txBody>
      </p:sp>
      <p:sp>
        <p:nvSpPr>
          <p:cNvPr id="10" name="Line 119"/>
          <p:cNvSpPr>
            <a:spLocks noChangeShapeType="1"/>
          </p:cNvSpPr>
          <p:nvPr/>
        </p:nvSpPr>
        <p:spPr bwMode="auto">
          <a:xfrm>
            <a:off x="1412875" y="3556000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" name="Line 119"/>
          <p:cNvSpPr>
            <a:spLocks noChangeShapeType="1"/>
          </p:cNvSpPr>
          <p:nvPr/>
        </p:nvSpPr>
        <p:spPr bwMode="auto">
          <a:xfrm>
            <a:off x="1408113" y="3765550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" name="Line 119"/>
          <p:cNvSpPr>
            <a:spLocks noChangeShapeType="1"/>
          </p:cNvSpPr>
          <p:nvPr/>
        </p:nvSpPr>
        <p:spPr bwMode="auto">
          <a:xfrm>
            <a:off x="6242050" y="6497638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2996" name="Text Box 116"/>
          <p:cNvSpPr txBox="1">
            <a:spLocks noChangeArrowheads="1"/>
          </p:cNvSpPr>
          <p:nvPr/>
        </p:nvSpPr>
        <p:spPr bwMode="auto">
          <a:xfrm>
            <a:off x="8686800" y="2528888"/>
            <a:ext cx="3254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rgbClr val="FF0000"/>
                </a:solidFill>
              </a:rPr>
              <a:t>T</a:t>
            </a:r>
            <a:endParaRPr lang="en-US" sz="1600" b="1">
              <a:solidFill>
                <a:srgbClr val="FF0000"/>
              </a:solidFill>
            </a:endParaRPr>
          </a:p>
        </p:txBody>
      </p:sp>
      <p:sp>
        <p:nvSpPr>
          <p:cNvPr id="122997" name="Rectangle 117"/>
          <p:cNvSpPr>
            <a:spLocks noChangeArrowheads="1"/>
          </p:cNvSpPr>
          <p:nvPr/>
        </p:nvSpPr>
        <p:spPr bwMode="auto">
          <a:xfrm>
            <a:off x="6537325" y="3467100"/>
            <a:ext cx="2606675" cy="434975"/>
          </a:xfrm>
          <a:prstGeom prst="rect">
            <a:avLst/>
          </a:prstGeom>
          <a:noFill/>
          <a:ln w="63500" algn="ctr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98" name="Oval 118"/>
          <p:cNvSpPr>
            <a:spLocks noChangeArrowheads="1"/>
          </p:cNvSpPr>
          <p:nvPr/>
        </p:nvSpPr>
        <p:spPr bwMode="auto">
          <a:xfrm>
            <a:off x="8705850" y="1263650"/>
            <a:ext cx="300038" cy="355600"/>
          </a:xfrm>
          <a:prstGeom prst="ellipse">
            <a:avLst/>
          </a:prstGeom>
          <a:noFill/>
          <a:ln w="38100" algn="ctr">
            <a:solidFill>
              <a:srgbClr val="6600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3974952" y="-64472"/>
            <a:ext cx="82232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dirty="0"/>
              <a:t>Linear Probing:</a:t>
            </a:r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Searching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24931" name="Rectangle 3"/>
          <p:cNvSpPr>
            <a:spLocks noChangeArrowheads="1"/>
          </p:cNvSpPr>
          <p:nvPr/>
        </p:nvSpPr>
        <p:spPr bwMode="auto">
          <a:xfrm>
            <a:off x="381000" y="61913"/>
            <a:ext cx="6526213" cy="6478697"/>
          </a:xfrm>
          <a:prstGeom prst="rect">
            <a:avLst/>
          </a:prstGeom>
          <a:solidFill>
            <a:srgbClr val="FFFFE5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sz="1700" b="1" dirty="0">
                <a:latin typeface="Courier New" panose="02070409020205090404" pitchFamily="49" charset="0"/>
              </a:rPr>
              <a:t>const int NUM_BUCK = 10;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endParaRPr lang="en-US" sz="8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class </a:t>
            </a:r>
            <a:r>
              <a:rPr lang="en-US" sz="1700" b="1" dirty="0" err="1">
                <a:latin typeface="Courier New" panose="02070409020205090404" pitchFamily="49" charset="0"/>
              </a:rPr>
              <a:t>HashTable</a:t>
            </a:r>
            <a:r>
              <a:rPr lang="en-US" sz="1700" b="1" dirty="0">
                <a:latin typeface="Courier New" panose="02070409020205090404" pitchFamily="49" charset="0"/>
              </a:rPr>
              <a:t> </a:t>
            </a:r>
            <a:br>
              <a:rPr lang="en-US" sz="1700" b="1" dirty="0">
                <a:latin typeface="Courier New" panose="02070409020205090404" pitchFamily="49" charset="0"/>
              </a:rPr>
            </a:br>
            <a:r>
              <a:rPr lang="en-US" sz="1200" b="1" dirty="0">
                <a:latin typeface="Courier New" panose="02070409020205090404" pitchFamily="49" charset="0"/>
              </a:rPr>
              <a:t>{</a:t>
            </a:r>
            <a:endParaRPr lang="en-US" sz="12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public: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endParaRPr lang="en-US" sz="800" b="1" dirty="0">
              <a:latin typeface="Courier New" panose="02070409020205090404" pitchFamily="49" charset="0"/>
            </a:endParaRPr>
          </a:p>
          <a:p>
            <a:pPr algn="l"/>
            <a:r>
              <a:rPr lang="en-US" sz="1800" b="1" dirty="0">
                <a:latin typeface="Courier New" panose="02070409020205090404" pitchFamily="49" charset="0"/>
              </a:rPr>
              <a:t> </a:t>
            </a:r>
            <a:r>
              <a:rPr lang="en-US" sz="800" b="1" dirty="0">
                <a:latin typeface="Courier New" panose="02070409020205090404" pitchFamily="49" charset="0"/>
              </a:rPr>
              <a:t> </a:t>
            </a:r>
            <a:r>
              <a:rPr lang="en-US" sz="1800" b="1" dirty="0">
                <a:latin typeface="Courier New" panose="02070409020205090404" pitchFamily="49" charset="0"/>
              </a:rPr>
              <a:t>bool search(int </a:t>
            </a:r>
            <a:r>
              <a:rPr lang="en-US" sz="1800" b="1" dirty="0" err="1">
                <a:latin typeface="Courier New" panose="02070409020205090404" pitchFamily="49" charset="0"/>
              </a:rPr>
              <a:t>idNum</a:t>
            </a:r>
            <a:r>
              <a:rPr lang="en-US" sz="1800" b="1" dirty="0">
                <a:latin typeface="Courier New" panose="02070409020205090404" pitchFamily="49" charset="0"/>
              </a:rPr>
              <a:t>)</a:t>
            </a:r>
            <a:endParaRPr lang="en-US" sz="1800" b="1" dirty="0">
              <a:latin typeface="Courier New" panose="02070409020205090404" pitchFamily="49" charset="0"/>
            </a:endParaRPr>
          </a:p>
          <a:p>
            <a:pPr algn="l"/>
            <a:r>
              <a:rPr lang="en-US" sz="1300" b="1" dirty="0">
                <a:latin typeface="Courier New" panose="02070409020205090404" pitchFamily="49" charset="0"/>
              </a:rPr>
              <a:t>  {</a:t>
            </a:r>
            <a:endParaRPr lang="en-US" sz="1300" b="1" dirty="0">
              <a:latin typeface="Courier New" panose="02070409020205090404" pitchFamily="49" charset="0"/>
            </a:endParaRPr>
          </a:p>
          <a:p>
            <a:pPr algn="l"/>
            <a:r>
              <a:rPr lang="en-US" sz="1800" b="1" dirty="0">
                <a:latin typeface="Courier New" panose="02070409020205090404" pitchFamily="49" charset="0"/>
              </a:rPr>
              <a:t>    int bucket = </a:t>
            </a:r>
            <a:r>
              <a:rPr lang="en-US" sz="1800" b="1" dirty="0" err="1">
                <a:latin typeface="Courier New" panose="02070409020205090404" pitchFamily="49" charset="0"/>
              </a:rPr>
              <a:t>mapFunc</a:t>
            </a:r>
            <a:r>
              <a:rPr lang="en-US" sz="1800" b="1" dirty="0">
                <a:latin typeface="Courier New" panose="02070409020205090404" pitchFamily="49" charset="0"/>
              </a:rPr>
              <a:t>(</a:t>
            </a:r>
            <a:r>
              <a:rPr lang="en-US" sz="1800" b="1" dirty="0" err="1">
                <a:latin typeface="Courier New" panose="02070409020205090404" pitchFamily="49" charset="0"/>
              </a:rPr>
              <a:t>idNum</a:t>
            </a:r>
            <a:r>
              <a:rPr lang="en-US" sz="1800" b="1" dirty="0">
                <a:latin typeface="Courier New" panose="02070409020205090404" pitchFamily="49" charset="0"/>
              </a:rPr>
              <a:t>);</a:t>
            </a:r>
            <a:endParaRPr lang="en-US" sz="1800" b="1" dirty="0">
              <a:latin typeface="Courier New" panose="02070409020205090404" pitchFamily="49" charset="0"/>
            </a:endParaRPr>
          </a:p>
          <a:p>
            <a:pPr algn="l"/>
            <a:r>
              <a:rPr lang="en-US" sz="800" b="1" dirty="0">
                <a:latin typeface="Courier New" panose="02070409020205090404" pitchFamily="49" charset="0"/>
              </a:rPr>
              <a:t> </a:t>
            </a:r>
            <a:endParaRPr lang="en-US" sz="800" b="1" dirty="0">
              <a:latin typeface="Courier New" panose="02070409020205090404" pitchFamily="49" charset="0"/>
            </a:endParaRPr>
          </a:p>
          <a:p>
            <a:pPr algn="l"/>
            <a:r>
              <a:rPr lang="en-US" sz="1800" b="1" dirty="0">
                <a:latin typeface="Courier New" panose="02070409020205090404" pitchFamily="49" charset="0"/>
              </a:rPr>
              <a:t>    for (int tries=0;tries&lt;</a:t>
            </a:r>
            <a:r>
              <a:rPr lang="en-US" sz="1800" b="1" dirty="0" err="1">
                <a:latin typeface="Courier New" panose="02070409020205090404" pitchFamily="49" charset="0"/>
              </a:rPr>
              <a:t>NUM_BUCK;tries</a:t>
            </a:r>
            <a:r>
              <a:rPr lang="en-US" sz="1800" b="1" dirty="0">
                <a:latin typeface="Courier New" panose="02070409020205090404" pitchFamily="49" charset="0"/>
              </a:rPr>
              <a:t>++)</a:t>
            </a:r>
            <a:endParaRPr lang="en-US" sz="1800" b="1" dirty="0">
              <a:latin typeface="Courier New" panose="02070409020205090404" pitchFamily="49" charset="0"/>
            </a:endParaRPr>
          </a:p>
          <a:p>
            <a:pPr algn="l"/>
            <a:r>
              <a:rPr lang="en-US" sz="1300" b="1" dirty="0">
                <a:latin typeface="Courier New" panose="02070409020205090404" pitchFamily="49" charset="0"/>
              </a:rPr>
              <a:t>      {</a:t>
            </a:r>
            <a:endParaRPr lang="en-US" sz="1300" b="1" dirty="0">
              <a:latin typeface="Courier New" panose="02070409020205090404" pitchFamily="49" charset="0"/>
            </a:endParaRPr>
          </a:p>
          <a:p>
            <a:pPr algn="l"/>
            <a:r>
              <a:rPr lang="en-US" sz="1800" dirty="0">
                <a:latin typeface="Courier New" panose="02070409020205090404" pitchFamily="49" charset="0"/>
              </a:rPr>
              <a:t>      </a:t>
            </a:r>
            <a:r>
              <a:rPr lang="en-US" sz="1800" b="1" dirty="0">
                <a:latin typeface="Courier New" panose="02070409020205090404" pitchFamily="49" charset="0"/>
              </a:rPr>
              <a:t>if (</a:t>
            </a:r>
            <a:r>
              <a:rPr lang="en-US" sz="1800" b="1" dirty="0" err="1">
                <a:latin typeface="Courier New" panose="02070409020205090404" pitchFamily="49" charset="0"/>
              </a:rPr>
              <a:t>m_buckets</a:t>
            </a:r>
            <a:r>
              <a:rPr lang="en-US" sz="1800" b="1" dirty="0">
                <a:latin typeface="Courier New" panose="02070409020205090404" pitchFamily="49" charset="0"/>
              </a:rPr>
              <a:t>[bucket].used == false)</a:t>
            </a:r>
            <a:endParaRPr lang="en-US" sz="1800" b="1" dirty="0">
              <a:latin typeface="Courier New" panose="02070409020205090404" pitchFamily="49" charset="0"/>
            </a:endParaRPr>
          </a:p>
          <a:p>
            <a:pPr algn="l"/>
            <a:r>
              <a:rPr lang="en-US" sz="1800" b="1" dirty="0">
                <a:latin typeface="Courier New" panose="02070409020205090404" pitchFamily="49" charset="0"/>
              </a:rPr>
              <a:t>        return false;</a:t>
            </a:r>
            <a:endParaRPr lang="en-US" sz="1800" b="1" dirty="0">
              <a:latin typeface="Courier New" panose="02070409020205090404" pitchFamily="49" charset="0"/>
            </a:endParaRPr>
          </a:p>
          <a:p>
            <a:pPr algn="l"/>
            <a:r>
              <a:rPr lang="en-US" sz="1800" b="1" dirty="0">
                <a:latin typeface="Courier New" panose="02070409020205090404" pitchFamily="49" charset="0"/>
              </a:rPr>
              <a:t>      if (</a:t>
            </a:r>
            <a:r>
              <a:rPr lang="en-US" sz="1800" b="1" dirty="0" err="1">
                <a:latin typeface="Courier New" panose="02070409020205090404" pitchFamily="49" charset="0"/>
              </a:rPr>
              <a:t>m_buckets</a:t>
            </a:r>
            <a:r>
              <a:rPr lang="en-US" sz="1800" b="1" dirty="0">
                <a:latin typeface="Courier New" panose="02070409020205090404" pitchFamily="49" charset="0"/>
              </a:rPr>
              <a:t>[bucket].</a:t>
            </a:r>
            <a:r>
              <a:rPr lang="en-US" sz="1800" b="1" dirty="0" err="1">
                <a:latin typeface="Courier New" panose="02070409020205090404" pitchFamily="49" charset="0"/>
              </a:rPr>
              <a:t>idNum</a:t>
            </a:r>
            <a:r>
              <a:rPr lang="en-US" sz="1800" b="1" dirty="0">
                <a:latin typeface="Courier New" panose="02070409020205090404" pitchFamily="49" charset="0"/>
              </a:rPr>
              <a:t> == </a:t>
            </a:r>
            <a:r>
              <a:rPr lang="en-US" sz="1800" b="1" dirty="0" err="1">
                <a:latin typeface="Courier New" panose="02070409020205090404" pitchFamily="49" charset="0"/>
              </a:rPr>
              <a:t>idNum</a:t>
            </a:r>
            <a:r>
              <a:rPr lang="en-US" sz="1800" b="1" dirty="0">
                <a:latin typeface="Courier New" panose="02070409020205090404" pitchFamily="49" charset="0"/>
              </a:rPr>
              <a:t>)</a:t>
            </a:r>
            <a:endParaRPr lang="en-US" sz="1800" b="1" dirty="0">
              <a:latin typeface="Courier New" panose="02070409020205090404" pitchFamily="49" charset="0"/>
            </a:endParaRPr>
          </a:p>
          <a:p>
            <a:pPr algn="l"/>
            <a:r>
              <a:rPr lang="en-US" sz="1800" b="1" dirty="0">
                <a:latin typeface="Courier New" panose="02070409020205090404" pitchFamily="49" charset="0"/>
              </a:rPr>
              <a:t>        return true;</a:t>
            </a:r>
            <a:endParaRPr lang="en-US" sz="1800" b="1" dirty="0">
              <a:latin typeface="Courier New" panose="02070409020205090404" pitchFamily="49" charset="0"/>
            </a:endParaRPr>
          </a:p>
          <a:p>
            <a:pPr algn="l"/>
            <a:endParaRPr lang="en-US" sz="800" b="1" dirty="0">
              <a:latin typeface="Courier New" panose="02070409020205090404" pitchFamily="49" charset="0"/>
            </a:endParaRPr>
          </a:p>
          <a:p>
            <a:pPr algn="l"/>
            <a:r>
              <a:rPr lang="en-US" sz="1800" b="1" dirty="0">
                <a:latin typeface="Courier New" panose="02070409020205090404" pitchFamily="49" charset="0"/>
              </a:rPr>
              <a:t>      bucket = (bucket + 1) % NUM_BUCK;</a:t>
            </a:r>
            <a:endParaRPr lang="en-US" sz="1800" b="1" dirty="0">
              <a:latin typeface="Courier New" panose="02070409020205090404" pitchFamily="49" charset="0"/>
            </a:endParaRPr>
          </a:p>
          <a:p>
            <a:pPr algn="l"/>
            <a:r>
              <a:rPr lang="en-US" sz="1300" b="1" dirty="0">
                <a:latin typeface="Courier New" panose="02070409020205090404" pitchFamily="49" charset="0"/>
              </a:rPr>
              <a:t>      }</a:t>
            </a:r>
            <a:endParaRPr lang="en-US" sz="1300" b="1" dirty="0">
              <a:latin typeface="Courier New" panose="02070409020205090404" pitchFamily="49" charset="0"/>
            </a:endParaRPr>
          </a:p>
          <a:p>
            <a:pPr algn="l"/>
            <a:r>
              <a:rPr lang="en-US" sz="1800" b="1" dirty="0">
                <a:latin typeface="Courier New" panose="02070409020205090404" pitchFamily="49" charset="0"/>
              </a:rPr>
              <a:t>    return false;// not in the hash table</a:t>
            </a:r>
            <a:endParaRPr lang="en-US" sz="1800" b="1" dirty="0">
              <a:latin typeface="Courier New" panose="02070409020205090404" pitchFamily="49" charset="0"/>
            </a:endParaRPr>
          </a:p>
          <a:p>
            <a:pPr algn="l"/>
            <a:r>
              <a:rPr lang="en-US" sz="1300" b="1" dirty="0">
                <a:latin typeface="Courier New" panose="02070409020205090404" pitchFamily="49" charset="0"/>
              </a:rPr>
              <a:t>  }</a:t>
            </a:r>
            <a:endParaRPr lang="en-US" sz="1300" b="1" dirty="0">
              <a:latin typeface="Courier New" panose="02070409020205090404" pitchFamily="49" charset="0"/>
            </a:endParaRPr>
          </a:p>
          <a:p>
            <a:pPr algn="l"/>
            <a:endParaRPr lang="en-US" sz="800" b="1" dirty="0">
              <a:latin typeface="Courier New" panose="02070409020205090404" pitchFamily="49" charset="0"/>
            </a:endParaRPr>
          </a:p>
          <a:p>
            <a:pPr algn="l"/>
            <a:r>
              <a:rPr lang="en-US" sz="1800" b="1" dirty="0">
                <a:latin typeface="Courier New" panose="02070409020205090404" pitchFamily="49" charset="0"/>
              </a:rPr>
              <a:t>private:</a:t>
            </a:r>
            <a:endParaRPr lang="en-US" sz="1800" b="1" dirty="0">
              <a:latin typeface="Courier New" panose="02070409020205090404" pitchFamily="49" charset="0"/>
            </a:endParaRPr>
          </a:p>
          <a:p>
            <a:pPr algn="l"/>
            <a:r>
              <a:rPr lang="en-US" sz="1800" b="1" dirty="0">
                <a:latin typeface="Courier New" panose="02070409020205090404" pitchFamily="49" charset="0"/>
              </a:rPr>
              <a:t>   int </a:t>
            </a:r>
            <a:r>
              <a:rPr lang="en-US" sz="1800" b="1" dirty="0" err="1">
                <a:latin typeface="Courier New" panose="02070409020205090404" pitchFamily="49" charset="0"/>
              </a:rPr>
              <a:t>mapFunc</a:t>
            </a:r>
            <a:r>
              <a:rPr lang="en-US" sz="1800" b="1" dirty="0">
                <a:latin typeface="Courier New" panose="02070409020205090404" pitchFamily="49" charset="0"/>
              </a:rPr>
              <a:t>(int </a:t>
            </a:r>
            <a:r>
              <a:rPr lang="en-US" sz="1800" b="1" dirty="0" err="1">
                <a:latin typeface="Courier New" panose="02070409020205090404" pitchFamily="49" charset="0"/>
              </a:rPr>
              <a:t>idNum</a:t>
            </a:r>
            <a:r>
              <a:rPr lang="en-US" sz="1800" b="1" dirty="0">
                <a:latin typeface="Courier New" panose="02070409020205090404" pitchFamily="49" charset="0"/>
              </a:rPr>
              <a:t>) const</a:t>
            </a:r>
            <a:endParaRPr lang="en-US" sz="1800" b="1" dirty="0">
              <a:latin typeface="Courier New" panose="02070409020205090404" pitchFamily="49" charset="0"/>
            </a:endParaRPr>
          </a:p>
          <a:p>
            <a:pPr algn="l"/>
            <a:r>
              <a:rPr lang="en-US" sz="1800" b="1" dirty="0">
                <a:latin typeface="Courier New" panose="02070409020205090404" pitchFamily="49" charset="0"/>
              </a:rPr>
              <a:t>       {  return </a:t>
            </a:r>
            <a:r>
              <a:rPr lang="en-US" sz="1800" b="1" dirty="0" err="1">
                <a:latin typeface="Courier New" panose="02070409020205090404" pitchFamily="49" charset="0"/>
              </a:rPr>
              <a:t>idNum</a:t>
            </a:r>
            <a:r>
              <a:rPr lang="en-US" sz="1800" b="1" dirty="0">
                <a:latin typeface="Courier New" panose="02070409020205090404" pitchFamily="49" charset="0"/>
              </a:rPr>
              <a:t> % NUM_BUCK;  }</a:t>
            </a:r>
            <a:endParaRPr lang="en-US" sz="1800" b="1" dirty="0">
              <a:latin typeface="Courier New" panose="02070409020205090404" pitchFamily="49" charset="0"/>
            </a:endParaRPr>
          </a:p>
          <a:p>
            <a:pPr algn="l"/>
            <a:endParaRPr lang="en-US" sz="800" b="1" dirty="0">
              <a:latin typeface="Courier New" panose="02070409020205090404" pitchFamily="49" charset="0"/>
            </a:endParaRPr>
          </a:p>
          <a:p>
            <a:pPr algn="l"/>
            <a:r>
              <a:rPr lang="en-US" sz="1800" b="1" dirty="0">
                <a:latin typeface="Courier New" panose="02070409020205090404" pitchFamily="49" charset="0"/>
              </a:rPr>
              <a:t>   BUCKET </a:t>
            </a:r>
            <a:r>
              <a:rPr lang="en-US" sz="1800" b="1" dirty="0" err="1">
                <a:latin typeface="Courier New" panose="02070409020205090404" pitchFamily="49" charset="0"/>
              </a:rPr>
              <a:t>m_buckets</a:t>
            </a:r>
            <a:r>
              <a:rPr lang="en-US" sz="1800" b="1" dirty="0">
                <a:latin typeface="Courier New" panose="02070409020205090404" pitchFamily="49" charset="0"/>
              </a:rPr>
              <a:t>[NUM_BUCK];</a:t>
            </a:r>
            <a:endParaRPr lang="en-US" sz="1800" b="1" dirty="0">
              <a:latin typeface="Courier New" panose="02070409020205090404" pitchFamily="49" charset="0"/>
            </a:endParaRPr>
          </a:p>
          <a:p>
            <a:pPr algn="l"/>
            <a:r>
              <a:rPr lang="en-US" sz="1800" b="1" dirty="0">
                <a:latin typeface="Courier New" panose="02070409020205090404" pitchFamily="49" charset="0"/>
              </a:rPr>
              <a:t>};</a:t>
            </a:r>
            <a:endParaRPr lang="en-US" sz="1800" b="1" dirty="0">
              <a:latin typeface="Courier New" panose="02070409020205090404" pitchFamily="49" charset="0"/>
            </a:endParaRPr>
          </a:p>
        </p:txBody>
      </p:sp>
      <p:sp>
        <p:nvSpPr>
          <p:cNvPr id="124932" name="Slide Number Placeholder 4"/>
          <p:cNvSpPr txBox="1">
            <a:spLocks noGrp="1"/>
          </p:cNvSpPr>
          <p:nvPr/>
        </p:nvSpPr>
        <p:spPr bwMode="auto">
          <a:xfrm>
            <a:off x="-1447800" y="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r" eaLnBrk="1" hangingPunct="1"/>
            <a:fld id="{A31E8D32-18E6-4B8A-8B32-4DE9295B04BE}" type="slidenum">
              <a:rPr lang="en-US" sz="1400">
                <a:solidFill>
                  <a:schemeClr val="tx1"/>
                </a:solidFill>
                <a:latin typeface="Times New Roman" panose="02020503050405090304" pitchFamily="18" charset="0"/>
              </a:rPr>
            </a:fld>
            <a:endParaRPr lang="en-US" sz="140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3" name="Slide Number Placeholder 4"/>
          <p:cNvSpPr txBox="1">
            <a:spLocks noGrp="1"/>
          </p:cNvSpPr>
          <p:nvPr/>
        </p:nvSpPr>
        <p:spPr bwMode="auto">
          <a:xfrm>
            <a:off x="-1447800" y="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r" eaLnBrk="1" hangingPunct="1"/>
            <a:fld id="{900667BF-D6F1-43EA-947E-9C949C5029C9}" type="slidenum">
              <a:rPr lang="en-US" sz="1400">
                <a:solidFill>
                  <a:schemeClr val="tx1"/>
                </a:solidFill>
                <a:latin typeface="Times New Roman" panose="02020503050405090304" pitchFamily="18" charset="0"/>
              </a:rPr>
            </a:fld>
            <a:endParaRPr lang="en-US" sz="140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  <p:sp>
        <p:nvSpPr>
          <p:cNvPr id="128185" name="Rectangle 185"/>
          <p:cNvSpPr>
            <a:spLocks noChangeArrowheads="1"/>
          </p:cNvSpPr>
          <p:nvPr/>
        </p:nvSpPr>
        <p:spPr bwMode="auto">
          <a:xfrm>
            <a:off x="80963" y="61913"/>
            <a:ext cx="6526212" cy="6478697"/>
          </a:xfrm>
          <a:prstGeom prst="rect">
            <a:avLst/>
          </a:prstGeom>
          <a:solidFill>
            <a:srgbClr val="FFFFE5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sz="1700" b="1" dirty="0">
                <a:latin typeface="Courier New" panose="02070409020205090404" pitchFamily="49" charset="0"/>
              </a:rPr>
              <a:t>const int NUM_BUCK = 10;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endParaRPr lang="en-US" sz="8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class </a:t>
            </a:r>
            <a:r>
              <a:rPr lang="en-US" sz="1700" b="1" dirty="0" err="1">
                <a:latin typeface="Courier New" panose="02070409020205090404" pitchFamily="49" charset="0"/>
              </a:rPr>
              <a:t>HashTable</a:t>
            </a:r>
            <a:r>
              <a:rPr lang="en-US" sz="1700" b="1" dirty="0">
                <a:latin typeface="Courier New" panose="02070409020205090404" pitchFamily="49" charset="0"/>
              </a:rPr>
              <a:t> </a:t>
            </a:r>
            <a:br>
              <a:rPr lang="en-US" sz="1700" b="1" dirty="0">
                <a:latin typeface="Courier New" panose="02070409020205090404" pitchFamily="49" charset="0"/>
              </a:rPr>
            </a:br>
            <a:r>
              <a:rPr lang="en-US" sz="1200" b="1" dirty="0">
                <a:latin typeface="Courier New" panose="02070409020205090404" pitchFamily="49" charset="0"/>
              </a:rPr>
              <a:t>{</a:t>
            </a:r>
            <a:endParaRPr lang="en-US" sz="12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public: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endParaRPr lang="en-US" sz="800" b="1" dirty="0">
              <a:latin typeface="Courier New" panose="02070409020205090404" pitchFamily="49" charset="0"/>
            </a:endParaRPr>
          </a:p>
          <a:p>
            <a:pPr algn="l"/>
            <a:r>
              <a:rPr lang="en-US" sz="1800" b="1" dirty="0">
                <a:latin typeface="Courier New" panose="02070409020205090404" pitchFamily="49" charset="0"/>
              </a:rPr>
              <a:t> </a:t>
            </a:r>
            <a:r>
              <a:rPr lang="en-US" sz="800" b="1" dirty="0">
                <a:latin typeface="Courier New" panose="02070409020205090404" pitchFamily="49" charset="0"/>
              </a:rPr>
              <a:t> </a:t>
            </a:r>
            <a:r>
              <a:rPr lang="en-US" sz="1800" b="1" dirty="0">
                <a:latin typeface="Courier New" panose="02070409020205090404" pitchFamily="49" charset="0"/>
              </a:rPr>
              <a:t>bool search(int </a:t>
            </a:r>
            <a:r>
              <a:rPr lang="en-US" sz="1800" b="1" dirty="0" err="1">
                <a:latin typeface="Courier New" panose="02070409020205090404" pitchFamily="49" charset="0"/>
              </a:rPr>
              <a:t>idNum</a:t>
            </a:r>
            <a:r>
              <a:rPr lang="en-US" sz="1800" b="1" dirty="0">
                <a:latin typeface="Courier New" panose="02070409020205090404" pitchFamily="49" charset="0"/>
              </a:rPr>
              <a:t>)</a:t>
            </a:r>
            <a:endParaRPr lang="en-US" sz="1800" b="1" dirty="0">
              <a:latin typeface="Courier New" panose="02070409020205090404" pitchFamily="49" charset="0"/>
            </a:endParaRPr>
          </a:p>
          <a:p>
            <a:pPr algn="l"/>
            <a:r>
              <a:rPr lang="en-US" sz="1300" b="1" dirty="0">
                <a:latin typeface="Courier New" panose="02070409020205090404" pitchFamily="49" charset="0"/>
              </a:rPr>
              <a:t>  {</a:t>
            </a:r>
            <a:endParaRPr lang="en-US" sz="1300" b="1" dirty="0">
              <a:latin typeface="Courier New" panose="02070409020205090404" pitchFamily="49" charset="0"/>
            </a:endParaRPr>
          </a:p>
          <a:p>
            <a:pPr algn="l"/>
            <a:r>
              <a:rPr lang="en-US" sz="1800" b="1" dirty="0">
                <a:latin typeface="Courier New" panose="02070409020205090404" pitchFamily="49" charset="0"/>
              </a:rPr>
              <a:t>    int bucket = </a:t>
            </a:r>
            <a:r>
              <a:rPr lang="en-US" sz="1800" b="1" dirty="0" err="1">
                <a:latin typeface="Courier New" panose="02070409020205090404" pitchFamily="49" charset="0"/>
              </a:rPr>
              <a:t>mapFunc</a:t>
            </a:r>
            <a:r>
              <a:rPr lang="en-US" sz="1800" b="1" dirty="0">
                <a:latin typeface="Courier New" panose="02070409020205090404" pitchFamily="49" charset="0"/>
              </a:rPr>
              <a:t>(</a:t>
            </a:r>
            <a:r>
              <a:rPr lang="en-US" sz="1800" b="1" dirty="0" err="1">
                <a:latin typeface="Courier New" panose="02070409020205090404" pitchFamily="49" charset="0"/>
              </a:rPr>
              <a:t>idNum</a:t>
            </a:r>
            <a:r>
              <a:rPr lang="en-US" sz="1800" b="1" dirty="0">
                <a:latin typeface="Courier New" panose="02070409020205090404" pitchFamily="49" charset="0"/>
              </a:rPr>
              <a:t>);</a:t>
            </a:r>
            <a:endParaRPr lang="en-US" sz="1800" b="1" dirty="0">
              <a:latin typeface="Courier New" panose="02070409020205090404" pitchFamily="49" charset="0"/>
            </a:endParaRPr>
          </a:p>
          <a:p>
            <a:pPr algn="l"/>
            <a:r>
              <a:rPr lang="en-US" sz="800" b="1" dirty="0">
                <a:latin typeface="Courier New" panose="02070409020205090404" pitchFamily="49" charset="0"/>
              </a:rPr>
              <a:t> </a:t>
            </a:r>
            <a:endParaRPr lang="en-US" sz="800" b="1" dirty="0">
              <a:latin typeface="Courier New" panose="02070409020205090404" pitchFamily="49" charset="0"/>
            </a:endParaRPr>
          </a:p>
          <a:p>
            <a:pPr algn="l"/>
            <a:r>
              <a:rPr lang="en-US" sz="1800" b="1" dirty="0">
                <a:latin typeface="Courier New" panose="02070409020205090404" pitchFamily="49" charset="0"/>
              </a:rPr>
              <a:t>    for (int tries=0;tries&lt;</a:t>
            </a:r>
            <a:r>
              <a:rPr lang="en-US" sz="1800" b="1" dirty="0" err="1">
                <a:latin typeface="Courier New" panose="02070409020205090404" pitchFamily="49" charset="0"/>
              </a:rPr>
              <a:t>NUM_BUCK;tries</a:t>
            </a:r>
            <a:r>
              <a:rPr lang="en-US" sz="1800" b="1" dirty="0">
                <a:latin typeface="Courier New" panose="02070409020205090404" pitchFamily="49" charset="0"/>
              </a:rPr>
              <a:t>++)</a:t>
            </a:r>
            <a:endParaRPr lang="en-US" sz="1800" b="1" dirty="0">
              <a:latin typeface="Courier New" panose="02070409020205090404" pitchFamily="49" charset="0"/>
            </a:endParaRPr>
          </a:p>
          <a:p>
            <a:pPr algn="l"/>
            <a:r>
              <a:rPr lang="en-US" sz="1300" b="1" dirty="0">
                <a:latin typeface="Courier New" panose="02070409020205090404" pitchFamily="49" charset="0"/>
              </a:rPr>
              <a:t>      {</a:t>
            </a:r>
            <a:endParaRPr lang="en-US" sz="1300" b="1" dirty="0">
              <a:latin typeface="Courier New" panose="02070409020205090404" pitchFamily="49" charset="0"/>
            </a:endParaRPr>
          </a:p>
          <a:p>
            <a:pPr algn="l"/>
            <a:r>
              <a:rPr lang="en-US" sz="1800" dirty="0">
                <a:latin typeface="Courier New" panose="02070409020205090404" pitchFamily="49" charset="0"/>
              </a:rPr>
              <a:t>      </a:t>
            </a:r>
            <a:r>
              <a:rPr lang="en-US" sz="1800" b="1" dirty="0">
                <a:latin typeface="Courier New" panose="02070409020205090404" pitchFamily="49" charset="0"/>
              </a:rPr>
              <a:t>if (</a:t>
            </a:r>
            <a:r>
              <a:rPr lang="en-US" sz="1800" b="1" dirty="0" err="1">
                <a:latin typeface="Courier New" panose="02070409020205090404" pitchFamily="49" charset="0"/>
              </a:rPr>
              <a:t>m_buckets</a:t>
            </a:r>
            <a:r>
              <a:rPr lang="en-US" sz="1800" b="1" dirty="0">
                <a:latin typeface="Courier New" panose="02070409020205090404" pitchFamily="49" charset="0"/>
              </a:rPr>
              <a:t>[bucket].used == false)</a:t>
            </a:r>
            <a:endParaRPr lang="en-US" sz="1800" b="1" dirty="0">
              <a:latin typeface="Courier New" panose="02070409020205090404" pitchFamily="49" charset="0"/>
            </a:endParaRPr>
          </a:p>
          <a:p>
            <a:pPr algn="l"/>
            <a:r>
              <a:rPr lang="en-US" sz="1800" b="1" dirty="0">
                <a:latin typeface="Courier New" panose="02070409020205090404" pitchFamily="49" charset="0"/>
              </a:rPr>
              <a:t>        return false;</a:t>
            </a:r>
            <a:endParaRPr lang="en-US" sz="1800" b="1" dirty="0">
              <a:latin typeface="Courier New" panose="02070409020205090404" pitchFamily="49" charset="0"/>
            </a:endParaRPr>
          </a:p>
          <a:p>
            <a:pPr algn="l"/>
            <a:r>
              <a:rPr lang="en-US" sz="1800" b="1" dirty="0">
                <a:latin typeface="Courier New" panose="02070409020205090404" pitchFamily="49" charset="0"/>
              </a:rPr>
              <a:t>      if (</a:t>
            </a:r>
            <a:r>
              <a:rPr lang="en-US" sz="1800" b="1" dirty="0" err="1">
                <a:latin typeface="Courier New" panose="02070409020205090404" pitchFamily="49" charset="0"/>
              </a:rPr>
              <a:t>m_buckets</a:t>
            </a:r>
            <a:r>
              <a:rPr lang="en-US" sz="1800" b="1" dirty="0">
                <a:latin typeface="Courier New" panose="02070409020205090404" pitchFamily="49" charset="0"/>
              </a:rPr>
              <a:t>[bucket].</a:t>
            </a:r>
            <a:r>
              <a:rPr lang="en-US" sz="1800" b="1" dirty="0" err="1">
                <a:latin typeface="Courier New" panose="02070409020205090404" pitchFamily="49" charset="0"/>
              </a:rPr>
              <a:t>idNum</a:t>
            </a:r>
            <a:r>
              <a:rPr lang="en-US" sz="1800" b="1" dirty="0">
                <a:latin typeface="Courier New" panose="02070409020205090404" pitchFamily="49" charset="0"/>
              </a:rPr>
              <a:t> == </a:t>
            </a:r>
            <a:r>
              <a:rPr lang="en-US" sz="1800" b="1" dirty="0" err="1">
                <a:latin typeface="Courier New" panose="02070409020205090404" pitchFamily="49" charset="0"/>
              </a:rPr>
              <a:t>idNum</a:t>
            </a:r>
            <a:r>
              <a:rPr lang="en-US" sz="1800" b="1" dirty="0">
                <a:latin typeface="Courier New" panose="02070409020205090404" pitchFamily="49" charset="0"/>
              </a:rPr>
              <a:t>)</a:t>
            </a:r>
            <a:endParaRPr lang="en-US" sz="1800" b="1" dirty="0">
              <a:latin typeface="Courier New" panose="02070409020205090404" pitchFamily="49" charset="0"/>
            </a:endParaRPr>
          </a:p>
          <a:p>
            <a:pPr algn="l"/>
            <a:r>
              <a:rPr lang="en-US" sz="1800" b="1" dirty="0">
                <a:latin typeface="Courier New" panose="02070409020205090404" pitchFamily="49" charset="0"/>
              </a:rPr>
              <a:t>        return true;</a:t>
            </a:r>
            <a:endParaRPr lang="en-US" sz="1800" b="1" dirty="0">
              <a:latin typeface="Courier New" panose="02070409020205090404" pitchFamily="49" charset="0"/>
            </a:endParaRPr>
          </a:p>
          <a:p>
            <a:pPr algn="l"/>
            <a:endParaRPr lang="en-US" sz="800" b="1" dirty="0">
              <a:latin typeface="Courier New" panose="02070409020205090404" pitchFamily="49" charset="0"/>
            </a:endParaRPr>
          </a:p>
          <a:p>
            <a:pPr algn="l"/>
            <a:r>
              <a:rPr lang="en-US" sz="1800" b="1" dirty="0">
                <a:latin typeface="Courier New" panose="02070409020205090404" pitchFamily="49" charset="0"/>
              </a:rPr>
              <a:t>      bucket = (bucket + 1) % NUM_BUCK;</a:t>
            </a:r>
            <a:endParaRPr lang="en-US" sz="1800" b="1" dirty="0">
              <a:latin typeface="Courier New" panose="02070409020205090404" pitchFamily="49" charset="0"/>
            </a:endParaRPr>
          </a:p>
          <a:p>
            <a:pPr algn="l"/>
            <a:r>
              <a:rPr lang="en-US" sz="1300" b="1" dirty="0">
                <a:latin typeface="Courier New" panose="02070409020205090404" pitchFamily="49" charset="0"/>
              </a:rPr>
              <a:t>      }</a:t>
            </a:r>
            <a:endParaRPr lang="en-US" sz="1300" b="1" dirty="0">
              <a:latin typeface="Courier New" panose="02070409020205090404" pitchFamily="49" charset="0"/>
            </a:endParaRPr>
          </a:p>
          <a:p>
            <a:pPr algn="l"/>
            <a:r>
              <a:rPr lang="en-US" sz="1800" b="1" dirty="0">
                <a:latin typeface="Courier New" panose="02070409020205090404" pitchFamily="49" charset="0"/>
              </a:rPr>
              <a:t>    return false;// not in the hash table</a:t>
            </a:r>
            <a:endParaRPr lang="en-US" sz="1800" b="1" dirty="0">
              <a:latin typeface="Courier New" panose="02070409020205090404" pitchFamily="49" charset="0"/>
            </a:endParaRPr>
          </a:p>
          <a:p>
            <a:pPr algn="l"/>
            <a:r>
              <a:rPr lang="en-US" sz="1300" b="1" dirty="0">
                <a:latin typeface="Courier New" panose="02070409020205090404" pitchFamily="49" charset="0"/>
              </a:rPr>
              <a:t>  }</a:t>
            </a:r>
            <a:endParaRPr lang="en-US" sz="1300" b="1" dirty="0">
              <a:latin typeface="Courier New" panose="02070409020205090404" pitchFamily="49" charset="0"/>
            </a:endParaRPr>
          </a:p>
          <a:p>
            <a:pPr algn="l"/>
            <a:endParaRPr lang="en-US" sz="800" b="1" dirty="0">
              <a:latin typeface="Courier New" panose="02070409020205090404" pitchFamily="49" charset="0"/>
            </a:endParaRPr>
          </a:p>
          <a:p>
            <a:pPr algn="l"/>
            <a:r>
              <a:rPr lang="en-US" sz="1800" b="1" dirty="0">
                <a:latin typeface="Courier New" panose="02070409020205090404" pitchFamily="49" charset="0"/>
              </a:rPr>
              <a:t>private:</a:t>
            </a:r>
            <a:endParaRPr lang="en-US" sz="1800" b="1" dirty="0">
              <a:latin typeface="Courier New" panose="02070409020205090404" pitchFamily="49" charset="0"/>
            </a:endParaRPr>
          </a:p>
          <a:p>
            <a:pPr algn="l"/>
            <a:r>
              <a:rPr lang="en-US" sz="1800" b="1" dirty="0">
                <a:latin typeface="Courier New" panose="02070409020205090404" pitchFamily="49" charset="0"/>
              </a:rPr>
              <a:t>   int </a:t>
            </a:r>
            <a:r>
              <a:rPr lang="en-US" sz="1800" b="1" dirty="0" err="1">
                <a:latin typeface="Courier New" panose="02070409020205090404" pitchFamily="49" charset="0"/>
              </a:rPr>
              <a:t>mapFunc</a:t>
            </a:r>
            <a:r>
              <a:rPr lang="en-US" sz="1800" b="1" dirty="0">
                <a:latin typeface="Courier New" panose="02070409020205090404" pitchFamily="49" charset="0"/>
              </a:rPr>
              <a:t>(int </a:t>
            </a:r>
            <a:r>
              <a:rPr lang="en-US" sz="1800" b="1" dirty="0" err="1">
                <a:latin typeface="Courier New" panose="02070409020205090404" pitchFamily="49" charset="0"/>
              </a:rPr>
              <a:t>idNum</a:t>
            </a:r>
            <a:r>
              <a:rPr lang="en-US" sz="1800" b="1" dirty="0">
                <a:latin typeface="Courier New" panose="02070409020205090404" pitchFamily="49" charset="0"/>
              </a:rPr>
              <a:t>) const</a:t>
            </a:r>
            <a:endParaRPr lang="en-US" sz="1800" b="1" dirty="0">
              <a:latin typeface="Courier New" panose="02070409020205090404" pitchFamily="49" charset="0"/>
            </a:endParaRPr>
          </a:p>
          <a:p>
            <a:pPr algn="l"/>
            <a:r>
              <a:rPr lang="en-US" sz="1800" b="1" dirty="0">
                <a:latin typeface="Courier New" panose="02070409020205090404" pitchFamily="49" charset="0"/>
              </a:rPr>
              <a:t>       {  return </a:t>
            </a:r>
            <a:r>
              <a:rPr lang="en-US" sz="1800" b="1" dirty="0" err="1">
                <a:latin typeface="Courier New" panose="02070409020205090404" pitchFamily="49" charset="0"/>
              </a:rPr>
              <a:t>idNum</a:t>
            </a:r>
            <a:r>
              <a:rPr lang="en-US" sz="1800" b="1" dirty="0">
                <a:latin typeface="Courier New" panose="02070409020205090404" pitchFamily="49" charset="0"/>
              </a:rPr>
              <a:t> % NUM_BUCK;  }</a:t>
            </a:r>
            <a:endParaRPr lang="en-US" sz="1800" b="1" dirty="0">
              <a:latin typeface="Courier New" panose="02070409020205090404" pitchFamily="49" charset="0"/>
            </a:endParaRPr>
          </a:p>
          <a:p>
            <a:pPr algn="l"/>
            <a:endParaRPr lang="en-US" sz="800" b="1" dirty="0">
              <a:latin typeface="Courier New" panose="02070409020205090404" pitchFamily="49" charset="0"/>
            </a:endParaRPr>
          </a:p>
          <a:p>
            <a:pPr algn="l"/>
            <a:r>
              <a:rPr lang="en-US" sz="1800" b="1" dirty="0">
                <a:latin typeface="Courier New" panose="02070409020205090404" pitchFamily="49" charset="0"/>
              </a:rPr>
              <a:t>   BUCKET </a:t>
            </a:r>
            <a:r>
              <a:rPr lang="en-US" sz="1800" b="1" dirty="0" err="1">
                <a:latin typeface="Courier New" panose="02070409020205090404" pitchFamily="49" charset="0"/>
              </a:rPr>
              <a:t>m_buckets</a:t>
            </a:r>
            <a:r>
              <a:rPr lang="en-US" sz="1800" b="1" dirty="0">
                <a:latin typeface="Courier New" panose="02070409020205090404" pitchFamily="49" charset="0"/>
              </a:rPr>
              <a:t>[NUM_BUCK];</a:t>
            </a:r>
            <a:endParaRPr lang="en-US" sz="1800" b="1" dirty="0">
              <a:latin typeface="Courier New" panose="02070409020205090404" pitchFamily="49" charset="0"/>
            </a:endParaRPr>
          </a:p>
          <a:p>
            <a:pPr algn="l"/>
            <a:r>
              <a:rPr lang="en-US" sz="1800" b="1" dirty="0">
                <a:latin typeface="Courier New" panose="02070409020205090404" pitchFamily="49" charset="0"/>
              </a:rPr>
              <a:t>};</a:t>
            </a:r>
            <a:endParaRPr lang="en-US" sz="1800" b="1" dirty="0">
              <a:latin typeface="Courier New" panose="02070409020205090404" pitchFamily="49" charset="0"/>
            </a:endParaRPr>
          </a:p>
        </p:txBody>
      </p:sp>
      <p:grpSp>
        <p:nvGrpSpPr>
          <p:cNvPr id="128158" name="Group 158"/>
          <p:cNvGrpSpPr/>
          <p:nvPr/>
        </p:nvGrpSpPr>
        <p:grpSpPr bwMode="auto">
          <a:xfrm>
            <a:off x="6543675" y="249238"/>
            <a:ext cx="2725738" cy="2574925"/>
            <a:chOff x="5615" y="905"/>
            <a:chExt cx="1717" cy="1622"/>
          </a:xfrm>
        </p:grpSpPr>
        <p:grpSp>
          <p:nvGrpSpPr>
            <p:cNvPr id="128092" name="Group 92"/>
            <p:cNvGrpSpPr/>
            <p:nvPr/>
          </p:nvGrpSpPr>
          <p:grpSpPr bwMode="auto">
            <a:xfrm>
              <a:off x="5615" y="905"/>
              <a:ext cx="1717" cy="1622"/>
              <a:chOff x="4118" y="801"/>
              <a:chExt cx="1717" cy="1622"/>
            </a:xfrm>
          </p:grpSpPr>
          <p:grpSp>
            <p:nvGrpSpPr>
              <p:cNvPr id="128093" name="Group 93"/>
              <p:cNvGrpSpPr/>
              <p:nvPr/>
            </p:nvGrpSpPr>
            <p:grpSpPr bwMode="auto">
              <a:xfrm>
                <a:off x="4245" y="801"/>
                <a:ext cx="1590" cy="1622"/>
                <a:chOff x="4218" y="801"/>
                <a:chExt cx="1590" cy="1622"/>
              </a:xfrm>
            </p:grpSpPr>
            <p:grpSp>
              <p:nvGrpSpPr>
                <p:cNvPr id="128094" name="Group 94"/>
                <p:cNvGrpSpPr/>
                <p:nvPr/>
              </p:nvGrpSpPr>
              <p:grpSpPr bwMode="auto">
                <a:xfrm>
                  <a:off x="4221" y="801"/>
                  <a:ext cx="1584" cy="212"/>
                  <a:chOff x="2700" y="4428"/>
                  <a:chExt cx="1584" cy="212"/>
                </a:xfrm>
              </p:grpSpPr>
              <p:sp>
                <p:nvSpPr>
                  <p:cNvPr id="128095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28096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28097" name="Rectangle 97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28098" name="Rectangle 98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28099" name="Group 99"/>
                <p:cNvGrpSpPr/>
                <p:nvPr/>
              </p:nvGrpSpPr>
              <p:grpSpPr bwMode="auto">
                <a:xfrm>
                  <a:off x="4218" y="960"/>
                  <a:ext cx="1584" cy="212"/>
                  <a:chOff x="2700" y="4428"/>
                  <a:chExt cx="1584" cy="212"/>
                </a:xfrm>
              </p:grpSpPr>
              <p:sp>
                <p:nvSpPr>
                  <p:cNvPr id="128100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28101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28102" name="Rectangle 102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28103" name="Rectangle 103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28104" name="Group 104"/>
                <p:cNvGrpSpPr/>
                <p:nvPr/>
              </p:nvGrpSpPr>
              <p:grpSpPr bwMode="auto">
                <a:xfrm>
                  <a:off x="4218" y="1113"/>
                  <a:ext cx="1584" cy="212"/>
                  <a:chOff x="2700" y="4428"/>
                  <a:chExt cx="1584" cy="212"/>
                </a:xfrm>
              </p:grpSpPr>
              <p:sp>
                <p:nvSpPr>
                  <p:cNvPr id="128105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28106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28107" name="Rectangle 107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28108" name="Rectangle 108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28109" name="Group 109"/>
                <p:cNvGrpSpPr/>
                <p:nvPr/>
              </p:nvGrpSpPr>
              <p:grpSpPr bwMode="auto">
                <a:xfrm>
                  <a:off x="4224" y="1272"/>
                  <a:ext cx="1584" cy="212"/>
                  <a:chOff x="2700" y="4428"/>
                  <a:chExt cx="1584" cy="212"/>
                </a:xfrm>
              </p:grpSpPr>
              <p:sp>
                <p:nvSpPr>
                  <p:cNvPr id="128110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28111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28112" name="Rectangle 112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28113" name="Rectangle 113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28114" name="Group 114"/>
                <p:cNvGrpSpPr/>
                <p:nvPr/>
              </p:nvGrpSpPr>
              <p:grpSpPr bwMode="auto">
                <a:xfrm>
                  <a:off x="4218" y="1428"/>
                  <a:ext cx="1584" cy="212"/>
                  <a:chOff x="2700" y="4428"/>
                  <a:chExt cx="1584" cy="212"/>
                </a:xfrm>
              </p:grpSpPr>
              <p:sp>
                <p:nvSpPr>
                  <p:cNvPr id="128115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28116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28117" name="Rectangle 117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28118" name="Rectangle 118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28119" name="Group 119"/>
                <p:cNvGrpSpPr/>
                <p:nvPr/>
              </p:nvGrpSpPr>
              <p:grpSpPr bwMode="auto">
                <a:xfrm>
                  <a:off x="4224" y="1587"/>
                  <a:ext cx="1584" cy="212"/>
                  <a:chOff x="2700" y="4428"/>
                  <a:chExt cx="1584" cy="212"/>
                </a:xfrm>
              </p:grpSpPr>
              <p:sp>
                <p:nvSpPr>
                  <p:cNvPr id="128120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28121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28122" name="Rectangle 122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28123" name="Rectangle 123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28124" name="Group 124"/>
                <p:cNvGrpSpPr/>
                <p:nvPr/>
              </p:nvGrpSpPr>
              <p:grpSpPr bwMode="auto">
                <a:xfrm>
                  <a:off x="4224" y="1740"/>
                  <a:ext cx="1584" cy="212"/>
                  <a:chOff x="2700" y="4428"/>
                  <a:chExt cx="1584" cy="212"/>
                </a:xfrm>
              </p:grpSpPr>
              <p:sp>
                <p:nvSpPr>
                  <p:cNvPr id="128125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28126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28127" name="Rectangle 127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28128" name="Rectangle 128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28129" name="Group 129"/>
                <p:cNvGrpSpPr/>
                <p:nvPr/>
              </p:nvGrpSpPr>
              <p:grpSpPr bwMode="auto">
                <a:xfrm>
                  <a:off x="4221" y="1899"/>
                  <a:ext cx="1584" cy="212"/>
                  <a:chOff x="2700" y="4428"/>
                  <a:chExt cx="1584" cy="212"/>
                </a:xfrm>
              </p:grpSpPr>
              <p:sp>
                <p:nvSpPr>
                  <p:cNvPr id="128130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28131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28132" name="Rectangle 132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28133" name="Rectangle 133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28134" name="Group 134"/>
                <p:cNvGrpSpPr/>
                <p:nvPr/>
              </p:nvGrpSpPr>
              <p:grpSpPr bwMode="auto">
                <a:xfrm>
                  <a:off x="4221" y="2052"/>
                  <a:ext cx="1584" cy="212"/>
                  <a:chOff x="2700" y="4428"/>
                  <a:chExt cx="1584" cy="212"/>
                </a:xfrm>
              </p:grpSpPr>
              <p:sp>
                <p:nvSpPr>
                  <p:cNvPr id="128135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28136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28137" name="Rectangle 137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28138" name="Rectangle 138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28139" name="Group 139"/>
                <p:cNvGrpSpPr/>
                <p:nvPr/>
              </p:nvGrpSpPr>
              <p:grpSpPr bwMode="auto">
                <a:xfrm>
                  <a:off x="4218" y="2211"/>
                  <a:ext cx="1584" cy="212"/>
                  <a:chOff x="2700" y="4428"/>
                  <a:chExt cx="1584" cy="212"/>
                </a:xfrm>
              </p:grpSpPr>
              <p:sp>
                <p:nvSpPr>
                  <p:cNvPr id="128140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28141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28142" name="Rectangle 142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28143" name="Rectangle 143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128144" name="Text Box 144"/>
              <p:cNvSpPr txBox="1">
                <a:spLocks noChangeArrowheads="1"/>
              </p:cNvSpPr>
              <p:nvPr/>
            </p:nvSpPr>
            <p:spPr bwMode="auto">
              <a:xfrm>
                <a:off x="4118" y="821"/>
                <a:ext cx="194" cy="15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E7F9B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600" b="1"/>
                  <a:t>0</a:t>
                </a:r>
                <a:endParaRPr lang="en-US" sz="1600" b="1"/>
              </a:p>
              <a:p>
                <a:r>
                  <a:rPr lang="en-US" sz="1600" b="1"/>
                  <a:t>1</a:t>
                </a:r>
                <a:endParaRPr lang="en-US" sz="1600" b="1"/>
              </a:p>
              <a:p>
                <a:r>
                  <a:rPr lang="en-US" sz="1600" b="1"/>
                  <a:t>2</a:t>
                </a:r>
                <a:endParaRPr lang="en-US" sz="1600" b="1"/>
              </a:p>
              <a:p>
                <a:r>
                  <a:rPr lang="en-US" sz="1600" b="1"/>
                  <a:t>3</a:t>
                </a:r>
                <a:endParaRPr lang="en-US" sz="1600" b="1"/>
              </a:p>
              <a:p>
                <a:r>
                  <a:rPr lang="en-US" sz="1600" b="1"/>
                  <a:t>4</a:t>
                </a:r>
                <a:endParaRPr lang="en-US" sz="1600" b="1"/>
              </a:p>
              <a:p>
                <a:r>
                  <a:rPr lang="en-US" sz="1600" b="1"/>
                  <a:t>5</a:t>
                </a:r>
                <a:endParaRPr lang="en-US" sz="1600" b="1"/>
              </a:p>
              <a:p>
                <a:r>
                  <a:rPr lang="en-US" sz="1600" b="1"/>
                  <a:t>6</a:t>
                </a:r>
                <a:endParaRPr lang="en-US" sz="1600" b="1"/>
              </a:p>
              <a:p>
                <a:r>
                  <a:rPr lang="en-US" sz="1600" b="1"/>
                  <a:t>7</a:t>
                </a:r>
                <a:endParaRPr lang="en-US" sz="1600" b="1"/>
              </a:p>
              <a:p>
                <a:r>
                  <a:rPr lang="en-US" sz="1600" b="1"/>
                  <a:t>8</a:t>
                </a:r>
                <a:endParaRPr lang="en-US" sz="1600" b="1"/>
              </a:p>
              <a:p>
                <a:r>
                  <a:rPr lang="en-US" sz="1600" b="1"/>
                  <a:t>9</a:t>
                </a:r>
                <a:endParaRPr lang="en-US" sz="1600" b="1"/>
              </a:p>
            </p:txBody>
          </p:sp>
        </p:grpSp>
        <p:sp>
          <p:nvSpPr>
            <p:cNvPr id="128145" name="Text Box 145"/>
            <p:cNvSpPr txBox="1">
              <a:spLocks noChangeArrowheads="1"/>
            </p:cNvSpPr>
            <p:nvPr/>
          </p:nvSpPr>
          <p:spPr bwMode="auto">
            <a:xfrm>
              <a:off x="6974" y="918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6600FF"/>
                  </a:solidFill>
                </a:rPr>
                <a:t>f</a:t>
              </a:r>
              <a:endParaRPr lang="en-US" sz="1600" b="1">
                <a:solidFill>
                  <a:srgbClr val="6600FF"/>
                </a:solidFill>
              </a:endParaRPr>
            </a:p>
          </p:txBody>
        </p:sp>
        <p:sp>
          <p:nvSpPr>
            <p:cNvPr id="128146" name="Text Box 146"/>
            <p:cNvSpPr txBox="1">
              <a:spLocks noChangeArrowheads="1"/>
            </p:cNvSpPr>
            <p:nvPr/>
          </p:nvSpPr>
          <p:spPr bwMode="auto">
            <a:xfrm>
              <a:off x="6980" y="1068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6600FF"/>
                  </a:solidFill>
                </a:rPr>
                <a:t>f</a:t>
              </a:r>
              <a:endParaRPr lang="en-US" sz="1600" b="1">
                <a:solidFill>
                  <a:srgbClr val="6600FF"/>
                </a:solidFill>
              </a:endParaRPr>
            </a:p>
          </p:txBody>
        </p:sp>
        <p:sp>
          <p:nvSpPr>
            <p:cNvPr id="128147" name="Text Box 147"/>
            <p:cNvSpPr txBox="1">
              <a:spLocks noChangeArrowheads="1"/>
            </p:cNvSpPr>
            <p:nvPr/>
          </p:nvSpPr>
          <p:spPr bwMode="auto">
            <a:xfrm>
              <a:off x="6980" y="123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6600FF"/>
                  </a:solidFill>
                </a:rPr>
                <a:t>f</a:t>
              </a:r>
              <a:endParaRPr lang="en-US" sz="1600" b="1">
                <a:solidFill>
                  <a:srgbClr val="6600FF"/>
                </a:solidFill>
              </a:endParaRPr>
            </a:p>
          </p:txBody>
        </p:sp>
        <p:sp>
          <p:nvSpPr>
            <p:cNvPr id="128148" name="Text Box 148"/>
            <p:cNvSpPr txBox="1">
              <a:spLocks noChangeArrowheads="1"/>
            </p:cNvSpPr>
            <p:nvPr/>
          </p:nvSpPr>
          <p:spPr bwMode="auto">
            <a:xfrm>
              <a:off x="6986" y="13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6600FF"/>
                  </a:solidFill>
                </a:rPr>
                <a:t>f</a:t>
              </a:r>
              <a:endParaRPr lang="en-US" sz="1600" b="1">
                <a:solidFill>
                  <a:srgbClr val="6600FF"/>
                </a:solidFill>
              </a:endParaRPr>
            </a:p>
          </p:txBody>
        </p:sp>
        <p:sp>
          <p:nvSpPr>
            <p:cNvPr id="128149" name="Text Box 149"/>
            <p:cNvSpPr txBox="1">
              <a:spLocks noChangeArrowheads="1"/>
            </p:cNvSpPr>
            <p:nvPr/>
          </p:nvSpPr>
          <p:spPr bwMode="auto">
            <a:xfrm>
              <a:off x="6980" y="1536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6600FF"/>
                  </a:solidFill>
                </a:rPr>
                <a:t>f</a:t>
              </a:r>
              <a:endParaRPr lang="en-US" sz="1600" b="1">
                <a:solidFill>
                  <a:srgbClr val="6600FF"/>
                </a:solidFill>
              </a:endParaRPr>
            </a:p>
          </p:txBody>
        </p:sp>
        <p:sp>
          <p:nvSpPr>
            <p:cNvPr id="128150" name="Text Box 150"/>
            <p:cNvSpPr txBox="1">
              <a:spLocks noChangeArrowheads="1"/>
            </p:cNvSpPr>
            <p:nvPr/>
          </p:nvSpPr>
          <p:spPr bwMode="auto">
            <a:xfrm>
              <a:off x="6986" y="1686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6600FF"/>
                  </a:solidFill>
                </a:rPr>
                <a:t>f</a:t>
              </a:r>
              <a:endParaRPr lang="en-US" sz="1600" b="1">
                <a:solidFill>
                  <a:srgbClr val="6600FF"/>
                </a:solidFill>
              </a:endParaRPr>
            </a:p>
          </p:txBody>
        </p:sp>
        <p:sp>
          <p:nvSpPr>
            <p:cNvPr id="128151" name="Text Box 151"/>
            <p:cNvSpPr txBox="1">
              <a:spLocks noChangeArrowheads="1"/>
            </p:cNvSpPr>
            <p:nvPr/>
          </p:nvSpPr>
          <p:spPr bwMode="auto">
            <a:xfrm>
              <a:off x="6986" y="1848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6600FF"/>
                  </a:solidFill>
                </a:rPr>
                <a:t>f</a:t>
              </a:r>
              <a:endParaRPr lang="en-US" sz="1600" b="1">
                <a:solidFill>
                  <a:srgbClr val="6600FF"/>
                </a:solidFill>
              </a:endParaRPr>
            </a:p>
          </p:txBody>
        </p:sp>
        <p:sp>
          <p:nvSpPr>
            <p:cNvPr id="128152" name="Text Box 152"/>
            <p:cNvSpPr txBox="1">
              <a:spLocks noChangeArrowheads="1"/>
            </p:cNvSpPr>
            <p:nvPr/>
          </p:nvSpPr>
          <p:spPr bwMode="auto">
            <a:xfrm>
              <a:off x="6992" y="1998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6600FF"/>
                  </a:solidFill>
                </a:rPr>
                <a:t>f</a:t>
              </a:r>
              <a:endParaRPr lang="en-US" sz="1600" b="1">
                <a:solidFill>
                  <a:srgbClr val="6600FF"/>
                </a:solidFill>
              </a:endParaRPr>
            </a:p>
          </p:txBody>
        </p:sp>
        <p:sp>
          <p:nvSpPr>
            <p:cNvPr id="128153" name="Text Box 153"/>
            <p:cNvSpPr txBox="1">
              <a:spLocks noChangeArrowheads="1"/>
            </p:cNvSpPr>
            <p:nvPr/>
          </p:nvSpPr>
          <p:spPr bwMode="auto">
            <a:xfrm>
              <a:off x="6995" y="2163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6600FF"/>
                  </a:solidFill>
                </a:rPr>
                <a:t>f</a:t>
              </a:r>
              <a:endParaRPr lang="en-US" sz="1600" b="1">
                <a:solidFill>
                  <a:srgbClr val="6600FF"/>
                </a:solidFill>
              </a:endParaRPr>
            </a:p>
          </p:txBody>
        </p:sp>
        <p:sp>
          <p:nvSpPr>
            <p:cNvPr id="128154" name="Text Box 154"/>
            <p:cNvSpPr txBox="1">
              <a:spLocks noChangeArrowheads="1"/>
            </p:cNvSpPr>
            <p:nvPr/>
          </p:nvSpPr>
          <p:spPr bwMode="auto">
            <a:xfrm>
              <a:off x="7001" y="2313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6600FF"/>
                  </a:solidFill>
                </a:rPr>
                <a:t>f</a:t>
              </a:r>
              <a:endParaRPr lang="en-US" sz="1600" b="1">
                <a:solidFill>
                  <a:srgbClr val="6600FF"/>
                </a:solidFill>
              </a:endParaRPr>
            </a:p>
          </p:txBody>
        </p:sp>
      </p:grpSp>
      <p:grpSp>
        <p:nvGrpSpPr>
          <p:cNvPr id="128089" name="Group 89"/>
          <p:cNvGrpSpPr/>
          <p:nvPr/>
        </p:nvGrpSpPr>
        <p:grpSpPr bwMode="auto">
          <a:xfrm>
            <a:off x="6546850" y="238125"/>
            <a:ext cx="2725738" cy="2600325"/>
            <a:chOff x="4124" y="150"/>
            <a:chExt cx="1717" cy="1638"/>
          </a:xfrm>
        </p:grpSpPr>
        <p:grpSp>
          <p:nvGrpSpPr>
            <p:cNvPr id="128015" name="Group 15"/>
            <p:cNvGrpSpPr/>
            <p:nvPr/>
          </p:nvGrpSpPr>
          <p:grpSpPr bwMode="auto">
            <a:xfrm>
              <a:off x="4124" y="150"/>
              <a:ext cx="1717" cy="1622"/>
              <a:chOff x="4118" y="801"/>
              <a:chExt cx="1717" cy="1622"/>
            </a:xfrm>
          </p:grpSpPr>
          <p:grpSp>
            <p:nvGrpSpPr>
              <p:cNvPr id="128016" name="Group 16"/>
              <p:cNvGrpSpPr/>
              <p:nvPr/>
            </p:nvGrpSpPr>
            <p:grpSpPr bwMode="auto">
              <a:xfrm>
                <a:off x="4245" y="801"/>
                <a:ext cx="1590" cy="1622"/>
                <a:chOff x="4218" y="801"/>
                <a:chExt cx="1590" cy="1622"/>
              </a:xfrm>
            </p:grpSpPr>
            <p:grpSp>
              <p:nvGrpSpPr>
                <p:cNvPr id="128017" name="Group 17"/>
                <p:cNvGrpSpPr/>
                <p:nvPr/>
              </p:nvGrpSpPr>
              <p:grpSpPr bwMode="auto">
                <a:xfrm>
                  <a:off x="4221" y="801"/>
                  <a:ext cx="1584" cy="212"/>
                  <a:chOff x="2700" y="4428"/>
                  <a:chExt cx="1584" cy="212"/>
                </a:xfrm>
              </p:grpSpPr>
              <p:sp>
                <p:nvSpPr>
                  <p:cNvPr id="128018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28019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28020" name="Rectangle 20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28021" name="Rectangle 21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28022" name="Group 22"/>
                <p:cNvGrpSpPr/>
                <p:nvPr/>
              </p:nvGrpSpPr>
              <p:grpSpPr bwMode="auto">
                <a:xfrm>
                  <a:off x="4218" y="960"/>
                  <a:ext cx="1584" cy="212"/>
                  <a:chOff x="2700" y="4428"/>
                  <a:chExt cx="1584" cy="212"/>
                </a:xfrm>
              </p:grpSpPr>
              <p:sp>
                <p:nvSpPr>
                  <p:cNvPr id="128023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28024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28025" name="Rectangle 25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28026" name="Rectangle 26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28027" name="Group 27"/>
                <p:cNvGrpSpPr/>
                <p:nvPr/>
              </p:nvGrpSpPr>
              <p:grpSpPr bwMode="auto">
                <a:xfrm>
                  <a:off x="4218" y="1113"/>
                  <a:ext cx="1584" cy="212"/>
                  <a:chOff x="2700" y="4428"/>
                  <a:chExt cx="1584" cy="212"/>
                </a:xfrm>
              </p:grpSpPr>
              <p:sp>
                <p:nvSpPr>
                  <p:cNvPr id="128028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28029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28030" name="Rectangle 30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28031" name="Rectangle 31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28032" name="Group 32"/>
                <p:cNvGrpSpPr/>
                <p:nvPr/>
              </p:nvGrpSpPr>
              <p:grpSpPr bwMode="auto">
                <a:xfrm>
                  <a:off x="4224" y="1272"/>
                  <a:ext cx="1584" cy="212"/>
                  <a:chOff x="2700" y="4428"/>
                  <a:chExt cx="1584" cy="212"/>
                </a:xfrm>
              </p:grpSpPr>
              <p:sp>
                <p:nvSpPr>
                  <p:cNvPr id="128033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28034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28035" name="Rectangle 35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28036" name="Rectangle 36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28037" name="Group 37"/>
                <p:cNvGrpSpPr/>
                <p:nvPr/>
              </p:nvGrpSpPr>
              <p:grpSpPr bwMode="auto">
                <a:xfrm>
                  <a:off x="4218" y="1428"/>
                  <a:ext cx="1584" cy="212"/>
                  <a:chOff x="2700" y="4428"/>
                  <a:chExt cx="1584" cy="212"/>
                </a:xfrm>
              </p:grpSpPr>
              <p:sp>
                <p:nvSpPr>
                  <p:cNvPr id="128038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28039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28040" name="Rectangle 40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28041" name="Rectangle 41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28042" name="Group 42"/>
                <p:cNvGrpSpPr/>
                <p:nvPr/>
              </p:nvGrpSpPr>
              <p:grpSpPr bwMode="auto">
                <a:xfrm>
                  <a:off x="4224" y="1587"/>
                  <a:ext cx="1584" cy="212"/>
                  <a:chOff x="2700" y="4428"/>
                  <a:chExt cx="1584" cy="212"/>
                </a:xfrm>
              </p:grpSpPr>
              <p:sp>
                <p:nvSpPr>
                  <p:cNvPr id="128043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28044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28045" name="Rectangle 45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28046" name="Rectangle 46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28047" name="Group 47"/>
                <p:cNvGrpSpPr/>
                <p:nvPr/>
              </p:nvGrpSpPr>
              <p:grpSpPr bwMode="auto">
                <a:xfrm>
                  <a:off x="4224" y="1740"/>
                  <a:ext cx="1584" cy="212"/>
                  <a:chOff x="2700" y="4428"/>
                  <a:chExt cx="1584" cy="212"/>
                </a:xfrm>
              </p:grpSpPr>
              <p:sp>
                <p:nvSpPr>
                  <p:cNvPr id="128048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28049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28050" name="Rectangle 50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28051" name="Rectangle 51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28052" name="Group 52"/>
                <p:cNvGrpSpPr/>
                <p:nvPr/>
              </p:nvGrpSpPr>
              <p:grpSpPr bwMode="auto">
                <a:xfrm>
                  <a:off x="4221" y="1899"/>
                  <a:ext cx="1584" cy="212"/>
                  <a:chOff x="2700" y="4428"/>
                  <a:chExt cx="1584" cy="212"/>
                </a:xfrm>
              </p:grpSpPr>
              <p:sp>
                <p:nvSpPr>
                  <p:cNvPr id="128053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28054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28055" name="Rectangle 55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28056" name="Rectangle 56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28057" name="Group 57"/>
                <p:cNvGrpSpPr/>
                <p:nvPr/>
              </p:nvGrpSpPr>
              <p:grpSpPr bwMode="auto">
                <a:xfrm>
                  <a:off x="4221" y="2052"/>
                  <a:ext cx="1584" cy="212"/>
                  <a:chOff x="2700" y="4428"/>
                  <a:chExt cx="1584" cy="212"/>
                </a:xfrm>
              </p:grpSpPr>
              <p:sp>
                <p:nvSpPr>
                  <p:cNvPr id="128058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28059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28060" name="Rectangle 60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28061" name="Rectangle 61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28062" name="Group 62"/>
                <p:cNvGrpSpPr/>
                <p:nvPr/>
              </p:nvGrpSpPr>
              <p:grpSpPr bwMode="auto">
                <a:xfrm>
                  <a:off x="4218" y="2211"/>
                  <a:ext cx="1584" cy="212"/>
                  <a:chOff x="2700" y="4428"/>
                  <a:chExt cx="1584" cy="212"/>
                </a:xfrm>
              </p:grpSpPr>
              <p:sp>
                <p:nvSpPr>
                  <p:cNvPr id="128063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28064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28065" name="Rectangle 65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28066" name="Rectangle 66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128067" name="Text Box 67"/>
              <p:cNvSpPr txBox="1">
                <a:spLocks noChangeArrowheads="1"/>
              </p:cNvSpPr>
              <p:nvPr/>
            </p:nvSpPr>
            <p:spPr bwMode="auto">
              <a:xfrm>
                <a:off x="4118" y="821"/>
                <a:ext cx="194" cy="15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E7F9B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600" b="1"/>
                  <a:t>0</a:t>
                </a:r>
                <a:endParaRPr lang="en-US" sz="1600" b="1"/>
              </a:p>
              <a:p>
                <a:r>
                  <a:rPr lang="en-US" sz="1600" b="1"/>
                  <a:t>1</a:t>
                </a:r>
                <a:endParaRPr lang="en-US" sz="1600" b="1"/>
              </a:p>
              <a:p>
                <a:r>
                  <a:rPr lang="en-US" sz="1600" b="1"/>
                  <a:t>2</a:t>
                </a:r>
                <a:endParaRPr lang="en-US" sz="1600" b="1"/>
              </a:p>
              <a:p>
                <a:r>
                  <a:rPr lang="en-US" sz="1600" b="1"/>
                  <a:t>3</a:t>
                </a:r>
                <a:endParaRPr lang="en-US" sz="1600" b="1"/>
              </a:p>
              <a:p>
                <a:r>
                  <a:rPr lang="en-US" sz="1600" b="1"/>
                  <a:t>4</a:t>
                </a:r>
                <a:endParaRPr lang="en-US" sz="1600" b="1"/>
              </a:p>
              <a:p>
                <a:r>
                  <a:rPr lang="en-US" sz="1600" b="1"/>
                  <a:t>5</a:t>
                </a:r>
                <a:endParaRPr lang="en-US" sz="1600" b="1"/>
              </a:p>
              <a:p>
                <a:r>
                  <a:rPr lang="en-US" sz="1600" b="1"/>
                  <a:t>6</a:t>
                </a:r>
                <a:endParaRPr lang="en-US" sz="1600" b="1"/>
              </a:p>
              <a:p>
                <a:r>
                  <a:rPr lang="en-US" sz="1600" b="1"/>
                  <a:t>7</a:t>
                </a:r>
                <a:endParaRPr lang="en-US" sz="1600" b="1"/>
              </a:p>
              <a:p>
                <a:r>
                  <a:rPr lang="en-US" sz="1600" b="1"/>
                  <a:t>8</a:t>
                </a:r>
                <a:endParaRPr lang="en-US" sz="1600" b="1"/>
              </a:p>
              <a:p>
                <a:r>
                  <a:rPr lang="en-US" sz="1600" b="1"/>
                  <a:t>9</a:t>
                </a:r>
                <a:endParaRPr lang="en-US" sz="1600" b="1"/>
              </a:p>
            </p:txBody>
          </p:sp>
        </p:grpSp>
        <p:sp>
          <p:nvSpPr>
            <p:cNvPr id="128069" name="Text Box 69"/>
            <p:cNvSpPr txBox="1">
              <a:spLocks noChangeArrowheads="1"/>
            </p:cNvSpPr>
            <p:nvPr/>
          </p:nvSpPr>
          <p:spPr bwMode="auto">
            <a:xfrm>
              <a:off x="5489" y="313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6600FF"/>
                  </a:solidFill>
                </a:rPr>
                <a:t>f</a:t>
              </a:r>
              <a:endParaRPr lang="en-US" sz="1600" b="1">
                <a:solidFill>
                  <a:srgbClr val="6600FF"/>
                </a:solidFill>
              </a:endParaRPr>
            </a:p>
          </p:txBody>
        </p:sp>
        <p:sp>
          <p:nvSpPr>
            <p:cNvPr id="128070" name="Text Box 70"/>
            <p:cNvSpPr txBox="1">
              <a:spLocks noChangeArrowheads="1"/>
            </p:cNvSpPr>
            <p:nvPr/>
          </p:nvSpPr>
          <p:spPr bwMode="auto">
            <a:xfrm>
              <a:off x="5489" y="475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6600FF"/>
                  </a:solidFill>
                </a:rPr>
                <a:t>f</a:t>
              </a:r>
              <a:endParaRPr lang="en-US" sz="1600" b="1">
                <a:solidFill>
                  <a:srgbClr val="6600FF"/>
                </a:solidFill>
              </a:endParaRPr>
            </a:p>
          </p:txBody>
        </p:sp>
        <p:sp>
          <p:nvSpPr>
            <p:cNvPr id="128071" name="Text Box 71"/>
            <p:cNvSpPr txBox="1">
              <a:spLocks noChangeArrowheads="1"/>
            </p:cNvSpPr>
            <p:nvPr/>
          </p:nvSpPr>
          <p:spPr bwMode="auto">
            <a:xfrm>
              <a:off x="5495" y="625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6600FF"/>
                  </a:solidFill>
                </a:rPr>
                <a:t>f</a:t>
              </a:r>
              <a:endParaRPr lang="en-US" sz="1600" b="1">
                <a:solidFill>
                  <a:srgbClr val="6600FF"/>
                </a:solidFill>
              </a:endParaRPr>
            </a:p>
          </p:txBody>
        </p:sp>
        <p:sp>
          <p:nvSpPr>
            <p:cNvPr id="128072" name="Text Box 72"/>
            <p:cNvSpPr txBox="1">
              <a:spLocks noChangeArrowheads="1"/>
            </p:cNvSpPr>
            <p:nvPr/>
          </p:nvSpPr>
          <p:spPr bwMode="auto">
            <a:xfrm>
              <a:off x="5489" y="781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6600FF"/>
                  </a:solidFill>
                </a:rPr>
                <a:t>f</a:t>
              </a:r>
              <a:endParaRPr lang="en-US" sz="1600" b="1">
                <a:solidFill>
                  <a:srgbClr val="6600FF"/>
                </a:solidFill>
              </a:endParaRPr>
            </a:p>
          </p:txBody>
        </p:sp>
        <p:sp>
          <p:nvSpPr>
            <p:cNvPr id="128075" name="Text Box 75"/>
            <p:cNvSpPr txBox="1">
              <a:spLocks noChangeArrowheads="1"/>
            </p:cNvSpPr>
            <p:nvPr/>
          </p:nvSpPr>
          <p:spPr bwMode="auto">
            <a:xfrm>
              <a:off x="5504" y="1408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6600FF"/>
                  </a:solidFill>
                </a:rPr>
                <a:t>f</a:t>
              </a:r>
              <a:endParaRPr lang="en-US" sz="1600" b="1">
                <a:solidFill>
                  <a:srgbClr val="6600FF"/>
                </a:solidFill>
              </a:endParaRPr>
            </a:p>
          </p:txBody>
        </p:sp>
        <p:sp>
          <p:nvSpPr>
            <p:cNvPr id="128076" name="Rectangle 76"/>
            <p:cNvSpPr>
              <a:spLocks noChangeArrowheads="1"/>
            </p:cNvSpPr>
            <p:nvPr/>
          </p:nvSpPr>
          <p:spPr bwMode="auto">
            <a:xfrm>
              <a:off x="4813" y="1563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FF0000"/>
                  </a:solidFill>
                </a:rPr>
                <a:t>29</a:t>
              </a:r>
              <a:endParaRPr lang="en-US" sz="1600" b="1">
                <a:solidFill>
                  <a:srgbClr val="FF0000"/>
                </a:solidFill>
              </a:endParaRPr>
            </a:p>
          </p:txBody>
        </p:sp>
        <p:sp>
          <p:nvSpPr>
            <p:cNvPr id="128077" name="Text Box 77"/>
            <p:cNvSpPr txBox="1">
              <a:spLocks noChangeArrowheads="1"/>
            </p:cNvSpPr>
            <p:nvPr/>
          </p:nvSpPr>
          <p:spPr bwMode="auto">
            <a:xfrm>
              <a:off x="5492" y="1576"/>
              <a:ext cx="20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FF0000"/>
                  </a:solidFill>
                </a:rPr>
                <a:t>T</a:t>
              </a:r>
              <a:endParaRPr lang="en-US" sz="1600" b="1">
                <a:solidFill>
                  <a:srgbClr val="FF0000"/>
                </a:solidFill>
              </a:endParaRPr>
            </a:p>
          </p:txBody>
        </p:sp>
        <p:sp>
          <p:nvSpPr>
            <p:cNvPr id="128078" name="Rectangle 78"/>
            <p:cNvSpPr>
              <a:spLocks noChangeArrowheads="1"/>
            </p:cNvSpPr>
            <p:nvPr/>
          </p:nvSpPr>
          <p:spPr bwMode="auto">
            <a:xfrm>
              <a:off x="4801" y="948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FF0000"/>
                  </a:solidFill>
                </a:rPr>
                <a:t>65</a:t>
              </a:r>
              <a:endParaRPr lang="en-US" sz="1600" b="1">
                <a:solidFill>
                  <a:srgbClr val="FF0000"/>
                </a:solidFill>
              </a:endParaRPr>
            </a:p>
          </p:txBody>
        </p:sp>
        <p:sp>
          <p:nvSpPr>
            <p:cNvPr id="128080" name="Text Box 80"/>
            <p:cNvSpPr txBox="1">
              <a:spLocks noChangeArrowheads="1"/>
            </p:cNvSpPr>
            <p:nvPr/>
          </p:nvSpPr>
          <p:spPr bwMode="auto">
            <a:xfrm>
              <a:off x="5484" y="165"/>
              <a:ext cx="20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FF0000"/>
                  </a:solidFill>
                </a:rPr>
                <a:t>T</a:t>
              </a:r>
              <a:endParaRPr lang="en-US" sz="1600" b="1">
                <a:solidFill>
                  <a:srgbClr val="FF0000"/>
                </a:solidFill>
              </a:endParaRPr>
            </a:p>
          </p:txBody>
        </p:sp>
        <p:sp>
          <p:nvSpPr>
            <p:cNvPr id="128081" name="Rectangle 81"/>
            <p:cNvSpPr>
              <a:spLocks noChangeArrowheads="1"/>
            </p:cNvSpPr>
            <p:nvPr/>
          </p:nvSpPr>
          <p:spPr bwMode="auto">
            <a:xfrm>
              <a:off x="4816" y="162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FF0000"/>
                  </a:solidFill>
                </a:rPr>
                <a:t>79</a:t>
              </a:r>
              <a:endParaRPr lang="en-US" sz="1600" b="1">
                <a:solidFill>
                  <a:srgbClr val="FF0000"/>
                </a:solidFill>
              </a:endParaRPr>
            </a:p>
          </p:txBody>
        </p:sp>
        <p:sp>
          <p:nvSpPr>
            <p:cNvPr id="128082" name="Text Box 82"/>
            <p:cNvSpPr txBox="1">
              <a:spLocks noChangeArrowheads="1"/>
            </p:cNvSpPr>
            <p:nvPr/>
          </p:nvSpPr>
          <p:spPr bwMode="auto">
            <a:xfrm>
              <a:off x="5478" y="942"/>
              <a:ext cx="20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FF0000"/>
                  </a:solidFill>
                </a:rPr>
                <a:t>T</a:t>
              </a:r>
              <a:endParaRPr lang="en-US" sz="1600" b="1">
                <a:solidFill>
                  <a:srgbClr val="FF0000"/>
                </a:solidFill>
              </a:endParaRPr>
            </a:p>
          </p:txBody>
        </p:sp>
        <p:sp>
          <p:nvSpPr>
            <p:cNvPr id="128084" name="Rectangle 84"/>
            <p:cNvSpPr>
              <a:spLocks noChangeArrowheads="1"/>
            </p:cNvSpPr>
            <p:nvPr/>
          </p:nvSpPr>
          <p:spPr bwMode="auto">
            <a:xfrm>
              <a:off x="4807" y="1098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FF0000"/>
                  </a:solidFill>
                </a:rPr>
                <a:t>15</a:t>
              </a:r>
              <a:endParaRPr lang="en-US" sz="1600" b="1">
                <a:solidFill>
                  <a:srgbClr val="FF0000"/>
                </a:solidFill>
              </a:endParaRPr>
            </a:p>
          </p:txBody>
        </p:sp>
        <p:sp>
          <p:nvSpPr>
            <p:cNvPr id="128085" name="Text Box 85"/>
            <p:cNvSpPr txBox="1">
              <a:spLocks noChangeArrowheads="1"/>
            </p:cNvSpPr>
            <p:nvPr/>
          </p:nvSpPr>
          <p:spPr bwMode="auto">
            <a:xfrm>
              <a:off x="5484" y="1092"/>
              <a:ext cx="20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FF0000"/>
                  </a:solidFill>
                </a:rPr>
                <a:t>T</a:t>
              </a:r>
              <a:endParaRPr lang="en-US" sz="1600" b="1">
                <a:solidFill>
                  <a:srgbClr val="FF0000"/>
                </a:solidFill>
              </a:endParaRPr>
            </a:p>
          </p:txBody>
        </p:sp>
        <p:sp>
          <p:nvSpPr>
            <p:cNvPr id="128086" name="Rectangle 86"/>
            <p:cNvSpPr>
              <a:spLocks noChangeArrowheads="1"/>
            </p:cNvSpPr>
            <p:nvPr/>
          </p:nvSpPr>
          <p:spPr bwMode="auto">
            <a:xfrm>
              <a:off x="4774" y="1257"/>
              <a:ext cx="35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FF0000"/>
                  </a:solidFill>
                </a:rPr>
                <a:t>175</a:t>
              </a:r>
              <a:endParaRPr lang="en-US" sz="1600" b="1">
                <a:solidFill>
                  <a:srgbClr val="FF0000"/>
                </a:solidFill>
              </a:endParaRPr>
            </a:p>
          </p:txBody>
        </p:sp>
        <p:sp>
          <p:nvSpPr>
            <p:cNvPr id="128087" name="Text Box 87"/>
            <p:cNvSpPr txBox="1">
              <a:spLocks noChangeArrowheads="1"/>
            </p:cNvSpPr>
            <p:nvPr/>
          </p:nvSpPr>
          <p:spPr bwMode="auto">
            <a:xfrm>
              <a:off x="5499" y="1251"/>
              <a:ext cx="20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FF0000"/>
                  </a:solidFill>
                </a:rPr>
                <a:t>T</a:t>
              </a:r>
              <a:endParaRPr lang="en-US" sz="1600" b="1">
                <a:solidFill>
                  <a:srgbClr val="FF0000"/>
                </a:solidFill>
              </a:endParaRPr>
            </a:p>
          </p:txBody>
        </p:sp>
      </p:grpSp>
      <p:sp>
        <p:nvSpPr>
          <p:cNvPr id="22533" name="Text Box 4"/>
          <p:cNvSpPr txBox="1">
            <a:spLocks noChangeArrowheads="1"/>
          </p:cNvSpPr>
          <p:nvPr/>
        </p:nvSpPr>
        <p:spPr bwMode="auto">
          <a:xfrm>
            <a:off x="6038850" y="4129088"/>
            <a:ext cx="3063875" cy="2576512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l" eaLnBrk="1" hangingPunct="1"/>
            <a:r>
              <a:rPr lang="en-US" sz="1800" b="1">
                <a:latin typeface="Courier New" panose="02070409020205090404" pitchFamily="49" charset="0"/>
                <a:cs typeface="Courier New" panose="02070409020205090404" pitchFamily="49" charset="0"/>
              </a:rPr>
              <a:t>main()</a:t>
            </a:r>
            <a:endParaRPr lang="en-US" sz="1800" b="1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>
                <a:latin typeface="Courier New" panose="02070409020205090404" pitchFamily="49" charset="0"/>
                <a:cs typeface="Courier New" panose="02070409020205090404" pitchFamily="49" charset="0"/>
              </a:rPr>
              <a:t>{</a:t>
            </a:r>
            <a:endParaRPr lang="en-US" sz="1800"/>
          </a:p>
          <a:p>
            <a:pPr algn="l" eaLnBrk="1" hangingPunct="1"/>
            <a:r>
              <a:rPr lang="en-US" sz="1800" b="1">
                <a:latin typeface="Courier New" panose="02070409020205090404" pitchFamily="49" charset="0"/>
                <a:cs typeface="Courier New" panose="02070409020205090404" pitchFamily="49" charset="0"/>
              </a:rPr>
              <a:t>  HashTable ht;</a:t>
            </a:r>
            <a:endParaRPr lang="en-US" sz="1800" b="1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>
                <a:latin typeface="Courier New" panose="02070409020205090404" pitchFamily="49" charset="0"/>
                <a:cs typeface="Courier New" panose="02070409020205090404" pitchFamily="49" charset="0"/>
              </a:rPr>
              <a:t>  …</a:t>
            </a:r>
            <a:endParaRPr lang="en-US" sz="1800" b="1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>
                <a:latin typeface="Courier New" panose="02070409020205090404" pitchFamily="49" charset="0"/>
                <a:cs typeface="Courier New" panose="02070409020205090404" pitchFamily="49" charset="0"/>
              </a:rPr>
              <a:t>  bool x;</a:t>
            </a:r>
            <a:endParaRPr lang="en-US" sz="1800" b="1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>
                <a:latin typeface="Courier New" panose="02070409020205090404" pitchFamily="49" charset="0"/>
                <a:cs typeface="Courier New" panose="02070409020205090404" pitchFamily="49" charset="0"/>
              </a:rPr>
              <a:t>  x = ht.search(29);</a:t>
            </a:r>
            <a:endParaRPr lang="en-US" sz="1800" b="1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>
                <a:latin typeface="Courier New" panose="02070409020205090404" pitchFamily="49" charset="0"/>
                <a:cs typeface="Courier New" panose="02070409020205090404" pitchFamily="49" charset="0"/>
              </a:rPr>
              <a:t>  x = ht.search(175);</a:t>
            </a:r>
            <a:endParaRPr lang="en-US" sz="1800" b="1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>
                <a:latin typeface="Courier New" panose="02070409020205090404" pitchFamily="49" charset="0"/>
                <a:cs typeface="Courier New" panose="02070409020205090404" pitchFamily="49" charset="0"/>
              </a:rPr>
              <a:t>  x = ht.search(20); </a:t>
            </a:r>
            <a:endParaRPr lang="en-US" sz="1800" b="1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>
                <a:latin typeface="Courier New" panose="02070409020205090404" pitchFamily="49" charset="0"/>
                <a:cs typeface="Courier New" panose="02070409020205090404" pitchFamily="49" charset="0"/>
              </a:rPr>
              <a:t>}</a:t>
            </a:r>
            <a:endParaRPr lang="en-US" sz="1800" b="1">
              <a:latin typeface="Courier New" panose="02070409020205090404" pitchFamily="49" charset="0"/>
              <a:cs typeface="Courier New" panose="02070409020205090404" pitchFamily="49" charset="0"/>
            </a:endParaRPr>
          </a:p>
        </p:txBody>
      </p:sp>
      <p:sp>
        <p:nvSpPr>
          <p:cNvPr id="220" name="Line 119"/>
          <p:cNvSpPr>
            <a:spLocks noChangeShapeType="1"/>
          </p:cNvSpPr>
          <p:nvPr/>
        </p:nvSpPr>
        <p:spPr bwMode="auto">
          <a:xfrm>
            <a:off x="5908675" y="4870450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" name="Line 119"/>
          <p:cNvSpPr>
            <a:spLocks noChangeShapeType="1"/>
          </p:cNvSpPr>
          <p:nvPr/>
        </p:nvSpPr>
        <p:spPr bwMode="auto">
          <a:xfrm>
            <a:off x="5903913" y="5165725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" name="Line 119"/>
          <p:cNvSpPr>
            <a:spLocks noChangeShapeType="1"/>
          </p:cNvSpPr>
          <p:nvPr/>
        </p:nvSpPr>
        <p:spPr bwMode="auto">
          <a:xfrm>
            <a:off x="5899150" y="5432425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" name="Line 119"/>
          <p:cNvSpPr>
            <a:spLocks noChangeShapeType="1"/>
          </p:cNvSpPr>
          <p:nvPr/>
        </p:nvSpPr>
        <p:spPr bwMode="auto">
          <a:xfrm>
            <a:off x="5908675" y="5699125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" name="Line 119"/>
          <p:cNvSpPr>
            <a:spLocks noChangeShapeType="1"/>
          </p:cNvSpPr>
          <p:nvPr/>
        </p:nvSpPr>
        <p:spPr bwMode="auto">
          <a:xfrm>
            <a:off x="-100013" y="1457325"/>
            <a:ext cx="457201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8162" name="Text Box 162"/>
          <p:cNvSpPr txBox="1">
            <a:spLocks noChangeArrowheads="1"/>
          </p:cNvSpPr>
          <p:nvPr/>
        </p:nvSpPr>
        <p:spPr bwMode="auto">
          <a:xfrm>
            <a:off x="2646363" y="935038"/>
            <a:ext cx="555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6600FF"/>
                </a:solidFill>
              </a:rPr>
              <a:t>29</a:t>
            </a:r>
            <a:endParaRPr lang="en-US">
              <a:solidFill>
                <a:srgbClr val="6600FF"/>
              </a:solidFill>
            </a:endParaRPr>
          </a:p>
        </p:txBody>
      </p:sp>
      <p:sp>
        <p:nvSpPr>
          <p:cNvPr id="6" name="Line 119"/>
          <p:cNvSpPr>
            <a:spLocks noChangeShapeType="1"/>
          </p:cNvSpPr>
          <p:nvPr/>
        </p:nvSpPr>
        <p:spPr bwMode="auto">
          <a:xfrm>
            <a:off x="238125" y="1924050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5" name="AutoShape 99"/>
          <p:cNvSpPr>
            <a:spLocks noChangeArrowheads="1"/>
          </p:cNvSpPr>
          <p:nvPr/>
        </p:nvSpPr>
        <p:spPr bwMode="auto">
          <a:xfrm>
            <a:off x="3529013" y="195263"/>
            <a:ext cx="3417887" cy="1128712"/>
          </a:xfrm>
          <a:prstGeom prst="wedgeRoundRectCallout">
            <a:avLst>
              <a:gd name="adj1" fmla="val -44056"/>
              <a:gd name="adj2" fmla="val 98806"/>
              <a:gd name="adj3" fmla="val 16667"/>
            </a:avLst>
          </a:prstGeom>
          <a:solidFill>
            <a:srgbClr val="006666"/>
          </a:solidFill>
          <a:ln w="41275">
            <a:solidFill>
              <a:srgbClr val="800000"/>
            </a:solidFill>
            <a:miter lim="800000"/>
          </a:ln>
        </p:spPr>
        <p:txBody>
          <a:bodyPr anchor="ctr"/>
          <a:lstStyle/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</p:txBody>
      </p:sp>
      <p:sp>
        <p:nvSpPr>
          <p:cNvPr id="176" name="Text Box 100"/>
          <p:cNvSpPr txBox="1">
            <a:spLocks noChangeArrowheads="1"/>
          </p:cNvSpPr>
          <p:nvPr/>
        </p:nvSpPr>
        <p:spPr bwMode="auto">
          <a:xfrm>
            <a:off x="3711575" y="261938"/>
            <a:ext cx="31226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l" eaLnBrk="1" hangingPunct="1"/>
            <a:r>
              <a:rPr lang="en-US" sz="1800">
                <a:solidFill>
                  <a:schemeClr val="bg1"/>
                </a:solidFill>
              </a:rPr>
              <a:t>bucket = 29  % NUM_BUCK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177" name="Text Box 101"/>
          <p:cNvSpPr txBox="1">
            <a:spLocks noChangeArrowheads="1"/>
          </p:cNvSpPr>
          <p:nvPr/>
        </p:nvSpPr>
        <p:spPr bwMode="auto">
          <a:xfrm>
            <a:off x="3732213" y="831850"/>
            <a:ext cx="13049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l" eaLnBrk="1" hangingPunct="1"/>
            <a:r>
              <a:rPr lang="en-US" sz="1800">
                <a:solidFill>
                  <a:schemeClr val="bg1"/>
                </a:solidFill>
              </a:rPr>
              <a:t>bucket = 9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178" name="Text Box 102"/>
          <p:cNvSpPr txBox="1">
            <a:spLocks noChangeArrowheads="1"/>
          </p:cNvSpPr>
          <p:nvPr/>
        </p:nvSpPr>
        <p:spPr bwMode="auto">
          <a:xfrm>
            <a:off x="3717925" y="538163"/>
            <a:ext cx="20796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l" eaLnBrk="1" hangingPunct="1"/>
            <a:r>
              <a:rPr lang="en-US" sz="1800">
                <a:solidFill>
                  <a:schemeClr val="bg1"/>
                </a:solidFill>
              </a:rPr>
              <a:t>bucket = 29  % 10</a:t>
            </a:r>
            <a:endParaRPr lang="en-US" sz="1800">
              <a:solidFill>
                <a:schemeClr val="bg1"/>
              </a:solidFill>
            </a:endParaRPr>
          </a:p>
        </p:txBody>
      </p:sp>
      <p:grpSp>
        <p:nvGrpSpPr>
          <p:cNvPr id="128172" name="Group 172"/>
          <p:cNvGrpSpPr/>
          <p:nvPr/>
        </p:nvGrpSpPr>
        <p:grpSpPr bwMode="auto">
          <a:xfrm>
            <a:off x="4503738" y="1331913"/>
            <a:ext cx="1827212" cy="457200"/>
            <a:chOff x="-758" y="4939"/>
            <a:chExt cx="1151" cy="288"/>
          </a:xfrm>
        </p:grpSpPr>
        <p:sp>
          <p:nvSpPr>
            <p:cNvPr id="128173" name="Text Box 173"/>
            <p:cNvSpPr txBox="1">
              <a:spLocks noChangeArrowheads="1"/>
            </p:cNvSpPr>
            <p:nvPr/>
          </p:nvSpPr>
          <p:spPr bwMode="auto">
            <a:xfrm>
              <a:off x="-758" y="4939"/>
              <a:ext cx="7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6600FF"/>
                  </a:solidFill>
                </a:rPr>
                <a:t>bucket</a:t>
              </a:r>
              <a:endParaRPr lang="en-US">
                <a:solidFill>
                  <a:srgbClr val="6600FF"/>
                </a:solidFill>
              </a:endParaRPr>
            </a:p>
          </p:txBody>
        </p:sp>
        <p:sp>
          <p:nvSpPr>
            <p:cNvPr id="128174" name="Rectangle 174"/>
            <p:cNvSpPr>
              <a:spLocks noChangeArrowheads="1"/>
            </p:cNvSpPr>
            <p:nvPr/>
          </p:nvSpPr>
          <p:spPr bwMode="auto">
            <a:xfrm>
              <a:off x="-45" y="4960"/>
              <a:ext cx="438" cy="24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28175" name="Text Box 175"/>
          <p:cNvSpPr txBox="1">
            <a:spLocks noChangeArrowheads="1"/>
          </p:cNvSpPr>
          <p:nvPr/>
        </p:nvSpPr>
        <p:spPr bwMode="auto">
          <a:xfrm>
            <a:off x="5800725" y="1335088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9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7" name="Line 119"/>
          <p:cNvSpPr>
            <a:spLocks noChangeShapeType="1"/>
          </p:cNvSpPr>
          <p:nvPr/>
        </p:nvSpPr>
        <p:spPr bwMode="auto">
          <a:xfrm>
            <a:off x="261938" y="2305050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" name="Line 119"/>
          <p:cNvSpPr>
            <a:spLocks noChangeShapeType="1"/>
          </p:cNvSpPr>
          <p:nvPr/>
        </p:nvSpPr>
        <p:spPr bwMode="auto">
          <a:xfrm>
            <a:off x="514350" y="2800350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8179" name="Oval 179"/>
          <p:cNvSpPr>
            <a:spLocks noChangeArrowheads="1"/>
          </p:cNvSpPr>
          <p:nvPr/>
        </p:nvSpPr>
        <p:spPr bwMode="auto">
          <a:xfrm>
            <a:off x="8743950" y="2487613"/>
            <a:ext cx="300038" cy="355600"/>
          </a:xfrm>
          <a:prstGeom prst="ellipse">
            <a:avLst/>
          </a:prstGeom>
          <a:noFill/>
          <a:ln w="38100" algn="ctr">
            <a:solidFill>
              <a:srgbClr val="6600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8182" name="Oval 182"/>
          <p:cNvSpPr>
            <a:spLocks noChangeArrowheads="1"/>
          </p:cNvSpPr>
          <p:nvPr/>
        </p:nvSpPr>
        <p:spPr bwMode="auto">
          <a:xfrm>
            <a:off x="7666038" y="2476500"/>
            <a:ext cx="368300" cy="355600"/>
          </a:xfrm>
          <a:prstGeom prst="ellipse">
            <a:avLst/>
          </a:prstGeom>
          <a:noFill/>
          <a:ln w="38100" algn="ctr">
            <a:solidFill>
              <a:srgbClr val="6600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Line 119"/>
          <p:cNvSpPr>
            <a:spLocks noChangeShapeType="1"/>
          </p:cNvSpPr>
          <p:nvPr/>
        </p:nvSpPr>
        <p:spPr bwMode="auto">
          <a:xfrm>
            <a:off x="523875" y="3352800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" name="Line 119"/>
          <p:cNvSpPr>
            <a:spLocks noChangeShapeType="1"/>
          </p:cNvSpPr>
          <p:nvPr/>
        </p:nvSpPr>
        <p:spPr bwMode="auto">
          <a:xfrm>
            <a:off x="5903913" y="5965825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" name="Line 119"/>
          <p:cNvSpPr>
            <a:spLocks noChangeShapeType="1"/>
          </p:cNvSpPr>
          <p:nvPr/>
        </p:nvSpPr>
        <p:spPr bwMode="auto">
          <a:xfrm>
            <a:off x="790575" y="3605213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8187" name="Rectangle 187"/>
          <p:cNvSpPr>
            <a:spLocks noChangeArrowheads="1"/>
          </p:cNvSpPr>
          <p:nvPr/>
        </p:nvSpPr>
        <p:spPr bwMode="auto">
          <a:xfrm>
            <a:off x="6537325" y="2430463"/>
            <a:ext cx="2606675" cy="434975"/>
          </a:xfrm>
          <a:prstGeom prst="rect">
            <a:avLst/>
          </a:prstGeom>
          <a:noFill/>
          <a:ln w="63500" algn="ctr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14" name="Slide Number Placeholder 4"/>
          <p:cNvSpPr txBox="1">
            <a:spLocks noGrp="1"/>
          </p:cNvSpPr>
          <p:nvPr/>
        </p:nvSpPr>
        <p:spPr bwMode="auto">
          <a:xfrm>
            <a:off x="-1447800" y="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r" eaLnBrk="1" hangingPunct="1"/>
            <a:fld id="{E5D74818-7133-4572-BC12-D49349C397FE}" type="slidenum">
              <a:rPr lang="en-US" sz="1400">
                <a:solidFill>
                  <a:schemeClr val="tx1"/>
                </a:solidFill>
                <a:latin typeface="Times New Roman" panose="02020503050405090304" pitchFamily="18" charset="0"/>
              </a:rPr>
            </a:fld>
            <a:endParaRPr lang="en-US" sz="140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  <p:sp>
        <p:nvSpPr>
          <p:cNvPr id="130253" name="Rectangle 205"/>
          <p:cNvSpPr>
            <a:spLocks noChangeArrowheads="1"/>
          </p:cNvSpPr>
          <p:nvPr/>
        </p:nvSpPr>
        <p:spPr bwMode="auto">
          <a:xfrm>
            <a:off x="80963" y="61913"/>
            <a:ext cx="6526212" cy="6478697"/>
          </a:xfrm>
          <a:prstGeom prst="rect">
            <a:avLst/>
          </a:prstGeom>
          <a:solidFill>
            <a:srgbClr val="FFFFE5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sz="1700" b="1" dirty="0">
                <a:latin typeface="Courier New" panose="02070409020205090404" pitchFamily="49" charset="0"/>
              </a:rPr>
              <a:t>const int NUM_BUCK = 10;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endParaRPr lang="en-US" sz="8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class </a:t>
            </a:r>
            <a:r>
              <a:rPr lang="en-US" sz="1700" b="1" dirty="0" err="1">
                <a:latin typeface="Courier New" panose="02070409020205090404" pitchFamily="49" charset="0"/>
              </a:rPr>
              <a:t>HashTable</a:t>
            </a:r>
            <a:r>
              <a:rPr lang="en-US" sz="1700" b="1" dirty="0">
                <a:latin typeface="Courier New" panose="02070409020205090404" pitchFamily="49" charset="0"/>
              </a:rPr>
              <a:t> </a:t>
            </a:r>
            <a:br>
              <a:rPr lang="en-US" sz="1700" b="1" dirty="0">
                <a:latin typeface="Courier New" panose="02070409020205090404" pitchFamily="49" charset="0"/>
              </a:rPr>
            </a:br>
            <a:r>
              <a:rPr lang="en-US" sz="1200" b="1" dirty="0">
                <a:latin typeface="Courier New" panose="02070409020205090404" pitchFamily="49" charset="0"/>
              </a:rPr>
              <a:t>{</a:t>
            </a:r>
            <a:endParaRPr lang="en-US" sz="12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public: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endParaRPr lang="en-US" sz="800" b="1" dirty="0">
              <a:latin typeface="Courier New" panose="02070409020205090404" pitchFamily="49" charset="0"/>
            </a:endParaRPr>
          </a:p>
          <a:p>
            <a:pPr algn="l"/>
            <a:r>
              <a:rPr lang="en-US" sz="1800" b="1" dirty="0">
                <a:latin typeface="Courier New" panose="02070409020205090404" pitchFamily="49" charset="0"/>
              </a:rPr>
              <a:t> </a:t>
            </a:r>
            <a:r>
              <a:rPr lang="en-US" sz="800" b="1" dirty="0">
                <a:latin typeface="Courier New" panose="02070409020205090404" pitchFamily="49" charset="0"/>
              </a:rPr>
              <a:t> </a:t>
            </a:r>
            <a:r>
              <a:rPr lang="en-US" sz="1800" b="1" dirty="0">
                <a:latin typeface="Courier New" panose="02070409020205090404" pitchFamily="49" charset="0"/>
              </a:rPr>
              <a:t>bool search(int </a:t>
            </a:r>
            <a:r>
              <a:rPr lang="en-US" sz="1800" b="1" dirty="0" err="1">
                <a:latin typeface="Courier New" panose="02070409020205090404" pitchFamily="49" charset="0"/>
              </a:rPr>
              <a:t>idNum</a:t>
            </a:r>
            <a:r>
              <a:rPr lang="en-US" sz="1800" b="1" dirty="0">
                <a:latin typeface="Courier New" panose="02070409020205090404" pitchFamily="49" charset="0"/>
              </a:rPr>
              <a:t>)</a:t>
            </a:r>
            <a:endParaRPr lang="en-US" sz="1800" b="1" dirty="0">
              <a:latin typeface="Courier New" panose="02070409020205090404" pitchFamily="49" charset="0"/>
            </a:endParaRPr>
          </a:p>
          <a:p>
            <a:pPr algn="l"/>
            <a:r>
              <a:rPr lang="en-US" sz="1300" b="1" dirty="0">
                <a:latin typeface="Courier New" panose="02070409020205090404" pitchFamily="49" charset="0"/>
              </a:rPr>
              <a:t>  {</a:t>
            </a:r>
            <a:endParaRPr lang="en-US" sz="1300" b="1" dirty="0">
              <a:latin typeface="Courier New" panose="02070409020205090404" pitchFamily="49" charset="0"/>
            </a:endParaRPr>
          </a:p>
          <a:p>
            <a:pPr algn="l"/>
            <a:r>
              <a:rPr lang="en-US" sz="1800" b="1" dirty="0">
                <a:latin typeface="Courier New" panose="02070409020205090404" pitchFamily="49" charset="0"/>
              </a:rPr>
              <a:t>    int bucket = </a:t>
            </a:r>
            <a:r>
              <a:rPr lang="en-US" sz="1800" b="1" dirty="0" err="1">
                <a:latin typeface="Courier New" panose="02070409020205090404" pitchFamily="49" charset="0"/>
              </a:rPr>
              <a:t>mapFunc</a:t>
            </a:r>
            <a:r>
              <a:rPr lang="en-US" sz="1800" b="1" dirty="0">
                <a:latin typeface="Courier New" panose="02070409020205090404" pitchFamily="49" charset="0"/>
              </a:rPr>
              <a:t>(</a:t>
            </a:r>
            <a:r>
              <a:rPr lang="en-US" sz="1800" b="1" dirty="0" err="1">
                <a:latin typeface="Courier New" panose="02070409020205090404" pitchFamily="49" charset="0"/>
              </a:rPr>
              <a:t>idNum</a:t>
            </a:r>
            <a:r>
              <a:rPr lang="en-US" sz="1800" b="1" dirty="0">
                <a:latin typeface="Courier New" panose="02070409020205090404" pitchFamily="49" charset="0"/>
              </a:rPr>
              <a:t>);</a:t>
            </a:r>
            <a:endParaRPr lang="en-US" sz="1800" b="1" dirty="0">
              <a:latin typeface="Courier New" panose="02070409020205090404" pitchFamily="49" charset="0"/>
            </a:endParaRPr>
          </a:p>
          <a:p>
            <a:pPr algn="l"/>
            <a:r>
              <a:rPr lang="en-US" sz="800" b="1" dirty="0">
                <a:latin typeface="Courier New" panose="02070409020205090404" pitchFamily="49" charset="0"/>
              </a:rPr>
              <a:t> </a:t>
            </a:r>
            <a:endParaRPr lang="en-US" sz="800" b="1" dirty="0">
              <a:latin typeface="Courier New" panose="02070409020205090404" pitchFamily="49" charset="0"/>
            </a:endParaRPr>
          </a:p>
          <a:p>
            <a:pPr algn="l"/>
            <a:r>
              <a:rPr lang="en-US" sz="1800" b="1" dirty="0">
                <a:latin typeface="Courier New" panose="02070409020205090404" pitchFamily="49" charset="0"/>
              </a:rPr>
              <a:t>    for (int tries=0;tries&lt;</a:t>
            </a:r>
            <a:r>
              <a:rPr lang="en-US" sz="1800" b="1" dirty="0" err="1">
                <a:latin typeface="Courier New" panose="02070409020205090404" pitchFamily="49" charset="0"/>
              </a:rPr>
              <a:t>NUM_BUCK;tries</a:t>
            </a:r>
            <a:r>
              <a:rPr lang="en-US" sz="1800" b="1" dirty="0">
                <a:latin typeface="Courier New" panose="02070409020205090404" pitchFamily="49" charset="0"/>
              </a:rPr>
              <a:t>++)</a:t>
            </a:r>
            <a:endParaRPr lang="en-US" sz="1800" b="1" dirty="0">
              <a:latin typeface="Courier New" panose="02070409020205090404" pitchFamily="49" charset="0"/>
            </a:endParaRPr>
          </a:p>
          <a:p>
            <a:pPr algn="l"/>
            <a:r>
              <a:rPr lang="en-US" sz="1300" b="1" dirty="0">
                <a:latin typeface="Courier New" panose="02070409020205090404" pitchFamily="49" charset="0"/>
              </a:rPr>
              <a:t>      {</a:t>
            </a:r>
            <a:endParaRPr lang="en-US" sz="1300" b="1" dirty="0">
              <a:latin typeface="Courier New" panose="02070409020205090404" pitchFamily="49" charset="0"/>
            </a:endParaRPr>
          </a:p>
          <a:p>
            <a:pPr algn="l"/>
            <a:r>
              <a:rPr lang="en-US" sz="1800" dirty="0">
                <a:latin typeface="Courier New" panose="02070409020205090404" pitchFamily="49" charset="0"/>
              </a:rPr>
              <a:t>      </a:t>
            </a:r>
            <a:r>
              <a:rPr lang="en-US" sz="1800" b="1" dirty="0">
                <a:latin typeface="Courier New" panose="02070409020205090404" pitchFamily="49" charset="0"/>
              </a:rPr>
              <a:t>if (</a:t>
            </a:r>
            <a:r>
              <a:rPr lang="en-US" sz="1800" b="1" dirty="0" err="1">
                <a:latin typeface="Courier New" panose="02070409020205090404" pitchFamily="49" charset="0"/>
              </a:rPr>
              <a:t>m_buckets</a:t>
            </a:r>
            <a:r>
              <a:rPr lang="en-US" sz="1800" b="1" dirty="0">
                <a:latin typeface="Courier New" panose="02070409020205090404" pitchFamily="49" charset="0"/>
              </a:rPr>
              <a:t>[bucket].used == false)</a:t>
            </a:r>
            <a:endParaRPr lang="en-US" sz="1800" b="1" dirty="0">
              <a:latin typeface="Courier New" panose="02070409020205090404" pitchFamily="49" charset="0"/>
            </a:endParaRPr>
          </a:p>
          <a:p>
            <a:pPr algn="l"/>
            <a:r>
              <a:rPr lang="en-US" sz="1800" b="1" dirty="0">
                <a:latin typeface="Courier New" panose="02070409020205090404" pitchFamily="49" charset="0"/>
              </a:rPr>
              <a:t>        return false;</a:t>
            </a:r>
            <a:endParaRPr lang="en-US" sz="1800" b="1" dirty="0">
              <a:latin typeface="Courier New" panose="02070409020205090404" pitchFamily="49" charset="0"/>
            </a:endParaRPr>
          </a:p>
          <a:p>
            <a:pPr algn="l"/>
            <a:r>
              <a:rPr lang="en-US" sz="1800" b="1" dirty="0">
                <a:latin typeface="Courier New" panose="02070409020205090404" pitchFamily="49" charset="0"/>
              </a:rPr>
              <a:t>      if (</a:t>
            </a:r>
            <a:r>
              <a:rPr lang="en-US" sz="1800" b="1" dirty="0" err="1">
                <a:latin typeface="Courier New" panose="02070409020205090404" pitchFamily="49" charset="0"/>
              </a:rPr>
              <a:t>m_buckets</a:t>
            </a:r>
            <a:r>
              <a:rPr lang="en-US" sz="1800" b="1" dirty="0">
                <a:latin typeface="Courier New" panose="02070409020205090404" pitchFamily="49" charset="0"/>
              </a:rPr>
              <a:t>[bucket].</a:t>
            </a:r>
            <a:r>
              <a:rPr lang="en-US" sz="1800" b="1" dirty="0" err="1">
                <a:latin typeface="Courier New" panose="02070409020205090404" pitchFamily="49" charset="0"/>
              </a:rPr>
              <a:t>idNum</a:t>
            </a:r>
            <a:r>
              <a:rPr lang="en-US" sz="1800" b="1" dirty="0">
                <a:latin typeface="Courier New" panose="02070409020205090404" pitchFamily="49" charset="0"/>
              </a:rPr>
              <a:t> == </a:t>
            </a:r>
            <a:r>
              <a:rPr lang="en-US" sz="1800" b="1" dirty="0" err="1">
                <a:latin typeface="Courier New" panose="02070409020205090404" pitchFamily="49" charset="0"/>
              </a:rPr>
              <a:t>idNum</a:t>
            </a:r>
            <a:r>
              <a:rPr lang="en-US" sz="1800" b="1" dirty="0">
                <a:latin typeface="Courier New" panose="02070409020205090404" pitchFamily="49" charset="0"/>
              </a:rPr>
              <a:t>)</a:t>
            </a:r>
            <a:endParaRPr lang="en-US" sz="1800" b="1" dirty="0">
              <a:latin typeface="Courier New" panose="02070409020205090404" pitchFamily="49" charset="0"/>
            </a:endParaRPr>
          </a:p>
          <a:p>
            <a:pPr algn="l"/>
            <a:r>
              <a:rPr lang="en-US" sz="1800" b="1" dirty="0">
                <a:latin typeface="Courier New" panose="02070409020205090404" pitchFamily="49" charset="0"/>
              </a:rPr>
              <a:t>        return true;</a:t>
            </a:r>
            <a:endParaRPr lang="en-US" sz="1800" b="1" dirty="0">
              <a:latin typeface="Courier New" panose="02070409020205090404" pitchFamily="49" charset="0"/>
            </a:endParaRPr>
          </a:p>
          <a:p>
            <a:pPr algn="l"/>
            <a:endParaRPr lang="en-US" sz="800" b="1" dirty="0">
              <a:latin typeface="Courier New" panose="02070409020205090404" pitchFamily="49" charset="0"/>
            </a:endParaRPr>
          </a:p>
          <a:p>
            <a:pPr algn="l"/>
            <a:r>
              <a:rPr lang="en-US" sz="1800" b="1" dirty="0">
                <a:latin typeface="Courier New" panose="02070409020205090404" pitchFamily="49" charset="0"/>
              </a:rPr>
              <a:t>      bucket = (bucket + 1) % NUM_BUCK;</a:t>
            </a:r>
            <a:endParaRPr lang="en-US" sz="1800" b="1" dirty="0">
              <a:latin typeface="Courier New" panose="02070409020205090404" pitchFamily="49" charset="0"/>
            </a:endParaRPr>
          </a:p>
          <a:p>
            <a:pPr algn="l"/>
            <a:r>
              <a:rPr lang="en-US" sz="1300" b="1" dirty="0">
                <a:latin typeface="Courier New" panose="02070409020205090404" pitchFamily="49" charset="0"/>
              </a:rPr>
              <a:t>      }</a:t>
            </a:r>
            <a:endParaRPr lang="en-US" sz="1300" b="1" dirty="0">
              <a:latin typeface="Courier New" panose="02070409020205090404" pitchFamily="49" charset="0"/>
            </a:endParaRPr>
          </a:p>
          <a:p>
            <a:pPr algn="l"/>
            <a:r>
              <a:rPr lang="en-US" sz="1800" b="1" dirty="0">
                <a:latin typeface="Courier New" panose="02070409020205090404" pitchFamily="49" charset="0"/>
              </a:rPr>
              <a:t>    return false;// not in the hash table</a:t>
            </a:r>
            <a:endParaRPr lang="en-US" sz="1800" b="1" dirty="0">
              <a:latin typeface="Courier New" panose="02070409020205090404" pitchFamily="49" charset="0"/>
            </a:endParaRPr>
          </a:p>
          <a:p>
            <a:pPr algn="l"/>
            <a:r>
              <a:rPr lang="en-US" sz="1300" b="1" dirty="0">
                <a:latin typeface="Courier New" panose="02070409020205090404" pitchFamily="49" charset="0"/>
              </a:rPr>
              <a:t>  }</a:t>
            </a:r>
            <a:endParaRPr lang="en-US" sz="1300" b="1" dirty="0">
              <a:latin typeface="Courier New" panose="02070409020205090404" pitchFamily="49" charset="0"/>
            </a:endParaRPr>
          </a:p>
          <a:p>
            <a:pPr algn="l"/>
            <a:endParaRPr lang="en-US" sz="800" b="1" dirty="0">
              <a:latin typeface="Courier New" panose="02070409020205090404" pitchFamily="49" charset="0"/>
            </a:endParaRPr>
          </a:p>
          <a:p>
            <a:pPr algn="l"/>
            <a:r>
              <a:rPr lang="en-US" sz="1800" b="1" dirty="0">
                <a:latin typeface="Courier New" panose="02070409020205090404" pitchFamily="49" charset="0"/>
              </a:rPr>
              <a:t>private:</a:t>
            </a:r>
            <a:endParaRPr lang="en-US" sz="1800" b="1" dirty="0">
              <a:latin typeface="Courier New" panose="02070409020205090404" pitchFamily="49" charset="0"/>
            </a:endParaRPr>
          </a:p>
          <a:p>
            <a:pPr algn="l"/>
            <a:r>
              <a:rPr lang="en-US" sz="1800" b="1" dirty="0">
                <a:latin typeface="Courier New" panose="02070409020205090404" pitchFamily="49" charset="0"/>
              </a:rPr>
              <a:t>   int </a:t>
            </a:r>
            <a:r>
              <a:rPr lang="en-US" sz="1800" b="1" dirty="0" err="1">
                <a:latin typeface="Courier New" panose="02070409020205090404" pitchFamily="49" charset="0"/>
              </a:rPr>
              <a:t>mapFunc</a:t>
            </a:r>
            <a:r>
              <a:rPr lang="en-US" sz="1800" b="1" dirty="0">
                <a:latin typeface="Courier New" panose="02070409020205090404" pitchFamily="49" charset="0"/>
              </a:rPr>
              <a:t>(int </a:t>
            </a:r>
            <a:r>
              <a:rPr lang="en-US" sz="1800" b="1" dirty="0" err="1">
                <a:latin typeface="Courier New" panose="02070409020205090404" pitchFamily="49" charset="0"/>
              </a:rPr>
              <a:t>idNum</a:t>
            </a:r>
            <a:r>
              <a:rPr lang="en-US" sz="1800" b="1" dirty="0">
                <a:latin typeface="Courier New" panose="02070409020205090404" pitchFamily="49" charset="0"/>
              </a:rPr>
              <a:t>) const</a:t>
            </a:r>
            <a:endParaRPr lang="en-US" sz="1800" b="1" dirty="0">
              <a:latin typeface="Courier New" panose="02070409020205090404" pitchFamily="49" charset="0"/>
            </a:endParaRPr>
          </a:p>
          <a:p>
            <a:pPr algn="l"/>
            <a:r>
              <a:rPr lang="en-US" sz="1800" b="1" dirty="0">
                <a:latin typeface="Courier New" panose="02070409020205090404" pitchFamily="49" charset="0"/>
              </a:rPr>
              <a:t>       {  return </a:t>
            </a:r>
            <a:r>
              <a:rPr lang="en-US" sz="1800" b="1" dirty="0" err="1">
                <a:latin typeface="Courier New" panose="02070409020205090404" pitchFamily="49" charset="0"/>
              </a:rPr>
              <a:t>idNum</a:t>
            </a:r>
            <a:r>
              <a:rPr lang="en-US" sz="1800" b="1" dirty="0">
                <a:latin typeface="Courier New" panose="02070409020205090404" pitchFamily="49" charset="0"/>
              </a:rPr>
              <a:t> % NUM_BUCK;  }</a:t>
            </a:r>
            <a:endParaRPr lang="en-US" sz="1800" b="1" dirty="0">
              <a:latin typeface="Courier New" panose="02070409020205090404" pitchFamily="49" charset="0"/>
            </a:endParaRPr>
          </a:p>
          <a:p>
            <a:pPr algn="l"/>
            <a:endParaRPr lang="en-US" sz="800" b="1" dirty="0">
              <a:latin typeface="Courier New" panose="02070409020205090404" pitchFamily="49" charset="0"/>
            </a:endParaRPr>
          </a:p>
          <a:p>
            <a:pPr algn="l"/>
            <a:r>
              <a:rPr lang="en-US" sz="1800" b="1" dirty="0">
                <a:latin typeface="Courier New" panose="02070409020205090404" pitchFamily="49" charset="0"/>
              </a:rPr>
              <a:t>   BUCKET </a:t>
            </a:r>
            <a:r>
              <a:rPr lang="en-US" sz="1800" b="1" dirty="0" err="1">
                <a:latin typeface="Courier New" panose="02070409020205090404" pitchFamily="49" charset="0"/>
              </a:rPr>
              <a:t>m_buckets</a:t>
            </a:r>
            <a:r>
              <a:rPr lang="en-US" sz="1800" b="1" dirty="0">
                <a:latin typeface="Courier New" panose="02070409020205090404" pitchFamily="49" charset="0"/>
              </a:rPr>
              <a:t>[NUM_BUCK];</a:t>
            </a:r>
            <a:endParaRPr lang="en-US" sz="1800" b="1" dirty="0">
              <a:latin typeface="Courier New" panose="02070409020205090404" pitchFamily="49" charset="0"/>
            </a:endParaRPr>
          </a:p>
          <a:p>
            <a:pPr algn="l"/>
            <a:r>
              <a:rPr lang="en-US" sz="1800" b="1" dirty="0">
                <a:latin typeface="Courier New" panose="02070409020205090404" pitchFamily="49" charset="0"/>
              </a:rPr>
              <a:t>};</a:t>
            </a:r>
            <a:endParaRPr lang="en-US" sz="1800" b="1" dirty="0">
              <a:latin typeface="Courier New" panose="02070409020205090404" pitchFamily="49" charset="0"/>
            </a:endParaRPr>
          </a:p>
        </p:txBody>
      </p:sp>
      <p:grpSp>
        <p:nvGrpSpPr>
          <p:cNvPr id="130050" name="Group 2"/>
          <p:cNvGrpSpPr/>
          <p:nvPr/>
        </p:nvGrpSpPr>
        <p:grpSpPr bwMode="auto">
          <a:xfrm>
            <a:off x="6543675" y="249238"/>
            <a:ext cx="2725738" cy="2574925"/>
            <a:chOff x="5615" y="905"/>
            <a:chExt cx="1717" cy="1622"/>
          </a:xfrm>
        </p:grpSpPr>
        <p:grpSp>
          <p:nvGrpSpPr>
            <p:cNvPr id="130051" name="Group 3"/>
            <p:cNvGrpSpPr/>
            <p:nvPr/>
          </p:nvGrpSpPr>
          <p:grpSpPr bwMode="auto">
            <a:xfrm>
              <a:off x="5615" y="905"/>
              <a:ext cx="1717" cy="1622"/>
              <a:chOff x="4118" y="801"/>
              <a:chExt cx="1717" cy="1622"/>
            </a:xfrm>
          </p:grpSpPr>
          <p:grpSp>
            <p:nvGrpSpPr>
              <p:cNvPr id="130052" name="Group 4"/>
              <p:cNvGrpSpPr/>
              <p:nvPr/>
            </p:nvGrpSpPr>
            <p:grpSpPr bwMode="auto">
              <a:xfrm>
                <a:off x="4245" y="801"/>
                <a:ext cx="1590" cy="1622"/>
                <a:chOff x="4218" y="801"/>
                <a:chExt cx="1590" cy="1622"/>
              </a:xfrm>
            </p:grpSpPr>
            <p:grpSp>
              <p:nvGrpSpPr>
                <p:cNvPr id="130053" name="Group 5"/>
                <p:cNvGrpSpPr/>
                <p:nvPr/>
              </p:nvGrpSpPr>
              <p:grpSpPr bwMode="auto">
                <a:xfrm>
                  <a:off x="4221" y="801"/>
                  <a:ext cx="1584" cy="212"/>
                  <a:chOff x="2700" y="4428"/>
                  <a:chExt cx="1584" cy="212"/>
                </a:xfrm>
              </p:grpSpPr>
              <p:sp>
                <p:nvSpPr>
                  <p:cNvPr id="130054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30055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30056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30057" name="Rectangle 9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30058" name="Group 10"/>
                <p:cNvGrpSpPr/>
                <p:nvPr/>
              </p:nvGrpSpPr>
              <p:grpSpPr bwMode="auto">
                <a:xfrm>
                  <a:off x="4218" y="960"/>
                  <a:ext cx="1584" cy="212"/>
                  <a:chOff x="2700" y="4428"/>
                  <a:chExt cx="1584" cy="212"/>
                </a:xfrm>
              </p:grpSpPr>
              <p:sp>
                <p:nvSpPr>
                  <p:cNvPr id="130059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30060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30061" name="Rectangle 13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30062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30063" name="Group 15"/>
                <p:cNvGrpSpPr/>
                <p:nvPr/>
              </p:nvGrpSpPr>
              <p:grpSpPr bwMode="auto">
                <a:xfrm>
                  <a:off x="4218" y="1113"/>
                  <a:ext cx="1584" cy="212"/>
                  <a:chOff x="2700" y="4428"/>
                  <a:chExt cx="1584" cy="212"/>
                </a:xfrm>
              </p:grpSpPr>
              <p:sp>
                <p:nvSpPr>
                  <p:cNvPr id="130064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30065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30066" name="Rectangle 18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30067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30068" name="Group 20"/>
                <p:cNvGrpSpPr/>
                <p:nvPr/>
              </p:nvGrpSpPr>
              <p:grpSpPr bwMode="auto">
                <a:xfrm>
                  <a:off x="4224" y="1272"/>
                  <a:ext cx="1584" cy="212"/>
                  <a:chOff x="2700" y="4428"/>
                  <a:chExt cx="1584" cy="212"/>
                </a:xfrm>
              </p:grpSpPr>
              <p:sp>
                <p:nvSpPr>
                  <p:cNvPr id="130069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30070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30071" name="Rectangle 23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30072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30073" name="Group 25"/>
                <p:cNvGrpSpPr/>
                <p:nvPr/>
              </p:nvGrpSpPr>
              <p:grpSpPr bwMode="auto">
                <a:xfrm>
                  <a:off x="4218" y="1428"/>
                  <a:ext cx="1584" cy="212"/>
                  <a:chOff x="2700" y="4428"/>
                  <a:chExt cx="1584" cy="212"/>
                </a:xfrm>
              </p:grpSpPr>
              <p:sp>
                <p:nvSpPr>
                  <p:cNvPr id="130074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30075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30076" name="Rectangle 28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30077" name="Rectangle 29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30078" name="Group 30"/>
                <p:cNvGrpSpPr/>
                <p:nvPr/>
              </p:nvGrpSpPr>
              <p:grpSpPr bwMode="auto">
                <a:xfrm>
                  <a:off x="4224" y="1587"/>
                  <a:ext cx="1584" cy="212"/>
                  <a:chOff x="2700" y="4428"/>
                  <a:chExt cx="1584" cy="212"/>
                </a:xfrm>
              </p:grpSpPr>
              <p:sp>
                <p:nvSpPr>
                  <p:cNvPr id="130079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30080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30081" name="Rectangle 33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30082" name="Rectangle 34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30083" name="Group 35"/>
                <p:cNvGrpSpPr/>
                <p:nvPr/>
              </p:nvGrpSpPr>
              <p:grpSpPr bwMode="auto">
                <a:xfrm>
                  <a:off x="4224" y="1740"/>
                  <a:ext cx="1584" cy="212"/>
                  <a:chOff x="2700" y="4428"/>
                  <a:chExt cx="1584" cy="212"/>
                </a:xfrm>
              </p:grpSpPr>
              <p:sp>
                <p:nvSpPr>
                  <p:cNvPr id="130084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30085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30086" name="Rectangle 38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30087" name="Rectangle 39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30088" name="Group 40"/>
                <p:cNvGrpSpPr/>
                <p:nvPr/>
              </p:nvGrpSpPr>
              <p:grpSpPr bwMode="auto">
                <a:xfrm>
                  <a:off x="4221" y="1899"/>
                  <a:ext cx="1584" cy="212"/>
                  <a:chOff x="2700" y="4428"/>
                  <a:chExt cx="1584" cy="212"/>
                </a:xfrm>
              </p:grpSpPr>
              <p:sp>
                <p:nvSpPr>
                  <p:cNvPr id="130089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30090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30091" name="Rectangle 43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30092" name="Rectangle 44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30093" name="Group 45"/>
                <p:cNvGrpSpPr/>
                <p:nvPr/>
              </p:nvGrpSpPr>
              <p:grpSpPr bwMode="auto">
                <a:xfrm>
                  <a:off x="4221" y="2052"/>
                  <a:ext cx="1584" cy="212"/>
                  <a:chOff x="2700" y="4428"/>
                  <a:chExt cx="1584" cy="212"/>
                </a:xfrm>
              </p:grpSpPr>
              <p:sp>
                <p:nvSpPr>
                  <p:cNvPr id="130094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30095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30096" name="Rectangle 48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30097" name="Rectangle 49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30098" name="Group 50"/>
                <p:cNvGrpSpPr/>
                <p:nvPr/>
              </p:nvGrpSpPr>
              <p:grpSpPr bwMode="auto">
                <a:xfrm>
                  <a:off x="4218" y="2211"/>
                  <a:ext cx="1584" cy="212"/>
                  <a:chOff x="2700" y="4428"/>
                  <a:chExt cx="1584" cy="212"/>
                </a:xfrm>
              </p:grpSpPr>
              <p:sp>
                <p:nvSpPr>
                  <p:cNvPr id="130099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30100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30101" name="Rectangle 53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30102" name="Rectangle 54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130103" name="Text Box 55"/>
              <p:cNvSpPr txBox="1">
                <a:spLocks noChangeArrowheads="1"/>
              </p:cNvSpPr>
              <p:nvPr/>
            </p:nvSpPr>
            <p:spPr bwMode="auto">
              <a:xfrm>
                <a:off x="4118" y="821"/>
                <a:ext cx="194" cy="15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E7F9B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600" b="1"/>
                  <a:t>0</a:t>
                </a:r>
                <a:endParaRPr lang="en-US" sz="1600" b="1"/>
              </a:p>
              <a:p>
                <a:r>
                  <a:rPr lang="en-US" sz="1600" b="1"/>
                  <a:t>1</a:t>
                </a:r>
                <a:endParaRPr lang="en-US" sz="1600" b="1"/>
              </a:p>
              <a:p>
                <a:r>
                  <a:rPr lang="en-US" sz="1600" b="1"/>
                  <a:t>2</a:t>
                </a:r>
                <a:endParaRPr lang="en-US" sz="1600" b="1"/>
              </a:p>
              <a:p>
                <a:r>
                  <a:rPr lang="en-US" sz="1600" b="1"/>
                  <a:t>3</a:t>
                </a:r>
                <a:endParaRPr lang="en-US" sz="1600" b="1"/>
              </a:p>
              <a:p>
                <a:r>
                  <a:rPr lang="en-US" sz="1600" b="1"/>
                  <a:t>4</a:t>
                </a:r>
                <a:endParaRPr lang="en-US" sz="1600" b="1"/>
              </a:p>
              <a:p>
                <a:r>
                  <a:rPr lang="en-US" sz="1600" b="1"/>
                  <a:t>5</a:t>
                </a:r>
                <a:endParaRPr lang="en-US" sz="1600" b="1"/>
              </a:p>
              <a:p>
                <a:r>
                  <a:rPr lang="en-US" sz="1600" b="1"/>
                  <a:t>6</a:t>
                </a:r>
                <a:endParaRPr lang="en-US" sz="1600" b="1"/>
              </a:p>
              <a:p>
                <a:r>
                  <a:rPr lang="en-US" sz="1600" b="1"/>
                  <a:t>7</a:t>
                </a:r>
                <a:endParaRPr lang="en-US" sz="1600" b="1"/>
              </a:p>
              <a:p>
                <a:r>
                  <a:rPr lang="en-US" sz="1600" b="1"/>
                  <a:t>8</a:t>
                </a:r>
                <a:endParaRPr lang="en-US" sz="1600" b="1"/>
              </a:p>
              <a:p>
                <a:r>
                  <a:rPr lang="en-US" sz="1600" b="1"/>
                  <a:t>9</a:t>
                </a:r>
                <a:endParaRPr lang="en-US" sz="1600" b="1"/>
              </a:p>
            </p:txBody>
          </p:sp>
        </p:grpSp>
        <p:sp>
          <p:nvSpPr>
            <p:cNvPr id="130104" name="Text Box 56"/>
            <p:cNvSpPr txBox="1">
              <a:spLocks noChangeArrowheads="1"/>
            </p:cNvSpPr>
            <p:nvPr/>
          </p:nvSpPr>
          <p:spPr bwMode="auto">
            <a:xfrm>
              <a:off x="6974" y="918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6600FF"/>
                  </a:solidFill>
                </a:rPr>
                <a:t>f</a:t>
              </a:r>
              <a:endParaRPr lang="en-US" sz="1600" b="1">
                <a:solidFill>
                  <a:srgbClr val="6600FF"/>
                </a:solidFill>
              </a:endParaRPr>
            </a:p>
          </p:txBody>
        </p:sp>
        <p:sp>
          <p:nvSpPr>
            <p:cNvPr id="130105" name="Text Box 57"/>
            <p:cNvSpPr txBox="1">
              <a:spLocks noChangeArrowheads="1"/>
            </p:cNvSpPr>
            <p:nvPr/>
          </p:nvSpPr>
          <p:spPr bwMode="auto">
            <a:xfrm>
              <a:off x="6980" y="1068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6600FF"/>
                  </a:solidFill>
                </a:rPr>
                <a:t>f</a:t>
              </a:r>
              <a:endParaRPr lang="en-US" sz="1600" b="1">
                <a:solidFill>
                  <a:srgbClr val="6600FF"/>
                </a:solidFill>
              </a:endParaRPr>
            </a:p>
          </p:txBody>
        </p:sp>
        <p:sp>
          <p:nvSpPr>
            <p:cNvPr id="130106" name="Text Box 58"/>
            <p:cNvSpPr txBox="1">
              <a:spLocks noChangeArrowheads="1"/>
            </p:cNvSpPr>
            <p:nvPr/>
          </p:nvSpPr>
          <p:spPr bwMode="auto">
            <a:xfrm>
              <a:off x="6980" y="123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6600FF"/>
                  </a:solidFill>
                </a:rPr>
                <a:t>f</a:t>
              </a:r>
              <a:endParaRPr lang="en-US" sz="1600" b="1">
                <a:solidFill>
                  <a:srgbClr val="6600FF"/>
                </a:solidFill>
              </a:endParaRPr>
            </a:p>
          </p:txBody>
        </p:sp>
        <p:sp>
          <p:nvSpPr>
            <p:cNvPr id="130107" name="Text Box 59"/>
            <p:cNvSpPr txBox="1">
              <a:spLocks noChangeArrowheads="1"/>
            </p:cNvSpPr>
            <p:nvPr/>
          </p:nvSpPr>
          <p:spPr bwMode="auto">
            <a:xfrm>
              <a:off x="6986" y="13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6600FF"/>
                  </a:solidFill>
                </a:rPr>
                <a:t>f</a:t>
              </a:r>
              <a:endParaRPr lang="en-US" sz="1600" b="1">
                <a:solidFill>
                  <a:srgbClr val="6600FF"/>
                </a:solidFill>
              </a:endParaRPr>
            </a:p>
          </p:txBody>
        </p:sp>
        <p:sp>
          <p:nvSpPr>
            <p:cNvPr id="130108" name="Text Box 60"/>
            <p:cNvSpPr txBox="1">
              <a:spLocks noChangeArrowheads="1"/>
            </p:cNvSpPr>
            <p:nvPr/>
          </p:nvSpPr>
          <p:spPr bwMode="auto">
            <a:xfrm>
              <a:off x="6980" y="1536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6600FF"/>
                  </a:solidFill>
                </a:rPr>
                <a:t>f</a:t>
              </a:r>
              <a:endParaRPr lang="en-US" sz="1600" b="1">
                <a:solidFill>
                  <a:srgbClr val="6600FF"/>
                </a:solidFill>
              </a:endParaRPr>
            </a:p>
          </p:txBody>
        </p:sp>
        <p:sp>
          <p:nvSpPr>
            <p:cNvPr id="130109" name="Text Box 61"/>
            <p:cNvSpPr txBox="1">
              <a:spLocks noChangeArrowheads="1"/>
            </p:cNvSpPr>
            <p:nvPr/>
          </p:nvSpPr>
          <p:spPr bwMode="auto">
            <a:xfrm>
              <a:off x="6986" y="1686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6600FF"/>
                  </a:solidFill>
                </a:rPr>
                <a:t>f</a:t>
              </a:r>
              <a:endParaRPr lang="en-US" sz="1600" b="1">
                <a:solidFill>
                  <a:srgbClr val="6600FF"/>
                </a:solidFill>
              </a:endParaRPr>
            </a:p>
          </p:txBody>
        </p:sp>
        <p:sp>
          <p:nvSpPr>
            <p:cNvPr id="130110" name="Text Box 62"/>
            <p:cNvSpPr txBox="1">
              <a:spLocks noChangeArrowheads="1"/>
            </p:cNvSpPr>
            <p:nvPr/>
          </p:nvSpPr>
          <p:spPr bwMode="auto">
            <a:xfrm>
              <a:off x="6986" y="1848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6600FF"/>
                  </a:solidFill>
                </a:rPr>
                <a:t>f</a:t>
              </a:r>
              <a:endParaRPr lang="en-US" sz="1600" b="1">
                <a:solidFill>
                  <a:srgbClr val="6600FF"/>
                </a:solidFill>
              </a:endParaRPr>
            </a:p>
          </p:txBody>
        </p:sp>
        <p:sp>
          <p:nvSpPr>
            <p:cNvPr id="130111" name="Text Box 63"/>
            <p:cNvSpPr txBox="1">
              <a:spLocks noChangeArrowheads="1"/>
            </p:cNvSpPr>
            <p:nvPr/>
          </p:nvSpPr>
          <p:spPr bwMode="auto">
            <a:xfrm>
              <a:off x="6992" y="1998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6600FF"/>
                  </a:solidFill>
                </a:rPr>
                <a:t>f</a:t>
              </a:r>
              <a:endParaRPr lang="en-US" sz="1600" b="1">
                <a:solidFill>
                  <a:srgbClr val="6600FF"/>
                </a:solidFill>
              </a:endParaRPr>
            </a:p>
          </p:txBody>
        </p:sp>
        <p:sp>
          <p:nvSpPr>
            <p:cNvPr id="130112" name="Text Box 64"/>
            <p:cNvSpPr txBox="1">
              <a:spLocks noChangeArrowheads="1"/>
            </p:cNvSpPr>
            <p:nvPr/>
          </p:nvSpPr>
          <p:spPr bwMode="auto">
            <a:xfrm>
              <a:off x="6995" y="2163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6600FF"/>
                  </a:solidFill>
                </a:rPr>
                <a:t>f</a:t>
              </a:r>
              <a:endParaRPr lang="en-US" sz="1600" b="1">
                <a:solidFill>
                  <a:srgbClr val="6600FF"/>
                </a:solidFill>
              </a:endParaRPr>
            </a:p>
          </p:txBody>
        </p:sp>
        <p:sp>
          <p:nvSpPr>
            <p:cNvPr id="130113" name="Text Box 65"/>
            <p:cNvSpPr txBox="1">
              <a:spLocks noChangeArrowheads="1"/>
            </p:cNvSpPr>
            <p:nvPr/>
          </p:nvSpPr>
          <p:spPr bwMode="auto">
            <a:xfrm>
              <a:off x="7001" y="2313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6600FF"/>
                  </a:solidFill>
                </a:rPr>
                <a:t>f</a:t>
              </a:r>
              <a:endParaRPr lang="en-US" sz="1600" b="1">
                <a:solidFill>
                  <a:srgbClr val="6600FF"/>
                </a:solidFill>
              </a:endParaRPr>
            </a:p>
          </p:txBody>
        </p:sp>
      </p:grpSp>
      <p:grpSp>
        <p:nvGrpSpPr>
          <p:cNvPr id="130116" name="Group 68"/>
          <p:cNvGrpSpPr/>
          <p:nvPr/>
        </p:nvGrpSpPr>
        <p:grpSpPr bwMode="auto">
          <a:xfrm>
            <a:off x="6546850" y="238125"/>
            <a:ext cx="2725738" cy="2600325"/>
            <a:chOff x="4124" y="150"/>
            <a:chExt cx="1717" cy="1638"/>
          </a:xfrm>
        </p:grpSpPr>
        <p:grpSp>
          <p:nvGrpSpPr>
            <p:cNvPr id="130117" name="Group 69"/>
            <p:cNvGrpSpPr/>
            <p:nvPr/>
          </p:nvGrpSpPr>
          <p:grpSpPr bwMode="auto">
            <a:xfrm>
              <a:off x="4124" y="150"/>
              <a:ext cx="1717" cy="1622"/>
              <a:chOff x="4118" y="801"/>
              <a:chExt cx="1717" cy="1622"/>
            </a:xfrm>
          </p:grpSpPr>
          <p:grpSp>
            <p:nvGrpSpPr>
              <p:cNvPr id="130118" name="Group 70"/>
              <p:cNvGrpSpPr/>
              <p:nvPr/>
            </p:nvGrpSpPr>
            <p:grpSpPr bwMode="auto">
              <a:xfrm>
                <a:off x="4245" y="801"/>
                <a:ext cx="1590" cy="1622"/>
                <a:chOff x="4218" y="801"/>
                <a:chExt cx="1590" cy="1622"/>
              </a:xfrm>
            </p:grpSpPr>
            <p:grpSp>
              <p:nvGrpSpPr>
                <p:cNvPr id="130119" name="Group 71"/>
                <p:cNvGrpSpPr/>
                <p:nvPr/>
              </p:nvGrpSpPr>
              <p:grpSpPr bwMode="auto">
                <a:xfrm>
                  <a:off x="4221" y="801"/>
                  <a:ext cx="1584" cy="212"/>
                  <a:chOff x="2700" y="4428"/>
                  <a:chExt cx="1584" cy="212"/>
                </a:xfrm>
              </p:grpSpPr>
              <p:sp>
                <p:nvSpPr>
                  <p:cNvPr id="130120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30121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30122" name="Rectangle 74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30123" name="Rectangle 75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30124" name="Group 76"/>
                <p:cNvGrpSpPr/>
                <p:nvPr/>
              </p:nvGrpSpPr>
              <p:grpSpPr bwMode="auto">
                <a:xfrm>
                  <a:off x="4218" y="960"/>
                  <a:ext cx="1584" cy="212"/>
                  <a:chOff x="2700" y="4428"/>
                  <a:chExt cx="1584" cy="212"/>
                </a:xfrm>
              </p:grpSpPr>
              <p:sp>
                <p:nvSpPr>
                  <p:cNvPr id="130125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30126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30127" name="Rectangle 79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30128" name="Rectangle 80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30129" name="Group 81"/>
                <p:cNvGrpSpPr/>
                <p:nvPr/>
              </p:nvGrpSpPr>
              <p:grpSpPr bwMode="auto">
                <a:xfrm>
                  <a:off x="4218" y="1113"/>
                  <a:ext cx="1584" cy="212"/>
                  <a:chOff x="2700" y="4428"/>
                  <a:chExt cx="1584" cy="212"/>
                </a:xfrm>
              </p:grpSpPr>
              <p:sp>
                <p:nvSpPr>
                  <p:cNvPr id="130130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30131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30132" name="Rectangle 84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30133" name="Rectangle 85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30134" name="Group 86"/>
                <p:cNvGrpSpPr/>
                <p:nvPr/>
              </p:nvGrpSpPr>
              <p:grpSpPr bwMode="auto">
                <a:xfrm>
                  <a:off x="4224" y="1272"/>
                  <a:ext cx="1584" cy="212"/>
                  <a:chOff x="2700" y="4428"/>
                  <a:chExt cx="1584" cy="212"/>
                </a:xfrm>
              </p:grpSpPr>
              <p:sp>
                <p:nvSpPr>
                  <p:cNvPr id="130135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30136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30137" name="Rectangle 89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30138" name="Rectangle 90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30139" name="Group 91"/>
                <p:cNvGrpSpPr/>
                <p:nvPr/>
              </p:nvGrpSpPr>
              <p:grpSpPr bwMode="auto">
                <a:xfrm>
                  <a:off x="4218" y="1428"/>
                  <a:ext cx="1584" cy="212"/>
                  <a:chOff x="2700" y="4428"/>
                  <a:chExt cx="1584" cy="212"/>
                </a:xfrm>
              </p:grpSpPr>
              <p:sp>
                <p:nvSpPr>
                  <p:cNvPr id="130140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30141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30142" name="Rectangle 94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30143" name="Rectangle 95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30144" name="Group 96"/>
                <p:cNvGrpSpPr/>
                <p:nvPr/>
              </p:nvGrpSpPr>
              <p:grpSpPr bwMode="auto">
                <a:xfrm>
                  <a:off x="4224" y="1587"/>
                  <a:ext cx="1584" cy="212"/>
                  <a:chOff x="2700" y="4428"/>
                  <a:chExt cx="1584" cy="212"/>
                </a:xfrm>
              </p:grpSpPr>
              <p:sp>
                <p:nvSpPr>
                  <p:cNvPr id="130145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30146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30147" name="Rectangle 99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30148" name="Rectangle 100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30149" name="Group 101"/>
                <p:cNvGrpSpPr/>
                <p:nvPr/>
              </p:nvGrpSpPr>
              <p:grpSpPr bwMode="auto">
                <a:xfrm>
                  <a:off x="4224" y="1740"/>
                  <a:ext cx="1584" cy="212"/>
                  <a:chOff x="2700" y="4428"/>
                  <a:chExt cx="1584" cy="212"/>
                </a:xfrm>
              </p:grpSpPr>
              <p:sp>
                <p:nvSpPr>
                  <p:cNvPr id="130150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30151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30152" name="Rectangle 104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30153" name="Rectangle 105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30154" name="Group 106"/>
                <p:cNvGrpSpPr/>
                <p:nvPr/>
              </p:nvGrpSpPr>
              <p:grpSpPr bwMode="auto">
                <a:xfrm>
                  <a:off x="4221" y="1899"/>
                  <a:ext cx="1584" cy="212"/>
                  <a:chOff x="2700" y="4428"/>
                  <a:chExt cx="1584" cy="212"/>
                </a:xfrm>
              </p:grpSpPr>
              <p:sp>
                <p:nvSpPr>
                  <p:cNvPr id="130155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30156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30157" name="Rectangle 109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30158" name="Rectangle 110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30159" name="Group 111"/>
                <p:cNvGrpSpPr/>
                <p:nvPr/>
              </p:nvGrpSpPr>
              <p:grpSpPr bwMode="auto">
                <a:xfrm>
                  <a:off x="4221" y="2052"/>
                  <a:ext cx="1584" cy="212"/>
                  <a:chOff x="2700" y="4428"/>
                  <a:chExt cx="1584" cy="212"/>
                </a:xfrm>
              </p:grpSpPr>
              <p:sp>
                <p:nvSpPr>
                  <p:cNvPr id="130160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30161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30162" name="Rectangle 114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30163" name="Rectangle 115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30164" name="Group 116"/>
                <p:cNvGrpSpPr/>
                <p:nvPr/>
              </p:nvGrpSpPr>
              <p:grpSpPr bwMode="auto">
                <a:xfrm>
                  <a:off x="4218" y="2211"/>
                  <a:ext cx="1584" cy="212"/>
                  <a:chOff x="2700" y="4428"/>
                  <a:chExt cx="1584" cy="212"/>
                </a:xfrm>
              </p:grpSpPr>
              <p:sp>
                <p:nvSpPr>
                  <p:cNvPr id="130165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30166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30167" name="Rectangle 119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30168" name="Rectangle 120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130169" name="Text Box 121"/>
              <p:cNvSpPr txBox="1">
                <a:spLocks noChangeArrowheads="1"/>
              </p:cNvSpPr>
              <p:nvPr/>
            </p:nvSpPr>
            <p:spPr bwMode="auto">
              <a:xfrm>
                <a:off x="4118" y="821"/>
                <a:ext cx="194" cy="15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E7F9B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600" b="1"/>
                  <a:t>0</a:t>
                </a:r>
                <a:endParaRPr lang="en-US" sz="1600" b="1"/>
              </a:p>
              <a:p>
                <a:r>
                  <a:rPr lang="en-US" sz="1600" b="1"/>
                  <a:t>1</a:t>
                </a:r>
                <a:endParaRPr lang="en-US" sz="1600" b="1"/>
              </a:p>
              <a:p>
                <a:r>
                  <a:rPr lang="en-US" sz="1600" b="1"/>
                  <a:t>2</a:t>
                </a:r>
                <a:endParaRPr lang="en-US" sz="1600" b="1"/>
              </a:p>
              <a:p>
                <a:r>
                  <a:rPr lang="en-US" sz="1600" b="1"/>
                  <a:t>3</a:t>
                </a:r>
                <a:endParaRPr lang="en-US" sz="1600" b="1"/>
              </a:p>
              <a:p>
                <a:r>
                  <a:rPr lang="en-US" sz="1600" b="1"/>
                  <a:t>4</a:t>
                </a:r>
                <a:endParaRPr lang="en-US" sz="1600" b="1"/>
              </a:p>
              <a:p>
                <a:r>
                  <a:rPr lang="en-US" sz="1600" b="1"/>
                  <a:t>5</a:t>
                </a:r>
                <a:endParaRPr lang="en-US" sz="1600" b="1"/>
              </a:p>
              <a:p>
                <a:r>
                  <a:rPr lang="en-US" sz="1600" b="1"/>
                  <a:t>6</a:t>
                </a:r>
                <a:endParaRPr lang="en-US" sz="1600" b="1"/>
              </a:p>
              <a:p>
                <a:r>
                  <a:rPr lang="en-US" sz="1600" b="1"/>
                  <a:t>7</a:t>
                </a:r>
                <a:endParaRPr lang="en-US" sz="1600" b="1"/>
              </a:p>
              <a:p>
                <a:r>
                  <a:rPr lang="en-US" sz="1600" b="1"/>
                  <a:t>8</a:t>
                </a:r>
                <a:endParaRPr lang="en-US" sz="1600" b="1"/>
              </a:p>
              <a:p>
                <a:r>
                  <a:rPr lang="en-US" sz="1600" b="1"/>
                  <a:t>9</a:t>
                </a:r>
                <a:endParaRPr lang="en-US" sz="1600" b="1"/>
              </a:p>
            </p:txBody>
          </p:sp>
        </p:grpSp>
        <p:sp>
          <p:nvSpPr>
            <p:cNvPr id="130170" name="Text Box 122"/>
            <p:cNvSpPr txBox="1">
              <a:spLocks noChangeArrowheads="1"/>
            </p:cNvSpPr>
            <p:nvPr/>
          </p:nvSpPr>
          <p:spPr bwMode="auto">
            <a:xfrm>
              <a:off x="5489" y="313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6600FF"/>
                  </a:solidFill>
                </a:rPr>
                <a:t>f</a:t>
              </a:r>
              <a:endParaRPr lang="en-US" sz="1600" b="1">
                <a:solidFill>
                  <a:srgbClr val="6600FF"/>
                </a:solidFill>
              </a:endParaRPr>
            </a:p>
          </p:txBody>
        </p:sp>
        <p:sp>
          <p:nvSpPr>
            <p:cNvPr id="130171" name="Text Box 123"/>
            <p:cNvSpPr txBox="1">
              <a:spLocks noChangeArrowheads="1"/>
            </p:cNvSpPr>
            <p:nvPr/>
          </p:nvSpPr>
          <p:spPr bwMode="auto">
            <a:xfrm>
              <a:off x="5489" y="475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6600FF"/>
                  </a:solidFill>
                </a:rPr>
                <a:t>f</a:t>
              </a:r>
              <a:endParaRPr lang="en-US" sz="1600" b="1">
                <a:solidFill>
                  <a:srgbClr val="6600FF"/>
                </a:solidFill>
              </a:endParaRPr>
            </a:p>
          </p:txBody>
        </p:sp>
        <p:sp>
          <p:nvSpPr>
            <p:cNvPr id="130172" name="Text Box 124"/>
            <p:cNvSpPr txBox="1">
              <a:spLocks noChangeArrowheads="1"/>
            </p:cNvSpPr>
            <p:nvPr/>
          </p:nvSpPr>
          <p:spPr bwMode="auto">
            <a:xfrm>
              <a:off x="5495" y="625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6600FF"/>
                  </a:solidFill>
                </a:rPr>
                <a:t>f</a:t>
              </a:r>
              <a:endParaRPr lang="en-US" sz="1600" b="1">
                <a:solidFill>
                  <a:srgbClr val="6600FF"/>
                </a:solidFill>
              </a:endParaRPr>
            </a:p>
          </p:txBody>
        </p:sp>
        <p:sp>
          <p:nvSpPr>
            <p:cNvPr id="130173" name="Text Box 125"/>
            <p:cNvSpPr txBox="1">
              <a:spLocks noChangeArrowheads="1"/>
            </p:cNvSpPr>
            <p:nvPr/>
          </p:nvSpPr>
          <p:spPr bwMode="auto">
            <a:xfrm>
              <a:off x="5489" y="781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6600FF"/>
                  </a:solidFill>
                </a:rPr>
                <a:t>f</a:t>
              </a:r>
              <a:endParaRPr lang="en-US" sz="1600" b="1">
                <a:solidFill>
                  <a:srgbClr val="6600FF"/>
                </a:solidFill>
              </a:endParaRPr>
            </a:p>
          </p:txBody>
        </p:sp>
        <p:sp>
          <p:nvSpPr>
            <p:cNvPr id="130174" name="Text Box 126"/>
            <p:cNvSpPr txBox="1">
              <a:spLocks noChangeArrowheads="1"/>
            </p:cNvSpPr>
            <p:nvPr/>
          </p:nvSpPr>
          <p:spPr bwMode="auto">
            <a:xfrm>
              <a:off x="5504" y="1408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6600FF"/>
                  </a:solidFill>
                </a:rPr>
                <a:t>f</a:t>
              </a:r>
              <a:endParaRPr lang="en-US" sz="1600" b="1">
                <a:solidFill>
                  <a:srgbClr val="6600FF"/>
                </a:solidFill>
              </a:endParaRPr>
            </a:p>
          </p:txBody>
        </p:sp>
        <p:sp>
          <p:nvSpPr>
            <p:cNvPr id="130175" name="Rectangle 127"/>
            <p:cNvSpPr>
              <a:spLocks noChangeArrowheads="1"/>
            </p:cNvSpPr>
            <p:nvPr/>
          </p:nvSpPr>
          <p:spPr bwMode="auto">
            <a:xfrm>
              <a:off x="4813" y="1563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FF0000"/>
                  </a:solidFill>
                </a:rPr>
                <a:t>29</a:t>
              </a:r>
              <a:endParaRPr lang="en-US" sz="1600" b="1">
                <a:solidFill>
                  <a:srgbClr val="FF0000"/>
                </a:solidFill>
              </a:endParaRPr>
            </a:p>
          </p:txBody>
        </p:sp>
        <p:sp>
          <p:nvSpPr>
            <p:cNvPr id="130176" name="Text Box 128"/>
            <p:cNvSpPr txBox="1">
              <a:spLocks noChangeArrowheads="1"/>
            </p:cNvSpPr>
            <p:nvPr/>
          </p:nvSpPr>
          <p:spPr bwMode="auto">
            <a:xfrm>
              <a:off x="5492" y="1576"/>
              <a:ext cx="20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FF0000"/>
                  </a:solidFill>
                </a:rPr>
                <a:t>T</a:t>
              </a:r>
              <a:endParaRPr lang="en-US" sz="1600" b="1">
                <a:solidFill>
                  <a:srgbClr val="FF0000"/>
                </a:solidFill>
              </a:endParaRPr>
            </a:p>
          </p:txBody>
        </p:sp>
        <p:sp>
          <p:nvSpPr>
            <p:cNvPr id="130177" name="Rectangle 129"/>
            <p:cNvSpPr>
              <a:spLocks noChangeArrowheads="1"/>
            </p:cNvSpPr>
            <p:nvPr/>
          </p:nvSpPr>
          <p:spPr bwMode="auto">
            <a:xfrm>
              <a:off x="4801" y="948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</a:rPr>
                <a:t>65</a:t>
              </a:r>
              <a:endParaRPr lang="en-US"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130178" name="Text Box 130"/>
            <p:cNvSpPr txBox="1">
              <a:spLocks noChangeArrowheads="1"/>
            </p:cNvSpPr>
            <p:nvPr/>
          </p:nvSpPr>
          <p:spPr bwMode="auto">
            <a:xfrm>
              <a:off x="5484" y="165"/>
              <a:ext cx="20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FF0000"/>
                  </a:solidFill>
                </a:rPr>
                <a:t>T</a:t>
              </a:r>
              <a:endParaRPr lang="en-US" sz="1600" b="1">
                <a:solidFill>
                  <a:srgbClr val="FF0000"/>
                </a:solidFill>
              </a:endParaRPr>
            </a:p>
          </p:txBody>
        </p:sp>
        <p:sp>
          <p:nvSpPr>
            <p:cNvPr id="130179" name="Rectangle 131"/>
            <p:cNvSpPr>
              <a:spLocks noChangeArrowheads="1"/>
            </p:cNvSpPr>
            <p:nvPr/>
          </p:nvSpPr>
          <p:spPr bwMode="auto">
            <a:xfrm>
              <a:off x="4816" y="162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FF0000"/>
                  </a:solidFill>
                </a:rPr>
                <a:t>79</a:t>
              </a:r>
              <a:endParaRPr lang="en-US" sz="1600" b="1">
                <a:solidFill>
                  <a:srgbClr val="FF0000"/>
                </a:solidFill>
              </a:endParaRPr>
            </a:p>
          </p:txBody>
        </p:sp>
        <p:sp>
          <p:nvSpPr>
            <p:cNvPr id="130180" name="Text Box 132"/>
            <p:cNvSpPr txBox="1">
              <a:spLocks noChangeArrowheads="1"/>
            </p:cNvSpPr>
            <p:nvPr/>
          </p:nvSpPr>
          <p:spPr bwMode="auto">
            <a:xfrm>
              <a:off x="5478" y="942"/>
              <a:ext cx="20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FF0000"/>
                  </a:solidFill>
                </a:rPr>
                <a:t>T</a:t>
              </a:r>
              <a:endParaRPr lang="en-US" sz="1600" b="1">
                <a:solidFill>
                  <a:srgbClr val="FF0000"/>
                </a:solidFill>
              </a:endParaRPr>
            </a:p>
          </p:txBody>
        </p:sp>
        <p:sp>
          <p:nvSpPr>
            <p:cNvPr id="130181" name="Rectangle 133"/>
            <p:cNvSpPr>
              <a:spLocks noChangeArrowheads="1"/>
            </p:cNvSpPr>
            <p:nvPr/>
          </p:nvSpPr>
          <p:spPr bwMode="auto">
            <a:xfrm>
              <a:off x="4807" y="1098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FF0000"/>
                  </a:solidFill>
                </a:rPr>
                <a:t>15</a:t>
              </a:r>
              <a:endParaRPr lang="en-US" sz="1600" b="1">
                <a:solidFill>
                  <a:srgbClr val="FF0000"/>
                </a:solidFill>
              </a:endParaRPr>
            </a:p>
          </p:txBody>
        </p:sp>
        <p:sp>
          <p:nvSpPr>
            <p:cNvPr id="130182" name="Text Box 134"/>
            <p:cNvSpPr txBox="1">
              <a:spLocks noChangeArrowheads="1"/>
            </p:cNvSpPr>
            <p:nvPr/>
          </p:nvSpPr>
          <p:spPr bwMode="auto">
            <a:xfrm>
              <a:off x="5484" y="1092"/>
              <a:ext cx="20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FF0000"/>
                  </a:solidFill>
                </a:rPr>
                <a:t>T</a:t>
              </a:r>
              <a:endParaRPr lang="en-US" sz="1600" b="1">
                <a:solidFill>
                  <a:srgbClr val="FF0000"/>
                </a:solidFill>
              </a:endParaRPr>
            </a:p>
          </p:txBody>
        </p:sp>
        <p:sp>
          <p:nvSpPr>
            <p:cNvPr id="130183" name="Rectangle 135"/>
            <p:cNvSpPr>
              <a:spLocks noChangeArrowheads="1"/>
            </p:cNvSpPr>
            <p:nvPr/>
          </p:nvSpPr>
          <p:spPr bwMode="auto">
            <a:xfrm>
              <a:off x="4774" y="1257"/>
              <a:ext cx="35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FF0000"/>
                  </a:solidFill>
                </a:rPr>
                <a:t>175</a:t>
              </a:r>
              <a:endParaRPr lang="en-US" sz="1600" b="1">
                <a:solidFill>
                  <a:srgbClr val="FF0000"/>
                </a:solidFill>
              </a:endParaRPr>
            </a:p>
          </p:txBody>
        </p:sp>
        <p:sp>
          <p:nvSpPr>
            <p:cNvPr id="130184" name="Text Box 136"/>
            <p:cNvSpPr txBox="1">
              <a:spLocks noChangeArrowheads="1"/>
            </p:cNvSpPr>
            <p:nvPr/>
          </p:nvSpPr>
          <p:spPr bwMode="auto">
            <a:xfrm>
              <a:off x="5499" y="1251"/>
              <a:ext cx="20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FF0000"/>
                  </a:solidFill>
                </a:rPr>
                <a:t>T</a:t>
              </a:r>
              <a:endParaRPr lang="en-US" sz="1600" b="1">
                <a:solidFill>
                  <a:srgbClr val="FF0000"/>
                </a:solidFill>
              </a:endParaRPr>
            </a:p>
          </p:txBody>
        </p:sp>
      </p:grpSp>
      <p:grpSp>
        <p:nvGrpSpPr>
          <p:cNvPr id="130216" name="Group 168"/>
          <p:cNvGrpSpPr/>
          <p:nvPr/>
        </p:nvGrpSpPr>
        <p:grpSpPr bwMode="auto">
          <a:xfrm>
            <a:off x="4503738" y="1331913"/>
            <a:ext cx="1827212" cy="457200"/>
            <a:chOff x="-758" y="4939"/>
            <a:chExt cx="1151" cy="288"/>
          </a:xfrm>
        </p:grpSpPr>
        <p:sp>
          <p:nvSpPr>
            <p:cNvPr id="130217" name="Text Box 169"/>
            <p:cNvSpPr txBox="1">
              <a:spLocks noChangeArrowheads="1"/>
            </p:cNvSpPr>
            <p:nvPr/>
          </p:nvSpPr>
          <p:spPr bwMode="auto">
            <a:xfrm>
              <a:off x="-758" y="4939"/>
              <a:ext cx="7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6600FF"/>
                  </a:solidFill>
                </a:rPr>
                <a:t>bucket</a:t>
              </a:r>
              <a:endParaRPr lang="en-US">
                <a:solidFill>
                  <a:srgbClr val="6600FF"/>
                </a:solidFill>
              </a:endParaRPr>
            </a:p>
          </p:txBody>
        </p:sp>
        <p:sp>
          <p:nvSpPr>
            <p:cNvPr id="130218" name="Rectangle 170"/>
            <p:cNvSpPr>
              <a:spLocks noChangeArrowheads="1"/>
            </p:cNvSpPr>
            <p:nvPr/>
          </p:nvSpPr>
          <p:spPr bwMode="auto">
            <a:xfrm>
              <a:off x="-45" y="4960"/>
              <a:ext cx="438" cy="24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30219" name="Text Box 171"/>
          <p:cNvSpPr txBox="1">
            <a:spLocks noChangeArrowheads="1"/>
          </p:cNvSpPr>
          <p:nvPr/>
        </p:nvSpPr>
        <p:spPr bwMode="auto">
          <a:xfrm>
            <a:off x="5800725" y="1335088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5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22533" name="Text Box 4"/>
          <p:cNvSpPr txBox="1">
            <a:spLocks noChangeArrowheads="1"/>
          </p:cNvSpPr>
          <p:nvPr/>
        </p:nvSpPr>
        <p:spPr bwMode="auto">
          <a:xfrm>
            <a:off x="6038850" y="4129088"/>
            <a:ext cx="3063875" cy="2576512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l" eaLnBrk="1" hangingPunct="1"/>
            <a:r>
              <a:rPr lang="en-US" sz="1800" b="1">
                <a:latin typeface="Courier New" panose="02070409020205090404" pitchFamily="49" charset="0"/>
                <a:cs typeface="Courier New" panose="02070409020205090404" pitchFamily="49" charset="0"/>
              </a:rPr>
              <a:t>main()</a:t>
            </a:r>
            <a:endParaRPr lang="en-US" sz="1800" b="1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>
                <a:latin typeface="Courier New" panose="02070409020205090404" pitchFamily="49" charset="0"/>
                <a:cs typeface="Courier New" panose="02070409020205090404" pitchFamily="49" charset="0"/>
              </a:rPr>
              <a:t>{</a:t>
            </a:r>
            <a:endParaRPr lang="en-US" sz="1800"/>
          </a:p>
          <a:p>
            <a:pPr algn="l" eaLnBrk="1" hangingPunct="1"/>
            <a:r>
              <a:rPr lang="en-US" sz="1800" b="1">
                <a:latin typeface="Courier New" panose="02070409020205090404" pitchFamily="49" charset="0"/>
                <a:cs typeface="Courier New" panose="02070409020205090404" pitchFamily="49" charset="0"/>
              </a:rPr>
              <a:t>  HashTable ht;</a:t>
            </a:r>
            <a:endParaRPr lang="en-US" sz="1800" b="1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>
                <a:latin typeface="Courier New" panose="02070409020205090404" pitchFamily="49" charset="0"/>
                <a:cs typeface="Courier New" panose="02070409020205090404" pitchFamily="49" charset="0"/>
              </a:rPr>
              <a:t>  …</a:t>
            </a:r>
            <a:endParaRPr lang="en-US" sz="1800" b="1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>
                <a:latin typeface="Courier New" panose="02070409020205090404" pitchFamily="49" charset="0"/>
                <a:cs typeface="Courier New" panose="02070409020205090404" pitchFamily="49" charset="0"/>
              </a:rPr>
              <a:t>  bool x;</a:t>
            </a:r>
            <a:endParaRPr lang="en-US" sz="1800" b="1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>
                <a:latin typeface="Courier New" panose="02070409020205090404" pitchFamily="49" charset="0"/>
                <a:cs typeface="Courier New" panose="02070409020205090404" pitchFamily="49" charset="0"/>
              </a:rPr>
              <a:t>  x = ht.search(29);</a:t>
            </a:r>
            <a:endParaRPr lang="en-US" sz="1800" b="1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>
                <a:latin typeface="Courier New" panose="02070409020205090404" pitchFamily="49" charset="0"/>
                <a:cs typeface="Courier New" panose="02070409020205090404" pitchFamily="49" charset="0"/>
              </a:rPr>
              <a:t>  x = ht.search(175);</a:t>
            </a:r>
            <a:endParaRPr lang="en-US" sz="1800" b="1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>
                <a:latin typeface="Courier New" panose="02070409020205090404" pitchFamily="49" charset="0"/>
                <a:cs typeface="Courier New" panose="02070409020205090404" pitchFamily="49" charset="0"/>
              </a:rPr>
              <a:t>  x = ht.search(20); </a:t>
            </a:r>
            <a:endParaRPr lang="en-US" sz="1800" b="1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>
                <a:latin typeface="Courier New" panose="02070409020205090404" pitchFamily="49" charset="0"/>
                <a:cs typeface="Courier New" panose="02070409020205090404" pitchFamily="49" charset="0"/>
              </a:rPr>
              <a:t>}</a:t>
            </a:r>
            <a:endParaRPr lang="en-US" sz="1800" b="1">
              <a:latin typeface="Courier New" panose="02070409020205090404" pitchFamily="49" charset="0"/>
              <a:cs typeface="Courier New" panose="02070409020205090404" pitchFamily="49" charset="0"/>
            </a:endParaRPr>
          </a:p>
        </p:txBody>
      </p:sp>
      <p:sp>
        <p:nvSpPr>
          <p:cNvPr id="220" name="Line 119"/>
          <p:cNvSpPr>
            <a:spLocks noChangeShapeType="1"/>
          </p:cNvSpPr>
          <p:nvPr/>
        </p:nvSpPr>
        <p:spPr bwMode="auto">
          <a:xfrm>
            <a:off x="5903913" y="5965825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" name="Line 119"/>
          <p:cNvSpPr>
            <a:spLocks noChangeShapeType="1"/>
          </p:cNvSpPr>
          <p:nvPr/>
        </p:nvSpPr>
        <p:spPr bwMode="auto">
          <a:xfrm>
            <a:off x="-142875" y="1457325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0210" name="Text Box 162"/>
          <p:cNvSpPr txBox="1">
            <a:spLocks noChangeArrowheads="1"/>
          </p:cNvSpPr>
          <p:nvPr/>
        </p:nvSpPr>
        <p:spPr bwMode="auto">
          <a:xfrm>
            <a:off x="2579688" y="935038"/>
            <a:ext cx="692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6600FF"/>
                </a:solidFill>
              </a:rPr>
              <a:t>175</a:t>
            </a:r>
            <a:endParaRPr lang="en-US">
              <a:solidFill>
                <a:srgbClr val="6600FF"/>
              </a:solidFill>
            </a:endParaRPr>
          </a:p>
        </p:txBody>
      </p:sp>
      <p:sp>
        <p:nvSpPr>
          <p:cNvPr id="3" name="Line 119"/>
          <p:cNvSpPr>
            <a:spLocks noChangeShapeType="1"/>
          </p:cNvSpPr>
          <p:nvPr/>
        </p:nvSpPr>
        <p:spPr bwMode="auto">
          <a:xfrm>
            <a:off x="180975" y="1924050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5" name="AutoShape 99"/>
          <p:cNvSpPr>
            <a:spLocks noChangeArrowheads="1"/>
          </p:cNvSpPr>
          <p:nvPr/>
        </p:nvSpPr>
        <p:spPr bwMode="auto">
          <a:xfrm>
            <a:off x="3514725" y="195263"/>
            <a:ext cx="3417888" cy="1128712"/>
          </a:xfrm>
          <a:prstGeom prst="wedgeRoundRectCallout">
            <a:avLst>
              <a:gd name="adj1" fmla="val -44056"/>
              <a:gd name="adj2" fmla="val 98806"/>
              <a:gd name="adj3" fmla="val 16667"/>
            </a:avLst>
          </a:prstGeom>
          <a:solidFill>
            <a:srgbClr val="006666"/>
          </a:solidFill>
          <a:ln w="41275">
            <a:solidFill>
              <a:srgbClr val="800000"/>
            </a:solidFill>
            <a:miter lim="800000"/>
          </a:ln>
        </p:spPr>
        <p:txBody>
          <a:bodyPr anchor="ctr"/>
          <a:lstStyle/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</p:txBody>
      </p:sp>
      <p:sp>
        <p:nvSpPr>
          <p:cNvPr id="176" name="Text Box 100"/>
          <p:cNvSpPr txBox="1">
            <a:spLocks noChangeArrowheads="1"/>
          </p:cNvSpPr>
          <p:nvPr/>
        </p:nvSpPr>
        <p:spPr bwMode="auto">
          <a:xfrm>
            <a:off x="3711575" y="261938"/>
            <a:ext cx="3225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l" eaLnBrk="1" hangingPunct="1"/>
            <a:r>
              <a:rPr lang="en-US" sz="1800">
                <a:solidFill>
                  <a:schemeClr val="bg1"/>
                </a:solidFill>
              </a:rPr>
              <a:t>bucket = 175  % NUM_BUCK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130230" name="Text Box 182"/>
          <p:cNvSpPr txBox="1">
            <a:spLocks noChangeArrowheads="1"/>
          </p:cNvSpPr>
          <p:nvPr/>
        </p:nvSpPr>
        <p:spPr bwMode="auto">
          <a:xfrm>
            <a:off x="5810250" y="1330325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6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77" name="Text Box 101"/>
          <p:cNvSpPr txBox="1">
            <a:spLocks noChangeArrowheads="1"/>
          </p:cNvSpPr>
          <p:nvPr/>
        </p:nvSpPr>
        <p:spPr bwMode="auto">
          <a:xfrm>
            <a:off x="3732213" y="831850"/>
            <a:ext cx="13049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l" eaLnBrk="1" hangingPunct="1"/>
            <a:r>
              <a:rPr lang="en-US" sz="1800">
                <a:solidFill>
                  <a:schemeClr val="bg1"/>
                </a:solidFill>
              </a:rPr>
              <a:t>bucket = 5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178" name="Text Box 102"/>
          <p:cNvSpPr txBox="1">
            <a:spLocks noChangeArrowheads="1"/>
          </p:cNvSpPr>
          <p:nvPr/>
        </p:nvSpPr>
        <p:spPr bwMode="auto">
          <a:xfrm>
            <a:off x="3717925" y="538163"/>
            <a:ext cx="21828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l" eaLnBrk="1" hangingPunct="1"/>
            <a:r>
              <a:rPr lang="en-US" sz="1800">
                <a:solidFill>
                  <a:schemeClr val="bg1"/>
                </a:solidFill>
              </a:rPr>
              <a:t>bucket = 175  % 10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4" name="Line 119"/>
          <p:cNvSpPr>
            <a:spLocks noChangeShapeType="1"/>
          </p:cNvSpPr>
          <p:nvPr/>
        </p:nvSpPr>
        <p:spPr bwMode="auto">
          <a:xfrm>
            <a:off x="190500" y="2305050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" name="Line 119"/>
          <p:cNvSpPr>
            <a:spLocks noChangeShapeType="1"/>
          </p:cNvSpPr>
          <p:nvPr/>
        </p:nvSpPr>
        <p:spPr bwMode="auto">
          <a:xfrm>
            <a:off x="485775" y="2786063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0222" name="Oval 174"/>
          <p:cNvSpPr>
            <a:spLocks noChangeArrowheads="1"/>
          </p:cNvSpPr>
          <p:nvPr/>
        </p:nvSpPr>
        <p:spPr bwMode="auto">
          <a:xfrm>
            <a:off x="8707438" y="1492250"/>
            <a:ext cx="300037" cy="355600"/>
          </a:xfrm>
          <a:prstGeom prst="ellipse">
            <a:avLst/>
          </a:prstGeom>
          <a:noFill/>
          <a:ln w="38100" algn="ctr">
            <a:solidFill>
              <a:srgbClr val="6600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0225" name="Oval 177"/>
          <p:cNvSpPr>
            <a:spLocks noChangeArrowheads="1"/>
          </p:cNvSpPr>
          <p:nvPr/>
        </p:nvSpPr>
        <p:spPr bwMode="auto">
          <a:xfrm>
            <a:off x="7643813" y="1479550"/>
            <a:ext cx="409575" cy="355600"/>
          </a:xfrm>
          <a:prstGeom prst="ellipse">
            <a:avLst/>
          </a:prstGeom>
          <a:noFill/>
          <a:ln w="38100" algn="ctr">
            <a:solidFill>
              <a:srgbClr val="6600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Line 119"/>
          <p:cNvSpPr>
            <a:spLocks noChangeShapeType="1"/>
          </p:cNvSpPr>
          <p:nvPr/>
        </p:nvSpPr>
        <p:spPr bwMode="auto">
          <a:xfrm>
            <a:off x="473075" y="3349625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" name="Line 119"/>
          <p:cNvSpPr>
            <a:spLocks noChangeShapeType="1"/>
          </p:cNvSpPr>
          <p:nvPr/>
        </p:nvSpPr>
        <p:spPr bwMode="auto">
          <a:xfrm>
            <a:off x="482600" y="4002088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" name="Line 119"/>
          <p:cNvSpPr>
            <a:spLocks noChangeShapeType="1"/>
          </p:cNvSpPr>
          <p:nvPr/>
        </p:nvSpPr>
        <p:spPr bwMode="auto">
          <a:xfrm>
            <a:off x="255588" y="4252913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" name="Line 119"/>
          <p:cNvSpPr>
            <a:spLocks noChangeShapeType="1"/>
          </p:cNvSpPr>
          <p:nvPr/>
        </p:nvSpPr>
        <p:spPr bwMode="auto">
          <a:xfrm>
            <a:off x="200025" y="2297113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" name="Line 119"/>
          <p:cNvSpPr>
            <a:spLocks noChangeShapeType="1"/>
          </p:cNvSpPr>
          <p:nvPr/>
        </p:nvSpPr>
        <p:spPr bwMode="auto">
          <a:xfrm>
            <a:off x="495300" y="2792413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0234" name="Oval 186"/>
          <p:cNvSpPr>
            <a:spLocks noChangeArrowheads="1"/>
          </p:cNvSpPr>
          <p:nvPr/>
        </p:nvSpPr>
        <p:spPr bwMode="auto">
          <a:xfrm>
            <a:off x="8702675" y="1701800"/>
            <a:ext cx="300038" cy="355600"/>
          </a:xfrm>
          <a:prstGeom prst="ellipse">
            <a:avLst/>
          </a:prstGeom>
          <a:noFill/>
          <a:ln w="38100" algn="ctr">
            <a:solidFill>
              <a:srgbClr val="6600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0237" name="Oval 189"/>
          <p:cNvSpPr>
            <a:spLocks noChangeArrowheads="1"/>
          </p:cNvSpPr>
          <p:nvPr/>
        </p:nvSpPr>
        <p:spPr bwMode="auto">
          <a:xfrm>
            <a:off x="7653338" y="1731963"/>
            <a:ext cx="409575" cy="355600"/>
          </a:xfrm>
          <a:prstGeom prst="ellipse">
            <a:avLst/>
          </a:prstGeom>
          <a:noFill/>
          <a:ln w="38100" algn="ctr">
            <a:solidFill>
              <a:srgbClr val="6600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Line 119"/>
          <p:cNvSpPr>
            <a:spLocks noChangeShapeType="1"/>
          </p:cNvSpPr>
          <p:nvPr/>
        </p:nvSpPr>
        <p:spPr bwMode="auto">
          <a:xfrm>
            <a:off x="468313" y="3343275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" name="Line 119"/>
          <p:cNvSpPr>
            <a:spLocks noChangeShapeType="1"/>
          </p:cNvSpPr>
          <p:nvPr/>
        </p:nvSpPr>
        <p:spPr bwMode="auto">
          <a:xfrm>
            <a:off x="258763" y="4264025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" name="Line 119"/>
          <p:cNvSpPr>
            <a:spLocks noChangeShapeType="1"/>
          </p:cNvSpPr>
          <p:nvPr/>
        </p:nvSpPr>
        <p:spPr bwMode="auto">
          <a:xfrm>
            <a:off x="207963" y="2297113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4" name="Line 119"/>
          <p:cNvSpPr>
            <a:spLocks noChangeShapeType="1"/>
          </p:cNvSpPr>
          <p:nvPr/>
        </p:nvSpPr>
        <p:spPr bwMode="auto">
          <a:xfrm>
            <a:off x="503238" y="2792413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0243" name="Oval 195"/>
          <p:cNvSpPr>
            <a:spLocks noChangeArrowheads="1"/>
          </p:cNvSpPr>
          <p:nvPr/>
        </p:nvSpPr>
        <p:spPr bwMode="auto">
          <a:xfrm>
            <a:off x="8712200" y="1954213"/>
            <a:ext cx="300038" cy="355600"/>
          </a:xfrm>
          <a:prstGeom prst="ellipse">
            <a:avLst/>
          </a:prstGeom>
          <a:noFill/>
          <a:ln w="38100" algn="ctr">
            <a:solidFill>
              <a:srgbClr val="6600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0251" name="Text Box 203"/>
          <p:cNvSpPr txBox="1">
            <a:spLocks noChangeArrowheads="1"/>
          </p:cNvSpPr>
          <p:nvPr/>
        </p:nvSpPr>
        <p:spPr bwMode="auto">
          <a:xfrm>
            <a:off x="5842000" y="1349375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6666"/>
                </a:solidFill>
              </a:rPr>
              <a:t>7</a:t>
            </a:r>
            <a:endParaRPr lang="en-US">
              <a:solidFill>
                <a:srgbClr val="006666"/>
              </a:solidFill>
            </a:endParaRPr>
          </a:p>
        </p:txBody>
      </p:sp>
      <p:sp>
        <p:nvSpPr>
          <p:cNvPr id="130246" name="Oval 198"/>
          <p:cNvSpPr>
            <a:spLocks noChangeArrowheads="1"/>
          </p:cNvSpPr>
          <p:nvPr/>
        </p:nvSpPr>
        <p:spPr bwMode="auto">
          <a:xfrm>
            <a:off x="7662863" y="1970088"/>
            <a:ext cx="409575" cy="355600"/>
          </a:xfrm>
          <a:prstGeom prst="ellipse">
            <a:avLst/>
          </a:prstGeom>
          <a:noFill/>
          <a:ln w="38100" algn="ctr">
            <a:solidFill>
              <a:srgbClr val="6600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Line 119"/>
          <p:cNvSpPr>
            <a:spLocks noChangeShapeType="1"/>
          </p:cNvSpPr>
          <p:nvPr/>
        </p:nvSpPr>
        <p:spPr bwMode="auto">
          <a:xfrm>
            <a:off x="469900" y="3344863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" name="Line 119"/>
          <p:cNvSpPr>
            <a:spLocks noChangeShapeType="1"/>
          </p:cNvSpPr>
          <p:nvPr/>
        </p:nvSpPr>
        <p:spPr bwMode="auto">
          <a:xfrm>
            <a:off x="482600" y="3997325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" name="Line 119"/>
          <p:cNvSpPr>
            <a:spLocks noChangeShapeType="1"/>
          </p:cNvSpPr>
          <p:nvPr/>
        </p:nvSpPr>
        <p:spPr bwMode="auto">
          <a:xfrm>
            <a:off x="5899150" y="6246813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" name="Line 119"/>
          <p:cNvSpPr>
            <a:spLocks noChangeShapeType="1"/>
          </p:cNvSpPr>
          <p:nvPr/>
        </p:nvSpPr>
        <p:spPr bwMode="auto">
          <a:xfrm>
            <a:off x="779463" y="3625850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62" name="Slide Number Placeholder 4"/>
          <p:cNvSpPr txBox="1">
            <a:spLocks noGrp="1"/>
          </p:cNvSpPr>
          <p:nvPr/>
        </p:nvSpPr>
        <p:spPr bwMode="auto">
          <a:xfrm>
            <a:off x="-1447800" y="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r" eaLnBrk="1" hangingPunct="1"/>
            <a:fld id="{742C4ABB-065E-4B3F-94DE-FB51CB7142F3}" type="slidenum">
              <a:rPr lang="en-US" sz="1400">
                <a:solidFill>
                  <a:schemeClr val="tx1"/>
                </a:solidFill>
                <a:latin typeface="Times New Roman" panose="02020503050405090304" pitchFamily="18" charset="0"/>
              </a:rPr>
            </a:fld>
            <a:endParaRPr lang="en-US" sz="140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  <p:sp>
        <p:nvSpPr>
          <p:cNvPr id="132280" name="Rectangle 184"/>
          <p:cNvSpPr>
            <a:spLocks noChangeArrowheads="1"/>
          </p:cNvSpPr>
          <p:nvPr/>
        </p:nvSpPr>
        <p:spPr bwMode="auto">
          <a:xfrm>
            <a:off x="80963" y="61913"/>
            <a:ext cx="6526212" cy="6478697"/>
          </a:xfrm>
          <a:prstGeom prst="rect">
            <a:avLst/>
          </a:prstGeom>
          <a:solidFill>
            <a:srgbClr val="FFFFE5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sz="1700" b="1" dirty="0">
                <a:latin typeface="Courier New" panose="02070409020205090404" pitchFamily="49" charset="0"/>
              </a:rPr>
              <a:t>const int NUM_BUCK = 10;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endParaRPr lang="en-US" sz="8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class </a:t>
            </a:r>
            <a:r>
              <a:rPr lang="en-US" sz="1700" b="1" dirty="0" err="1">
                <a:latin typeface="Courier New" panose="02070409020205090404" pitchFamily="49" charset="0"/>
              </a:rPr>
              <a:t>HashTable</a:t>
            </a:r>
            <a:r>
              <a:rPr lang="en-US" sz="1700" b="1" dirty="0">
                <a:latin typeface="Courier New" panose="02070409020205090404" pitchFamily="49" charset="0"/>
              </a:rPr>
              <a:t> </a:t>
            </a:r>
            <a:br>
              <a:rPr lang="en-US" sz="1700" b="1" dirty="0">
                <a:latin typeface="Courier New" panose="02070409020205090404" pitchFamily="49" charset="0"/>
              </a:rPr>
            </a:br>
            <a:r>
              <a:rPr lang="en-US" sz="1200" b="1" dirty="0">
                <a:latin typeface="Courier New" panose="02070409020205090404" pitchFamily="49" charset="0"/>
              </a:rPr>
              <a:t>{</a:t>
            </a:r>
            <a:endParaRPr lang="en-US" sz="1200" b="1" dirty="0">
              <a:latin typeface="Courier New" panose="02070409020205090404" pitchFamily="49" charset="0"/>
            </a:endParaRPr>
          </a:p>
          <a:p>
            <a:pPr algn="l"/>
            <a:r>
              <a:rPr lang="en-US" sz="1700" b="1" dirty="0">
                <a:latin typeface="Courier New" panose="02070409020205090404" pitchFamily="49" charset="0"/>
              </a:rPr>
              <a:t>public:</a:t>
            </a:r>
            <a:endParaRPr lang="en-US" sz="1700" b="1" dirty="0">
              <a:latin typeface="Courier New" panose="02070409020205090404" pitchFamily="49" charset="0"/>
            </a:endParaRPr>
          </a:p>
          <a:p>
            <a:pPr algn="l"/>
            <a:endParaRPr lang="en-US" sz="800" b="1" dirty="0">
              <a:latin typeface="Courier New" panose="02070409020205090404" pitchFamily="49" charset="0"/>
            </a:endParaRPr>
          </a:p>
          <a:p>
            <a:pPr algn="l"/>
            <a:r>
              <a:rPr lang="en-US" sz="1800" b="1" dirty="0">
                <a:latin typeface="Courier New" panose="02070409020205090404" pitchFamily="49" charset="0"/>
              </a:rPr>
              <a:t> </a:t>
            </a:r>
            <a:r>
              <a:rPr lang="en-US" sz="800" b="1" dirty="0">
                <a:latin typeface="Courier New" panose="02070409020205090404" pitchFamily="49" charset="0"/>
              </a:rPr>
              <a:t> </a:t>
            </a:r>
            <a:r>
              <a:rPr lang="en-US" sz="1800" b="1" dirty="0" err="1">
                <a:latin typeface="Courier New" panose="02070409020205090404" pitchFamily="49" charset="0"/>
              </a:rPr>
              <a:t>bool</a:t>
            </a:r>
            <a:r>
              <a:rPr lang="en-US" sz="1800" b="1" dirty="0">
                <a:latin typeface="Courier New" panose="02070409020205090404" pitchFamily="49" charset="0"/>
              </a:rPr>
              <a:t> search(</a:t>
            </a:r>
            <a:r>
              <a:rPr lang="en-US" sz="1800" b="1" dirty="0" err="1">
                <a:latin typeface="Courier New" panose="02070409020205090404" pitchFamily="49" charset="0"/>
              </a:rPr>
              <a:t>int</a:t>
            </a:r>
            <a:r>
              <a:rPr lang="en-US" sz="1800" b="1" dirty="0">
                <a:latin typeface="Courier New" panose="02070409020205090404" pitchFamily="49" charset="0"/>
              </a:rPr>
              <a:t> </a:t>
            </a:r>
            <a:r>
              <a:rPr lang="en-US" sz="1800" b="1" dirty="0" err="1">
                <a:latin typeface="Courier New" panose="02070409020205090404" pitchFamily="49" charset="0"/>
              </a:rPr>
              <a:t>idNum</a:t>
            </a:r>
            <a:r>
              <a:rPr lang="en-US" sz="1800" b="1" dirty="0">
                <a:latin typeface="Courier New" panose="02070409020205090404" pitchFamily="49" charset="0"/>
              </a:rPr>
              <a:t>)</a:t>
            </a:r>
            <a:endParaRPr lang="en-US" sz="1800" b="1" dirty="0">
              <a:latin typeface="Courier New" panose="02070409020205090404" pitchFamily="49" charset="0"/>
            </a:endParaRPr>
          </a:p>
          <a:p>
            <a:pPr algn="l"/>
            <a:r>
              <a:rPr lang="en-US" sz="1300" b="1" dirty="0">
                <a:latin typeface="Courier New" panose="02070409020205090404" pitchFamily="49" charset="0"/>
              </a:rPr>
              <a:t>  {</a:t>
            </a:r>
            <a:endParaRPr lang="en-US" sz="1300" b="1" dirty="0">
              <a:latin typeface="Courier New" panose="02070409020205090404" pitchFamily="49" charset="0"/>
            </a:endParaRPr>
          </a:p>
          <a:p>
            <a:pPr algn="l"/>
            <a:r>
              <a:rPr lang="en-US" sz="1800" b="1" dirty="0">
                <a:latin typeface="Courier New" panose="02070409020205090404" pitchFamily="49" charset="0"/>
              </a:rPr>
              <a:t>    int bucket = </a:t>
            </a:r>
            <a:r>
              <a:rPr lang="en-US" sz="1800" b="1" dirty="0" err="1">
                <a:latin typeface="Courier New" panose="02070409020205090404" pitchFamily="49" charset="0"/>
              </a:rPr>
              <a:t>mapFunc</a:t>
            </a:r>
            <a:r>
              <a:rPr lang="en-US" sz="1800" b="1" dirty="0">
                <a:latin typeface="Courier New" panose="02070409020205090404" pitchFamily="49" charset="0"/>
              </a:rPr>
              <a:t>(</a:t>
            </a:r>
            <a:r>
              <a:rPr lang="en-US" sz="1800" b="1" dirty="0" err="1">
                <a:latin typeface="Courier New" panose="02070409020205090404" pitchFamily="49" charset="0"/>
              </a:rPr>
              <a:t>idNum</a:t>
            </a:r>
            <a:r>
              <a:rPr lang="en-US" sz="1800" b="1" dirty="0">
                <a:latin typeface="Courier New" panose="02070409020205090404" pitchFamily="49" charset="0"/>
              </a:rPr>
              <a:t>);</a:t>
            </a:r>
            <a:endParaRPr lang="en-US" sz="1800" b="1" dirty="0">
              <a:latin typeface="Courier New" panose="02070409020205090404" pitchFamily="49" charset="0"/>
            </a:endParaRPr>
          </a:p>
          <a:p>
            <a:pPr algn="l"/>
            <a:r>
              <a:rPr lang="en-US" sz="800" b="1" dirty="0">
                <a:latin typeface="Courier New" panose="02070409020205090404" pitchFamily="49" charset="0"/>
              </a:rPr>
              <a:t> </a:t>
            </a:r>
            <a:endParaRPr lang="en-US" sz="800" b="1" dirty="0">
              <a:latin typeface="Courier New" panose="02070409020205090404" pitchFamily="49" charset="0"/>
            </a:endParaRPr>
          </a:p>
          <a:p>
            <a:pPr algn="l"/>
            <a:r>
              <a:rPr lang="en-US" sz="1800" b="1" dirty="0">
                <a:latin typeface="Courier New" panose="02070409020205090404" pitchFamily="49" charset="0"/>
              </a:rPr>
              <a:t>    for (</a:t>
            </a:r>
            <a:r>
              <a:rPr lang="en-US" sz="1800" b="1" dirty="0" err="1">
                <a:latin typeface="Courier New" panose="02070409020205090404" pitchFamily="49" charset="0"/>
              </a:rPr>
              <a:t>int</a:t>
            </a:r>
            <a:r>
              <a:rPr lang="en-US" sz="1800" b="1" dirty="0">
                <a:latin typeface="Courier New" panose="02070409020205090404" pitchFamily="49" charset="0"/>
              </a:rPr>
              <a:t> tries=0;tries&lt;</a:t>
            </a:r>
            <a:r>
              <a:rPr lang="en-US" sz="1800" b="1" dirty="0" err="1">
                <a:latin typeface="Courier New" panose="02070409020205090404" pitchFamily="49" charset="0"/>
              </a:rPr>
              <a:t>NUM_BUCK;tries</a:t>
            </a:r>
            <a:r>
              <a:rPr lang="en-US" sz="1800" b="1" dirty="0">
                <a:latin typeface="Courier New" panose="02070409020205090404" pitchFamily="49" charset="0"/>
              </a:rPr>
              <a:t>++)</a:t>
            </a:r>
            <a:endParaRPr lang="en-US" sz="1800" b="1" dirty="0">
              <a:latin typeface="Courier New" panose="02070409020205090404" pitchFamily="49" charset="0"/>
            </a:endParaRPr>
          </a:p>
          <a:p>
            <a:pPr algn="l"/>
            <a:r>
              <a:rPr lang="en-US" sz="1300" b="1" dirty="0">
                <a:latin typeface="Courier New" panose="02070409020205090404" pitchFamily="49" charset="0"/>
              </a:rPr>
              <a:t>      {</a:t>
            </a:r>
            <a:endParaRPr lang="en-US" sz="1300" b="1" dirty="0">
              <a:latin typeface="Courier New" panose="02070409020205090404" pitchFamily="49" charset="0"/>
            </a:endParaRPr>
          </a:p>
          <a:p>
            <a:pPr algn="l"/>
            <a:r>
              <a:rPr lang="en-US" sz="1800" dirty="0">
                <a:latin typeface="Courier New" panose="02070409020205090404" pitchFamily="49" charset="0"/>
              </a:rPr>
              <a:t>      </a:t>
            </a:r>
            <a:r>
              <a:rPr lang="en-US" sz="1800" b="1" dirty="0">
                <a:latin typeface="Courier New" panose="02070409020205090404" pitchFamily="49" charset="0"/>
              </a:rPr>
              <a:t>if (</a:t>
            </a:r>
            <a:r>
              <a:rPr lang="en-US" sz="1800" b="1" dirty="0" err="1">
                <a:latin typeface="Courier New" panose="02070409020205090404" pitchFamily="49" charset="0"/>
              </a:rPr>
              <a:t>m_buckets</a:t>
            </a:r>
            <a:r>
              <a:rPr lang="en-US" sz="1800" b="1" dirty="0">
                <a:latin typeface="Courier New" panose="02070409020205090404" pitchFamily="49" charset="0"/>
              </a:rPr>
              <a:t>[bucket].used == false)</a:t>
            </a:r>
            <a:endParaRPr lang="en-US" sz="1800" b="1" dirty="0">
              <a:latin typeface="Courier New" panose="02070409020205090404" pitchFamily="49" charset="0"/>
            </a:endParaRPr>
          </a:p>
          <a:p>
            <a:pPr algn="l"/>
            <a:r>
              <a:rPr lang="en-US" sz="1800" b="1" dirty="0">
                <a:latin typeface="Courier New" panose="02070409020205090404" pitchFamily="49" charset="0"/>
              </a:rPr>
              <a:t>        return false;</a:t>
            </a:r>
            <a:endParaRPr lang="en-US" sz="1800" b="1" dirty="0">
              <a:latin typeface="Courier New" panose="02070409020205090404" pitchFamily="49" charset="0"/>
            </a:endParaRPr>
          </a:p>
          <a:p>
            <a:pPr algn="l"/>
            <a:r>
              <a:rPr lang="en-US" sz="1800" b="1" dirty="0">
                <a:latin typeface="Courier New" panose="02070409020205090404" pitchFamily="49" charset="0"/>
              </a:rPr>
              <a:t>      if (</a:t>
            </a:r>
            <a:r>
              <a:rPr lang="en-US" sz="1800" b="1" dirty="0" err="1">
                <a:latin typeface="Courier New" panose="02070409020205090404" pitchFamily="49" charset="0"/>
              </a:rPr>
              <a:t>m_buckets</a:t>
            </a:r>
            <a:r>
              <a:rPr lang="en-US" sz="1800" b="1" dirty="0">
                <a:latin typeface="Courier New" panose="02070409020205090404" pitchFamily="49" charset="0"/>
              </a:rPr>
              <a:t>[bucket].</a:t>
            </a:r>
            <a:r>
              <a:rPr lang="en-US" sz="1800" b="1" dirty="0" err="1">
                <a:latin typeface="Courier New" panose="02070409020205090404" pitchFamily="49" charset="0"/>
              </a:rPr>
              <a:t>idNum</a:t>
            </a:r>
            <a:r>
              <a:rPr lang="en-US" sz="1800" b="1" dirty="0">
                <a:latin typeface="Courier New" panose="02070409020205090404" pitchFamily="49" charset="0"/>
              </a:rPr>
              <a:t> == </a:t>
            </a:r>
            <a:r>
              <a:rPr lang="en-US" sz="1800" b="1" dirty="0" err="1">
                <a:latin typeface="Courier New" panose="02070409020205090404" pitchFamily="49" charset="0"/>
              </a:rPr>
              <a:t>idNum</a:t>
            </a:r>
            <a:r>
              <a:rPr lang="en-US" sz="1800" b="1" dirty="0">
                <a:latin typeface="Courier New" panose="02070409020205090404" pitchFamily="49" charset="0"/>
              </a:rPr>
              <a:t>)</a:t>
            </a:r>
            <a:endParaRPr lang="en-US" sz="1800" b="1" dirty="0">
              <a:latin typeface="Courier New" panose="02070409020205090404" pitchFamily="49" charset="0"/>
            </a:endParaRPr>
          </a:p>
          <a:p>
            <a:pPr algn="l"/>
            <a:r>
              <a:rPr lang="en-US" sz="1800" b="1" dirty="0">
                <a:latin typeface="Courier New" panose="02070409020205090404" pitchFamily="49" charset="0"/>
              </a:rPr>
              <a:t>        return true;</a:t>
            </a:r>
            <a:endParaRPr lang="en-US" sz="1800" b="1" dirty="0">
              <a:latin typeface="Courier New" panose="02070409020205090404" pitchFamily="49" charset="0"/>
            </a:endParaRPr>
          </a:p>
          <a:p>
            <a:pPr algn="l"/>
            <a:endParaRPr lang="en-US" sz="800" b="1" dirty="0">
              <a:latin typeface="Courier New" panose="02070409020205090404" pitchFamily="49" charset="0"/>
            </a:endParaRPr>
          </a:p>
          <a:p>
            <a:pPr algn="l"/>
            <a:r>
              <a:rPr lang="en-US" sz="1800" b="1" dirty="0">
                <a:latin typeface="Courier New" panose="02070409020205090404" pitchFamily="49" charset="0"/>
              </a:rPr>
              <a:t>      bucket = (bucket + 1) % NUM_BUCK;</a:t>
            </a:r>
            <a:endParaRPr lang="en-US" sz="1800" b="1" dirty="0">
              <a:latin typeface="Courier New" panose="02070409020205090404" pitchFamily="49" charset="0"/>
            </a:endParaRPr>
          </a:p>
          <a:p>
            <a:pPr algn="l"/>
            <a:r>
              <a:rPr lang="en-US" sz="1300" b="1" dirty="0">
                <a:latin typeface="Courier New" panose="02070409020205090404" pitchFamily="49" charset="0"/>
              </a:rPr>
              <a:t>      }</a:t>
            </a:r>
            <a:endParaRPr lang="en-US" sz="1300" b="1" dirty="0">
              <a:latin typeface="Courier New" panose="02070409020205090404" pitchFamily="49" charset="0"/>
            </a:endParaRPr>
          </a:p>
          <a:p>
            <a:pPr algn="l"/>
            <a:r>
              <a:rPr lang="en-US" sz="1800" b="1" dirty="0">
                <a:latin typeface="Courier New" panose="02070409020205090404" pitchFamily="49" charset="0"/>
              </a:rPr>
              <a:t>    return false;// not in the hash table</a:t>
            </a:r>
            <a:endParaRPr lang="en-US" sz="1800" b="1" dirty="0">
              <a:latin typeface="Courier New" panose="02070409020205090404" pitchFamily="49" charset="0"/>
            </a:endParaRPr>
          </a:p>
          <a:p>
            <a:pPr algn="l"/>
            <a:r>
              <a:rPr lang="en-US" sz="1300" b="1" dirty="0">
                <a:latin typeface="Courier New" panose="02070409020205090404" pitchFamily="49" charset="0"/>
              </a:rPr>
              <a:t>  }</a:t>
            </a:r>
            <a:endParaRPr lang="en-US" sz="1300" b="1" dirty="0">
              <a:latin typeface="Courier New" panose="02070409020205090404" pitchFamily="49" charset="0"/>
            </a:endParaRPr>
          </a:p>
          <a:p>
            <a:pPr algn="l"/>
            <a:endParaRPr lang="en-US" sz="800" b="1" dirty="0">
              <a:latin typeface="Courier New" panose="02070409020205090404" pitchFamily="49" charset="0"/>
            </a:endParaRPr>
          </a:p>
          <a:p>
            <a:pPr algn="l"/>
            <a:r>
              <a:rPr lang="en-US" sz="1800" b="1" dirty="0">
                <a:latin typeface="Courier New" panose="02070409020205090404" pitchFamily="49" charset="0"/>
              </a:rPr>
              <a:t>private:</a:t>
            </a:r>
            <a:endParaRPr lang="en-US" sz="1800" b="1" dirty="0">
              <a:latin typeface="Courier New" panose="02070409020205090404" pitchFamily="49" charset="0"/>
            </a:endParaRPr>
          </a:p>
          <a:p>
            <a:pPr algn="l"/>
            <a:r>
              <a:rPr lang="en-US" sz="1800" b="1" dirty="0">
                <a:latin typeface="Courier New" panose="02070409020205090404" pitchFamily="49" charset="0"/>
              </a:rPr>
              <a:t>   int </a:t>
            </a:r>
            <a:r>
              <a:rPr lang="en-US" sz="1800" b="1" dirty="0" err="1">
                <a:latin typeface="Courier New" panose="02070409020205090404" pitchFamily="49" charset="0"/>
              </a:rPr>
              <a:t>mapFunc</a:t>
            </a:r>
            <a:r>
              <a:rPr lang="en-US" sz="1800" b="1" dirty="0">
                <a:latin typeface="Courier New" panose="02070409020205090404" pitchFamily="49" charset="0"/>
              </a:rPr>
              <a:t>(int </a:t>
            </a:r>
            <a:r>
              <a:rPr lang="en-US" sz="1800" b="1" dirty="0" err="1">
                <a:latin typeface="Courier New" panose="02070409020205090404" pitchFamily="49" charset="0"/>
              </a:rPr>
              <a:t>idNum</a:t>
            </a:r>
            <a:r>
              <a:rPr lang="en-US" sz="1800" b="1" dirty="0">
                <a:latin typeface="Courier New" panose="02070409020205090404" pitchFamily="49" charset="0"/>
              </a:rPr>
              <a:t>) const</a:t>
            </a:r>
            <a:endParaRPr lang="en-US" sz="1800" b="1" dirty="0">
              <a:latin typeface="Courier New" panose="02070409020205090404" pitchFamily="49" charset="0"/>
            </a:endParaRPr>
          </a:p>
          <a:p>
            <a:pPr algn="l"/>
            <a:r>
              <a:rPr lang="en-US" sz="1800" b="1" dirty="0">
                <a:latin typeface="Courier New" panose="02070409020205090404" pitchFamily="49" charset="0"/>
              </a:rPr>
              <a:t>       {  return </a:t>
            </a:r>
            <a:r>
              <a:rPr lang="en-US" sz="1800" b="1" dirty="0" err="1">
                <a:latin typeface="Courier New" panose="02070409020205090404" pitchFamily="49" charset="0"/>
              </a:rPr>
              <a:t>idNum</a:t>
            </a:r>
            <a:r>
              <a:rPr lang="en-US" sz="1800" b="1" dirty="0">
                <a:latin typeface="Courier New" panose="02070409020205090404" pitchFamily="49" charset="0"/>
              </a:rPr>
              <a:t> % NUM_BUCK;  }</a:t>
            </a:r>
            <a:endParaRPr lang="en-US" sz="1800" b="1" dirty="0">
              <a:latin typeface="Courier New" panose="02070409020205090404" pitchFamily="49" charset="0"/>
            </a:endParaRPr>
          </a:p>
          <a:p>
            <a:pPr algn="l"/>
            <a:endParaRPr lang="en-US" sz="800" b="1" dirty="0">
              <a:latin typeface="Courier New" panose="02070409020205090404" pitchFamily="49" charset="0"/>
            </a:endParaRPr>
          </a:p>
          <a:p>
            <a:pPr algn="l"/>
            <a:r>
              <a:rPr lang="en-US" sz="1800" b="1" dirty="0">
                <a:latin typeface="Courier New" panose="02070409020205090404" pitchFamily="49" charset="0"/>
              </a:rPr>
              <a:t>   BUCKET </a:t>
            </a:r>
            <a:r>
              <a:rPr lang="en-US" sz="1800" b="1" dirty="0" err="1">
                <a:latin typeface="Courier New" panose="02070409020205090404" pitchFamily="49" charset="0"/>
              </a:rPr>
              <a:t>m_buckets</a:t>
            </a:r>
            <a:r>
              <a:rPr lang="en-US" sz="1800" b="1" dirty="0">
                <a:latin typeface="Courier New" panose="02070409020205090404" pitchFamily="49" charset="0"/>
              </a:rPr>
              <a:t>[NUM_BUCK];</a:t>
            </a:r>
            <a:endParaRPr lang="en-US" sz="1800" b="1" dirty="0">
              <a:latin typeface="Courier New" panose="02070409020205090404" pitchFamily="49" charset="0"/>
            </a:endParaRPr>
          </a:p>
          <a:p>
            <a:pPr algn="l"/>
            <a:r>
              <a:rPr lang="en-US" sz="1800" b="1" dirty="0">
                <a:latin typeface="Courier New" panose="02070409020205090404" pitchFamily="49" charset="0"/>
              </a:rPr>
              <a:t>};</a:t>
            </a:r>
            <a:endParaRPr lang="en-US" sz="1800" b="1" dirty="0">
              <a:latin typeface="Courier New" panose="02070409020205090404" pitchFamily="49" charset="0"/>
            </a:endParaRPr>
          </a:p>
        </p:txBody>
      </p:sp>
      <p:grpSp>
        <p:nvGrpSpPr>
          <p:cNvPr id="132098" name="Group 2"/>
          <p:cNvGrpSpPr/>
          <p:nvPr/>
        </p:nvGrpSpPr>
        <p:grpSpPr bwMode="auto">
          <a:xfrm>
            <a:off x="6543675" y="249238"/>
            <a:ext cx="2725738" cy="2574925"/>
            <a:chOff x="5615" y="905"/>
            <a:chExt cx="1717" cy="1622"/>
          </a:xfrm>
        </p:grpSpPr>
        <p:grpSp>
          <p:nvGrpSpPr>
            <p:cNvPr id="132099" name="Group 3"/>
            <p:cNvGrpSpPr/>
            <p:nvPr/>
          </p:nvGrpSpPr>
          <p:grpSpPr bwMode="auto">
            <a:xfrm>
              <a:off x="5615" y="905"/>
              <a:ext cx="1717" cy="1622"/>
              <a:chOff x="4118" y="801"/>
              <a:chExt cx="1717" cy="1622"/>
            </a:xfrm>
          </p:grpSpPr>
          <p:grpSp>
            <p:nvGrpSpPr>
              <p:cNvPr id="132100" name="Group 4"/>
              <p:cNvGrpSpPr/>
              <p:nvPr/>
            </p:nvGrpSpPr>
            <p:grpSpPr bwMode="auto">
              <a:xfrm>
                <a:off x="4245" y="801"/>
                <a:ext cx="1590" cy="1622"/>
                <a:chOff x="4218" y="801"/>
                <a:chExt cx="1590" cy="1622"/>
              </a:xfrm>
            </p:grpSpPr>
            <p:grpSp>
              <p:nvGrpSpPr>
                <p:cNvPr id="132101" name="Group 5"/>
                <p:cNvGrpSpPr/>
                <p:nvPr/>
              </p:nvGrpSpPr>
              <p:grpSpPr bwMode="auto">
                <a:xfrm>
                  <a:off x="4221" y="801"/>
                  <a:ext cx="1584" cy="212"/>
                  <a:chOff x="2700" y="4428"/>
                  <a:chExt cx="1584" cy="212"/>
                </a:xfrm>
              </p:grpSpPr>
              <p:sp>
                <p:nvSpPr>
                  <p:cNvPr id="132102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32103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32104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32105" name="Rectangle 9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32106" name="Group 10"/>
                <p:cNvGrpSpPr/>
                <p:nvPr/>
              </p:nvGrpSpPr>
              <p:grpSpPr bwMode="auto">
                <a:xfrm>
                  <a:off x="4218" y="960"/>
                  <a:ext cx="1584" cy="212"/>
                  <a:chOff x="2700" y="4428"/>
                  <a:chExt cx="1584" cy="212"/>
                </a:xfrm>
              </p:grpSpPr>
              <p:sp>
                <p:nvSpPr>
                  <p:cNvPr id="132107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32108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32109" name="Rectangle 13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32110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32111" name="Group 15"/>
                <p:cNvGrpSpPr/>
                <p:nvPr/>
              </p:nvGrpSpPr>
              <p:grpSpPr bwMode="auto">
                <a:xfrm>
                  <a:off x="4218" y="1113"/>
                  <a:ext cx="1584" cy="212"/>
                  <a:chOff x="2700" y="4428"/>
                  <a:chExt cx="1584" cy="212"/>
                </a:xfrm>
              </p:grpSpPr>
              <p:sp>
                <p:nvSpPr>
                  <p:cNvPr id="132112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32113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32114" name="Rectangle 18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32115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32116" name="Group 20"/>
                <p:cNvGrpSpPr/>
                <p:nvPr/>
              </p:nvGrpSpPr>
              <p:grpSpPr bwMode="auto">
                <a:xfrm>
                  <a:off x="4224" y="1272"/>
                  <a:ext cx="1584" cy="212"/>
                  <a:chOff x="2700" y="4428"/>
                  <a:chExt cx="1584" cy="212"/>
                </a:xfrm>
              </p:grpSpPr>
              <p:sp>
                <p:nvSpPr>
                  <p:cNvPr id="132117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32118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32119" name="Rectangle 23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32120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32121" name="Group 25"/>
                <p:cNvGrpSpPr/>
                <p:nvPr/>
              </p:nvGrpSpPr>
              <p:grpSpPr bwMode="auto">
                <a:xfrm>
                  <a:off x="4218" y="1428"/>
                  <a:ext cx="1584" cy="212"/>
                  <a:chOff x="2700" y="4428"/>
                  <a:chExt cx="1584" cy="212"/>
                </a:xfrm>
              </p:grpSpPr>
              <p:sp>
                <p:nvSpPr>
                  <p:cNvPr id="132122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32123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32124" name="Rectangle 28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32125" name="Rectangle 29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32126" name="Group 30"/>
                <p:cNvGrpSpPr/>
                <p:nvPr/>
              </p:nvGrpSpPr>
              <p:grpSpPr bwMode="auto">
                <a:xfrm>
                  <a:off x="4224" y="1587"/>
                  <a:ext cx="1584" cy="212"/>
                  <a:chOff x="2700" y="4428"/>
                  <a:chExt cx="1584" cy="212"/>
                </a:xfrm>
              </p:grpSpPr>
              <p:sp>
                <p:nvSpPr>
                  <p:cNvPr id="132127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32128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32129" name="Rectangle 33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32130" name="Rectangle 34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32131" name="Group 35"/>
                <p:cNvGrpSpPr/>
                <p:nvPr/>
              </p:nvGrpSpPr>
              <p:grpSpPr bwMode="auto">
                <a:xfrm>
                  <a:off x="4224" y="1740"/>
                  <a:ext cx="1584" cy="212"/>
                  <a:chOff x="2700" y="4428"/>
                  <a:chExt cx="1584" cy="212"/>
                </a:xfrm>
              </p:grpSpPr>
              <p:sp>
                <p:nvSpPr>
                  <p:cNvPr id="132132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32133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32134" name="Rectangle 38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32135" name="Rectangle 39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32136" name="Group 40"/>
                <p:cNvGrpSpPr/>
                <p:nvPr/>
              </p:nvGrpSpPr>
              <p:grpSpPr bwMode="auto">
                <a:xfrm>
                  <a:off x="4221" y="1899"/>
                  <a:ext cx="1584" cy="212"/>
                  <a:chOff x="2700" y="4428"/>
                  <a:chExt cx="1584" cy="212"/>
                </a:xfrm>
              </p:grpSpPr>
              <p:sp>
                <p:nvSpPr>
                  <p:cNvPr id="132137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32138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32139" name="Rectangle 43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32140" name="Rectangle 44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32141" name="Group 45"/>
                <p:cNvGrpSpPr/>
                <p:nvPr/>
              </p:nvGrpSpPr>
              <p:grpSpPr bwMode="auto">
                <a:xfrm>
                  <a:off x="4221" y="2052"/>
                  <a:ext cx="1584" cy="212"/>
                  <a:chOff x="2700" y="4428"/>
                  <a:chExt cx="1584" cy="212"/>
                </a:xfrm>
              </p:grpSpPr>
              <p:sp>
                <p:nvSpPr>
                  <p:cNvPr id="132142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32143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32144" name="Rectangle 48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32145" name="Rectangle 49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32146" name="Group 50"/>
                <p:cNvGrpSpPr/>
                <p:nvPr/>
              </p:nvGrpSpPr>
              <p:grpSpPr bwMode="auto">
                <a:xfrm>
                  <a:off x="4218" y="2211"/>
                  <a:ext cx="1584" cy="212"/>
                  <a:chOff x="2700" y="4428"/>
                  <a:chExt cx="1584" cy="212"/>
                </a:xfrm>
              </p:grpSpPr>
              <p:sp>
                <p:nvSpPr>
                  <p:cNvPr id="132147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32148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32149" name="Rectangle 53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32150" name="Rectangle 54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132151" name="Text Box 55"/>
              <p:cNvSpPr txBox="1">
                <a:spLocks noChangeArrowheads="1"/>
              </p:cNvSpPr>
              <p:nvPr/>
            </p:nvSpPr>
            <p:spPr bwMode="auto">
              <a:xfrm>
                <a:off x="4118" y="821"/>
                <a:ext cx="194" cy="15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E7F9B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600" b="1"/>
                  <a:t>0</a:t>
                </a:r>
                <a:endParaRPr lang="en-US" sz="1600" b="1"/>
              </a:p>
              <a:p>
                <a:r>
                  <a:rPr lang="en-US" sz="1600" b="1"/>
                  <a:t>1</a:t>
                </a:r>
                <a:endParaRPr lang="en-US" sz="1600" b="1"/>
              </a:p>
              <a:p>
                <a:r>
                  <a:rPr lang="en-US" sz="1600" b="1"/>
                  <a:t>2</a:t>
                </a:r>
                <a:endParaRPr lang="en-US" sz="1600" b="1"/>
              </a:p>
              <a:p>
                <a:r>
                  <a:rPr lang="en-US" sz="1600" b="1"/>
                  <a:t>3</a:t>
                </a:r>
                <a:endParaRPr lang="en-US" sz="1600" b="1"/>
              </a:p>
              <a:p>
                <a:r>
                  <a:rPr lang="en-US" sz="1600" b="1"/>
                  <a:t>4</a:t>
                </a:r>
                <a:endParaRPr lang="en-US" sz="1600" b="1"/>
              </a:p>
              <a:p>
                <a:r>
                  <a:rPr lang="en-US" sz="1600" b="1"/>
                  <a:t>5</a:t>
                </a:r>
                <a:endParaRPr lang="en-US" sz="1600" b="1"/>
              </a:p>
              <a:p>
                <a:r>
                  <a:rPr lang="en-US" sz="1600" b="1"/>
                  <a:t>6</a:t>
                </a:r>
                <a:endParaRPr lang="en-US" sz="1600" b="1"/>
              </a:p>
              <a:p>
                <a:r>
                  <a:rPr lang="en-US" sz="1600" b="1"/>
                  <a:t>7</a:t>
                </a:r>
                <a:endParaRPr lang="en-US" sz="1600" b="1"/>
              </a:p>
              <a:p>
                <a:r>
                  <a:rPr lang="en-US" sz="1600" b="1"/>
                  <a:t>8</a:t>
                </a:r>
                <a:endParaRPr lang="en-US" sz="1600" b="1"/>
              </a:p>
              <a:p>
                <a:r>
                  <a:rPr lang="en-US" sz="1600" b="1"/>
                  <a:t>9</a:t>
                </a:r>
                <a:endParaRPr lang="en-US" sz="1600" b="1"/>
              </a:p>
            </p:txBody>
          </p:sp>
        </p:grpSp>
        <p:sp>
          <p:nvSpPr>
            <p:cNvPr id="132152" name="Text Box 56"/>
            <p:cNvSpPr txBox="1">
              <a:spLocks noChangeArrowheads="1"/>
            </p:cNvSpPr>
            <p:nvPr/>
          </p:nvSpPr>
          <p:spPr bwMode="auto">
            <a:xfrm>
              <a:off x="6974" y="918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6600FF"/>
                  </a:solidFill>
                </a:rPr>
                <a:t>f</a:t>
              </a:r>
              <a:endParaRPr lang="en-US" sz="1600" b="1">
                <a:solidFill>
                  <a:srgbClr val="6600FF"/>
                </a:solidFill>
              </a:endParaRPr>
            </a:p>
          </p:txBody>
        </p:sp>
        <p:sp>
          <p:nvSpPr>
            <p:cNvPr id="132153" name="Text Box 57"/>
            <p:cNvSpPr txBox="1">
              <a:spLocks noChangeArrowheads="1"/>
            </p:cNvSpPr>
            <p:nvPr/>
          </p:nvSpPr>
          <p:spPr bwMode="auto">
            <a:xfrm>
              <a:off x="6980" y="1068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6600FF"/>
                  </a:solidFill>
                </a:rPr>
                <a:t>f</a:t>
              </a:r>
              <a:endParaRPr lang="en-US" sz="1600" b="1">
                <a:solidFill>
                  <a:srgbClr val="6600FF"/>
                </a:solidFill>
              </a:endParaRPr>
            </a:p>
          </p:txBody>
        </p:sp>
        <p:sp>
          <p:nvSpPr>
            <p:cNvPr id="132154" name="Text Box 58"/>
            <p:cNvSpPr txBox="1">
              <a:spLocks noChangeArrowheads="1"/>
            </p:cNvSpPr>
            <p:nvPr/>
          </p:nvSpPr>
          <p:spPr bwMode="auto">
            <a:xfrm>
              <a:off x="6980" y="123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6600FF"/>
                  </a:solidFill>
                </a:rPr>
                <a:t>f</a:t>
              </a:r>
              <a:endParaRPr lang="en-US" sz="1600" b="1">
                <a:solidFill>
                  <a:srgbClr val="6600FF"/>
                </a:solidFill>
              </a:endParaRPr>
            </a:p>
          </p:txBody>
        </p:sp>
        <p:sp>
          <p:nvSpPr>
            <p:cNvPr id="132155" name="Text Box 59"/>
            <p:cNvSpPr txBox="1">
              <a:spLocks noChangeArrowheads="1"/>
            </p:cNvSpPr>
            <p:nvPr/>
          </p:nvSpPr>
          <p:spPr bwMode="auto">
            <a:xfrm>
              <a:off x="6986" y="1380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6600FF"/>
                  </a:solidFill>
                </a:rPr>
                <a:t>f</a:t>
              </a:r>
              <a:endParaRPr lang="en-US" sz="1600" b="1">
                <a:solidFill>
                  <a:srgbClr val="6600FF"/>
                </a:solidFill>
              </a:endParaRPr>
            </a:p>
          </p:txBody>
        </p:sp>
        <p:sp>
          <p:nvSpPr>
            <p:cNvPr id="132156" name="Text Box 60"/>
            <p:cNvSpPr txBox="1">
              <a:spLocks noChangeArrowheads="1"/>
            </p:cNvSpPr>
            <p:nvPr/>
          </p:nvSpPr>
          <p:spPr bwMode="auto">
            <a:xfrm>
              <a:off x="6980" y="1536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6600FF"/>
                  </a:solidFill>
                </a:rPr>
                <a:t>f</a:t>
              </a:r>
              <a:endParaRPr lang="en-US" sz="1600" b="1">
                <a:solidFill>
                  <a:srgbClr val="6600FF"/>
                </a:solidFill>
              </a:endParaRPr>
            </a:p>
          </p:txBody>
        </p:sp>
        <p:sp>
          <p:nvSpPr>
            <p:cNvPr id="132157" name="Text Box 61"/>
            <p:cNvSpPr txBox="1">
              <a:spLocks noChangeArrowheads="1"/>
            </p:cNvSpPr>
            <p:nvPr/>
          </p:nvSpPr>
          <p:spPr bwMode="auto">
            <a:xfrm>
              <a:off x="6986" y="1686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6600FF"/>
                  </a:solidFill>
                </a:rPr>
                <a:t>f</a:t>
              </a:r>
              <a:endParaRPr lang="en-US" sz="1600" b="1">
                <a:solidFill>
                  <a:srgbClr val="6600FF"/>
                </a:solidFill>
              </a:endParaRPr>
            </a:p>
          </p:txBody>
        </p:sp>
        <p:sp>
          <p:nvSpPr>
            <p:cNvPr id="132158" name="Text Box 62"/>
            <p:cNvSpPr txBox="1">
              <a:spLocks noChangeArrowheads="1"/>
            </p:cNvSpPr>
            <p:nvPr/>
          </p:nvSpPr>
          <p:spPr bwMode="auto">
            <a:xfrm>
              <a:off x="6986" y="1848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6600FF"/>
                  </a:solidFill>
                </a:rPr>
                <a:t>f</a:t>
              </a:r>
              <a:endParaRPr lang="en-US" sz="1600" b="1">
                <a:solidFill>
                  <a:srgbClr val="6600FF"/>
                </a:solidFill>
              </a:endParaRPr>
            </a:p>
          </p:txBody>
        </p:sp>
        <p:sp>
          <p:nvSpPr>
            <p:cNvPr id="132159" name="Text Box 63"/>
            <p:cNvSpPr txBox="1">
              <a:spLocks noChangeArrowheads="1"/>
            </p:cNvSpPr>
            <p:nvPr/>
          </p:nvSpPr>
          <p:spPr bwMode="auto">
            <a:xfrm>
              <a:off x="6992" y="1998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6600FF"/>
                  </a:solidFill>
                </a:rPr>
                <a:t>f</a:t>
              </a:r>
              <a:endParaRPr lang="en-US" sz="1600" b="1">
                <a:solidFill>
                  <a:srgbClr val="6600FF"/>
                </a:solidFill>
              </a:endParaRPr>
            </a:p>
          </p:txBody>
        </p:sp>
        <p:sp>
          <p:nvSpPr>
            <p:cNvPr id="132160" name="Text Box 64"/>
            <p:cNvSpPr txBox="1">
              <a:spLocks noChangeArrowheads="1"/>
            </p:cNvSpPr>
            <p:nvPr/>
          </p:nvSpPr>
          <p:spPr bwMode="auto">
            <a:xfrm>
              <a:off x="6995" y="2163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6600FF"/>
                  </a:solidFill>
                </a:rPr>
                <a:t>f</a:t>
              </a:r>
              <a:endParaRPr lang="en-US" sz="1600" b="1">
                <a:solidFill>
                  <a:srgbClr val="6600FF"/>
                </a:solidFill>
              </a:endParaRPr>
            </a:p>
          </p:txBody>
        </p:sp>
        <p:sp>
          <p:nvSpPr>
            <p:cNvPr id="132161" name="Text Box 65"/>
            <p:cNvSpPr txBox="1">
              <a:spLocks noChangeArrowheads="1"/>
            </p:cNvSpPr>
            <p:nvPr/>
          </p:nvSpPr>
          <p:spPr bwMode="auto">
            <a:xfrm>
              <a:off x="7001" y="2313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6600FF"/>
                  </a:solidFill>
                </a:rPr>
                <a:t>f</a:t>
              </a:r>
              <a:endParaRPr lang="en-US" sz="1600" b="1">
                <a:solidFill>
                  <a:srgbClr val="6600FF"/>
                </a:solidFill>
              </a:endParaRPr>
            </a:p>
          </p:txBody>
        </p:sp>
      </p:grpSp>
      <p:grpSp>
        <p:nvGrpSpPr>
          <p:cNvPr id="132164" name="Group 68"/>
          <p:cNvGrpSpPr/>
          <p:nvPr/>
        </p:nvGrpSpPr>
        <p:grpSpPr bwMode="auto">
          <a:xfrm>
            <a:off x="6546850" y="238125"/>
            <a:ext cx="2725738" cy="2600325"/>
            <a:chOff x="4124" y="150"/>
            <a:chExt cx="1717" cy="1638"/>
          </a:xfrm>
        </p:grpSpPr>
        <p:grpSp>
          <p:nvGrpSpPr>
            <p:cNvPr id="132165" name="Group 69"/>
            <p:cNvGrpSpPr/>
            <p:nvPr/>
          </p:nvGrpSpPr>
          <p:grpSpPr bwMode="auto">
            <a:xfrm>
              <a:off x="4124" y="150"/>
              <a:ext cx="1717" cy="1622"/>
              <a:chOff x="4118" y="801"/>
              <a:chExt cx="1717" cy="1622"/>
            </a:xfrm>
          </p:grpSpPr>
          <p:grpSp>
            <p:nvGrpSpPr>
              <p:cNvPr id="132166" name="Group 70"/>
              <p:cNvGrpSpPr/>
              <p:nvPr/>
            </p:nvGrpSpPr>
            <p:grpSpPr bwMode="auto">
              <a:xfrm>
                <a:off x="4245" y="801"/>
                <a:ext cx="1590" cy="1622"/>
                <a:chOff x="4218" y="801"/>
                <a:chExt cx="1590" cy="1622"/>
              </a:xfrm>
            </p:grpSpPr>
            <p:grpSp>
              <p:nvGrpSpPr>
                <p:cNvPr id="132167" name="Group 71"/>
                <p:cNvGrpSpPr/>
                <p:nvPr/>
              </p:nvGrpSpPr>
              <p:grpSpPr bwMode="auto">
                <a:xfrm>
                  <a:off x="4221" y="801"/>
                  <a:ext cx="1584" cy="212"/>
                  <a:chOff x="2700" y="4428"/>
                  <a:chExt cx="1584" cy="212"/>
                </a:xfrm>
              </p:grpSpPr>
              <p:sp>
                <p:nvSpPr>
                  <p:cNvPr id="132168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32169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32170" name="Rectangle 74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32171" name="Rectangle 75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32172" name="Group 76"/>
                <p:cNvGrpSpPr/>
                <p:nvPr/>
              </p:nvGrpSpPr>
              <p:grpSpPr bwMode="auto">
                <a:xfrm>
                  <a:off x="4218" y="960"/>
                  <a:ext cx="1584" cy="212"/>
                  <a:chOff x="2700" y="4428"/>
                  <a:chExt cx="1584" cy="212"/>
                </a:xfrm>
              </p:grpSpPr>
              <p:sp>
                <p:nvSpPr>
                  <p:cNvPr id="132173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32174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32175" name="Rectangle 79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32176" name="Rectangle 80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32177" name="Group 81"/>
                <p:cNvGrpSpPr/>
                <p:nvPr/>
              </p:nvGrpSpPr>
              <p:grpSpPr bwMode="auto">
                <a:xfrm>
                  <a:off x="4218" y="1113"/>
                  <a:ext cx="1584" cy="212"/>
                  <a:chOff x="2700" y="4428"/>
                  <a:chExt cx="1584" cy="212"/>
                </a:xfrm>
              </p:grpSpPr>
              <p:sp>
                <p:nvSpPr>
                  <p:cNvPr id="132178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32179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32180" name="Rectangle 84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32181" name="Rectangle 85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32182" name="Group 86"/>
                <p:cNvGrpSpPr/>
                <p:nvPr/>
              </p:nvGrpSpPr>
              <p:grpSpPr bwMode="auto">
                <a:xfrm>
                  <a:off x="4224" y="1272"/>
                  <a:ext cx="1584" cy="212"/>
                  <a:chOff x="2700" y="4428"/>
                  <a:chExt cx="1584" cy="212"/>
                </a:xfrm>
              </p:grpSpPr>
              <p:sp>
                <p:nvSpPr>
                  <p:cNvPr id="132183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32184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32185" name="Rectangle 89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32186" name="Rectangle 90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32187" name="Group 91"/>
                <p:cNvGrpSpPr/>
                <p:nvPr/>
              </p:nvGrpSpPr>
              <p:grpSpPr bwMode="auto">
                <a:xfrm>
                  <a:off x="4218" y="1428"/>
                  <a:ext cx="1584" cy="212"/>
                  <a:chOff x="2700" y="4428"/>
                  <a:chExt cx="1584" cy="212"/>
                </a:xfrm>
              </p:grpSpPr>
              <p:sp>
                <p:nvSpPr>
                  <p:cNvPr id="132188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32189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32190" name="Rectangle 94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32191" name="Rectangle 95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32192" name="Group 96"/>
                <p:cNvGrpSpPr/>
                <p:nvPr/>
              </p:nvGrpSpPr>
              <p:grpSpPr bwMode="auto">
                <a:xfrm>
                  <a:off x="4224" y="1587"/>
                  <a:ext cx="1584" cy="212"/>
                  <a:chOff x="2700" y="4428"/>
                  <a:chExt cx="1584" cy="212"/>
                </a:xfrm>
              </p:grpSpPr>
              <p:sp>
                <p:nvSpPr>
                  <p:cNvPr id="132193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32194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32195" name="Rectangle 99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32196" name="Rectangle 100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32197" name="Group 101"/>
                <p:cNvGrpSpPr/>
                <p:nvPr/>
              </p:nvGrpSpPr>
              <p:grpSpPr bwMode="auto">
                <a:xfrm>
                  <a:off x="4224" y="1740"/>
                  <a:ext cx="1584" cy="212"/>
                  <a:chOff x="2700" y="4428"/>
                  <a:chExt cx="1584" cy="212"/>
                </a:xfrm>
              </p:grpSpPr>
              <p:sp>
                <p:nvSpPr>
                  <p:cNvPr id="132198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32199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32200" name="Rectangle 104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32201" name="Rectangle 105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32202" name="Group 106"/>
                <p:cNvGrpSpPr/>
                <p:nvPr/>
              </p:nvGrpSpPr>
              <p:grpSpPr bwMode="auto">
                <a:xfrm>
                  <a:off x="4221" y="1899"/>
                  <a:ext cx="1584" cy="212"/>
                  <a:chOff x="2700" y="4428"/>
                  <a:chExt cx="1584" cy="212"/>
                </a:xfrm>
              </p:grpSpPr>
              <p:sp>
                <p:nvSpPr>
                  <p:cNvPr id="132203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32204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32205" name="Rectangle 109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32206" name="Rectangle 110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32207" name="Group 111"/>
                <p:cNvGrpSpPr/>
                <p:nvPr/>
              </p:nvGrpSpPr>
              <p:grpSpPr bwMode="auto">
                <a:xfrm>
                  <a:off x="4221" y="2052"/>
                  <a:ext cx="1584" cy="212"/>
                  <a:chOff x="2700" y="4428"/>
                  <a:chExt cx="1584" cy="212"/>
                </a:xfrm>
              </p:grpSpPr>
              <p:sp>
                <p:nvSpPr>
                  <p:cNvPr id="132208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32209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32210" name="Rectangle 114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32211" name="Rectangle 115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32212" name="Group 116"/>
                <p:cNvGrpSpPr/>
                <p:nvPr/>
              </p:nvGrpSpPr>
              <p:grpSpPr bwMode="auto">
                <a:xfrm>
                  <a:off x="4218" y="2211"/>
                  <a:ext cx="1584" cy="212"/>
                  <a:chOff x="2700" y="4428"/>
                  <a:chExt cx="1584" cy="212"/>
                </a:xfrm>
              </p:grpSpPr>
              <p:sp>
                <p:nvSpPr>
                  <p:cNvPr id="132213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738" y="4455"/>
                    <a:ext cx="1438" cy="153"/>
                  </a:xfrm>
                  <a:prstGeom prst="rect">
                    <a:avLst/>
                  </a:prstGeom>
                  <a:solidFill>
                    <a:srgbClr val="E7F9BF"/>
                  </a:solidFill>
                  <a:ln w="9525" algn="ctr">
                    <a:solidFill>
                      <a:schemeClr val="tx1"/>
                    </a:solidFill>
                    <a:round/>
                  </a:ln>
                </p:spPr>
                <p:txBody>
                  <a:bodyPr anchor="ctr"/>
                  <a:lstStyle/>
                  <a:p>
                    <a:endParaRPr lang="en-US" sz="1600"/>
                  </a:p>
                </p:txBody>
              </p:sp>
              <p:sp>
                <p:nvSpPr>
                  <p:cNvPr id="132214" name="TextBox 1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00" y="4428"/>
                    <a:ext cx="158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2"/>
                        </a:solidFill>
                        <a:latin typeface="Comic Sans MS" panose="030F0902030302020204" pitchFamily="66" charset="0"/>
                        <a:cs typeface="Times New Roman" panose="02020503050405090304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sz="1600"/>
                      <a:t>idNum:           used: </a:t>
                    </a:r>
                    <a:endParaRPr lang="en-US" sz="1600"/>
                  </a:p>
                </p:txBody>
              </p:sp>
              <p:sp>
                <p:nvSpPr>
                  <p:cNvPr id="132215" name="Rectangle 119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4473"/>
                    <a:ext cx="192" cy="126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32216" name="Rectangle 120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4479"/>
                    <a:ext cx="336" cy="113"/>
                  </a:xfrm>
                  <a:prstGeom prst="rect">
                    <a:avLst/>
                  </a:prstGeom>
                  <a:solidFill>
                    <a:srgbClr val="FCE1BC"/>
                  </a:solidFill>
                  <a:ln w="9525" algn="ctr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132217" name="Text Box 121"/>
              <p:cNvSpPr txBox="1">
                <a:spLocks noChangeArrowheads="1"/>
              </p:cNvSpPr>
              <p:nvPr/>
            </p:nvSpPr>
            <p:spPr bwMode="auto">
              <a:xfrm>
                <a:off x="4118" y="821"/>
                <a:ext cx="194" cy="15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E7F9B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600" b="1"/>
                  <a:t>0</a:t>
                </a:r>
                <a:endParaRPr lang="en-US" sz="1600" b="1"/>
              </a:p>
              <a:p>
                <a:r>
                  <a:rPr lang="en-US" sz="1600" b="1"/>
                  <a:t>1</a:t>
                </a:r>
                <a:endParaRPr lang="en-US" sz="1600" b="1"/>
              </a:p>
              <a:p>
                <a:r>
                  <a:rPr lang="en-US" sz="1600" b="1"/>
                  <a:t>2</a:t>
                </a:r>
                <a:endParaRPr lang="en-US" sz="1600" b="1"/>
              </a:p>
              <a:p>
                <a:r>
                  <a:rPr lang="en-US" sz="1600" b="1"/>
                  <a:t>3</a:t>
                </a:r>
                <a:endParaRPr lang="en-US" sz="1600" b="1"/>
              </a:p>
              <a:p>
                <a:r>
                  <a:rPr lang="en-US" sz="1600" b="1"/>
                  <a:t>4</a:t>
                </a:r>
                <a:endParaRPr lang="en-US" sz="1600" b="1"/>
              </a:p>
              <a:p>
                <a:r>
                  <a:rPr lang="en-US" sz="1600" b="1"/>
                  <a:t>5</a:t>
                </a:r>
                <a:endParaRPr lang="en-US" sz="1600" b="1"/>
              </a:p>
              <a:p>
                <a:r>
                  <a:rPr lang="en-US" sz="1600" b="1"/>
                  <a:t>6</a:t>
                </a:r>
                <a:endParaRPr lang="en-US" sz="1600" b="1"/>
              </a:p>
              <a:p>
                <a:r>
                  <a:rPr lang="en-US" sz="1600" b="1"/>
                  <a:t>7</a:t>
                </a:r>
                <a:endParaRPr lang="en-US" sz="1600" b="1"/>
              </a:p>
              <a:p>
                <a:r>
                  <a:rPr lang="en-US" sz="1600" b="1"/>
                  <a:t>8</a:t>
                </a:r>
                <a:endParaRPr lang="en-US" sz="1600" b="1"/>
              </a:p>
              <a:p>
                <a:r>
                  <a:rPr lang="en-US" sz="1600" b="1"/>
                  <a:t>9</a:t>
                </a:r>
                <a:endParaRPr lang="en-US" sz="1600" b="1"/>
              </a:p>
            </p:txBody>
          </p:sp>
        </p:grpSp>
        <p:sp>
          <p:nvSpPr>
            <p:cNvPr id="132218" name="Text Box 122"/>
            <p:cNvSpPr txBox="1">
              <a:spLocks noChangeArrowheads="1"/>
            </p:cNvSpPr>
            <p:nvPr/>
          </p:nvSpPr>
          <p:spPr bwMode="auto">
            <a:xfrm>
              <a:off x="5489" y="313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6600FF"/>
                  </a:solidFill>
                </a:rPr>
                <a:t>f</a:t>
              </a:r>
              <a:endParaRPr lang="en-US" sz="1600" b="1">
                <a:solidFill>
                  <a:srgbClr val="6600FF"/>
                </a:solidFill>
              </a:endParaRPr>
            </a:p>
          </p:txBody>
        </p:sp>
        <p:sp>
          <p:nvSpPr>
            <p:cNvPr id="132219" name="Text Box 123"/>
            <p:cNvSpPr txBox="1">
              <a:spLocks noChangeArrowheads="1"/>
            </p:cNvSpPr>
            <p:nvPr/>
          </p:nvSpPr>
          <p:spPr bwMode="auto">
            <a:xfrm>
              <a:off x="5489" y="475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6600FF"/>
                  </a:solidFill>
                </a:rPr>
                <a:t>f</a:t>
              </a:r>
              <a:endParaRPr lang="en-US" sz="1600" b="1">
                <a:solidFill>
                  <a:srgbClr val="6600FF"/>
                </a:solidFill>
              </a:endParaRPr>
            </a:p>
          </p:txBody>
        </p:sp>
        <p:sp>
          <p:nvSpPr>
            <p:cNvPr id="132220" name="Text Box 124"/>
            <p:cNvSpPr txBox="1">
              <a:spLocks noChangeArrowheads="1"/>
            </p:cNvSpPr>
            <p:nvPr/>
          </p:nvSpPr>
          <p:spPr bwMode="auto">
            <a:xfrm>
              <a:off x="5495" y="625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6600FF"/>
                  </a:solidFill>
                </a:rPr>
                <a:t>f</a:t>
              </a:r>
              <a:endParaRPr lang="en-US" sz="1600" b="1">
                <a:solidFill>
                  <a:srgbClr val="6600FF"/>
                </a:solidFill>
              </a:endParaRPr>
            </a:p>
          </p:txBody>
        </p:sp>
        <p:sp>
          <p:nvSpPr>
            <p:cNvPr id="132221" name="Text Box 125"/>
            <p:cNvSpPr txBox="1">
              <a:spLocks noChangeArrowheads="1"/>
            </p:cNvSpPr>
            <p:nvPr/>
          </p:nvSpPr>
          <p:spPr bwMode="auto">
            <a:xfrm>
              <a:off x="5489" y="781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6600FF"/>
                  </a:solidFill>
                </a:rPr>
                <a:t>f</a:t>
              </a:r>
              <a:endParaRPr lang="en-US" sz="1600" b="1">
                <a:solidFill>
                  <a:srgbClr val="6600FF"/>
                </a:solidFill>
              </a:endParaRPr>
            </a:p>
          </p:txBody>
        </p:sp>
        <p:sp>
          <p:nvSpPr>
            <p:cNvPr id="132222" name="Text Box 126"/>
            <p:cNvSpPr txBox="1">
              <a:spLocks noChangeArrowheads="1"/>
            </p:cNvSpPr>
            <p:nvPr/>
          </p:nvSpPr>
          <p:spPr bwMode="auto">
            <a:xfrm>
              <a:off x="5504" y="1408"/>
              <a:ext cx="18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6600FF"/>
                  </a:solidFill>
                </a:rPr>
                <a:t>f</a:t>
              </a:r>
              <a:endParaRPr lang="en-US" sz="1600" b="1">
                <a:solidFill>
                  <a:srgbClr val="6600FF"/>
                </a:solidFill>
              </a:endParaRPr>
            </a:p>
          </p:txBody>
        </p:sp>
        <p:sp>
          <p:nvSpPr>
            <p:cNvPr id="132223" name="Rectangle 127"/>
            <p:cNvSpPr>
              <a:spLocks noChangeArrowheads="1"/>
            </p:cNvSpPr>
            <p:nvPr/>
          </p:nvSpPr>
          <p:spPr bwMode="auto">
            <a:xfrm>
              <a:off x="4813" y="1563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FF0000"/>
                  </a:solidFill>
                </a:rPr>
                <a:t>29</a:t>
              </a:r>
              <a:endParaRPr lang="en-US" sz="1600" b="1">
                <a:solidFill>
                  <a:srgbClr val="FF0000"/>
                </a:solidFill>
              </a:endParaRPr>
            </a:p>
          </p:txBody>
        </p:sp>
        <p:sp>
          <p:nvSpPr>
            <p:cNvPr id="132224" name="Text Box 128"/>
            <p:cNvSpPr txBox="1">
              <a:spLocks noChangeArrowheads="1"/>
            </p:cNvSpPr>
            <p:nvPr/>
          </p:nvSpPr>
          <p:spPr bwMode="auto">
            <a:xfrm>
              <a:off x="5492" y="1576"/>
              <a:ext cx="20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FF0000"/>
                  </a:solidFill>
                </a:rPr>
                <a:t>T</a:t>
              </a:r>
              <a:endParaRPr lang="en-US" sz="1600" b="1">
                <a:solidFill>
                  <a:srgbClr val="FF0000"/>
                </a:solidFill>
              </a:endParaRPr>
            </a:p>
          </p:txBody>
        </p:sp>
        <p:sp>
          <p:nvSpPr>
            <p:cNvPr id="132225" name="Rectangle 129"/>
            <p:cNvSpPr>
              <a:spLocks noChangeArrowheads="1"/>
            </p:cNvSpPr>
            <p:nvPr/>
          </p:nvSpPr>
          <p:spPr bwMode="auto">
            <a:xfrm>
              <a:off x="4801" y="948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FF0000"/>
                  </a:solidFill>
                </a:rPr>
                <a:t>65</a:t>
              </a:r>
              <a:endParaRPr lang="en-US" sz="1600" b="1">
                <a:solidFill>
                  <a:srgbClr val="FF0000"/>
                </a:solidFill>
              </a:endParaRPr>
            </a:p>
          </p:txBody>
        </p:sp>
        <p:sp>
          <p:nvSpPr>
            <p:cNvPr id="132226" name="Text Box 130"/>
            <p:cNvSpPr txBox="1">
              <a:spLocks noChangeArrowheads="1"/>
            </p:cNvSpPr>
            <p:nvPr/>
          </p:nvSpPr>
          <p:spPr bwMode="auto">
            <a:xfrm>
              <a:off x="5484" y="165"/>
              <a:ext cx="20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FF0000"/>
                  </a:solidFill>
                </a:rPr>
                <a:t>T</a:t>
              </a:r>
              <a:endParaRPr lang="en-US" sz="1600" b="1">
                <a:solidFill>
                  <a:srgbClr val="FF0000"/>
                </a:solidFill>
              </a:endParaRPr>
            </a:p>
          </p:txBody>
        </p:sp>
        <p:sp>
          <p:nvSpPr>
            <p:cNvPr id="132227" name="Rectangle 131"/>
            <p:cNvSpPr>
              <a:spLocks noChangeArrowheads="1"/>
            </p:cNvSpPr>
            <p:nvPr/>
          </p:nvSpPr>
          <p:spPr bwMode="auto">
            <a:xfrm>
              <a:off x="4816" y="162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FF0000"/>
                  </a:solidFill>
                </a:rPr>
                <a:t>79</a:t>
              </a:r>
              <a:endParaRPr lang="en-US" sz="1600" b="1">
                <a:solidFill>
                  <a:srgbClr val="FF0000"/>
                </a:solidFill>
              </a:endParaRPr>
            </a:p>
          </p:txBody>
        </p:sp>
        <p:sp>
          <p:nvSpPr>
            <p:cNvPr id="132228" name="Text Box 132"/>
            <p:cNvSpPr txBox="1">
              <a:spLocks noChangeArrowheads="1"/>
            </p:cNvSpPr>
            <p:nvPr/>
          </p:nvSpPr>
          <p:spPr bwMode="auto">
            <a:xfrm>
              <a:off x="5478" y="942"/>
              <a:ext cx="20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FF0000"/>
                  </a:solidFill>
                </a:rPr>
                <a:t>T</a:t>
              </a:r>
              <a:endParaRPr lang="en-US" sz="1600" b="1">
                <a:solidFill>
                  <a:srgbClr val="FF0000"/>
                </a:solidFill>
              </a:endParaRPr>
            </a:p>
          </p:txBody>
        </p:sp>
        <p:sp>
          <p:nvSpPr>
            <p:cNvPr id="132229" name="Rectangle 133"/>
            <p:cNvSpPr>
              <a:spLocks noChangeArrowheads="1"/>
            </p:cNvSpPr>
            <p:nvPr/>
          </p:nvSpPr>
          <p:spPr bwMode="auto">
            <a:xfrm>
              <a:off x="4807" y="1098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FF0000"/>
                  </a:solidFill>
                </a:rPr>
                <a:t>15</a:t>
              </a:r>
              <a:endParaRPr lang="en-US" sz="1600" b="1">
                <a:solidFill>
                  <a:srgbClr val="FF0000"/>
                </a:solidFill>
              </a:endParaRPr>
            </a:p>
          </p:txBody>
        </p:sp>
        <p:sp>
          <p:nvSpPr>
            <p:cNvPr id="132230" name="Text Box 134"/>
            <p:cNvSpPr txBox="1">
              <a:spLocks noChangeArrowheads="1"/>
            </p:cNvSpPr>
            <p:nvPr/>
          </p:nvSpPr>
          <p:spPr bwMode="auto">
            <a:xfrm>
              <a:off x="5484" y="1092"/>
              <a:ext cx="20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FF0000"/>
                  </a:solidFill>
                </a:rPr>
                <a:t>T</a:t>
              </a:r>
              <a:endParaRPr lang="en-US" sz="1600" b="1">
                <a:solidFill>
                  <a:srgbClr val="FF0000"/>
                </a:solidFill>
              </a:endParaRPr>
            </a:p>
          </p:txBody>
        </p:sp>
        <p:sp>
          <p:nvSpPr>
            <p:cNvPr id="132231" name="Rectangle 135"/>
            <p:cNvSpPr>
              <a:spLocks noChangeArrowheads="1"/>
            </p:cNvSpPr>
            <p:nvPr/>
          </p:nvSpPr>
          <p:spPr bwMode="auto">
            <a:xfrm>
              <a:off x="4774" y="1257"/>
              <a:ext cx="35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FF0000"/>
                  </a:solidFill>
                </a:rPr>
                <a:t>175</a:t>
              </a:r>
              <a:endParaRPr lang="en-US" sz="1600" b="1">
                <a:solidFill>
                  <a:srgbClr val="FF0000"/>
                </a:solidFill>
              </a:endParaRPr>
            </a:p>
          </p:txBody>
        </p:sp>
        <p:sp>
          <p:nvSpPr>
            <p:cNvPr id="132232" name="Text Box 136"/>
            <p:cNvSpPr txBox="1">
              <a:spLocks noChangeArrowheads="1"/>
            </p:cNvSpPr>
            <p:nvPr/>
          </p:nvSpPr>
          <p:spPr bwMode="auto">
            <a:xfrm>
              <a:off x="5499" y="1251"/>
              <a:ext cx="20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FF0000"/>
                  </a:solidFill>
                </a:rPr>
                <a:t>T</a:t>
              </a:r>
              <a:endParaRPr lang="en-US" sz="1600" b="1">
                <a:solidFill>
                  <a:srgbClr val="FF0000"/>
                </a:solidFill>
              </a:endParaRPr>
            </a:p>
          </p:txBody>
        </p:sp>
      </p:grpSp>
      <p:sp>
        <p:nvSpPr>
          <p:cNvPr id="132285" name="Rectangle 189"/>
          <p:cNvSpPr>
            <a:spLocks noChangeArrowheads="1"/>
          </p:cNvSpPr>
          <p:nvPr/>
        </p:nvSpPr>
        <p:spPr bwMode="auto">
          <a:xfrm>
            <a:off x="6537325" y="192088"/>
            <a:ext cx="2606675" cy="434975"/>
          </a:xfrm>
          <a:prstGeom prst="rect">
            <a:avLst/>
          </a:prstGeom>
          <a:noFill/>
          <a:ln w="63500" algn="ctr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32233" name="Group 137"/>
          <p:cNvGrpSpPr/>
          <p:nvPr/>
        </p:nvGrpSpPr>
        <p:grpSpPr bwMode="auto">
          <a:xfrm>
            <a:off x="4503738" y="1331913"/>
            <a:ext cx="1827212" cy="457200"/>
            <a:chOff x="-758" y="4939"/>
            <a:chExt cx="1151" cy="288"/>
          </a:xfrm>
        </p:grpSpPr>
        <p:sp>
          <p:nvSpPr>
            <p:cNvPr id="132234" name="Text Box 138"/>
            <p:cNvSpPr txBox="1">
              <a:spLocks noChangeArrowheads="1"/>
            </p:cNvSpPr>
            <p:nvPr/>
          </p:nvSpPr>
          <p:spPr bwMode="auto">
            <a:xfrm>
              <a:off x="-758" y="4939"/>
              <a:ext cx="7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7F9B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6600FF"/>
                  </a:solidFill>
                </a:rPr>
                <a:t>bucket</a:t>
              </a:r>
              <a:endParaRPr lang="en-US">
                <a:solidFill>
                  <a:srgbClr val="6600FF"/>
                </a:solidFill>
              </a:endParaRPr>
            </a:p>
          </p:txBody>
        </p:sp>
        <p:sp>
          <p:nvSpPr>
            <p:cNvPr id="132235" name="Rectangle 139"/>
            <p:cNvSpPr>
              <a:spLocks noChangeArrowheads="1"/>
            </p:cNvSpPr>
            <p:nvPr/>
          </p:nvSpPr>
          <p:spPr bwMode="auto">
            <a:xfrm>
              <a:off x="-45" y="4960"/>
              <a:ext cx="438" cy="24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32236" name="Text Box 140"/>
          <p:cNvSpPr txBox="1">
            <a:spLocks noChangeArrowheads="1"/>
          </p:cNvSpPr>
          <p:nvPr/>
        </p:nvSpPr>
        <p:spPr bwMode="auto">
          <a:xfrm>
            <a:off x="5800725" y="1335088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0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22533" name="Text Box 4"/>
          <p:cNvSpPr txBox="1">
            <a:spLocks noChangeArrowheads="1"/>
          </p:cNvSpPr>
          <p:nvPr/>
        </p:nvSpPr>
        <p:spPr bwMode="auto">
          <a:xfrm>
            <a:off x="6038850" y="4129088"/>
            <a:ext cx="3063875" cy="2576512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l" eaLnBrk="1" hangingPunct="1"/>
            <a:r>
              <a:rPr lang="en-US" sz="1800" b="1">
                <a:latin typeface="Courier New" panose="02070409020205090404" pitchFamily="49" charset="0"/>
                <a:cs typeface="Courier New" panose="02070409020205090404" pitchFamily="49" charset="0"/>
              </a:rPr>
              <a:t>main()</a:t>
            </a:r>
            <a:endParaRPr lang="en-US" sz="1800" b="1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>
                <a:latin typeface="Courier New" panose="02070409020205090404" pitchFamily="49" charset="0"/>
                <a:cs typeface="Courier New" panose="02070409020205090404" pitchFamily="49" charset="0"/>
              </a:rPr>
              <a:t>{</a:t>
            </a:r>
            <a:endParaRPr lang="en-US" sz="1800"/>
          </a:p>
          <a:p>
            <a:pPr algn="l" eaLnBrk="1" hangingPunct="1"/>
            <a:r>
              <a:rPr lang="en-US" sz="1800" b="1">
                <a:latin typeface="Courier New" panose="02070409020205090404" pitchFamily="49" charset="0"/>
                <a:cs typeface="Courier New" panose="02070409020205090404" pitchFamily="49" charset="0"/>
              </a:rPr>
              <a:t>  HashTable ht;</a:t>
            </a:r>
            <a:endParaRPr lang="en-US" sz="1800" b="1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>
                <a:latin typeface="Courier New" panose="02070409020205090404" pitchFamily="49" charset="0"/>
                <a:cs typeface="Courier New" panose="02070409020205090404" pitchFamily="49" charset="0"/>
              </a:rPr>
              <a:t>  …</a:t>
            </a:r>
            <a:endParaRPr lang="en-US" sz="1800" b="1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>
                <a:latin typeface="Courier New" panose="02070409020205090404" pitchFamily="49" charset="0"/>
                <a:cs typeface="Courier New" panose="02070409020205090404" pitchFamily="49" charset="0"/>
              </a:rPr>
              <a:t>  bool x;</a:t>
            </a:r>
            <a:endParaRPr lang="en-US" sz="1800" b="1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>
                <a:latin typeface="Courier New" panose="02070409020205090404" pitchFamily="49" charset="0"/>
                <a:cs typeface="Courier New" panose="02070409020205090404" pitchFamily="49" charset="0"/>
              </a:rPr>
              <a:t>  x = ht.search(29);</a:t>
            </a:r>
            <a:endParaRPr lang="en-US" sz="1800" b="1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>
                <a:latin typeface="Courier New" panose="02070409020205090404" pitchFamily="49" charset="0"/>
                <a:cs typeface="Courier New" panose="02070409020205090404" pitchFamily="49" charset="0"/>
              </a:rPr>
              <a:t>  x = ht.search(175);</a:t>
            </a:r>
            <a:endParaRPr lang="en-US" sz="1800" b="1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>
                <a:latin typeface="Courier New" panose="02070409020205090404" pitchFamily="49" charset="0"/>
                <a:cs typeface="Courier New" panose="02070409020205090404" pitchFamily="49" charset="0"/>
              </a:rPr>
              <a:t>  x = ht.search(20); </a:t>
            </a:r>
            <a:endParaRPr lang="en-US" sz="1800" b="1">
              <a:latin typeface="Courier New" panose="02070409020205090404" pitchFamily="49" charset="0"/>
              <a:cs typeface="Courier New" panose="02070409020205090404" pitchFamily="49" charset="0"/>
            </a:endParaRPr>
          </a:p>
          <a:p>
            <a:pPr algn="l" eaLnBrk="1" hangingPunct="1"/>
            <a:r>
              <a:rPr lang="en-US" sz="1800" b="1">
                <a:latin typeface="Courier New" panose="02070409020205090404" pitchFamily="49" charset="0"/>
                <a:cs typeface="Courier New" panose="02070409020205090404" pitchFamily="49" charset="0"/>
              </a:rPr>
              <a:t>}</a:t>
            </a:r>
            <a:endParaRPr lang="en-US" sz="1800" b="1">
              <a:latin typeface="Courier New" panose="02070409020205090404" pitchFamily="49" charset="0"/>
              <a:cs typeface="Courier New" panose="02070409020205090404" pitchFamily="49" charset="0"/>
            </a:endParaRPr>
          </a:p>
        </p:txBody>
      </p:sp>
      <p:sp>
        <p:nvSpPr>
          <p:cNvPr id="220" name="Line 119"/>
          <p:cNvSpPr>
            <a:spLocks noChangeShapeType="1"/>
          </p:cNvSpPr>
          <p:nvPr/>
        </p:nvSpPr>
        <p:spPr bwMode="auto">
          <a:xfrm>
            <a:off x="5903913" y="6251575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" name="Line 119"/>
          <p:cNvSpPr>
            <a:spLocks noChangeShapeType="1"/>
          </p:cNvSpPr>
          <p:nvPr/>
        </p:nvSpPr>
        <p:spPr bwMode="auto">
          <a:xfrm>
            <a:off x="-142875" y="1457325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2240" name="Text Box 144"/>
          <p:cNvSpPr txBox="1">
            <a:spLocks noChangeArrowheads="1"/>
          </p:cNvSpPr>
          <p:nvPr/>
        </p:nvSpPr>
        <p:spPr bwMode="auto">
          <a:xfrm>
            <a:off x="2647950" y="935038"/>
            <a:ext cx="555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6600FF"/>
                </a:solidFill>
              </a:rPr>
              <a:t>20</a:t>
            </a:r>
            <a:endParaRPr lang="en-US">
              <a:solidFill>
                <a:srgbClr val="6600FF"/>
              </a:solidFill>
            </a:endParaRPr>
          </a:p>
        </p:txBody>
      </p:sp>
      <p:sp>
        <p:nvSpPr>
          <p:cNvPr id="3" name="Line 119"/>
          <p:cNvSpPr>
            <a:spLocks noChangeShapeType="1"/>
          </p:cNvSpPr>
          <p:nvPr/>
        </p:nvSpPr>
        <p:spPr bwMode="auto">
          <a:xfrm>
            <a:off x="180975" y="1924050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5" name="AutoShape 99"/>
          <p:cNvSpPr>
            <a:spLocks noChangeArrowheads="1"/>
          </p:cNvSpPr>
          <p:nvPr/>
        </p:nvSpPr>
        <p:spPr bwMode="auto">
          <a:xfrm>
            <a:off x="3514725" y="195263"/>
            <a:ext cx="3417888" cy="1128712"/>
          </a:xfrm>
          <a:prstGeom prst="wedgeRoundRectCallout">
            <a:avLst>
              <a:gd name="adj1" fmla="val -44056"/>
              <a:gd name="adj2" fmla="val 98806"/>
              <a:gd name="adj3" fmla="val 16667"/>
            </a:avLst>
          </a:prstGeom>
          <a:solidFill>
            <a:srgbClr val="006666"/>
          </a:solidFill>
          <a:ln w="41275">
            <a:solidFill>
              <a:srgbClr val="800000"/>
            </a:solidFill>
            <a:miter lim="800000"/>
          </a:ln>
        </p:spPr>
        <p:txBody>
          <a:bodyPr anchor="ctr"/>
          <a:lstStyle/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</p:txBody>
      </p:sp>
      <p:sp>
        <p:nvSpPr>
          <p:cNvPr id="176" name="Text Box 100"/>
          <p:cNvSpPr txBox="1">
            <a:spLocks noChangeArrowheads="1"/>
          </p:cNvSpPr>
          <p:nvPr/>
        </p:nvSpPr>
        <p:spPr bwMode="auto">
          <a:xfrm>
            <a:off x="3711575" y="261938"/>
            <a:ext cx="31226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l" eaLnBrk="1" hangingPunct="1"/>
            <a:r>
              <a:rPr lang="en-US" sz="1800">
                <a:solidFill>
                  <a:schemeClr val="bg1"/>
                </a:solidFill>
              </a:rPr>
              <a:t>bucket = 20  % NUM_BUCK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132244" name="Text Box 148"/>
          <p:cNvSpPr txBox="1">
            <a:spLocks noChangeArrowheads="1"/>
          </p:cNvSpPr>
          <p:nvPr/>
        </p:nvSpPr>
        <p:spPr bwMode="auto">
          <a:xfrm>
            <a:off x="5819775" y="1316038"/>
            <a:ext cx="320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1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77" name="Text Box 101"/>
          <p:cNvSpPr txBox="1">
            <a:spLocks noChangeArrowheads="1"/>
          </p:cNvSpPr>
          <p:nvPr/>
        </p:nvSpPr>
        <p:spPr bwMode="auto">
          <a:xfrm>
            <a:off x="3732213" y="831850"/>
            <a:ext cx="13049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l" eaLnBrk="1" hangingPunct="1"/>
            <a:r>
              <a:rPr lang="en-US" sz="1800">
                <a:solidFill>
                  <a:schemeClr val="bg1"/>
                </a:solidFill>
              </a:rPr>
              <a:t>bucket = 0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178" name="Text Box 102"/>
          <p:cNvSpPr txBox="1">
            <a:spLocks noChangeArrowheads="1"/>
          </p:cNvSpPr>
          <p:nvPr/>
        </p:nvSpPr>
        <p:spPr bwMode="auto">
          <a:xfrm>
            <a:off x="3717925" y="538163"/>
            <a:ext cx="20796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l" eaLnBrk="1" hangingPunct="1"/>
            <a:r>
              <a:rPr lang="en-US" sz="1800">
                <a:solidFill>
                  <a:schemeClr val="bg1"/>
                </a:solidFill>
              </a:rPr>
              <a:t>bucket = 20  % 10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4" name="Line 119"/>
          <p:cNvSpPr>
            <a:spLocks noChangeShapeType="1"/>
          </p:cNvSpPr>
          <p:nvPr/>
        </p:nvSpPr>
        <p:spPr bwMode="auto">
          <a:xfrm>
            <a:off x="190500" y="2305050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" name="Line 119"/>
          <p:cNvSpPr>
            <a:spLocks noChangeShapeType="1"/>
          </p:cNvSpPr>
          <p:nvPr/>
        </p:nvSpPr>
        <p:spPr bwMode="auto">
          <a:xfrm>
            <a:off x="485775" y="2786063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2252" name="Oval 156"/>
          <p:cNvSpPr>
            <a:spLocks noChangeArrowheads="1"/>
          </p:cNvSpPr>
          <p:nvPr/>
        </p:nvSpPr>
        <p:spPr bwMode="auto">
          <a:xfrm>
            <a:off x="8707438" y="249238"/>
            <a:ext cx="300037" cy="355600"/>
          </a:xfrm>
          <a:prstGeom prst="ellipse">
            <a:avLst/>
          </a:prstGeom>
          <a:noFill/>
          <a:ln w="38100" algn="ctr">
            <a:solidFill>
              <a:srgbClr val="6600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2253" name="Oval 157"/>
          <p:cNvSpPr>
            <a:spLocks noChangeArrowheads="1"/>
          </p:cNvSpPr>
          <p:nvPr/>
        </p:nvSpPr>
        <p:spPr bwMode="auto">
          <a:xfrm>
            <a:off x="7643813" y="236538"/>
            <a:ext cx="409575" cy="355600"/>
          </a:xfrm>
          <a:prstGeom prst="ellipse">
            <a:avLst/>
          </a:prstGeom>
          <a:noFill/>
          <a:ln w="38100" algn="ctr">
            <a:solidFill>
              <a:srgbClr val="6600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Line 119"/>
          <p:cNvSpPr>
            <a:spLocks noChangeShapeType="1"/>
          </p:cNvSpPr>
          <p:nvPr/>
        </p:nvSpPr>
        <p:spPr bwMode="auto">
          <a:xfrm>
            <a:off x="473075" y="3335338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" name="Line 119"/>
          <p:cNvSpPr>
            <a:spLocks noChangeShapeType="1"/>
          </p:cNvSpPr>
          <p:nvPr/>
        </p:nvSpPr>
        <p:spPr bwMode="auto">
          <a:xfrm>
            <a:off x="468313" y="4016375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" name="Line 119"/>
          <p:cNvSpPr>
            <a:spLocks noChangeShapeType="1"/>
          </p:cNvSpPr>
          <p:nvPr/>
        </p:nvSpPr>
        <p:spPr bwMode="auto">
          <a:xfrm>
            <a:off x="234950" y="4254500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2259" name="Oval 163"/>
          <p:cNvSpPr>
            <a:spLocks noChangeArrowheads="1"/>
          </p:cNvSpPr>
          <p:nvPr/>
        </p:nvSpPr>
        <p:spPr bwMode="auto">
          <a:xfrm>
            <a:off x="8702675" y="458788"/>
            <a:ext cx="300038" cy="355600"/>
          </a:xfrm>
          <a:prstGeom prst="ellipse">
            <a:avLst/>
          </a:prstGeom>
          <a:noFill/>
          <a:ln w="38100" algn="ctr">
            <a:solidFill>
              <a:srgbClr val="6600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7F9B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Line 119"/>
          <p:cNvSpPr>
            <a:spLocks noChangeShapeType="1"/>
          </p:cNvSpPr>
          <p:nvPr/>
        </p:nvSpPr>
        <p:spPr bwMode="auto">
          <a:xfrm>
            <a:off x="171450" y="2300288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" name="Line 119"/>
          <p:cNvSpPr>
            <a:spLocks noChangeShapeType="1"/>
          </p:cNvSpPr>
          <p:nvPr/>
        </p:nvSpPr>
        <p:spPr bwMode="auto">
          <a:xfrm>
            <a:off x="495300" y="2786063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2283" name="AutoShape 187"/>
          <p:cNvSpPr>
            <a:spLocks noChangeArrowheads="1"/>
          </p:cNvSpPr>
          <p:nvPr/>
        </p:nvSpPr>
        <p:spPr bwMode="auto">
          <a:xfrm>
            <a:off x="4138613" y="3944938"/>
            <a:ext cx="5005387" cy="1855787"/>
          </a:xfrm>
          <a:prstGeom prst="wedgeRoundRectCallout">
            <a:avLst>
              <a:gd name="adj1" fmla="val -69852"/>
              <a:gd name="adj2" fmla="val -101324"/>
              <a:gd name="adj3" fmla="val 16667"/>
            </a:avLst>
          </a:prstGeom>
          <a:solidFill>
            <a:srgbClr val="F3F3FF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sz="2000" dirty="0">
                <a:solidFill>
                  <a:schemeClr val="tx1"/>
                </a:solidFill>
              </a:rPr>
              <a:t>The </a:t>
            </a:r>
            <a:r>
              <a:rPr lang="en-US" sz="2000" dirty="0">
                <a:solidFill>
                  <a:srgbClr val="FF0000"/>
                </a:solidFill>
              </a:rPr>
              <a:t>bucket is empty</a:t>
            </a:r>
            <a:r>
              <a:rPr lang="en-US" sz="2000" dirty="0">
                <a:solidFill>
                  <a:schemeClr val="tx1"/>
                </a:solidFill>
              </a:rPr>
              <a:t>. This means that the value (</a:t>
            </a:r>
            <a:r>
              <a:rPr lang="en-US" sz="2000" dirty="0">
                <a:solidFill>
                  <a:srgbClr val="FF0000"/>
                </a:solidFill>
              </a:rPr>
              <a:t>20</a:t>
            </a:r>
            <a:r>
              <a:rPr lang="en-US" sz="2000" dirty="0">
                <a:solidFill>
                  <a:schemeClr val="tx1"/>
                </a:solidFill>
              </a:rPr>
              <a:t>) we’re searching for </a:t>
            </a:r>
            <a:r>
              <a:rPr lang="en-US" sz="2000" dirty="0">
                <a:solidFill>
                  <a:srgbClr val="FF0000"/>
                </a:solidFill>
              </a:rPr>
              <a:t>can’t possibly be in the table</a:t>
            </a:r>
            <a:r>
              <a:rPr lang="en-US" sz="2000" dirty="0">
                <a:solidFill>
                  <a:schemeClr val="tx1"/>
                </a:solidFill>
              </a:rPr>
              <a:t>. If it were in the table, we’d have already found it before hitting an empty slot!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1" name="Line 119"/>
          <p:cNvSpPr>
            <a:spLocks noChangeShapeType="1"/>
          </p:cNvSpPr>
          <p:nvPr/>
        </p:nvSpPr>
        <p:spPr bwMode="auto">
          <a:xfrm>
            <a:off x="762000" y="3067050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fld id="{5254FEE9-77A3-4EAF-9542-D8BF78E104DC}" type="slidenum">
              <a:rPr lang="en-US" sz="1400" smtClean="0">
                <a:solidFill>
                  <a:schemeClr val="tx1"/>
                </a:solidFill>
                <a:latin typeface="Times New Roman" panose="02020503050405090304" pitchFamily="18" charset="0"/>
              </a:rPr>
            </a:fld>
            <a:endParaRPr lang="en-US" sz="140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“Open Hash Table”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1748" name="Text Box 3"/>
          <p:cNvSpPr txBox="1">
            <a:spLocks noChangeArrowheads="1"/>
          </p:cNvSpPr>
          <p:nvPr/>
        </p:nvSpPr>
        <p:spPr bwMode="auto">
          <a:xfrm>
            <a:off x="322263" y="1066800"/>
            <a:ext cx="850106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r>
              <a:rPr lang="en-US"/>
              <a:t>We just saw how to use </a:t>
            </a:r>
            <a:r>
              <a:rPr lang="en-US">
                <a:solidFill>
                  <a:srgbClr val="6600CC"/>
                </a:solidFill>
              </a:rPr>
              <a:t>linear probing </a:t>
            </a:r>
            <a:r>
              <a:rPr lang="en-US"/>
              <a:t>to deal with collisions in our </a:t>
            </a:r>
            <a:r>
              <a:rPr lang="en-US">
                <a:solidFill>
                  <a:srgbClr val="6600CC"/>
                </a:solidFill>
              </a:rPr>
              <a:t>closed hash table</a:t>
            </a:r>
            <a:r>
              <a:rPr lang="en-US"/>
              <a:t>. </a:t>
            </a:r>
            <a:endParaRPr lang="en-US"/>
          </a:p>
        </p:txBody>
      </p:sp>
      <p:sp>
        <p:nvSpPr>
          <p:cNvPr id="790532" name="Text Box 4"/>
          <p:cNvSpPr txBox="1">
            <a:spLocks noChangeArrowheads="1"/>
          </p:cNvSpPr>
          <p:nvPr/>
        </p:nvSpPr>
        <p:spPr bwMode="auto">
          <a:xfrm>
            <a:off x="449263" y="4586288"/>
            <a:ext cx="8237537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r>
              <a:rPr lang="en-US" dirty="0"/>
              <a:t>It’d be nice if we could find a way to avoid both of these problems, yet still have an O(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dirty="0"/>
              <a:t>) table!</a:t>
            </a:r>
            <a:endParaRPr lang="en-US" dirty="0"/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525463" y="5722938"/>
            <a:ext cx="8237537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r>
              <a:rPr lang="en-US" dirty="0"/>
              <a:t>We can! And it’s called the “</a:t>
            </a:r>
            <a:r>
              <a:rPr lang="en-US" dirty="0">
                <a:solidFill>
                  <a:schemeClr val="accent2"/>
                </a:solidFill>
              </a:rPr>
              <a:t>Open Hash Table.”</a:t>
            </a:r>
            <a:r>
              <a:rPr lang="en-US" dirty="0"/>
              <a:t> </a:t>
            </a:r>
            <a:br>
              <a:rPr lang="en-US" dirty="0">
                <a:cs typeface="Courier New" panose="02070409020205090404" pitchFamily="49" charset="0"/>
              </a:rPr>
            </a:br>
            <a:r>
              <a:rPr lang="en-US" dirty="0">
                <a:cs typeface="Courier New" panose="02070409020205090404" pitchFamily="49" charset="0"/>
              </a:rPr>
              <a:t>Let’s see how it works!</a:t>
            </a:r>
            <a:endParaRPr lang="en-US" dirty="0"/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414338" y="2087563"/>
            <a:ext cx="8501062" cy="2246769"/>
          </a:xfrm>
          <a:prstGeom prst="rect">
            <a:avLst/>
          </a:prstGeom>
          <a:noFill/>
          <a:ln w="41275">
            <a:noFill/>
            <a:miter lim="800000"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r>
              <a:rPr lang="en-US" dirty="0"/>
              <a:t>Our </a:t>
            </a:r>
            <a:r>
              <a:rPr lang="en-US" dirty="0">
                <a:solidFill>
                  <a:srgbClr val="6600CC"/>
                </a:solidFill>
              </a:rPr>
              <a:t>closed hash table</a:t>
            </a:r>
            <a:r>
              <a:rPr lang="en-US" dirty="0"/>
              <a:t> + </a:t>
            </a:r>
            <a:r>
              <a:rPr lang="en-US" dirty="0">
                <a:solidFill>
                  <a:srgbClr val="6600CC"/>
                </a:solidFill>
              </a:rPr>
              <a:t>linear probing</a:t>
            </a:r>
            <a:r>
              <a:rPr lang="en-US" dirty="0"/>
              <a:t> works just fine, but it still has a few problems:</a:t>
            </a:r>
            <a:endParaRPr lang="en-US" dirty="0"/>
          </a:p>
          <a:p>
            <a:pPr eaLnBrk="1" hangingPunct="1"/>
            <a:endParaRPr lang="en-US" sz="1000" dirty="0"/>
          </a:p>
          <a:p>
            <a:pPr eaLnBrk="1" hangingPunct="1"/>
            <a:r>
              <a:rPr lang="en-US" dirty="0">
                <a:solidFill>
                  <a:schemeClr val="tx1"/>
                </a:solidFill>
              </a:rPr>
              <a:t>It’s </a:t>
            </a:r>
            <a:r>
              <a:rPr lang="en-US" dirty="0">
                <a:solidFill>
                  <a:srgbClr val="FF0000"/>
                </a:solidFill>
              </a:rPr>
              <a:t>difficult</a:t>
            </a:r>
            <a:r>
              <a:rPr lang="en-US" dirty="0">
                <a:solidFill>
                  <a:schemeClr val="tx1"/>
                </a:solidFill>
              </a:rPr>
              <a:t> to </a:t>
            </a:r>
            <a:r>
              <a:rPr lang="en-US" dirty="0">
                <a:solidFill>
                  <a:srgbClr val="C00000"/>
                </a:solidFill>
              </a:rPr>
              <a:t>delete items</a:t>
            </a:r>
            <a:endParaRPr lang="en-US" sz="1000" dirty="0">
              <a:solidFill>
                <a:srgbClr val="C00000"/>
              </a:solidFill>
            </a:endParaRPr>
          </a:p>
          <a:p>
            <a:pPr eaLnBrk="1" hangingPunct="1">
              <a:buFontTx/>
              <a:buAutoNum type="alphaLcParenBoth"/>
            </a:pPr>
            <a:endParaRPr lang="en-US" sz="1000" dirty="0">
              <a:solidFill>
                <a:srgbClr val="C00000"/>
              </a:solidFill>
            </a:endParaRPr>
          </a:p>
          <a:p>
            <a:pPr eaLnBrk="1" hangingPunct="1"/>
            <a:r>
              <a:rPr lang="en-US" dirty="0">
                <a:solidFill>
                  <a:schemeClr val="tx1"/>
                </a:solidFill>
              </a:rPr>
              <a:t>It has a </a:t>
            </a:r>
            <a:r>
              <a:rPr lang="en-US" dirty="0">
                <a:solidFill>
                  <a:srgbClr val="C00000"/>
                </a:solidFill>
              </a:rPr>
              <a:t>cap on the number 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of items </a:t>
            </a:r>
            <a:r>
              <a:rPr lang="en-US" dirty="0">
                <a:solidFill>
                  <a:schemeClr val="tx1"/>
                </a:solidFill>
              </a:rPr>
              <a:t>it can hold…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fld id="{DB9373D6-BE42-49D5-984F-E2505270CEBA}" type="slidenum">
              <a:rPr lang="en-US" sz="1400" smtClean="0">
                <a:solidFill>
                  <a:schemeClr val="tx1"/>
                </a:solidFill>
                <a:latin typeface="Times New Roman" panose="02020503050405090304" pitchFamily="18" charset="0"/>
              </a:rPr>
            </a:fld>
            <a:endParaRPr lang="en-US" sz="140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  <p:sp>
        <p:nvSpPr>
          <p:cNvPr id="32771" name="Rectangle 2"/>
          <p:cNvSpPr>
            <a:spLocks noChangeArrowheads="1"/>
          </p:cNvSpPr>
          <p:nvPr/>
        </p:nvSpPr>
        <p:spPr bwMode="auto">
          <a:xfrm>
            <a:off x="685800" y="-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4400" dirty="0"/>
              <a:t>The </a:t>
            </a:r>
            <a:r>
              <a:rPr lang="en-US" sz="4400" dirty="0">
                <a:solidFill>
                  <a:srgbClr val="C00000"/>
                </a:solidFill>
              </a:rPr>
              <a:t>“Open”</a:t>
            </a:r>
            <a:r>
              <a:rPr lang="en-US" sz="4400" dirty="0"/>
              <a:t> Hash Table </a:t>
            </a:r>
            <a:endParaRPr lang="en-US" sz="4400" dirty="0"/>
          </a:p>
        </p:txBody>
      </p:sp>
      <p:sp>
        <p:nvSpPr>
          <p:cNvPr id="32772" name="Text Box 3"/>
          <p:cNvSpPr txBox="1">
            <a:spLocks noChangeArrowheads="1"/>
          </p:cNvSpPr>
          <p:nvPr/>
        </p:nvSpPr>
        <p:spPr bwMode="auto">
          <a:xfrm>
            <a:off x="582613" y="762000"/>
            <a:ext cx="8256587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l" eaLnBrk="1" hangingPunct="1"/>
            <a:r>
              <a:rPr lang="en-US" sz="2300" dirty="0">
                <a:solidFill>
                  <a:schemeClr val="accent2"/>
                </a:solidFill>
              </a:rPr>
              <a:t>Idea</a:t>
            </a:r>
            <a:r>
              <a:rPr lang="en-US" sz="2300" dirty="0"/>
              <a:t>: Instead of storing our values directly in the array, each array bucket points to a linked list of values.</a:t>
            </a:r>
            <a:endParaRPr lang="en-US" sz="2300" dirty="0"/>
          </a:p>
        </p:txBody>
      </p:sp>
      <p:sp>
        <p:nvSpPr>
          <p:cNvPr id="792593" name="Text Box 17"/>
          <p:cNvSpPr txBox="1">
            <a:spLocks noChangeArrowheads="1"/>
          </p:cNvSpPr>
          <p:nvPr/>
        </p:nvSpPr>
        <p:spPr bwMode="auto">
          <a:xfrm>
            <a:off x="152400" y="2136775"/>
            <a:ext cx="48006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l" eaLnBrk="1" hangingPunct="1">
              <a:buFontTx/>
              <a:buAutoNum type="arabicPeriod"/>
            </a:pPr>
            <a:r>
              <a:rPr lang="en-US" sz="2300" dirty="0"/>
              <a:t>As before, compute a bucket # with your </a:t>
            </a:r>
            <a:r>
              <a:rPr lang="en-US" sz="2300" dirty="0">
                <a:solidFill>
                  <a:srgbClr val="006666"/>
                </a:solidFill>
              </a:rPr>
              <a:t>mapping function</a:t>
            </a:r>
            <a:r>
              <a:rPr lang="en-US" sz="2300" dirty="0"/>
              <a:t>: </a:t>
            </a:r>
            <a:endParaRPr lang="en-US" sz="2300" dirty="0"/>
          </a:p>
          <a:p>
            <a:pPr algn="l" eaLnBrk="1" hangingPunct="1">
              <a:buFontTx/>
              <a:buAutoNum type="arabicPeriod"/>
            </a:pPr>
            <a:endParaRPr lang="en-US" sz="1000" dirty="0"/>
          </a:p>
          <a:p>
            <a:pPr algn="l" eaLnBrk="1" hangingPunct="1"/>
            <a:r>
              <a:rPr lang="en-US" sz="1800" b="1" dirty="0">
                <a:solidFill>
                  <a:srgbClr val="006666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	bucket = </a:t>
            </a:r>
            <a:r>
              <a:rPr lang="en-US" sz="1800" b="1" dirty="0" err="1">
                <a:solidFill>
                  <a:srgbClr val="006666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mapFunc</a:t>
            </a:r>
            <a:r>
              <a:rPr lang="en-US" sz="1800" b="1" dirty="0">
                <a:solidFill>
                  <a:srgbClr val="006666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(</a:t>
            </a:r>
            <a:r>
              <a:rPr lang="en-US" sz="1800" b="1" dirty="0" err="1">
                <a:solidFill>
                  <a:srgbClr val="006666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idNum</a:t>
            </a:r>
            <a:r>
              <a:rPr lang="en-US" sz="1800" b="1" dirty="0">
                <a:solidFill>
                  <a:srgbClr val="006666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);</a:t>
            </a:r>
            <a:endParaRPr lang="en-US" sz="1800" dirty="0"/>
          </a:p>
          <a:p>
            <a:pPr algn="l" eaLnBrk="1" hangingPunct="1">
              <a:buFontTx/>
              <a:buChar char="•"/>
            </a:pPr>
            <a:endParaRPr lang="en-US" sz="1800" dirty="0"/>
          </a:p>
          <a:p>
            <a:pPr algn="l" eaLnBrk="1" hangingPunct="1">
              <a:buFontTx/>
              <a:buAutoNum type="arabicPeriod" startAt="2"/>
            </a:pPr>
            <a:r>
              <a:rPr lang="en-US" dirty="0"/>
              <a:t>Add your new value to the linked list at array[</a:t>
            </a:r>
            <a:r>
              <a:rPr lang="en-US" dirty="0">
                <a:solidFill>
                  <a:srgbClr val="006666"/>
                </a:solidFill>
              </a:rPr>
              <a:t>bucket</a:t>
            </a:r>
            <a:r>
              <a:rPr lang="en-US" dirty="0"/>
              <a:t>].</a:t>
            </a:r>
            <a:endParaRPr lang="en-US" dirty="0"/>
          </a:p>
          <a:p>
            <a:pPr algn="l" eaLnBrk="1" hangingPunct="1">
              <a:buFontTx/>
              <a:buAutoNum type="arabicPeriod" startAt="2"/>
            </a:pPr>
            <a:endParaRPr lang="en-US" sz="1000" dirty="0"/>
          </a:p>
          <a:p>
            <a:pPr algn="l" eaLnBrk="1" hangingPunct="1">
              <a:buFontTx/>
              <a:buAutoNum type="arabicPeriod" startAt="2"/>
            </a:pPr>
            <a:r>
              <a:rPr lang="en-US" dirty="0"/>
              <a:t>DONE!</a:t>
            </a:r>
            <a:endParaRPr lang="en-US" dirty="0"/>
          </a:p>
        </p:txBody>
      </p:sp>
      <p:sp>
        <p:nvSpPr>
          <p:cNvPr id="792595" name="Rectangle 19"/>
          <p:cNvSpPr>
            <a:spLocks noChangeArrowheads="1"/>
          </p:cNvSpPr>
          <p:nvPr/>
        </p:nvSpPr>
        <p:spPr bwMode="auto">
          <a:xfrm>
            <a:off x="785812" y="6169967"/>
            <a:ext cx="65405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dirty="0">
                <a:solidFill>
                  <a:schemeClr val="accent2"/>
                </a:solidFill>
                <a:cs typeface="Courier New" panose="02070409020205090404" pitchFamily="49" charset="0"/>
              </a:rPr>
              <a:t>Insert the following values</a:t>
            </a:r>
            <a:r>
              <a:rPr lang="en-US" dirty="0">
                <a:solidFill>
                  <a:srgbClr val="6600CC"/>
                </a:solidFill>
                <a:cs typeface="Courier New" panose="02070409020205090404" pitchFamily="49" charset="0"/>
              </a:rPr>
              <a:t>: 1, 3, 11, 25, 101 </a:t>
            </a:r>
            <a:r>
              <a:rPr lang="en-US" dirty="0"/>
              <a:t> </a:t>
            </a:r>
            <a:endParaRPr lang="en-US" dirty="0"/>
          </a:p>
        </p:txBody>
      </p:sp>
      <p:sp>
        <p:nvSpPr>
          <p:cNvPr id="792596" name="Rectangle 20"/>
          <p:cNvSpPr>
            <a:spLocks noChangeArrowheads="1"/>
          </p:cNvSpPr>
          <p:nvPr/>
        </p:nvSpPr>
        <p:spPr bwMode="auto">
          <a:xfrm>
            <a:off x="4790827" y="6093767"/>
            <a:ext cx="209414" cy="533400"/>
          </a:xfrm>
          <a:prstGeom prst="rect">
            <a:avLst/>
          </a:prstGeom>
          <a:noFill/>
          <a:ln w="41275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66"/>
          <p:cNvGrpSpPr/>
          <p:nvPr/>
        </p:nvGrpSpPr>
        <p:grpSpPr bwMode="auto">
          <a:xfrm>
            <a:off x="5056188" y="1847850"/>
            <a:ext cx="1573212" cy="4175126"/>
            <a:chOff x="5056188" y="1847850"/>
            <a:chExt cx="1573212" cy="4174788"/>
          </a:xfrm>
        </p:grpSpPr>
        <p:grpSp>
          <p:nvGrpSpPr>
            <p:cNvPr id="32826" name="Group 4"/>
            <p:cNvGrpSpPr/>
            <p:nvPr/>
          </p:nvGrpSpPr>
          <p:grpSpPr bwMode="auto">
            <a:xfrm>
              <a:off x="5430838" y="2579688"/>
              <a:ext cx="1044575" cy="3381375"/>
              <a:chOff x="4382" y="1080"/>
              <a:chExt cx="1197" cy="3096"/>
            </a:xfrm>
          </p:grpSpPr>
          <p:sp>
            <p:nvSpPr>
              <p:cNvPr id="32830" name="Rectangle 5"/>
              <p:cNvSpPr>
                <a:spLocks noChangeArrowheads="1"/>
              </p:cNvSpPr>
              <p:nvPr/>
            </p:nvSpPr>
            <p:spPr bwMode="auto">
              <a:xfrm>
                <a:off x="4382" y="1390"/>
                <a:ext cx="1197" cy="309"/>
              </a:xfrm>
              <a:prstGeom prst="rect">
                <a:avLst/>
              </a:prstGeom>
              <a:solidFill>
                <a:srgbClr val="CCFFFF"/>
              </a:solidFill>
              <a:ln w="41275">
                <a:solidFill>
                  <a:srgbClr val="800000"/>
                </a:solidFill>
                <a:miter lim="800000"/>
              </a:ln>
            </p:spPr>
            <p:txBody>
              <a:bodyPr wrap="none" anchor="ctr"/>
              <a:lstStyle/>
              <a:p>
                <a:pPr algn="l"/>
                <a:endParaRPr lang="en-US"/>
              </a:p>
            </p:txBody>
          </p:sp>
          <p:sp>
            <p:nvSpPr>
              <p:cNvPr id="32831" name="Rectangle 6"/>
              <p:cNvSpPr>
                <a:spLocks noChangeArrowheads="1"/>
              </p:cNvSpPr>
              <p:nvPr/>
            </p:nvSpPr>
            <p:spPr bwMode="auto">
              <a:xfrm>
                <a:off x="4382" y="1699"/>
                <a:ext cx="1197" cy="310"/>
              </a:xfrm>
              <a:prstGeom prst="rect">
                <a:avLst/>
              </a:prstGeom>
              <a:solidFill>
                <a:srgbClr val="CCFFFF"/>
              </a:solidFill>
              <a:ln w="41275">
                <a:solidFill>
                  <a:srgbClr val="800000"/>
                </a:solidFill>
                <a:miter lim="800000"/>
              </a:ln>
            </p:spPr>
            <p:txBody>
              <a:bodyPr wrap="none" anchor="ctr"/>
              <a:lstStyle/>
              <a:p>
                <a:pPr algn="l"/>
                <a:endParaRPr lang="en-US"/>
              </a:p>
            </p:txBody>
          </p:sp>
          <p:sp>
            <p:nvSpPr>
              <p:cNvPr id="32832" name="Rectangle 7"/>
              <p:cNvSpPr>
                <a:spLocks noChangeArrowheads="1"/>
              </p:cNvSpPr>
              <p:nvPr/>
            </p:nvSpPr>
            <p:spPr bwMode="auto">
              <a:xfrm>
                <a:off x="4382" y="2009"/>
                <a:ext cx="1197" cy="309"/>
              </a:xfrm>
              <a:prstGeom prst="rect">
                <a:avLst/>
              </a:prstGeom>
              <a:solidFill>
                <a:srgbClr val="CCFFFF"/>
              </a:solidFill>
              <a:ln w="41275">
                <a:solidFill>
                  <a:srgbClr val="800000"/>
                </a:solidFill>
                <a:miter lim="800000"/>
              </a:ln>
            </p:spPr>
            <p:txBody>
              <a:bodyPr wrap="none" anchor="ctr"/>
              <a:lstStyle/>
              <a:p>
                <a:pPr algn="l"/>
                <a:endParaRPr lang="en-US"/>
              </a:p>
            </p:txBody>
          </p:sp>
          <p:sp>
            <p:nvSpPr>
              <p:cNvPr id="32833" name="Rectangle 8"/>
              <p:cNvSpPr>
                <a:spLocks noChangeArrowheads="1"/>
              </p:cNvSpPr>
              <p:nvPr/>
            </p:nvSpPr>
            <p:spPr bwMode="auto">
              <a:xfrm>
                <a:off x="4382" y="2318"/>
                <a:ext cx="1197" cy="310"/>
              </a:xfrm>
              <a:prstGeom prst="rect">
                <a:avLst/>
              </a:prstGeom>
              <a:solidFill>
                <a:srgbClr val="CCFFFF"/>
              </a:solidFill>
              <a:ln w="41275">
                <a:solidFill>
                  <a:srgbClr val="800000"/>
                </a:solidFill>
                <a:miter lim="800000"/>
              </a:ln>
            </p:spPr>
            <p:txBody>
              <a:bodyPr wrap="none" anchor="ctr"/>
              <a:lstStyle/>
              <a:p>
                <a:pPr algn="l"/>
                <a:endParaRPr lang="en-US"/>
              </a:p>
            </p:txBody>
          </p:sp>
          <p:sp>
            <p:nvSpPr>
              <p:cNvPr id="32834" name="Rectangle 9"/>
              <p:cNvSpPr>
                <a:spLocks noChangeArrowheads="1"/>
              </p:cNvSpPr>
              <p:nvPr/>
            </p:nvSpPr>
            <p:spPr bwMode="auto">
              <a:xfrm>
                <a:off x="4382" y="2628"/>
                <a:ext cx="1197" cy="310"/>
              </a:xfrm>
              <a:prstGeom prst="rect">
                <a:avLst/>
              </a:prstGeom>
              <a:solidFill>
                <a:srgbClr val="CCFFFF"/>
              </a:solidFill>
              <a:ln w="41275">
                <a:solidFill>
                  <a:srgbClr val="800000"/>
                </a:solidFill>
                <a:miter lim="800000"/>
              </a:ln>
            </p:spPr>
            <p:txBody>
              <a:bodyPr wrap="none" anchor="ctr"/>
              <a:lstStyle/>
              <a:p>
                <a:pPr algn="l"/>
                <a:endParaRPr lang="en-US"/>
              </a:p>
            </p:txBody>
          </p:sp>
          <p:sp>
            <p:nvSpPr>
              <p:cNvPr id="32835" name="Rectangle 10"/>
              <p:cNvSpPr>
                <a:spLocks noChangeArrowheads="1"/>
              </p:cNvSpPr>
              <p:nvPr/>
            </p:nvSpPr>
            <p:spPr bwMode="auto">
              <a:xfrm>
                <a:off x="4382" y="2938"/>
                <a:ext cx="1197" cy="309"/>
              </a:xfrm>
              <a:prstGeom prst="rect">
                <a:avLst/>
              </a:prstGeom>
              <a:solidFill>
                <a:srgbClr val="CCFFFF"/>
              </a:solidFill>
              <a:ln w="41275">
                <a:solidFill>
                  <a:srgbClr val="800000"/>
                </a:solidFill>
                <a:miter lim="800000"/>
              </a:ln>
            </p:spPr>
            <p:txBody>
              <a:bodyPr wrap="none" anchor="ctr"/>
              <a:lstStyle/>
              <a:p>
                <a:pPr algn="l"/>
                <a:endParaRPr lang="en-US"/>
              </a:p>
            </p:txBody>
          </p:sp>
          <p:sp>
            <p:nvSpPr>
              <p:cNvPr id="32836" name="Rectangle 11"/>
              <p:cNvSpPr>
                <a:spLocks noChangeArrowheads="1"/>
              </p:cNvSpPr>
              <p:nvPr/>
            </p:nvSpPr>
            <p:spPr bwMode="auto">
              <a:xfrm>
                <a:off x="4382" y="3247"/>
                <a:ext cx="1197" cy="310"/>
              </a:xfrm>
              <a:prstGeom prst="rect">
                <a:avLst/>
              </a:prstGeom>
              <a:solidFill>
                <a:srgbClr val="CCFFFF"/>
              </a:solidFill>
              <a:ln w="41275">
                <a:solidFill>
                  <a:srgbClr val="800000"/>
                </a:solidFill>
                <a:miter lim="800000"/>
              </a:ln>
            </p:spPr>
            <p:txBody>
              <a:bodyPr wrap="none" anchor="ctr"/>
              <a:lstStyle/>
              <a:p>
                <a:pPr algn="l"/>
                <a:endParaRPr lang="en-US"/>
              </a:p>
            </p:txBody>
          </p:sp>
          <p:sp>
            <p:nvSpPr>
              <p:cNvPr id="32837" name="Rectangle 12"/>
              <p:cNvSpPr>
                <a:spLocks noChangeArrowheads="1"/>
              </p:cNvSpPr>
              <p:nvPr/>
            </p:nvSpPr>
            <p:spPr bwMode="auto">
              <a:xfrm>
                <a:off x="4382" y="3557"/>
                <a:ext cx="1197" cy="309"/>
              </a:xfrm>
              <a:prstGeom prst="rect">
                <a:avLst/>
              </a:prstGeom>
              <a:solidFill>
                <a:srgbClr val="CCFFFF"/>
              </a:solidFill>
              <a:ln w="41275">
                <a:solidFill>
                  <a:srgbClr val="800000"/>
                </a:solidFill>
                <a:miter lim="800000"/>
              </a:ln>
            </p:spPr>
            <p:txBody>
              <a:bodyPr wrap="none" anchor="ctr"/>
              <a:lstStyle/>
              <a:p>
                <a:pPr algn="l"/>
                <a:endParaRPr lang="en-US"/>
              </a:p>
            </p:txBody>
          </p:sp>
          <p:sp>
            <p:nvSpPr>
              <p:cNvPr id="32838" name="Rectangle 13"/>
              <p:cNvSpPr>
                <a:spLocks noChangeArrowheads="1"/>
              </p:cNvSpPr>
              <p:nvPr/>
            </p:nvSpPr>
            <p:spPr bwMode="auto">
              <a:xfrm>
                <a:off x="4382" y="3866"/>
                <a:ext cx="1197" cy="310"/>
              </a:xfrm>
              <a:prstGeom prst="rect">
                <a:avLst/>
              </a:prstGeom>
              <a:solidFill>
                <a:srgbClr val="CCFFFF"/>
              </a:solidFill>
              <a:ln w="41275">
                <a:solidFill>
                  <a:srgbClr val="800000"/>
                </a:solidFill>
                <a:miter lim="800000"/>
              </a:ln>
            </p:spPr>
            <p:txBody>
              <a:bodyPr wrap="none" anchor="ctr"/>
              <a:lstStyle/>
              <a:p>
                <a:pPr algn="l"/>
                <a:endParaRPr lang="en-US"/>
              </a:p>
            </p:txBody>
          </p:sp>
          <p:sp>
            <p:nvSpPr>
              <p:cNvPr id="32839" name="Rectangle 14"/>
              <p:cNvSpPr>
                <a:spLocks noChangeArrowheads="1"/>
              </p:cNvSpPr>
              <p:nvPr/>
            </p:nvSpPr>
            <p:spPr bwMode="auto">
              <a:xfrm>
                <a:off x="4382" y="1080"/>
                <a:ext cx="1197" cy="310"/>
              </a:xfrm>
              <a:prstGeom prst="rect">
                <a:avLst/>
              </a:prstGeom>
              <a:solidFill>
                <a:srgbClr val="CCFFFF"/>
              </a:solidFill>
              <a:ln w="41275">
                <a:solidFill>
                  <a:srgbClr val="800000"/>
                </a:solidFill>
                <a:miter lim="800000"/>
              </a:ln>
            </p:spPr>
            <p:txBody>
              <a:bodyPr wrap="none" anchor="ctr"/>
              <a:lstStyle/>
              <a:p>
                <a:pPr algn="l"/>
                <a:endParaRPr lang="en-US"/>
              </a:p>
            </p:txBody>
          </p:sp>
        </p:grpSp>
        <p:sp>
          <p:nvSpPr>
            <p:cNvPr id="32827" name="Text Box 15"/>
            <p:cNvSpPr txBox="1">
              <a:spLocks noChangeArrowheads="1"/>
            </p:cNvSpPr>
            <p:nvPr/>
          </p:nvSpPr>
          <p:spPr bwMode="auto">
            <a:xfrm>
              <a:off x="5056188" y="2544763"/>
              <a:ext cx="356188" cy="3477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algn="l" eaLnBrk="1" hangingPunct="1"/>
              <a:r>
                <a:rPr lang="en-US" sz="2200"/>
                <a:t>0</a:t>
              </a:r>
              <a:endParaRPr lang="en-US" sz="2200"/>
            </a:p>
            <a:p>
              <a:pPr algn="l" eaLnBrk="1" hangingPunct="1"/>
              <a:r>
                <a:rPr lang="en-US" sz="2200"/>
                <a:t>1</a:t>
              </a:r>
              <a:endParaRPr lang="en-US" sz="2200"/>
            </a:p>
            <a:p>
              <a:pPr algn="l" eaLnBrk="1" hangingPunct="1"/>
              <a:r>
                <a:rPr lang="en-US" sz="2200"/>
                <a:t>2</a:t>
              </a:r>
              <a:endParaRPr lang="en-US" sz="2200"/>
            </a:p>
            <a:p>
              <a:pPr algn="l" eaLnBrk="1" hangingPunct="1"/>
              <a:r>
                <a:rPr lang="en-US" sz="2200"/>
                <a:t>3</a:t>
              </a:r>
              <a:endParaRPr lang="en-US" sz="2200"/>
            </a:p>
            <a:p>
              <a:pPr algn="l" eaLnBrk="1" hangingPunct="1"/>
              <a:r>
                <a:rPr lang="en-US" sz="2200"/>
                <a:t>4</a:t>
              </a:r>
              <a:endParaRPr lang="en-US" sz="2200"/>
            </a:p>
            <a:p>
              <a:pPr algn="l" eaLnBrk="1" hangingPunct="1"/>
              <a:r>
                <a:rPr lang="en-US" sz="2200"/>
                <a:t>5</a:t>
              </a:r>
              <a:endParaRPr lang="en-US" sz="2200"/>
            </a:p>
            <a:p>
              <a:pPr algn="l" eaLnBrk="1" hangingPunct="1"/>
              <a:r>
                <a:rPr lang="en-US" sz="2200"/>
                <a:t>6</a:t>
              </a:r>
              <a:endParaRPr lang="en-US" sz="2200"/>
            </a:p>
            <a:p>
              <a:pPr algn="l" eaLnBrk="1" hangingPunct="1"/>
              <a:r>
                <a:rPr lang="en-US" sz="2200"/>
                <a:t>7</a:t>
              </a:r>
              <a:endParaRPr lang="en-US" sz="2200"/>
            </a:p>
            <a:p>
              <a:pPr algn="l" eaLnBrk="1" hangingPunct="1"/>
              <a:r>
                <a:rPr lang="en-US" sz="2200"/>
                <a:t>8</a:t>
              </a:r>
              <a:endParaRPr lang="en-US" sz="2200"/>
            </a:p>
            <a:p>
              <a:pPr algn="l" eaLnBrk="1" hangingPunct="1"/>
              <a:r>
                <a:rPr lang="en-US" sz="2200"/>
                <a:t>9</a:t>
              </a:r>
              <a:endParaRPr lang="en-US" sz="2200"/>
            </a:p>
          </p:txBody>
        </p:sp>
        <p:sp>
          <p:nvSpPr>
            <p:cNvPr id="32828" name="Text Box 16"/>
            <p:cNvSpPr txBox="1">
              <a:spLocks noChangeArrowheads="1"/>
            </p:cNvSpPr>
            <p:nvPr/>
          </p:nvSpPr>
          <p:spPr bwMode="auto">
            <a:xfrm>
              <a:off x="5189538" y="1847850"/>
              <a:ext cx="1439862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algn="l" eaLnBrk="1" hangingPunct="1"/>
              <a:r>
                <a:rPr lang="en-US"/>
                <a:t>array of pointers</a:t>
              </a:r>
              <a:endParaRPr lang="en-US"/>
            </a:p>
          </p:txBody>
        </p:sp>
        <p:sp>
          <p:nvSpPr>
            <p:cNvPr id="32829" name="Text Box 18"/>
            <p:cNvSpPr txBox="1">
              <a:spLocks noChangeArrowheads="1"/>
            </p:cNvSpPr>
            <p:nvPr/>
          </p:nvSpPr>
          <p:spPr bwMode="auto">
            <a:xfrm>
              <a:off x="5481638" y="2530997"/>
              <a:ext cx="1053494" cy="3477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algn="l" eaLnBrk="1" hangingPunct="1"/>
              <a:r>
                <a:rPr lang="en-US" sz="2200" dirty="0" err="1">
                  <a:solidFill>
                    <a:srgbClr val="FF3300"/>
                  </a:solidFill>
                </a:rPr>
                <a:t>nullptr</a:t>
              </a:r>
              <a:endParaRPr lang="en-US" sz="2200" dirty="0">
                <a:solidFill>
                  <a:srgbClr val="FF3300"/>
                </a:solidFill>
              </a:endParaRPr>
            </a:p>
            <a:p>
              <a:pPr algn="l" eaLnBrk="1" hangingPunct="1"/>
              <a:r>
                <a:rPr lang="en-US" sz="2200" dirty="0" err="1">
                  <a:solidFill>
                    <a:srgbClr val="FF3300"/>
                  </a:solidFill>
                </a:rPr>
                <a:t>nullptr</a:t>
              </a:r>
              <a:endParaRPr lang="en-US" sz="2200" dirty="0">
                <a:solidFill>
                  <a:srgbClr val="FF3300"/>
                </a:solidFill>
              </a:endParaRPr>
            </a:p>
            <a:p>
              <a:pPr algn="l" eaLnBrk="1" hangingPunct="1"/>
              <a:r>
                <a:rPr lang="en-US" sz="2200" dirty="0" err="1">
                  <a:solidFill>
                    <a:srgbClr val="FF3300"/>
                  </a:solidFill>
                </a:rPr>
                <a:t>nullptr</a:t>
              </a:r>
              <a:endParaRPr lang="en-US" sz="2200" dirty="0">
                <a:solidFill>
                  <a:srgbClr val="FF3300"/>
                </a:solidFill>
              </a:endParaRPr>
            </a:p>
            <a:p>
              <a:pPr algn="l" eaLnBrk="1" hangingPunct="1"/>
              <a:r>
                <a:rPr lang="en-US" sz="2200" dirty="0" err="1">
                  <a:solidFill>
                    <a:srgbClr val="FF3300"/>
                  </a:solidFill>
                </a:rPr>
                <a:t>nullptr</a:t>
              </a:r>
              <a:endParaRPr lang="en-US" sz="2200" dirty="0">
                <a:solidFill>
                  <a:srgbClr val="FF3300"/>
                </a:solidFill>
              </a:endParaRPr>
            </a:p>
            <a:p>
              <a:pPr algn="l" eaLnBrk="1" hangingPunct="1"/>
              <a:r>
                <a:rPr lang="en-US" sz="2200" dirty="0" err="1">
                  <a:solidFill>
                    <a:srgbClr val="FF3300"/>
                  </a:solidFill>
                </a:rPr>
                <a:t>nullptr</a:t>
              </a:r>
              <a:endParaRPr lang="en-US" sz="2200" dirty="0">
                <a:solidFill>
                  <a:srgbClr val="FF3300"/>
                </a:solidFill>
              </a:endParaRPr>
            </a:p>
            <a:p>
              <a:pPr algn="l" eaLnBrk="1" hangingPunct="1"/>
              <a:r>
                <a:rPr lang="en-US" sz="2200" dirty="0" err="1">
                  <a:solidFill>
                    <a:srgbClr val="FF3300"/>
                  </a:solidFill>
                </a:rPr>
                <a:t>nullptr</a:t>
              </a:r>
              <a:endParaRPr lang="en-US" sz="2200" dirty="0">
                <a:solidFill>
                  <a:srgbClr val="FF3300"/>
                </a:solidFill>
              </a:endParaRPr>
            </a:p>
            <a:p>
              <a:pPr algn="l" eaLnBrk="1" hangingPunct="1"/>
              <a:r>
                <a:rPr lang="en-US" sz="2200" dirty="0" err="1">
                  <a:solidFill>
                    <a:srgbClr val="FF3300"/>
                  </a:solidFill>
                </a:rPr>
                <a:t>nullptr</a:t>
              </a:r>
              <a:endParaRPr lang="en-US" sz="2200" dirty="0">
                <a:solidFill>
                  <a:srgbClr val="FF3300"/>
                </a:solidFill>
              </a:endParaRPr>
            </a:p>
            <a:p>
              <a:pPr algn="l" eaLnBrk="1" hangingPunct="1"/>
              <a:r>
                <a:rPr lang="en-US" sz="2200" dirty="0" err="1">
                  <a:solidFill>
                    <a:srgbClr val="FF3300"/>
                  </a:solidFill>
                </a:rPr>
                <a:t>nullptr</a:t>
              </a:r>
              <a:endParaRPr lang="en-US" sz="2200" dirty="0">
                <a:solidFill>
                  <a:srgbClr val="FF3300"/>
                </a:solidFill>
              </a:endParaRPr>
            </a:p>
            <a:p>
              <a:pPr algn="l" eaLnBrk="1" hangingPunct="1"/>
              <a:r>
                <a:rPr lang="en-US" sz="2200" dirty="0" err="1">
                  <a:solidFill>
                    <a:srgbClr val="FF3300"/>
                  </a:solidFill>
                </a:rPr>
                <a:t>nullptr</a:t>
              </a:r>
              <a:endParaRPr lang="en-US" sz="2200" dirty="0">
                <a:solidFill>
                  <a:srgbClr val="FF3300"/>
                </a:solidFill>
              </a:endParaRPr>
            </a:p>
            <a:p>
              <a:pPr algn="l" eaLnBrk="1" hangingPunct="1"/>
              <a:r>
                <a:rPr lang="en-US" sz="2200" dirty="0" err="1">
                  <a:solidFill>
                    <a:srgbClr val="FF3300"/>
                  </a:solidFill>
                </a:rPr>
                <a:t>nullptr</a:t>
              </a:r>
              <a:endParaRPr lang="en-US" sz="2200" dirty="0">
                <a:solidFill>
                  <a:srgbClr val="FF3300"/>
                </a:solidFill>
              </a:endParaRPr>
            </a:p>
          </p:txBody>
        </p:sp>
      </p:grpSp>
      <p:sp>
        <p:nvSpPr>
          <p:cNvPr id="792604" name="Rectangle 28"/>
          <p:cNvSpPr>
            <a:spLocks noChangeArrowheads="1"/>
          </p:cNvSpPr>
          <p:nvPr/>
        </p:nvSpPr>
        <p:spPr bwMode="auto">
          <a:xfrm>
            <a:off x="5147411" y="6098543"/>
            <a:ext cx="221313" cy="533400"/>
          </a:xfrm>
          <a:prstGeom prst="rect">
            <a:avLst/>
          </a:prstGeom>
          <a:noFill/>
          <a:ln w="41275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" name="Group 29"/>
          <p:cNvGrpSpPr/>
          <p:nvPr/>
        </p:nvGrpSpPr>
        <p:grpSpPr bwMode="auto">
          <a:xfrm>
            <a:off x="5534026" y="3400427"/>
            <a:ext cx="2225676" cy="655637"/>
            <a:chOff x="3631" y="2267"/>
            <a:chExt cx="1402" cy="413"/>
          </a:xfrm>
        </p:grpSpPr>
        <p:grpSp>
          <p:nvGrpSpPr>
            <p:cNvPr id="32819" name="Group 30"/>
            <p:cNvGrpSpPr/>
            <p:nvPr/>
          </p:nvGrpSpPr>
          <p:grpSpPr bwMode="auto">
            <a:xfrm>
              <a:off x="4111" y="2267"/>
              <a:ext cx="922" cy="413"/>
              <a:chOff x="4224" y="1835"/>
              <a:chExt cx="922" cy="413"/>
            </a:xfrm>
          </p:grpSpPr>
          <p:sp>
            <p:nvSpPr>
              <p:cNvPr id="32821" name="Rectangle 31"/>
              <p:cNvSpPr>
                <a:spLocks noChangeArrowheads="1"/>
              </p:cNvSpPr>
              <p:nvPr/>
            </p:nvSpPr>
            <p:spPr bwMode="auto">
              <a:xfrm>
                <a:off x="4451" y="1879"/>
                <a:ext cx="691" cy="336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rgbClr val="800000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822" name="Text Box 32"/>
              <p:cNvSpPr txBox="1">
                <a:spLocks noChangeArrowheads="1"/>
              </p:cNvSpPr>
              <p:nvPr/>
            </p:nvSpPr>
            <p:spPr bwMode="auto">
              <a:xfrm>
                <a:off x="4416" y="1872"/>
                <a:ext cx="435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9pPr>
              </a:lstStyle>
              <a:p>
                <a:pPr algn="l" eaLnBrk="1" hangingPunct="1"/>
                <a:r>
                  <a:rPr lang="en-US" sz="1600" dirty="0"/>
                  <a:t>ID: 3</a:t>
                </a:r>
                <a:endParaRPr lang="en-US" sz="1600" dirty="0"/>
              </a:p>
            </p:txBody>
          </p:sp>
          <p:sp>
            <p:nvSpPr>
              <p:cNvPr id="32823" name="Line 33"/>
              <p:cNvSpPr>
                <a:spLocks noChangeShapeType="1"/>
              </p:cNvSpPr>
              <p:nvPr/>
            </p:nvSpPr>
            <p:spPr bwMode="auto">
              <a:xfrm>
                <a:off x="4224" y="2064"/>
                <a:ext cx="240" cy="0"/>
              </a:xfrm>
              <a:prstGeom prst="line">
                <a:avLst/>
              </a:prstGeom>
              <a:noFill/>
              <a:ln w="41275">
                <a:solidFill>
                  <a:srgbClr val="8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824" name="Rectangle 34"/>
              <p:cNvSpPr>
                <a:spLocks noChangeArrowheads="1"/>
              </p:cNvSpPr>
              <p:nvPr/>
            </p:nvSpPr>
            <p:spPr bwMode="auto">
              <a:xfrm>
                <a:off x="5002" y="1900"/>
                <a:ext cx="100" cy="285"/>
              </a:xfrm>
              <a:prstGeom prst="rect">
                <a:avLst/>
              </a:prstGeom>
              <a:solidFill>
                <a:srgbClr val="800000"/>
              </a:solidFill>
              <a:ln w="1905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825" name="Text Box 35"/>
              <p:cNvSpPr txBox="1">
                <a:spLocks noChangeArrowheads="1"/>
              </p:cNvSpPr>
              <p:nvPr/>
            </p:nvSpPr>
            <p:spPr bwMode="auto">
              <a:xfrm rot="16200000">
                <a:off x="4852" y="1955"/>
                <a:ext cx="413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9pPr>
              </a:lstStyle>
              <a:p>
                <a:pPr algn="l" eaLnBrk="1" hangingPunct="1"/>
                <a:r>
                  <a:rPr lang="en-US" sz="1200" dirty="0" err="1">
                    <a:solidFill>
                      <a:srgbClr val="FFCCFF"/>
                    </a:solidFill>
                  </a:rPr>
                  <a:t>nullptr</a:t>
                </a:r>
                <a:endParaRPr lang="en-US" sz="1200" b="1" dirty="0">
                  <a:solidFill>
                    <a:srgbClr val="FFCCFF"/>
                  </a:solidFill>
                </a:endParaRPr>
              </a:p>
            </p:txBody>
          </p:sp>
        </p:grpSp>
        <p:sp>
          <p:nvSpPr>
            <p:cNvPr id="32820" name="Rectangle 36"/>
            <p:cNvSpPr>
              <a:spLocks noChangeArrowheads="1"/>
            </p:cNvSpPr>
            <p:nvPr/>
          </p:nvSpPr>
          <p:spPr bwMode="auto">
            <a:xfrm>
              <a:off x="3631" y="2421"/>
              <a:ext cx="565" cy="152"/>
            </a:xfrm>
            <a:prstGeom prst="rect">
              <a:avLst/>
            </a:prstGeom>
            <a:solidFill>
              <a:srgbClr val="CCFFFF"/>
            </a:solidFill>
            <a:ln w="41275">
              <a:solidFill>
                <a:srgbClr val="CCFFFF"/>
              </a:solidFill>
              <a:miter lim="800000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92613" name="Rectangle 37"/>
          <p:cNvSpPr>
            <a:spLocks noChangeArrowheads="1"/>
          </p:cNvSpPr>
          <p:nvPr/>
        </p:nvSpPr>
        <p:spPr bwMode="auto">
          <a:xfrm>
            <a:off x="5514881" y="6098530"/>
            <a:ext cx="373442" cy="533400"/>
          </a:xfrm>
          <a:prstGeom prst="rect">
            <a:avLst/>
          </a:prstGeom>
          <a:noFill/>
          <a:ln w="41275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" name="Group 46"/>
          <p:cNvGrpSpPr/>
          <p:nvPr/>
        </p:nvGrpSpPr>
        <p:grpSpPr bwMode="auto">
          <a:xfrm>
            <a:off x="5503862" y="4078286"/>
            <a:ext cx="2311399" cy="655638"/>
            <a:chOff x="3642" y="2688"/>
            <a:chExt cx="1456" cy="413"/>
          </a:xfrm>
        </p:grpSpPr>
        <p:grpSp>
          <p:nvGrpSpPr>
            <p:cNvPr id="32812" name="Group 47"/>
            <p:cNvGrpSpPr/>
            <p:nvPr/>
          </p:nvGrpSpPr>
          <p:grpSpPr bwMode="auto">
            <a:xfrm>
              <a:off x="4176" y="2688"/>
              <a:ext cx="922" cy="413"/>
              <a:chOff x="4224" y="1835"/>
              <a:chExt cx="922" cy="413"/>
            </a:xfrm>
          </p:grpSpPr>
          <p:sp>
            <p:nvSpPr>
              <p:cNvPr id="32814" name="Rectangle 48"/>
              <p:cNvSpPr>
                <a:spLocks noChangeArrowheads="1"/>
              </p:cNvSpPr>
              <p:nvPr/>
            </p:nvSpPr>
            <p:spPr bwMode="auto">
              <a:xfrm>
                <a:off x="4451" y="1879"/>
                <a:ext cx="691" cy="336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rgbClr val="800000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815" name="Text Box 49"/>
              <p:cNvSpPr txBox="1">
                <a:spLocks noChangeArrowheads="1"/>
              </p:cNvSpPr>
              <p:nvPr/>
            </p:nvSpPr>
            <p:spPr bwMode="auto">
              <a:xfrm>
                <a:off x="4416" y="1872"/>
                <a:ext cx="514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9pPr>
              </a:lstStyle>
              <a:p>
                <a:pPr algn="l" eaLnBrk="1" hangingPunct="1"/>
                <a:r>
                  <a:rPr lang="en-US" sz="1600" dirty="0"/>
                  <a:t>ID: 25</a:t>
                </a:r>
                <a:endParaRPr lang="en-US" sz="1600" dirty="0"/>
              </a:p>
            </p:txBody>
          </p:sp>
          <p:sp>
            <p:nvSpPr>
              <p:cNvPr id="32816" name="Line 50"/>
              <p:cNvSpPr>
                <a:spLocks noChangeShapeType="1"/>
              </p:cNvSpPr>
              <p:nvPr/>
            </p:nvSpPr>
            <p:spPr bwMode="auto">
              <a:xfrm>
                <a:off x="4224" y="2064"/>
                <a:ext cx="240" cy="0"/>
              </a:xfrm>
              <a:prstGeom prst="line">
                <a:avLst/>
              </a:prstGeom>
              <a:noFill/>
              <a:ln w="41275">
                <a:solidFill>
                  <a:srgbClr val="8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817" name="Rectangle 51"/>
              <p:cNvSpPr>
                <a:spLocks noChangeArrowheads="1"/>
              </p:cNvSpPr>
              <p:nvPr/>
            </p:nvSpPr>
            <p:spPr bwMode="auto">
              <a:xfrm>
                <a:off x="5002" y="1900"/>
                <a:ext cx="100" cy="285"/>
              </a:xfrm>
              <a:prstGeom prst="rect">
                <a:avLst/>
              </a:prstGeom>
              <a:solidFill>
                <a:srgbClr val="800000"/>
              </a:solidFill>
              <a:ln w="1905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818" name="Text Box 52"/>
              <p:cNvSpPr txBox="1">
                <a:spLocks noChangeArrowheads="1"/>
              </p:cNvSpPr>
              <p:nvPr/>
            </p:nvSpPr>
            <p:spPr bwMode="auto">
              <a:xfrm rot="16200000">
                <a:off x="4852" y="1955"/>
                <a:ext cx="413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9pPr>
              </a:lstStyle>
              <a:p>
                <a:pPr algn="l" eaLnBrk="1" hangingPunct="1"/>
                <a:r>
                  <a:rPr lang="en-US" sz="1200" dirty="0" err="1">
                    <a:solidFill>
                      <a:srgbClr val="FFCCFF"/>
                    </a:solidFill>
                  </a:rPr>
                  <a:t>nullptr</a:t>
                </a:r>
                <a:endParaRPr lang="en-US" sz="1200" b="1" dirty="0">
                  <a:solidFill>
                    <a:srgbClr val="FFFFCC"/>
                  </a:solidFill>
                </a:endParaRPr>
              </a:p>
            </p:txBody>
          </p:sp>
        </p:grpSp>
        <p:sp>
          <p:nvSpPr>
            <p:cNvPr id="32813" name="Rectangle 53"/>
            <p:cNvSpPr>
              <a:spLocks noChangeArrowheads="1"/>
            </p:cNvSpPr>
            <p:nvPr/>
          </p:nvSpPr>
          <p:spPr bwMode="auto">
            <a:xfrm>
              <a:off x="3642" y="2838"/>
              <a:ext cx="584" cy="157"/>
            </a:xfrm>
            <a:prstGeom prst="rect">
              <a:avLst/>
            </a:prstGeom>
            <a:solidFill>
              <a:srgbClr val="CCFFFF"/>
            </a:solidFill>
            <a:ln w="41275">
              <a:solidFill>
                <a:srgbClr val="CCFFFF"/>
              </a:solidFill>
              <a:miter lim="800000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92630" name="Rectangle 54"/>
          <p:cNvSpPr>
            <a:spLocks noChangeArrowheads="1"/>
          </p:cNvSpPr>
          <p:nvPr/>
        </p:nvSpPr>
        <p:spPr bwMode="auto">
          <a:xfrm>
            <a:off x="5973788" y="6098543"/>
            <a:ext cx="433503" cy="533400"/>
          </a:xfrm>
          <a:prstGeom prst="rect">
            <a:avLst/>
          </a:prstGeom>
          <a:noFill/>
          <a:ln w="41275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2631" name="Rectangle 55"/>
          <p:cNvSpPr>
            <a:spLocks noChangeArrowheads="1"/>
          </p:cNvSpPr>
          <p:nvPr/>
        </p:nvSpPr>
        <p:spPr bwMode="auto">
          <a:xfrm>
            <a:off x="6481637" y="6093767"/>
            <a:ext cx="635863" cy="533400"/>
          </a:xfrm>
          <a:prstGeom prst="rect">
            <a:avLst/>
          </a:prstGeom>
          <a:noFill/>
          <a:ln w="41275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2641" name="Text Box 65"/>
          <p:cNvSpPr txBox="1">
            <a:spLocks noChangeArrowheads="1"/>
          </p:cNvSpPr>
          <p:nvPr/>
        </p:nvSpPr>
        <p:spPr bwMode="auto">
          <a:xfrm>
            <a:off x="101600" y="3471863"/>
            <a:ext cx="4851400" cy="2070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algn="l" eaLnBrk="1" hangingPunct="1">
              <a:buFontTx/>
              <a:buAutoNum type="arabicPeriod" startAt="2"/>
            </a:pPr>
            <a:r>
              <a:rPr lang="en-US" sz="2200" dirty="0">
                <a:solidFill>
                  <a:srgbClr val="0000CC"/>
                </a:solidFill>
              </a:rPr>
              <a:t>Search </a:t>
            </a:r>
            <a:r>
              <a:rPr lang="en-US" dirty="0">
                <a:solidFill>
                  <a:srgbClr val="0000CC"/>
                </a:solidFill>
              </a:rPr>
              <a:t>the linked list at array[</a:t>
            </a:r>
            <a:r>
              <a:rPr lang="en-US" dirty="0">
                <a:solidFill>
                  <a:srgbClr val="006666"/>
                </a:solidFill>
              </a:rPr>
              <a:t>bucket</a:t>
            </a:r>
            <a:r>
              <a:rPr lang="en-US" dirty="0">
                <a:solidFill>
                  <a:srgbClr val="0000CC"/>
                </a:solidFill>
              </a:rPr>
              <a:t>] for your item</a:t>
            </a:r>
            <a:endParaRPr lang="en-US" dirty="0">
              <a:solidFill>
                <a:srgbClr val="0000CC"/>
              </a:solidFill>
            </a:endParaRPr>
          </a:p>
          <a:p>
            <a:pPr algn="l" eaLnBrk="1" hangingPunct="1">
              <a:buFontTx/>
              <a:buAutoNum type="arabicPeriod" startAt="2"/>
            </a:pPr>
            <a:endParaRPr lang="en-US" sz="1000" dirty="0">
              <a:solidFill>
                <a:srgbClr val="0000CC"/>
              </a:solidFill>
            </a:endParaRPr>
          </a:p>
          <a:p>
            <a:pPr algn="l" eaLnBrk="1" hangingPunct="1"/>
            <a:r>
              <a:rPr lang="en-US" dirty="0">
                <a:solidFill>
                  <a:srgbClr val="0000CC"/>
                </a:solidFill>
              </a:rPr>
              <a:t>3.  If we </a:t>
            </a:r>
            <a:r>
              <a:rPr lang="en-US" dirty="0">
                <a:solidFill>
                  <a:srgbClr val="006666"/>
                </a:solidFill>
              </a:rPr>
              <a:t>reach the end </a:t>
            </a:r>
            <a:r>
              <a:rPr lang="en-US" dirty="0">
                <a:solidFill>
                  <a:srgbClr val="0000CC"/>
                </a:solidFill>
              </a:rPr>
              <a:t>of the list without finding our item, it’s </a:t>
            </a:r>
            <a:r>
              <a:rPr lang="en-US" dirty="0">
                <a:solidFill>
                  <a:srgbClr val="006666"/>
                </a:solidFill>
              </a:rPr>
              <a:t>not in the table!</a:t>
            </a:r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68" name="TextBox 67"/>
          <p:cNvSpPr txBox="1">
            <a:spLocks noChangeArrowheads="1"/>
          </p:cNvSpPr>
          <p:nvPr/>
        </p:nvSpPr>
        <p:spPr bwMode="auto">
          <a:xfrm>
            <a:off x="1055688" y="1676400"/>
            <a:ext cx="32877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6600CC"/>
                </a:solidFill>
              </a:rPr>
              <a:t>To insert</a:t>
            </a:r>
            <a:r>
              <a:rPr lang="en-US" dirty="0">
                <a:solidFill>
                  <a:srgbClr val="FF66FF"/>
                </a:solidFill>
              </a:rPr>
              <a:t> </a:t>
            </a:r>
            <a:r>
              <a:rPr lang="en-US" dirty="0">
                <a:solidFill>
                  <a:srgbClr val="6600CC"/>
                </a:solidFill>
              </a:rPr>
              <a:t>a new item:</a:t>
            </a:r>
            <a:endParaRPr lang="en-US" dirty="0">
              <a:solidFill>
                <a:srgbClr val="6600CC"/>
              </a:solidFill>
            </a:endParaRPr>
          </a:p>
        </p:txBody>
      </p:sp>
      <p:sp>
        <p:nvSpPr>
          <p:cNvPr id="69" name="TextBox 68"/>
          <p:cNvSpPr txBox="1">
            <a:spLocks noChangeArrowheads="1"/>
          </p:cNvSpPr>
          <p:nvPr/>
        </p:nvSpPr>
        <p:spPr bwMode="auto">
          <a:xfrm>
            <a:off x="1100138" y="1676400"/>
            <a:ext cx="3395662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6600CC"/>
                </a:solidFill>
              </a:rPr>
              <a:t>To search for an item:</a:t>
            </a:r>
            <a:endParaRPr lang="en-US" dirty="0">
              <a:solidFill>
                <a:srgbClr val="6600CC"/>
              </a:solidFill>
            </a:endParaRPr>
          </a:p>
        </p:txBody>
      </p:sp>
      <p:grpSp>
        <p:nvGrpSpPr>
          <p:cNvPr id="9" name="Group 46"/>
          <p:cNvGrpSpPr/>
          <p:nvPr/>
        </p:nvGrpSpPr>
        <p:grpSpPr bwMode="auto">
          <a:xfrm>
            <a:off x="5538787" y="2749553"/>
            <a:ext cx="2311399" cy="655638"/>
            <a:chOff x="3642" y="2696"/>
            <a:chExt cx="1456" cy="413"/>
          </a:xfrm>
        </p:grpSpPr>
        <p:grpSp>
          <p:nvGrpSpPr>
            <p:cNvPr id="32803" name="Group 47"/>
            <p:cNvGrpSpPr/>
            <p:nvPr/>
          </p:nvGrpSpPr>
          <p:grpSpPr bwMode="auto">
            <a:xfrm>
              <a:off x="4176" y="2696"/>
              <a:ext cx="922" cy="413"/>
              <a:chOff x="4224" y="1843"/>
              <a:chExt cx="922" cy="413"/>
            </a:xfrm>
          </p:grpSpPr>
          <p:sp>
            <p:nvSpPr>
              <p:cNvPr id="32805" name="Rectangle 48"/>
              <p:cNvSpPr>
                <a:spLocks noChangeArrowheads="1"/>
              </p:cNvSpPr>
              <p:nvPr/>
            </p:nvSpPr>
            <p:spPr bwMode="auto">
              <a:xfrm>
                <a:off x="4451" y="1879"/>
                <a:ext cx="691" cy="336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rgbClr val="800000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806" name="Text Box 49"/>
              <p:cNvSpPr txBox="1">
                <a:spLocks noChangeArrowheads="1"/>
              </p:cNvSpPr>
              <p:nvPr/>
            </p:nvSpPr>
            <p:spPr bwMode="auto">
              <a:xfrm>
                <a:off x="4431" y="1875"/>
                <a:ext cx="415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9pPr>
              </a:lstStyle>
              <a:p>
                <a:pPr algn="l" eaLnBrk="1" hangingPunct="1"/>
                <a:r>
                  <a:rPr lang="en-US" sz="1600" dirty="0"/>
                  <a:t>ID: 1</a:t>
                </a:r>
                <a:endParaRPr lang="en-US" sz="1600" dirty="0"/>
              </a:p>
            </p:txBody>
          </p:sp>
          <p:sp>
            <p:nvSpPr>
              <p:cNvPr id="32807" name="Line 50"/>
              <p:cNvSpPr>
                <a:spLocks noChangeShapeType="1"/>
              </p:cNvSpPr>
              <p:nvPr/>
            </p:nvSpPr>
            <p:spPr bwMode="auto">
              <a:xfrm>
                <a:off x="4224" y="2064"/>
                <a:ext cx="240" cy="0"/>
              </a:xfrm>
              <a:prstGeom prst="line">
                <a:avLst/>
              </a:prstGeom>
              <a:noFill/>
              <a:ln w="41275">
                <a:solidFill>
                  <a:srgbClr val="8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808" name="Rectangle 51"/>
              <p:cNvSpPr>
                <a:spLocks noChangeArrowheads="1"/>
              </p:cNvSpPr>
              <p:nvPr/>
            </p:nvSpPr>
            <p:spPr bwMode="auto">
              <a:xfrm>
                <a:off x="5002" y="1900"/>
                <a:ext cx="100" cy="285"/>
              </a:xfrm>
              <a:prstGeom prst="rect">
                <a:avLst/>
              </a:prstGeom>
              <a:solidFill>
                <a:srgbClr val="800000"/>
              </a:solidFill>
              <a:ln w="1905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809" name="Text Box 52"/>
              <p:cNvSpPr txBox="1">
                <a:spLocks noChangeArrowheads="1"/>
              </p:cNvSpPr>
              <p:nvPr/>
            </p:nvSpPr>
            <p:spPr bwMode="auto">
              <a:xfrm rot="16200000">
                <a:off x="4852" y="1963"/>
                <a:ext cx="413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9pPr>
              </a:lstStyle>
              <a:p>
                <a:pPr algn="l" eaLnBrk="1" hangingPunct="1"/>
                <a:r>
                  <a:rPr lang="en-US" sz="1200" dirty="0" err="1">
                    <a:solidFill>
                      <a:srgbClr val="FFCCFF"/>
                    </a:solidFill>
                  </a:rPr>
                  <a:t>nullptr</a:t>
                </a:r>
                <a:endParaRPr lang="en-US" sz="1200" b="1" dirty="0">
                  <a:solidFill>
                    <a:srgbClr val="FFFFCC"/>
                  </a:solidFill>
                </a:endParaRPr>
              </a:p>
            </p:txBody>
          </p:sp>
        </p:grpSp>
        <p:sp>
          <p:nvSpPr>
            <p:cNvPr id="32804" name="Rectangle 53"/>
            <p:cNvSpPr>
              <a:spLocks noChangeArrowheads="1"/>
            </p:cNvSpPr>
            <p:nvPr/>
          </p:nvSpPr>
          <p:spPr bwMode="auto">
            <a:xfrm>
              <a:off x="3642" y="2835"/>
              <a:ext cx="562" cy="154"/>
            </a:xfrm>
            <a:prstGeom prst="rect">
              <a:avLst/>
            </a:prstGeom>
            <a:solidFill>
              <a:srgbClr val="CCFFFF"/>
            </a:solidFill>
            <a:ln w="41275">
              <a:solidFill>
                <a:srgbClr val="CCFFFF"/>
              </a:solidFill>
              <a:miter lim="800000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1" name="Group 59"/>
          <p:cNvGrpSpPr/>
          <p:nvPr/>
        </p:nvGrpSpPr>
        <p:grpSpPr bwMode="auto">
          <a:xfrm>
            <a:off x="7888285" y="3597273"/>
            <a:ext cx="1158874" cy="655638"/>
            <a:chOff x="4752" y="3174"/>
            <a:chExt cx="730" cy="413"/>
          </a:xfrm>
        </p:grpSpPr>
        <p:sp>
          <p:nvSpPr>
            <p:cNvPr id="32799" name="Rectangle 60"/>
            <p:cNvSpPr>
              <a:spLocks noChangeArrowheads="1"/>
            </p:cNvSpPr>
            <p:nvPr/>
          </p:nvSpPr>
          <p:spPr bwMode="auto">
            <a:xfrm>
              <a:off x="4787" y="3223"/>
              <a:ext cx="691" cy="336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800000"/>
              </a:solidFill>
              <a:miter lim="800000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00" name="Text Box 61"/>
            <p:cNvSpPr txBox="1">
              <a:spLocks noChangeArrowheads="1"/>
            </p:cNvSpPr>
            <p:nvPr/>
          </p:nvSpPr>
          <p:spPr bwMode="auto">
            <a:xfrm>
              <a:off x="4752" y="3216"/>
              <a:ext cx="553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algn="l" eaLnBrk="1" hangingPunct="1"/>
              <a:r>
                <a:rPr lang="en-US" sz="1600" dirty="0"/>
                <a:t>ID: 101</a:t>
              </a:r>
              <a:endParaRPr lang="en-US" sz="1600" dirty="0"/>
            </a:p>
          </p:txBody>
        </p:sp>
        <p:sp>
          <p:nvSpPr>
            <p:cNvPr id="32801" name="Rectangle 62"/>
            <p:cNvSpPr>
              <a:spLocks noChangeArrowheads="1"/>
            </p:cNvSpPr>
            <p:nvPr/>
          </p:nvSpPr>
          <p:spPr bwMode="auto">
            <a:xfrm>
              <a:off x="5338" y="3244"/>
              <a:ext cx="100" cy="285"/>
            </a:xfrm>
            <a:prstGeom prst="rect">
              <a:avLst/>
            </a:prstGeom>
            <a:solidFill>
              <a:srgbClr val="800000"/>
            </a:solidFill>
            <a:ln w="19050">
              <a:solidFill>
                <a:srgbClr val="000000"/>
              </a:solidFill>
              <a:miter lim="800000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02" name="Text Box 63"/>
            <p:cNvSpPr txBox="1">
              <a:spLocks noChangeArrowheads="1"/>
            </p:cNvSpPr>
            <p:nvPr/>
          </p:nvSpPr>
          <p:spPr bwMode="auto">
            <a:xfrm rot="16200000">
              <a:off x="5188" y="3294"/>
              <a:ext cx="41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Comic Sans MS" panose="030F0902030302020204" pitchFamily="66" charset="0"/>
                  <a:cs typeface="Times New Roman" panose="02020503050405090304" pitchFamily="18" charset="0"/>
                </a:defRPr>
              </a:lvl9pPr>
            </a:lstStyle>
            <a:p>
              <a:pPr algn="l" eaLnBrk="1" hangingPunct="1"/>
              <a:r>
                <a:rPr lang="en-US" sz="1200" dirty="0" err="1">
                  <a:solidFill>
                    <a:srgbClr val="FFCCFF"/>
                  </a:solidFill>
                </a:rPr>
                <a:t>nullptr</a:t>
              </a:r>
              <a:endParaRPr lang="en-US" sz="1200" b="1" dirty="0">
                <a:solidFill>
                  <a:srgbClr val="FFFFCC"/>
                </a:solidFill>
              </a:endParaRPr>
            </a:p>
          </p:txBody>
        </p:sp>
      </p:grpSp>
      <p:grpSp>
        <p:nvGrpSpPr>
          <p:cNvPr id="12" name="Group 38"/>
          <p:cNvGrpSpPr/>
          <p:nvPr/>
        </p:nvGrpSpPr>
        <p:grpSpPr bwMode="auto">
          <a:xfrm>
            <a:off x="7635878" y="2714624"/>
            <a:ext cx="1463676" cy="655638"/>
            <a:chOff x="4906" y="1829"/>
            <a:chExt cx="922" cy="413"/>
          </a:xfrm>
        </p:grpSpPr>
        <p:grpSp>
          <p:nvGrpSpPr>
            <p:cNvPr id="32792" name="Group 39"/>
            <p:cNvGrpSpPr/>
            <p:nvPr/>
          </p:nvGrpSpPr>
          <p:grpSpPr bwMode="auto">
            <a:xfrm>
              <a:off x="4906" y="1829"/>
              <a:ext cx="922" cy="413"/>
              <a:chOff x="4224" y="1836"/>
              <a:chExt cx="922" cy="413"/>
            </a:xfrm>
          </p:grpSpPr>
          <p:sp>
            <p:nvSpPr>
              <p:cNvPr id="32794" name="Rectangle 40"/>
              <p:cNvSpPr>
                <a:spLocks noChangeArrowheads="1"/>
              </p:cNvSpPr>
              <p:nvPr/>
            </p:nvSpPr>
            <p:spPr bwMode="auto">
              <a:xfrm>
                <a:off x="4451" y="1879"/>
                <a:ext cx="691" cy="336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rgbClr val="800000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795" name="Text Box 41"/>
              <p:cNvSpPr txBox="1">
                <a:spLocks noChangeArrowheads="1"/>
              </p:cNvSpPr>
              <p:nvPr/>
            </p:nvSpPr>
            <p:spPr bwMode="auto">
              <a:xfrm>
                <a:off x="4416" y="1872"/>
                <a:ext cx="474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9pPr>
              </a:lstStyle>
              <a:p>
                <a:pPr algn="l" eaLnBrk="1" hangingPunct="1"/>
                <a:r>
                  <a:rPr lang="en-US" sz="1600" dirty="0"/>
                  <a:t>ID: 11</a:t>
                </a:r>
                <a:endParaRPr lang="en-US" sz="1600" dirty="0"/>
              </a:p>
            </p:txBody>
          </p:sp>
          <p:sp>
            <p:nvSpPr>
              <p:cNvPr id="32796" name="Line 42"/>
              <p:cNvSpPr>
                <a:spLocks noChangeShapeType="1"/>
              </p:cNvSpPr>
              <p:nvPr/>
            </p:nvSpPr>
            <p:spPr bwMode="auto">
              <a:xfrm>
                <a:off x="4224" y="2064"/>
                <a:ext cx="240" cy="0"/>
              </a:xfrm>
              <a:prstGeom prst="line">
                <a:avLst/>
              </a:prstGeom>
              <a:noFill/>
              <a:ln w="41275">
                <a:solidFill>
                  <a:srgbClr val="8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797" name="Rectangle 43"/>
              <p:cNvSpPr>
                <a:spLocks noChangeArrowheads="1"/>
              </p:cNvSpPr>
              <p:nvPr/>
            </p:nvSpPr>
            <p:spPr bwMode="auto">
              <a:xfrm>
                <a:off x="5002" y="1900"/>
                <a:ext cx="100" cy="285"/>
              </a:xfrm>
              <a:prstGeom prst="rect">
                <a:avLst/>
              </a:prstGeom>
              <a:solidFill>
                <a:srgbClr val="800000"/>
              </a:solidFill>
              <a:ln w="1905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798" name="Text Box 44"/>
              <p:cNvSpPr txBox="1">
                <a:spLocks noChangeArrowheads="1"/>
              </p:cNvSpPr>
              <p:nvPr/>
            </p:nvSpPr>
            <p:spPr bwMode="auto">
              <a:xfrm rot="16200000">
                <a:off x="4852" y="1956"/>
                <a:ext cx="413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412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2"/>
                    </a:solidFill>
                    <a:latin typeface="Comic Sans MS" panose="030F0902030302020204" pitchFamily="66" charset="0"/>
                    <a:cs typeface="Times New Roman" panose="02020503050405090304" pitchFamily="18" charset="0"/>
                  </a:defRPr>
                </a:lvl9pPr>
              </a:lstStyle>
              <a:p>
                <a:pPr algn="l" eaLnBrk="1" hangingPunct="1"/>
                <a:r>
                  <a:rPr lang="en-US" sz="1200" dirty="0" err="1">
                    <a:solidFill>
                      <a:srgbClr val="FFCCFF"/>
                    </a:solidFill>
                  </a:rPr>
                  <a:t>nullptr</a:t>
                </a:r>
                <a:endParaRPr lang="en-US" sz="1200" b="1" dirty="0">
                  <a:solidFill>
                    <a:srgbClr val="FFFFCC"/>
                  </a:solidFill>
                </a:endParaRPr>
              </a:p>
            </p:txBody>
          </p:sp>
        </p:grpSp>
        <p:sp>
          <p:nvSpPr>
            <p:cNvPr id="32793" name="Rectangle 45"/>
            <p:cNvSpPr>
              <a:spLocks noChangeArrowheads="1"/>
            </p:cNvSpPr>
            <p:nvPr/>
          </p:nvSpPr>
          <p:spPr bwMode="auto">
            <a:xfrm>
              <a:off x="4912" y="1922"/>
              <a:ext cx="76" cy="261"/>
            </a:xfrm>
            <a:prstGeom prst="rect">
              <a:avLst/>
            </a:prstGeom>
            <a:solidFill>
              <a:srgbClr val="800000"/>
            </a:solidFill>
            <a:ln w="41275">
              <a:solidFill>
                <a:srgbClr val="800000"/>
              </a:solidFill>
              <a:miter lim="800000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" name="Group 56"/>
          <p:cNvGrpSpPr/>
          <p:nvPr/>
        </p:nvGrpSpPr>
        <p:grpSpPr bwMode="auto">
          <a:xfrm>
            <a:off x="8134010" y="2819399"/>
            <a:ext cx="889001" cy="836613"/>
            <a:chOff x="5069" y="1782"/>
            <a:chExt cx="560" cy="527"/>
          </a:xfrm>
        </p:grpSpPr>
        <p:sp>
          <p:nvSpPr>
            <p:cNvPr id="32810" name="Rectangle 57"/>
            <p:cNvSpPr>
              <a:spLocks noChangeArrowheads="1"/>
            </p:cNvSpPr>
            <p:nvPr/>
          </p:nvSpPr>
          <p:spPr bwMode="auto">
            <a:xfrm>
              <a:off x="5540" y="1782"/>
              <a:ext cx="89" cy="284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412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11" name="Line 58"/>
            <p:cNvSpPr>
              <a:spLocks noChangeShapeType="1"/>
            </p:cNvSpPr>
            <p:nvPr/>
          </p:nvSpPr>
          <p:spPr bwMode="auto">
            <a:xfrm flipH="1">
              <a:off x="5069" y="1974"/>
              <a:ext cx="535" cy="335"/>
            </a:xfrm>
            <a:prstGeom prst="line">
              <a:avLst/>
            </a:prstGeom>
            <a:noFill/>
            <a:ln w="41275">
              <a:solidFill>
                <a:srgbClr val="8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fld id="{A22DD61C-F833-432A-84D9-763B041130B8}" type="slidenum">
              <a:rPr lang="en-US" sz="1400" smtClean="0">
                <a:solidFill>
                  <a:schemeClr val="tx1"/>
                </a:solidFill>
                <a:latin typeface="Times New Roman" panose="02020503050405090304" pitchFamily="18" charset="0"/>
              </a:rPr>
            </a:fld>
            <a:endParaRPr lang="en-US" sz="140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So basically it’s a tradeoff!</a:t>
            </a:r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393032" y="1526381"/>
            <a:ext cx="8229600" cy="75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You could always use a </a:t>
            </a:r>
            <a:r>
              <a:rPr lang="en-US" dirty="0">
                <a:solidFill>
                  <a:srgbClr val="6600CC"/>
                </a:solidFill>
              </a:rPr>
              <a:t>really big hash table </a:t>
            </a:r>
            <a:r>
              <a:rPr lang="en-US" dirty="0"/>
              <a:t>with </a:t>
            </a:r>
            <a:br>
              <a:rPr lang="en-US" dirty="0"/>
            </a:br>
            <a:r>
              <a:rPr lang="en-US" dirty="0">
                <a:solidFill>
                  <a:srgbClr val="6600CC"/>
                </a:solidFill>
              </a:rPr>
              <a:t>way-too-many buckets </a:t>
            </a:r>
            <a:r>
              <a:rPr lang="en-US" dirty="0"/>
              <a:t>and ensure </a:t>
            </a:r>
            <a:r>
              <a:rPr lang="en-US" dirty="0">
                <a:solidFill>
                  <a:srgbClr val="FF0000"/>
                </a:solidFill>
              </a:rPr>
              <a:t>really fast searches</a:t>
            </a:r>
            <a:r>
              <a:rPr lang="en-US" dirty="0"/>
              <a:t>…</a:t>
            </a:r>
            <a:endParaRPr lang="en-US" dirty="0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469232" y="2469356"/>
            <a:ext cx="7924800" cy="42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en-US"/>
              <a:t>But then you’ll end up </a:t>
            </a:r>
            <a:r>
              <a:rPr lang="en-US">
                <a:solidFill>
                  <a:srgbClr val="FF0000"/>
                </a:solidFill>
              </a:rPr>
              <a:t>wasting lots of memory…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16832" y="3050381"/>
            <a:ext cx="8305800" cy="75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On the other hand, if you have a </a:t>
            </a:r>
            <a:r>
              <a:rPr lang="en-US" dirty="0">
                <a:solidFill>
                  <a:srgbClr val="6600CC"/>
                </a:solidFill>
              </a:rPr>
              <a:t>really small hash table </a:t>
            </a:r>
            <a:r>
              <a:rPr lang="en-US" dirty="0"/>
              <a:t>(with just barely enough room), it’ll </a:t>
            </a:r>
            <a:r>
              <a:rPr lang="en-US" dirty="0">
                <a:solidFill>
                  <a:srgbClr val="FF0000"/>
                </a:solidFill>
              </a:rPr>
              <a:t>be slower</a:t>
            </a:r>
            <a:r>
              <a:rPr lang="en-US" dirty="0"/>
              <a:t>.</a:t>
            </a:r>
            <a:endParaRPr lang="en-US" dirty="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393032" y="4193381"/>
            <a:ext cx="8305800" cy="75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Finally, when </a:t>
            </a:r>
            <a:r>
              <a:rPr lang="en-US" dirty="0">
                <a:solidFill>
                  <a:srgbClr val="6600CC"/>
                </a:solidFill>
              </a:rPr>
              <a:t>choosing the exact size </a:t>
            </a:r>
            <a:r>
              <a:rPr lang="en-US" dirty="0"/>
              <a:t>of your hash table (the number of buckets)…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1pPr>
            <a:lvl2pPr marL="742950" indent="-28575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2pPr>
            <a:lvl3pPr marL="11430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3pPr>
            <a:lvl4pPr marL="16002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4pPr>
            <a:lvl5pPr marL="2057400" indent="-228600" eaLnBrk="0" hangingPunct="0"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Comic Sans MS" panose="030F0902030302020204" pitchFamily="66" charset="0"/>
                <a:cs typeface="Times New Roman" panose="02020503050405090304" pitchFamily="18" charset="0"/>
              </a:defRPr>
            </a:lvl9pPr>
          </a:lstStyle>
          <a:p>
            <a:pPr eaLnBrk="1" hangingPunct="1"/>
            <a:fld id="{F63910E4-9115-4D89-A757-9CB7FF48DC32}" type="slidenum">
              <a:rPr lang="en-US" sz="1400" smtClean="0">
                <a:solidFill>
                  <a:schemeClr val="tx1"/>
                </a:solidFill>
                <a:latin typeface="Times New Roman" panose="02020503050405090304" pitchFamily="18" charset="0"/>
              </a:rPr>
            </a:fld>
            <a:endParaRPr lang="en-US" sz="140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/>
              <a:t>Choosing a Hash Function: Tips</a:t>
            </a:r>
            <a:endParaRPr lang="en-US" sz="4000" dirty="0"/>
          </a:p>
        </p:txBody>
      </p:sp>
      <p:sp>
        <p:nvSpPr>
          <p:cNvPr id="811012" name="Rectangle 4"/>
          <p:cNvSpPr>
            <a:spLocks noChangeArrowheads="1"/>
          </p:cNvSpPr>
          <p:nvPr/>
        </p:nvSpPr>
        <p:spPr bwMode="auto">
          <a:xfrm>
            <a:off x="286795" y="998975"/>
            <a:ext cx="8393112" cy="18712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spcBef>
                <a:spcPct val="20000"/>
              </a:spcBef>
            </a:pPr>
            <a:r>
              <a:rPr lang="en-US" dirty="0">
                <a:solidFill>
                  <a:schemeClr val="accent2"/>
                </a:solidFill>
              </a:rPr>
              <a:t>1. The hash function must always give us the same output    </a:t>
            </a:r>
            <a:br>
              <a:rPr lang="en-US" dirty="0">
                <a:solidFill>
                  <a:schemeClr val="accent2"/>
                </a:solidFill>
              </a:rPr>
            </a:br>
            <a:r>
              <a:rPr lang="en-US" dirty="0">
                <a:solidFill>
                  <a:schemeClr val="accent2"/>
                </a:solidFill>
              </a:rPr>
              <a:t>    value for a given input value:</a:t>
            </a:r>
            <a:br>
              <a:rPr lang="en-US" dirty="0">
                <a:solidFill>
                  <a:schemeClr val="tx1"/>
                </a:solidFill>
              </a:rPr>
            </a:br>
            <a:endParaRPr lang="en-US" sz="1000" dirty="0">
              <a:solidFill>
                <a:schemeClr val="tx1"/>
              </a:solidFill>
            </a:endParaRPr>
          </a:p>
          <a:p>
            <a:pPr>
              <a:spcBef>
                <a:spcPct val="20000"/>
              </a:spcBef>
            </a:pPr>
            <a:r>
              <a:rPr lang="en-US" dirty="0">
                <a:solidFill>
                  <a:srgbClr val="C00000"/>
                </a:solidFill>
              </a:rPr>
              <a:t>Today: </a:t>
            </a:r>
            <a:r>
              <a:rPr lang="en-US" dirty="0">
                <a:solidFill>
                  <a:schemeClr val="tx1"/>
                </a:solidFill>
              </a:rPr>
              <a:t>hash(400683948)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rgbClr val="6600CC"/>
                </a:solidFill>
                <a:sym typeface="Wingdings" panose="05000000000000000000" pitchFamily="2" charset="2"/>
              </a:rPr>
              <a:t>83,948</a:t>
            </a:r>
            <a:r>
              <a:rPr lang="en-US" dirty="0">
                <a:solidFill>
                  <a:srgbClr val="6600CC"/>
                </a:solidFill>
              </a:rPr>
              <a:t> </a:t>
            </a:r>
            <a:endParaRPr lang="en-US" dirty="0">
              <a:solidFill>
                <a:srgbClr val="6600CC"/>
              </a:solidFill>
            </a:endParaRPr>
          </a:p>
          <a:p>
            <a:pPr>
              <a:spcBef>
                <a:spcPct val="20000"/>
              </a:spcBef>
            </a:pPr>
            <a:r>
              <a:rPr lang="en-US" dirty="0">
                <a:solidFill>
                  <a:srgbClr val="C00000"/>
                </a:solidFill>
              </a:rPr>
              <a:t>Tomorrow: </a:t>
            </a:r>
            <a:r>
              <a:rPr lang="en-US" dirty="0">
                <a:solidFill>
                  <a:schemeClr val="tx1"/>
                </a:solidFill>
              </a:rPr>
              <a:t>hash(400683948)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en-US" i="1" dirty="0">
                <a:solidFill>
                  <a:srgbClr val="6600CC"/>
                </a:solidFill>
                <a:sym typeface="Wingdings" panose="05000000000000000000" pitchFamily="2" charset="2"/>
              </a:rPr>
              <a:t>still </a:t>
            </a:r>
            <a:r>
              <a:rPr lang="en-US" dirty="0">
                <a:solidFill>
                  <a:srgbClr val="6600CC"/>
                </a:solidFill>
                <a:sym typeface="Wingdings" panose="05000000000000000000" pitchFamily="2" charset="2"/>
              </a:rPr>
              <a:t>83,948</a:t>
            </a:r>
            <a:endParaRPr lang="en-US" dirty="0">
              <a:solidFill>
                <a:srgbClr val="6600CC"/>
              </a:solidFill>
            </a:endParaRPr>
          </a:p>
        </p:txBody>
      </p:sp>
      <p:sp>
        <p:nvSpPr>
          <p:cNvPr id="811013" name="Rectangle 5"/>
          <p:cNvSpPr>
            <a:spLocks noChangeArrowheads="1"/>
          </p:cNvSpPr>
          <p:nvPr/>
        </p:nvSpPr>
        <p:spPr bwMode="auto">
          <a:xfrm>
            <a:off x="2301073" y="3954026"/>
            <a:ext cx="6531428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12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20000"/>
              </a:spcBef>
            </a:pPr>
            <a:r>
              <a:rPr lang="en-US" dirty="0">
                <a:solidFill>
                  <a:srgbClr val="006666"/>
                </a:solidFill>
              </a:rPr>
              <a:t>hash(“</a:t>
            </a:r>
            <a:r>
              <a:rPr lang="en-US" dirty="0" err="1">
                <a:solidFill>
                  <a:srgbClr val="FF0000"/>
                </a:solidFill>
              </a:rPr>
              <a:t>abc</a:t>
            </a:r>
            <a:r>
              <a:rPr lang="en-US" dirty="0">
                <a:solidFill>
                  <a:srgbClr val="006666"/>
                </a:solidFill>
              </a:rPr>
              <a:t>”) = 294</a:t>
            </a:r>
            <a:endParaRPr lang="en-US" dirty="0">
              <a:solidFill>
                <a:srgbClr val="006666"/>
              </a:solidFill>
            </a:endParaRPr>
          </a:p>
          <a:p>
            <a:pPr algn="l">
              <a:spcBef>
                <a:spcPct val="20000"/>
              </a:spcBef>
            </a:pPr>
            <a:r>
              <a:rPr lang="en-US" dirty="0">
                <a:solidFill>
                  <a:srgbClr val="006666"/>
                </a:solidFill>
              </a:rPr>
              <a:t>hash(“</a:t>
            </a:r>
            <a:r>
              <a:rPr lang="en-US" dirty="0" err="1">
                <a:solidFill>
                  <a:srgbClr val="FF0000"/>
                </a:solidFill>
              </a:rPr>
              <a:t>cba</a:t>
            </a:r>
            <a:r>
              <a:rPr lang="en-US" dirty="0">
                <a:solidFill>
                  <a:srgbClr val="006666"/>
                </a:solidFill>
              </a:rPr>
              <a:t>”) = 294</a:t>
            </a:r>
            <a:endParaRPr lang="en-US" dirty="0">
              <a:solidFill>
                <a:srgbClr val="006666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86796" y="3041706"/>
            <a:ext cx="854570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Bef>
                <a:spcPct val="20000"/>
              </a:spcBef>
            </a:pPr>
            <a:r>
              <a:rPr lang="en-US" dirty="0">
                <a:solidFill>
                  <a:schemeClr val="accent2"/>
                </a:solidFill>
              </a:rPr>
              <a:t>2. The hash function should disperse items throughout the </a:t>
            </a:r>
            <a:br>
              <a:rPr lang="en-US" dirty="0">
                <a:solidFill>
                  <a:schemeClr val="accent2"/>
                </a:solidFill>
              </a:rPr>
            </a:br>
            <a:r>
              <a:rPr lang="en-US" dirty="0">
                <a:solidFill>
                  <a:schemeClr val="accent2"/>
                </a:solidFill>
              </a:rPr>
              <a:t>     hash array as randomly as possible.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Left Arrow 2"/>
          <p:cNvSpPr/>
          <p:nvPr/>
        </p:nvSpPr>
        <p:spPr bwMode="auto">
          <a:xfrm>
            <a:off x="5144757" y="3823909"/>
            <a:ext cx="2753248" cy="1034980"/>
          </a:xfrm>
          <a:prstGeom prst="leftArrow">
            <a:avLst/>
          </a:prstGeom>
          <a:solidFill>
            <a:srgbClr val="E7F9B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rPr>
              <a:t>Not good!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Comic Sans MS" panose="030F0902030302020204" pitchFamily="66" charset="0"/>
              <a:cs typeface="Times New Roman" panose="0202050305040509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86796" y="5046497"/>
            <a:ext cx="854570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Bef>
                <a:spcPct val="20000"/>
              </a:spcBef>
            </a:pPr>
            <a:r>
              <a:rPr lang="en-US" dirty="0">
                <a:solidFill>
                  <a:schemeClr val="accent2"/>
                </a:solidFill>
              </a:rPr>
              <a:t>3. When coming up with a new hash function, always </a:t>
            </a:r>
            <a:br>
              <a:rPr lang="en-US" dirty="0">
                <a:solidFill>
                  <a:schemeClr val="accent2"/>
                </a:solidFill>
              </a:rPr>
            </a:br>
            <a:r>
              <a:rPr lang="en-US" dirty="0">
                <a:solidFill>
                  <a:schemeClr val="accent2"/>
                </a:solidFill>
              </a:rPr>
              <a:t>    measure how well it disperses items </a:t>
            </a:r>
            <a:r>
              <a:rPr lang="en-US" sz="2000" dirty="0">
                <a:solidFill>
                  <a:schemeClr val="accent2"/>
                </a:solidFill>
              </a:rPr>
              <a:t>(do some experiments!)</a:t>
            </a:r>
            <a:endParaRPr lang="en-US" dirty="0">
              <a:solidFill>
                <a:schemeClr val="accent2"/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67953" y="5935287"/>
            <a:ext cx="8664548" cy="797618"/>
            <a:chOff x="167953" y="5935287"/>
            <a:chExt cx="8664548" cy="797618"/>
          </a:xfrm>
        </p:grpSpPr>
        <p:grpSp>
          <p:nvGrpSpPr>
            <p:cNvPr id="5" name="Group 4"/>
            <p:cNvGrpSpPr/>
            <p:nvPr/>
          </p:nvGrpSpPr>
          <p:grpSpPr>
            <a:xfrm>
              <a:off x="6240026" y="5935287"/>
              <a:ext cx="2592475" cy="797618"/>
              <a:chOff x="6240026" y="5935287"/>
              <a:chExt cx="2592475" cy="797618"/>
            </a:xfrm>
          </p:grpSpPr>
          <p:pic>
            <p:nvPicPr>
              <p:cNvPr id="1027" name="Picture 3"/>
              <p:cNvPicPr>
                <a:picLocks noChangeAspect="1" noChangeArrowheads="1"/>
              </p:cNvPicPr>
              <p:nvPr/>
            </p:nvPicPr>
            <p:blipFill rotWithShape="1"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646" t="3440" r="4032" b="10495"/>
              <a:stretch>
                <a:fillRect/>
              </a:stretch>
            </p:blipFill>
            <p:spPr bwMode="auto">
              <a:xfrm>
                <a:off x="6240026" y="5935287"/>
                <a:ext cx="2592475" cy="7976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4" name="Rectangle 3"/>
              <p:cNvSpPr/>
              <p:nvPr/>
            </p:nvSpPr>
            <p:spPr bwMode="auto">
              <a:xfrm>
                <a:off x="6706878" y="6148185"/>
                <a:ext cx="692770" cy="28708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14" name="Rectangle 13"/>
              <p:cNvSpPr/>
              <p:nvPr/>
            </p:nvSpPr>
            <p:spPr bwMode="auto">
              <a:xfrm>
                <a:off x="7680545" y="6241318"/>
                <a:ext cx="999362" cy="28708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167953" y="6070105"/>
              <a:ext cx="4094082" cy="508700"/>
              <a:chOff x="293408" y="6099130"/>
              <a:chExt cx="4094082" cy="508700"/>
            </a:xfrm>
          </p:grpSpPr>
          <p:pic>
            <p:nvPicPr>
              <p:cNvPr id="1026" name="Picture 2"/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973" t="9520" r="3633" b="16494"/>
              <a:stretch>
                <a:fillRect/>
              </a:stretch>
            </p:blipFill>
            <p:spPr bwMode="auto">
              <a:xfrm>
                <a:off x="293408" y="6099130"/>
                <a:ext cx="4094082" cy="5087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7" name="Rectangle 16"/>
              <p:cNvSpPr/>
              <p:nvPr/>
            </p:nvSpPr>
            <p:spPr bwMode="auto">
              <a:xfrm>
                <a:off x="941743" y="6099130"/>
                <a:ext cx="2739103" cy="393486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2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endParaRPr>
              </a:p>
            </p:txBody>
          </p:sp>
        </p:grpSp>
        <p:sp>
          <p:nvSpPr>
            <p:cNvPr id="19" name="Left Arrow 18"/>
            <p:cNvSpPr/>
            <p:nvPr/>
          </p:nvSpPr>
          <p:spPr bwMode="auto">
            <a:xfrm>
              <a:off x="4287839" y="6060629"/>
              <a:ext cx="941887" cy="593111"/>
            </a:xfrm>
            <a:prstGeom prst="leftArrow">
              <a:avLst/>
            </a:prstGeom>
            <a:solidFill>
              <a:srgbClr val="E7F9B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sz="18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rPr>
                <a:t>Good!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  <p:sp>
          <p:nvSpPr>
            <p:cNvPr id="20" name="Left Arrow 19"/>
            <p:cNvSpPr/>
            <p:nvPr/>
          </p:nvSpPr>
          <p:spPr bwMode="auto">
            <a:xfrm flipH="1">
              <a:off x="5325264" y="6064916"/>
              <a:ext cx="914762" cy="593111"/>
            </a:xfrm>
            <a:prstGeom prst="leftArrow">
              <a:avLst/>
            </a:prstGeom>
            <a:solidFill>
              <a:srgbClr val="E7F9B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sz="18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Comic Sans MS" panose="030F0902030302020204" pitchFamily="66" charset="0"/>
                  <a:cs typeface="Times New Roman" panose="02020503050405090304" pitchFamily="18" charset="0"/>
                </a:rPr>
                <a:t>Bad!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anose="030F0902030302020204" pitchFamily="66" charset="0"/>
                <a:cs typeface="Times New Roman" panose="02020503050405090304" pitchFamily="18" charset="0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AFE1C-04F0-4163-A225-DA024641925D}" type="slidenum">
              <a:rPr lang="en-US" smtClean="0"/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914400" y="685800"/>
            <a:ext cx="61863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Practice</a:t>
            </a:r>
            <a:r>
              <a:rPr lang="en-US" altLang="zh-CN" dirty="0"/>
              <a:t>1:</a:t>
            </a:r>
            <a:r>
              <a:rPr lang="zh-CN" altLang="en-US" dirty="0"/>
              <a:t> </a:t>
            </a:r>
            <a:r>
              <a:rPr lang="en-US" dirty="0"/>
              <a:t>Designing a Simple Hash Table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0" y="1515979"/>
            <a:ext cx="90678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800" dirty="0"/>
              <a:t>A hash table is a data structure that allows you to store and retrieve values based on a key. It uses a hash function to compute an index into an array of buckets or slots, from which the desired value can be found. Here’s a step-by-step guide to designing a simple hash table in C++: </a:t>
            </a:r>
            <a:endParaRPr lang="en-US" sz="1800" dirty="0"/>
          </a:p>
          <a:p>
            <a:pPr algn="just"/>
            <a:endParaRPr lang="en-US" sz="1800" dirty="0"/>
          </a:p>
          <a:p>
            <a:pPr algn="just"/>
            <a:r>
              <a:rPr lang="en-US" sz="1800" dirty="0"/>
              <a:t>Components of a Hash Table </a:t>
            </a:r>
            <a:endParaRPr lang="en-US" sz="1800" dirty="0"/>
          </a:p>
          <a:p>
            <a:pPr algn="just"/>
            <a:r>
              <a:rPr lang="en-US" sz="1800" dirty="0"/>
              <a:t>Array (or vector): This is the underlying data structure that holds the buckets.</a:t>
            </a:r>
            <a:endParaRPr lang="en-US" sz="1800" dirty="0"/>
          </a:p>
          <a:p>
            <a:pPr algn="just"/>
            <a:r>
              <a:rPr lang="en-US" sz="1800" dirty="0"/>
              <a:t>Hash Function: This function takes a key and converts it into an index for the array.</a:t>
            </a:r>
            <a:endParaRPr lang="en-US" sz="1800" dirty="0"/>
          </a:p>
          <a:p>
            <a:pPr algn="just"/>
            <a:r>
              <a:rPr lang="en-US" sz="1800" dirty="0"/>
              <a:t>Collision Resolution: A method to handle cases where two keys hash to the same index. 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AFE1C-04F0-4163-A225-DA024641925D}" type="slidenum">
              <a:rPr lang="en-US" smtClean="0"/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055203" y="826531"/>
            <a:ext cx="31678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Solution to Practice</a:t>
            </a:r>
            <a:r>
              <a:rPr lang="en-US" altLang="zh-CN" dirty="0"/>
              <a:t>1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29271" y="2007824"/>
            <a:ext cx="529790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dirty="0"/>
              <a:t>#include &lt;iostream&gt;</a:t>
            </a:r>
            <a:endParaRPr lang="en-US" sz="1000" dirty="0"/>
          </a:p>
          <a:p>
            <a:pPr algn="l"/>
            <a:r>
              <a:rPr lang="en-US" sz="1000" dirty="0"/>
              <a:t>#include &lt;vector&gt;</a:t>
            </a:r>
            <a:endParaRPr lang="en-US" sz="1000" dirty="0"/>
          </a:p>
          <a:p>
            <a:pPr algn="l"/>
            <a:r>
              <a:rPr lang="en-US" sz="1000" dirty="0"/>
              <a:t>#include &lt;list&gt;</a:t>
            </a:r>
            <a:endParaRPr lang="en-US" sz="1000" dirty="0"/>
          </a:p>
          <a:p>
            <a:pPr algn="l"/>
            <a:r>
              <a:rPr lang="en-US" sz="1000" dirty="0"/>
              <a:t>#include &lt;utility&gt; // For std::pair</a:t>
            </a:r>
            <a:endParaRPr lang="en-US" sz="1000" dirty="0"/>
          </a:p>
          <a:p>
            <a:pPr algn="l"/>
            <a:endParaRPr lang="en-US" sz="1000" dirty="0"/>
          </a:p>
          <a:p>
            <a:pPr algn="l"/>
            <a:r>
              <a:rPr lang="en-US" sz="1000" dirty="0"/>
              <a:t>class SimpleHashTable {</a:t>
            </a:r>
            <a:endParaRPr lang="en-US" sz="1000" dirty="0"/>
          </a:p>
          <a:p>
            <a:pPr algn="l"/>
            <a:r>
              <a:rPr lang="en-US" sz="1000" dirty="0"/>
              <a:t>private:</a:t>
            </a:r>
            <a:endParaRPr lang="en-US" sz="1000" dirty="0"/>
          </a:p>
          <a:p>
            <a:pPr algn="l"/>
            <a:r>
              <a:rPr lang="en-US" sz="1000" dirty="0"/>
              <a:t>    std::vector&lt;std::list&lt;std::pair&lt;int, std::string&gt;&gt;&gt; table;</a:t>
            </a:r>
            <a:endParaRPr lang="en-US" sz="1000" dirty="0"/>
          </a:p>
          <a:p>
            <a:pPr algn="l"/>
            <a:r>
              <a:rPr lang="en-US" sz="1000" dirty="0"/>
              <a:t>    int table_size;</a:t>
            </a:r>
            <a:endParaRPr lang="en-US" sz="1000" dirty="0"/>
          </a:p>
          <a:p>
            <a:pPr algn="l"/>
            <a:endParaRPr lang="en-US" sz="1000" dirty="0"/>
          </a:p>
          <a:p>
            <a:pPr algn="l"/>
            <a:r>
              <a:rPr lang="en-US" sz="1000" dirty="0"/>
              <a:t>    int hash(int key) {</a:t>
            </a:r>
            <a:endParaRPr lang="en-US" sz="1000" dirty="0"/>
          </a:p>
          <a:p>
            <a:pPr algn="l"/>
            <a:r>
              <a:rPr lang="en-US" sz="1000" dirty="0"/>
              <a:t>        return key % table_size;</a:t>
            </a:r>
            <a:endParaRPr lang="en-US" sz="1000" dirty="0"/>
          </a:p>
          <a:p>
            <a:pPr algn="l"/>
            <a:r>
              <a:rPr lang="en-US" sz="1000" dirty="0"/>
              <a:t>    }</a:t>
            </a:r>
            <a:endParaRPr lang="en-US" sz="1000" dirty="0"/>
          </a:p>
          <a:p>
            <a:pPr algn="l"/>
            <a:endParaRPr lang="en-US" sz="1000" dirty="0"/>
          </a:p>
        </p:txBody>
      </p:sp>
      <p:sp>
        <p:nvSpPr>
          <p:cNvPr id="8" name="TextBox 7"/>
          <p:cNvSpPr txBox="1"/>
          <p:nvPr/>
        </p:nvSpPr>
        <p:spPr>
          <a:xfrm>
            <a:off x="4948989" y="84221"/>
            <a:ext cx="4124826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dirty="0"/>
              <a:t>public:</a:t>
            </a:r>
            <a:endParaRPr lang="en-US" sz="1000" dirty="0"/>
          </a:p>
          <a:p>
            <a:pPr algn="l"/>
            <a:r>
              <a:rPr lang="en-US" sz="1000" dirty="0"/>
              <a:t>    SimpleHashTable(int size) : table_size(size) {</a:t>
            </a:r>
            <a:endParaRPr lang="en-US" sz="1000" dirty="0"/>
          </a:p>
          <a:p>
            <a:pPr algn="l"/>
            <a:r>
              <a:rPr lang="en-US" sz="1000" dirty="0"/>
              <a:t>        table.resize(table_size);</a:t>
            </a:r>
            <a:endParaRPr lang="en-US" sz="1000" dirty="0"/>
          </a:p>
          <a:p>
            <a:pPr algn="l"/>
            <a:r>
              <a:rPr lang="en-US" sz="1000" dirty="0"/>
              <a:t>    }</a:t>
            </a:r>
            <a:endParaRPr lang="en-US" sz="1000" dirty="0"/>
          </a:p>
          <a:p>
            <a:pPr algn="l"/>
            <a:endParaRPr lang="en-US" sz="1000" dirty="0"/>
          </a:p>
          <a:p>
            <a:pPr algn="l"/>
            <a:r>
              <a:rPr lang="en-US" sz="1000" dirty="0"/>
              <a:t>    void insert(int key, const std::string&amp; value) {</a:t>
            </a:r>
            <a:endParaRPr lang="en-US" sz="1000" dirty="0"/>
          </a:p>
          <a:p>
            <a:pPr algn="l"/>
            <a:r>
              <a:rPr lang="en-US" sz="1000" dirty="0"/>
              <a:t>        int index = hash(key);</a:t>
            </a:r>
            <a:endParaRPr lang="en-US" sz="1000" dirty="0"/>
          </a:p>
          <a:p>
            <a:pPr algn="l"/>
            <a:r>
              <a:rPr lang="en-US" sz="1000" dirty="0"/>
              <a:t>        for (auto&amp; pair : table[index]) {</a:t>
            </a:r>
            <a:endParaRPr lang="en-US" sz="1000" dirty="0"/>
          </a:p>
          <a:p>
            <a:pPr algn="l"/>
            <a:r>
              <a:rPr lang="en-US" sz="1000" dirty="0"/>
              <a:t>            if (pair.first == key) {</a:t>
            </a:r>
            <a:endParaRPr lang="en-US" sz="1000" dirty="0"/>
          </a:p>
          <a:p>
            <a:pPr algn="l"/>
            <a:r>
              <a:rPr lang="en-US" sz="1000" dirty="0"/>
              <a:t>                pair.second = value; // Update value if key exists</a:t>
            </a:r>
            <a:endParaRPr lang="en-US" sz="1000" dirty="0"/>
          </a:p>
          <a:p>
            <a:pPr algn="l"/>
            <a:r>
              <a:rPr lang="en-US" sz="1000" dirty="0"/>
              <a:t>                return;</a:t>
            </a:r>
            <a:endParaRPr lang="en-US" sz="1000" dirty="0"/>
          </a:p>
          <a:p>
            <a:pPr algn="l"/>
            <a:r>
              <a:rPr lang="en-US" sz="1000" dirty="0"/>
              <a:t>            }</a:t>
            </a:r>
            <a:endParaRPr lang="en-US" sz="1000" dirty="0"/>
          </a:p>
          <a:p>
            <a:pPr algn="l"/>
            <a:r>
              <a:rPr lang="en-US" sz="1000" dirty="0"/>
              <a:t>        }</a:t>
            </a:r>
            <a:endParaRPr lang="en-US" sz="1000" dirty="0"/>
          </a:p>
          <a:p>
            <a:pPr algn="l"/>
            <a:r>
              <a:rPr lang="en-US" sz="1000" dirty="0"/>
              <a:t>        table[index].push_back({key, value});</a:t>
            </a:r>
            <a:endParaRPr lang="en-US" sz="1000" dirty="0"/>
          </a:p>
          <a:p>
            <a:pPr algn="l"/>
            <a:r>
              <a:rPr lang="en-US" sz="1000" dirty="0"/>
              <a:t>    }</a:t>
            </a:r>
            <a:endParaRPr lang="en-US" sz="1000" dirty="0"/>
          </a:p>
          <a:p>
            <a:pPr algn="l"/>
            <a:endParaRPr lang="en-US" sz="1000" dirty="0"/>
          </a:p>
          <a:p>
            <a:pPr algn="l"/>
            <a:r>
              <a:rPr lang="en-US" sz="1000" dirty="0"/>
              <a:t>    std::string get(int key) {</a:t>
            </a:r>
            <a:endParaRPr lang="en-US" sz="1000" dirty="0"/>
          </a:p>
          <a:p>
            <a:pPr algn="l"/>
            <a:r>
              <a:rPr lang="en-US" sz="1000" dirty="0"/>
              <a:t>        int index = hash(key);</a:t>
            </a:r>
            <a:endParaRPr lang="en-US" sz="1000" dirty="0"/>
          </a:p>
          <a:p>
            <a:pPr algn="l"/>
            <a:r>
              <a:rPr lang="en-US" sz="1000" dirty="0"/>
              <a:t>        for (const auto&amp; pair : table[index]) {</a:t>
            </a:r>
            <a:endParaRPr lang="en-US" sz="1000" dirty="0"/>
          </a:p>
          <a:p>
            <a:pPr algn="l"/>
            <a:r>
              <a:rPr lang="en-US" sz="1000" dirty="0"/>
              <a:t>            if (pair.first == key) {</a:t>
            </a:r>
            <a:endParaRPr lang="en-US" sz="1000" dirty="0"/>
          </a:p>
          <a:p>
            <a:pPr algn="l"/>
            <a:r>
              <a:rPr lang="en-US" sz="1000" dirty="0"/>
              <a:t>                return pair.second;</a:t>
            </a:r>
            <a:endParaRPr lang="en-US" sz="1000" dirty="0"/>
          </a:p>
          <a:p>
            <a:pPr algn="l"/>
            <a:r>
              <a:rPr lang="en-US" sz="1000" dirty="0"/>
              <a:t>            }</a:t>
            </a:r>
            <a:endParaRPr lang="en-US" sz="1000" dirty="0"/>
          </a:p>
          <a:p>
            <a:pPr algn="l"/>
            <a:r>
              <a:rPr lang="en-US" sz="1000" dirty="0"/>
              <a:t>        }</a:t>
            </a:r>
            <a:endParaRPr lang="en-US" sz="1000" dirty="0"/>
          </a:p>
          <a:p>
            <a:pPr algn="l"/>
            <a:r>
              <a:rPr lang="en-US" sz="1000" dirty="0"/>
              <a:t>        return "Not found"; // Key not found</a:t>
            </a:r>
            <a:endParaRPr lang="en-US" sz="1000" dirty="0"/>
          </a:p>
          <a:p>
            <a:pPr algn="l"/>
            <a:r>
              <a:rPr lang="en-US" sz="1000" dirty="0"/>
              <a:t>    }</a:t>
            </a:r>
            <a:endParaRPr lang="en-US" sz="1000" dirty="0"/>
          </a:p>
          <a:p>
            <a:pPr algn="l"/>
            <a:endParaRPr lang="en-US" sz="1000" dirty="0"/>
          </a:p>
          <a:p>
            <a:pPr algn="l"/>
            <a:r>
              <a:rPr lang="en-US" sz="1000" dirty="0"/>
              <a:t>    void remove(int key) {</a:t>
            </a:r>
            <a:endParaRPr lang="en-US" sz="1000" dirty="0"/>
          </a:p>
          <a:p>
            <a:pPr algn="l"/>
            <a:r>
              <a:rPr lang="en-US" sz="1000" dirty="0"/>
              <a:t>        int index = hash(key);</a:t>
            </a:r>
            <a:endParaRPr lang="en-US" sz="1000" dirty="0"/>
          </a:p>
          <a:p>
            <a:pPr algn="l"/>
            <a:r>
              <a:rPr lang="en-US" sz="1000" dirty="0"/>
              <a:t>        for (auto it = table[index].begin(); it != table[index].end(); ++it) {</a:t>
            </a:r>
            <a:endParaRPr lang="en-US" sz="1000" dirty="0"/>
          </a:p>
          <a:p>
            <a:pPr algn="l"/>
            <a:r>
              <a:rPr lang="en-US" sz="1000" dirty="0"/>
              <a:t>            if (it-&gt;first == key) {</a:t>
            </a:r>
            <a:endParaRPr lang="en-US" sz="1000" dirty="0"/>
          </a:p>
          <a:p>
            <a:pPr algn="l"/>
            <a:r>
              <a:rPr lang="en-US" sz="1000" dirty="0"/>
              <a:t>                table[index].erase(it);</a:t>
            </a:r>
            <a:endParaRPr lang="en-US" sz="1000" dirty="0"/>
          </a:p>
          <a:p>
            <a:pPr algn="l"/>
            <a:r>
              <a:rPr lang="en-US" sz="1000" dirty="0"/>
              <a:t>                return;</a:t>
            </a:r>
            <a:endParaRPr lang="en-US" sz="1000" dirty="0"/>
          </a:p>
          <a:p>
            <a:pPr algn="l"/>
            <a:r>
              <a:rPr lang="en-US" sz="1000" dirty="0"/>
              <a:t>            }</a:t>
            </a:r>
            <a:endParaRPr lang="en-US" sz="1000" dirty="0"/>
          </a:p>
          <a:p>
            <a:pPr algn="l"/>
            <a:r>
              <a:rPr lang="en-US" sz="1000" dirty="0"/>
              <a:t>        }</a:t>
            </a:r>
            <a:endParaRPr lang="en-US" sz="1000" dirty="0"/>
          </a:p>
          <a:p>
            <a:pPr algn="l"/>
            <a:r>
              <a:rPr lang="en-US" sz="1000" dirty="0"/>
              <a:t>    }</a:t>
            </a:r>
            <a:endParaRPr lang="en-US" sz="1000" dirty="0"/>
          </a:p>
          <a:p>
            <a:pPr algn="l"/>
            <a:r>
              <a:rPr lang="en-US" sz="1000" dirty="0"/>
              <a:t>};</a:t>
            </a:r>
            <a:endParaRPr lang="en-US" sz="1000" dirty="0"/>
          </a:p>
          <a:p>
            <a:pPr algn="l"/>
            <a:endParaRPr lang="en-US" sz="1000" dirty="0"/>
          </a:p>
          <a:p>
            <a:pPr algn="l"/>
            <a:endParaRPr lang="en-US" sz="1000" dirty="0"/>
          </a:p>
        </p:txBody>
      </p:sp>
      <p:sp>
        <p:nvSpPr>
          <p:cNvPr id="10" name="TextBox 9"/>
          <p:cNvSpPr txBox="1"/>
          <p:nvPr/>
        </p:nvSpPr>
        <p:spPr>
          <a:xfrm>
            <a:off x="270712" y="4974221"/>
            <a:ext cx="556661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dirty="0"/>
              <a:t>int main() {</a:t>
            </a:r>
            <a:endParaRPr lang="en-US" sz="1000" dirty="0"/>
          </a:p>
          <a:p>
            <a:pPr algn="l"/>
            <a:r>
              <a:rPr lang="en-US" sz="1000" dirty="0"/>
              <a:t>    SimpleHashTable ht(10);</a:t>
            </a:r>
            <a:endParaRPr lang="en-US" sz="1000" dirty="0"/>
          </a:p>
          <a:p>
            <a:pPr algn="l"/>
            <a:r>
              <a:rPr lang="en-US" sz="1000" dirty="0"/>
              <a:t>    ht.insert(1, "Alice");</a:t>
            </a:r>
            <a:endParaRPr lang="en-US" sz="1000" dirty="0"/>
          </a:p>
          <a:p>
            <a:pPr algn="l"/>
            <a:r>
              <a:rPr lang="en-US" sz="1000" dirty="0"/>
              <a:t>    ht.insert(2, "Bob");</a:t>
            </a:r>
            <a:endParaRPr lang="en-US" sz="1000" dirty="0"/>
          </a:p>
          <a:p>
            <a:pPr algn="l"/>
            <a:r>
              <a:rPr lang="en-US" sz="1000" dirty="0"/>
              <a:t>    std::cout &lt;&lt; "Get 1: " &lt;&lt; ht.get(1) &lt;&lt; std::endl; // Output: Alice</a:t>
            </a:r>
            <a:endParaRPr lang="en-US" sz="1000" dirty="0"/>
          </a:p>
          <a:p>
            <a:pPr algn="l"/>
            <a:r>
              <a:rPr lang="en-US" sz="1000" dirty="0"/>
              <a:t>    std::cout &lt;&lt; "Get 2: " &lt;&lt; ht.get(2) &lt;&lt; std::endl; // Output: Bob</a:t>
            </a:r>
            <a:endParaRPr lang="en-US" sz="1000" dirty="0"/>
          </a:p>
          <a:p>
            <a:pPr algn="l"/>
            <a:r>
              <a:rPr lang="en-US" sz="1000" dirty="0"/>
              <a:t>    ht.remove(1);</a:t>
            </a:r>
            <a:endParaRPr lang="en-US" sz="1000" dirty="0"/>
          </a:p>
          <a:p>
            <a:pPr algn="l"/>
            <a:r>
              <a:rPr lang="en-US" sz="1000" dirty="0"/>
              <a:t>    std::cout &lt;&lt; "Get 1 after removal: " &lt;&lt; ht.get(1) &lt;&lt; std::endl; // Output: Not found</a:t>
            </a:r>
            <a:endParaRPr lang="en-US" sz="1000" dirty="0"/>
          </a:p>
          <a:p>
            <a:pPr algn="l"/>
            <a:r>
              <a:rPr lang="en-US" sz="1000" dirty="0"/>
              <a:t>    return 0;</a:t>
            </a:r>
            <a:endParaRPr lang="en-US" sz="1000" dirty="0"/>
          </a:p>
          <a:p>
            <a:pPr algn="l"/>
            <a:r>
              <a:rPr lang="en-US" sz="1000" dirty="0"/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Comic Sans MS"/>
        <a:ea typeface=""/>
        <a:cs typeface="Times New Roman"/>
      </a:majorFont>
      <a:minorFont>
        <a:latin typeface="Comic Sans MS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7F9B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Comic Sans MS" panose="030F0902030302020204" pitchFamily="66" charset="0"/>
            <a:cs typeface="Times New Roman" panose="0202050305040509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7F9B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Comic Sans MS" panose="030F0902030302020204" pitchFamily="66" charset="0"/>
            <a:cs typeface="Times New Roman" panose="02020503050405090304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19816</Words>
  <Application>WPS Docs</Application>
  <PresentationFormat>On-screen Show (4:3)</PresentationFormat>
  <Paragraphs>1752</Paragraphs>
  <Slides>29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0" baseType="lpstr">
      <vt:lpstr>Arial</vt:lpstr>
      <vt:lpstr>SimSun</vt:lpstr>
      <vt:lpstr>Wingdings</vt:lpstr>
      <vt:lpstr>Comic Sans MS</vt:lpstr>
      <vt:lpstr>Times New Roman</vt:lpstr>
      <vt:lpstr>Microsoft YaHei</vt:lpstr>
      <vt:lpstr>汉仪旗黑</vt:lpstr>
      <vt:lpstr>Courier New</vt:lpstr>
      <vt:lpstr>Arial Unicode MS</vt:lpstr>
      <vt:lpstr>宋体-简</vt:lpstr>
      <vt:lpstr>Default Design</vt:lpstr>
      <vt:lpstr>Data Structures and Algorithms</vt:lpstr>
      <vt:lpstr>PowerPoint 演示文稿</vt:lpstr>
      <vt:lpstr>The Modulus Operator</vt:lpstr>
      <vt:lpstr>The (Almost) Hash Table</vt:lpstr>
      <vt:lpstr>The (Almost) Hash Table</vt:lpstr>
      <vt:lpstr>The (Almost) Hash Table</vt:lpstr>
      <vt:lpstr>The Mapping Function</vt:lpstr>
      <vt:lpstr>The (Almost) Hash Table</vt:lpstr>
      <vt:lpstr>The (Almost) Hash Table</vt:lpstr>
      <vt:lpstr>The (Almost) Hash Table</vt:lpstr>
      <vt:lpstr>The (Almost) Hash Table: A problem!</vt:lpstr>
      <vt:lpstr>Closed Hash Table with Linear Probing: Insertion</vt:lpstr>
      <vt:lpstr>Closed Hash Table with Linear Probing: Searching</vt:lpstr>
      <vt:lpstr>Closed Hash Table with Linear Probing</vt:lpstr>
      <vt:lpstr>Closed Hash Table with Linear Probing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The “Open Hash Table”</vt:lpstr>
      <vt:lpstr>PowerPoint 演示文稿</vt:lpstr>
      <vt:lpstr>So basically it’s a tradeoff!</vt:lpstr>
      <vt:lpstr>Choosing a Hash Function: Tips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4</dc:title>
  <dc:creator>Preferred Customer</dc:creator>
  <cp:lastModifiedBy>Hao Qin</cp:lastModifiedBy>
  <cp:revision>6286</cp:revision>
  <dcterms:created xsi:type="dcterms:W3CDTF">2026-04-28T11:04:09Z</dcterms:created>
  <dcterms:modified xsi:type="dcterms:W3CDTF">2026-04-28T11:04:09Z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BE63B0F78D5D09D9D58AF0693A13F8A7_42</vt:lpwstr>
  </property>
  <property fmtid="{D5CDD505-2E9C-101B-9397-08002B2CF9AE}" pid="3" name="KSOProductBuildVer">
    <vt:lpwstr>1033-12.1.25867.25867</vt:lpwstr>
  </property>
</Properties>
</file>