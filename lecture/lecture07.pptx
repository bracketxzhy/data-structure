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517" r:id="rId3"/>
    <p:sldId id="408" r:id="rId5"/>
    <p:sldId id="712" r:id="rId6"/>
    <p:sldId id="713" r:id="rId7"/>
    <p:sldId id="714" r:id="rId8"/>
    <p:sldId id="386" r:id="rId9"/>
    <p:sldId id="387" r:id="rId10"/>
    <p:sldId id="388" r:id="rId11"/>
    <p:sldId id="389" r:id="rId12"/>
    <p:sldId id="390" r:id="rId13"/>
    <p:sldId id="409" r:id="rId14"/>
    <p:sldId id="406" r:id="rId15"/>
    <p:sldId id="411" r:id="rId16"/>
    <p:sldId id="708" r:id="rId17"/>
    <p:sldId id="709" r:id="rId18"/>
    <p:sldId id="707" r:id="rId19"/>
    <p:sldId id="710" r:id="rId20"/>
    <p:sldId id="711" r:id="rId21"/>
    <p:sldId id="413" r:id="rId22"/>
    <p:sldId id="463" r:id="rId23"/>
    <p:sldId id="464" r:id="rId24"/>
    <p:sldId id="465" r:id="rId25"/>
    <p:sldId id="466" r:id="rId26"/>
    <p:sldId id="467" r:id="rId27"/>
    <p:sldId id="715" r:id="rId28"/>
    <p:sldId id="718" r:id="rId29"/>
    <p:sldId id="716" r:id="rId30"/>
    <p:sldId id="719" r:id="rId31"/>
  </p:sldIdLst>
  <p:sldSz cx="9144000" cy="6858000" type="screen4x3"/>
  <p:notesSz cx="6858000" cy="911669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365D1"/>
    <a:srgbClr val="FFE1E1"/>
    <a:srgbClr val="FF3300"/>
    <a:srgbClr val="C5E8FF"/>
    <a:srgbClr val="FFFFFF"/>
    <a:srgbClr val="51B6FF"/>
    <a:srgbClr val="0000CC"/>
    <a:srgbClr val="FFFFE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13"/>
    <p:restoredTop sz="78360" autoAdjust="0"/>
  </p:normalViewPr>
  <p:slideViewPr>
    <p:cSldViewPr showGuides="1">
      <p:cViewPr varScale="1">
        <p:scale>
          <a:sx n="173" d="100"/>
          <a:sy n="173" d="100"/>
        </p:scale>
        <p:origin x="45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6B6D5B41-8E85-481A-8533-3F28ECCAA32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559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6125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9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59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559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fld id="{8AA6DDE6-1BD0-4385-A973-4006CD564F9E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6BBE8BA-262D-4A32-AC42-0F7A2A138515}" type="slidenum">
              <a:rPr lang="en-US" sz="1200" smtClean="0">
                <a:latin typeface="Times New Roman" panose="02020503050405090304" pitchFamily="18" charset="0"/>
              </a:rPr>
            </a:fld>
            <a:endParaRPr lang="en-US" sz="1200">
              <a:latin typeface="Times New Roman" panose="0202050305040509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953736C-7396-4DAD-A67D-58A3398EB969}" type="slidenum">
              <a:rPr lang="en-US"/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953736C-7396-4DAD-A67D-58A3398EB969}" type="slidenum">
              <a:rPr lang="en-US"/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953736C-7396-4DAD-A67D-58A3398EB969}" type="slidenum">
              <a:rPr lang="en-US"/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953736C-7396-4DAD-A67D-58A3398EB969}" type="slidenum">
              <a:rPr lang="en-US"/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E8C54C2-010A-4C88-961C-0326063CFE3D}" type="slidenum">
              <a:rPr lang="en-US"/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A1EF062-DF11-4C62-B205-354C0AC77540}" type="slidenum">
              <a:rPr lang="en-US"/>
            </a:fld>
            <a:endParaRPr lang="en-US"/>
          </a:p>
        </p:txBody>
      </p:sp>
      <p:sp>
        <p:nvSpPr>
          <p:cNvPr id="58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B7FF271-865E-450F-9A50-C5AEC85FAE8E}" type="slidenum">
              <a:rPr lang="en-US"/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FF6EF38-4DD6-44A5-8A38-76DCD297EEED}" type="slidenum">
              <a:rPr lang="en-US"/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1C38866-B9CB-4E3D-9B2A-47D338779EB7}" type="slidenum">
              <a:rPr lang="en-US"/>
            </a:fld>
            <a:endParaRPr lang="en-US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579576-7A3D-4355-8970-F607A54E6982}" type="slidenum">
              <a:rPr lang="en-US"/>
            </a:fld>
            <a:endParaRPr lang="en-US"/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3BE23C5-3711-4DEC-86FE-26456D76049A}" type="slidenum">
              <a:rPr lang="en-US"/>
            </a:fld>
            <a:endParaRPr lang="en-US"/>
          </a:p>
        </p:txBody>
      </p:sp>
      <p:sp>
        <p:nvSpPr>
          <p:cNvPr id="59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3AB27C-B564-472B-97ED-B3331BABA85B}" type="slidenum">
              <a:rPr lang="en-US"/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3AB27C-B564-472B-97ED-B3331BABA85B}" type="slidenum">
              <a:rPr lang="en-US"/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3AB27C-B564-472B-97ED-B3331BABA85B}" type="slidenum">
              <a:rPr lang="en-US"/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3AB27C-B564-472B-97ED-B3331BABA85B}" type="slidenum">
              <a:rPr lang="en-US"/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3AB27C-B564-472B-97ED-B3331BABA85B}" type="slidenum">
              <a:rPr lang="en-US"/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3AB27C-B564-472B-97ED-B3331BABA85B}" type="slidenum">
              <a:rPr lang="en-US"/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007AF55-F3B9-4810-B5DB-D0944356BBB3}" type="slidenum">
              <a:rPr lang="en-US"/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007AF55-F3B9-4810-B5DB-D0944356BBB3}" type="slidenum">
              <a:rPr lang="en-US"/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007AF55-F3B9-4810-B5DB-D0944356BBB3}" type="slidenum">
              <a:rPr lang="en-US"/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007AF55-F3B9-4810-B5DB-D0944356BBB3}" type="slidenum">
              <a:rPr lang="en-US"/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007AF55-F3B9-4810-B5DB-D0944356BBB3}" type="slidenum">
              <a:rPr lang="en-US"/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007AF55-F3B9-4810-B5DB-D0944356BBB3}" type="slidenum">
              <a:rPr lang="en-US"/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6DDE6-1BD0-4385-A973-4006CD564F9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6DDE6-1BD0-4385-A973-4006CD564F9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D5FF4-D5CD-4420-9072-7651AB455E7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C09DC-742E-4E7A-8CF1-B3E21A3A6B8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45E4F8-3147-4960-A341-9694A91B0DF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CCD293-B9E8-4664-9592-517D2480E68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6C397-CAA6-4F17-9492-82BDC246E74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AFE1C-04F0-4163-A225-DA024641925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071D6B-E442-458E-9A66-9106647CC76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3D56E0-E596-4E1F-B0A2-24128AB9A5E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1540F-05AA-4AD7-AE28-F2E185779C2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C72581-6B42-4B1C-B4C2-9EF2186DD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E9AA0-B782-4519-9523-4CF4DDC932B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1466850" y="-190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0CD07B2-C92E-4CEF-98D7-F6359A715B9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466850" y="-190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fld id="{5DC31973-900B-431F-8A88-36781E96EC9D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1080600" y="3304267"/>
            <a:ext cx="5861685" cy="19380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Instructor: </a:t>
            </a:r>
            <a:r>
              <a:rPr lang="en-US" dirty="0">
                <a:solidFill>
                  <a:srgbClr val="800000"/>
                </a:solidFill>
              </a:rPr>
              <a:t>Dr. Hao Qin</a:t>
            </a:r>
            <a:r>
              <a:rPr lang="zh-CN" altLang="en-US" dirty="0">
                <a:solidFill>
                  <a:srgbClr val="8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（秦浩）</a:t>
            </a:r>
            <a:endParaRPr lang="en-US" i="1" dirty="0">
              <a:solidFill>
                <a:srgbClr val="66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E-mail: </a:t>
            </a:r>
            <a:r>
              <a:rPr lang="en-US" dirty="0" err="1">
                <a:solidFill>
                  <a:srgbClr val="800000"/>
                </a:solidFill>
              </a:rPr>
              <a:t>hao.qin@scupi.cn</a:t>
            </a:r>
            <a:r>
              <a:rPr lang="en-US" dirty="0">
                <a:solidFill>
                  <a:srgbClr val="800000"/>
                </a:solidFill>
              </a:rPr>
              <a:t>                      </a:t>
            </a:r>
            <a:endParaRPr lang="en-US" dirty="0">
              <a:solidFill>
                <a:srgbClr val="800000"/>
              </a:solidFill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My Office:     </a:t>
            </a:r>
            <a:r>
              <a:rPr lang="en-US" dirty="0">
                <a:solidFill>
                  <a:srgbClr val="800000"/>
                </a:solidFill>
              </a:rPr>
              <a:t>Room 514, SCUPI (North)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85800" y="887240"/>
            <a:ext cx="7772400" cy="1143000"/>
          </a:xfrm>
        </p:spPr>
        <p:txBody>
          <a:bodyPr/>
          <a:lstStyle/>
          <a:p>
            <a:r>
              <a:rPr lang="en-US" dirty="0"/>
              <a:t>Data Structures and Algorithms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D39B-1EB0-4768-B6E6-7531262C04A9}" type="slidenum">
              <a:rPr lang="en-US"/>
            </a:fld>
            <a:endParaRPr lang="en-US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82563"/>
            <a:ext cx="7772400" cy="1143000"/>
          </a:xfrm>
        </p:spPr>
        <p:txBody>
          <a:bodyPr/>
          <a:lstStyle/>
          <a:p>
            <a:r>
              <a:rPr lang="en-US"/>
              <a:t>Trees</a:t>
            </a:r>
            <a:endParaRPr lang="en-US"/>
          </a:p>
        </p:txBody>
      </p:sp>
      <p:sp>
        <p:nvSpPr>
          <p:cNvPr id="556039" name="Text Box 7"/>
          <p:cNvSpPr txBox="1">
            <a:spLocks noChangeArrowheads="1"/>
          </p:cNvSpPr>
          <p:nvPr/>
        </p:nvSpPr>
        <p:spPr bwMode="auto">
          <a:xfrm>
            <a:off x="521494" y="1165950"/>
            <a:ext cx="8101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Tree </a:t>
            </a:r>
            <a:r>
              <a:rPr lang="en-US" dirty="0"/>
              <a:t>is a special </a:t>
            </a:r>
            <a:r>
              <a:rPr lang="en-US" dirty="0">
                <a:solidFill>
                  <a:srgbClr val="FF0000"/>
                </a:solidFill>
              </a:rPr>
              <a:t>linked list-based data structure </a:t>
            </a:r>
            <a:br>
              <a:rPr lang="en-US" dirty="0"/>
            </a:br>
            <a:r>
              <a:rPr lang="en-US" dirty="0"/>
              <a:t>that has many uses in Computer Science:</a:t>
            </a:r>
            <a:endParaRPr lang="en-US" dirty="0"/>
          </a:p>
        </p:txBody>
      </p:sp>
      <p:sp>
        <p:nvSpPr>
          <p:cNvPr id="556040" name="Text Box 8"/>
          <p:cNvSpPr txBox="1">
            <a:spLocks noChangeArrowheads="1"/>
          </p:cNvSpPr>
          <p:nvPr/>
        </p:nvSpPr>
        <p:spPr bwMode="auto">
          <a:xfrm>
            <a:off x="177722" y="3004183"/>
            <a:ext cx="54848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6600CC"/>
                </a:solidFill>
              </a:rPr>
              <a:t>To organize hierarchical data </a:t>
            </a:r>
            <a:endParaRPr lang="en-US" dirty="0">
              <a:solidFill>
                <a:srgbClr val="6600CC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465763" y="3352800"/>
            <a:ext cx="3678237" cy="3311235"/>
            <a:chOff x="5465763" y="3352800"/>
            <a:chExt cx="3678237" cy="3311235"/>
          </a:xfrm>
        </p:grpSpPr>
        <p:grpSp>
          <p:nvGrpSpPr>
            <p:cNvPr id="556043" name="Group 11"/>
            <p:cNvGrpSpPr/>
            <p:nvPr/>
          </p:nvGrpSpPr>
          <p:grpSpPr bwMode="auto">
            <a:xfrm>
              <a:off x="5899150" y="4910138"/>
              <a:ext cx="792162" cy="592138"/>
              <a:chOff x="3511" y="3072"/>
              <a:chExt cx="729" cy="624"/>
            </a:xfrm>
          </p:grpSpPr>
          <p:sp>
            <p:nvSpPr>
              <p:cNvPr id="556044" name="Rectangle 1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45" name="Rectangle 1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46" name="Rectangle 1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47" name="Rectangle 1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56048" name="Group 16"/>
            <p:cNvGrpSpPr/>
            <p:nvPr/>
          </p:nvGrpSpPr>
          <p:grpSpPr bwMode="auto">
            <a:xfrm>
              <a:off x="6848475" y="3903663"/>
              <a:ext cx="792162" cy="592138"/>
              <a:chOff x="3511" y="3072"/>
              <a:chExt cx="729" cy="624"/>
            </a:xfrm>
          </p:grpSpPr>
          <p:sp>
            <p:nvSpPr>
              <p:cNvPr id="556049" name="Rectangle 1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50" name="Rectangle 1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51" name="Rectangle 1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52" name="Rectangle 2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56058" name="Group 26"/>
            <p:cNvGrpSpPr/>
            <p:nvPr/>
          </p:nvGrpSpPr>
          <p:grpSpPr bwMode="auto">
            <a:xfrm>
              <a:off x="5522913" y="6035675"/>
              <a:ext cx="792162" cy="592138"/>
              <a:chOff x="3511" y="3072"/>
              <a:chExt cx="729" cy="624"/>
            </a:xfrm>
          </p:grpSpPr>
          <p:sp>
            <p:nvSpPr>
              <p:cNvPr id="556059" name="Rectangle 2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60" name="Rectangle 2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61" name="Rectangle 2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62" name="Rectangle 3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56063" name="Group 31"/>
            <p:cNvGrpSpPr/>
            <p:nvPr/>
          </p:nvGrpSpPr>
          <p:grpSpPr bwMode="auto">
            <a:xfrm>
              <a:off x="6434138" y="6034088"/>
              <a:ext cx="790575" cy="592138"/>
              <a:chOff x="3511" y="3072"/>
              <a:chExt cx="729" cy="624"/>
            </a:xfrm>
          </p:grpSpPr>
          <p:sp>
            <p:nvSpPr>
              <p:cNvPr id="556064" name="Rectangle 3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65" name="Rectangle 3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66" name="Rectangle 3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067" name="Rectangle 3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6073" name="Line 41"/>
            <p:cNvSpPr>
              <a:spLocks noChangeShapeType="1"/>
            </p:cNvSpPr>
            <p:nvPr/>
          </p:nvSpPr>
          <p:spPr bwMode="auto">
            <a:xfrm flipH="1">
              <a:off x="6373813" y="4378325"/>
              <a:ext cx="654050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74" name="Line 42"/>
            <p:cNvSpPr>
              <a:spLocks noChangeShapeType="1"/>
            </p:cNvSpPr>
            <p:nvPr/>
          </p:nvSpPr>
          <p:spPr bwMode="auto">
            <a:xfrm>
              <a:off x="7432675" y="4376738"/>
              <a:ext cx="541337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76" name="Line 44"/>
            <p:cNvSpPr>
              <a:spLocks noChangeShapeType="1"/>
            </p:cNvSpPr>
            <p:nvPr/>
          </p:nvSpPr>
          <p:spPr bwMode="auto">
            <a:xfrm flipH="1">
              <a:off x="5727700" y="5384800"/>
              <a:ext cx="468312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77" name="Line 45"/>
            <p:cNvSpPr>
              <a:spLocks noChangeShapeType="1"/>
            </p:cNvSpPr>
            <p:nvPr/>
          </p:nvSpPr>
          <p:spPr bwMode="auto">
            <a:xfrm>
              <a:off x="6445250" y="5381625"/>
              <a:ext cx="465137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81" name="Text Box 49"/>
            <p:cNvSpPr txBox="1">
              <a:spLocks noChangeArrowheads="1"/>
            </p:cNvSpPr>
            <p:nvPr/>
          </p:nvSpPr>
          <p:spPr bwMode="auto">
            <a:xfrm>
              <a:off x="5491163" y="641956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556082" name="Text Box 50"/>
            <p:cNvSpPr txBox="1">
              <a:spLocks noChangeArrowheads="1"/>
            </p:cNvSpPr>
            <p:nvPr/>
          </p:nvSpPr>
          <p:spPr bwMode="auto">
            <a:xfrm>
              <a:off x="5872163" y="641797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556083" name="Text Box 51"/>
            <p:cNvSpPr txBox="1">
              <a:spLocks noChangeArrowheads="1"/>
            </p:cNvSpPr>
            <p:nvPr/>
          </p:nvSpPr>
          <p:spPr bwMode="auto">
            <a:xfrm>
              <a:off x="6407150" y="640051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556084" name="Text Box 52"/>
            <p:cNvSpPr txBox="1">
              <a:spLocks noChangeArrowheads="1"/>
            </p:cNvSpPr>
            <p:nvPr/>
          </p:nvSpPr>
          <p:spPr bwMode="auto">
            <a:xfrm>
              <a:off x="6788150" y="639892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556088" name="Text Box 56"/>
            <p:cNvSpPr txBox="1">
              <a:spLocks noChangeArrowheads="1"/>
            </p:cNvSpPr>
            <p:nvPr/>
          </p:nvSpPr>
          <p:spPr bwMode="auto">
            <a:xfrm>
              <a:off x="6794500" y="3922713"/>
              <a:ext cx="9540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carey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556089" name="Text Box 57"/>
            <p:cNvSpPr txBox="1">
              <a:spLocks noChangeArrowheads="1"/>
            </p:cNvSpPr>
            <p:nvPr/>
          </p:nvSpPr>
          <p:spPr bwMode="auto">
            <a:xfrm>
              <a:off x="5880100" y="4951413"/>
              <a:ext cx="7921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“leon”</a:t>
              </a:r>
              <a:endParaRPr lang="en-US" sz="1800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7673975" y="4910138"/>
              <a:ext cx="1089025" cy="592138"/>
              <a:chOff x="7523163" y="4910138"/>
              <a:chExt cx="1089025" cy="592138"/>
            </a:xfrm>
          </p:grpSpPr>
          <p:grpSp>
            <p:nvGrpSpPr>
              <p:cNvPr id="556053" name="Group 21"/>
              <p:cNvGrpSpPr/>
              <p:nvPr/>
            </p:nvGrpSpPr>
            <p:grpSpPr bwMode="auto">
              <a:xfrm>
                <a:off x="7621588" y="4910138"/>
                <a:ext cx="790575" cy="592138"/>
                <a:chOff x="3511" y="3072"/>
                <a:chExt cx="729" cy="624"/>
              </a:xfrm>
            </p:grpSpPr>
            <p:sp>
              <p:nvSpPr>
                <p:cNvPr id="556054" name="Rectangle 2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6055" name="Rectangle 2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6056" name="Rectangle 2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6057" name="Rectangle 2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56090" name="Text Box 58"/>
              <p:cNvSpPr txBox="1">
                <a:spLocks noChangeArrowheads="1"/>
              </p:cNvSpPr>
              <p:nvPr/>
            </p:nvSpPr>
            <p:spPr bwMode="auto">
              <a:xfrm>
                <a:off x="7523163" y="4948238"/>
                <a:ext cx="1089025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“andrea”</a:t>
                </a:r>
                <a:endParaRPr lang="en-US" sz="1800"/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8128000" y="6035675"/>
              <a:ext cx="1016000" cy="609310"/>
              <a:chOff x="7975600" y="6035675"/>
              <a:chExt cx="1016000" cy="609310"/>
            </a:xfrm>
          </p:grpSpPr>
          <p:grpSp>
            <p:nvGrpSpPr>
              <p:cNvPr id="556068" name="Group 36"/>
              <p:cNvGrpSpPr/>
              <p:nvPr/>
            </p:nvGrpSpPr>
            <p:grpSpPr bwMode="auto">
              <a:xfrm>
                <a:off x="8050213" y="6035675"/>
                <a:ext cx="792162" cy="592138"/>
                <a:chOff x="3511" y="3072"/>
                <a:chExt cx="729" cy="624"/>
              </a:xfrm>
            </p:grpSpPr>
            <p:sp>
              <p:nvSpPr>
                <p:cNvPr id="556069" name="Rectangle 3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6070" name="Rectangle 3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6071" name="Rectangle 3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6072" name="Rectangle 4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56085" name="Text Box 53"/>
              <p:cNvSpPr txBox="1">
                <a:spLocks noChangeArrowheads="1"/>
              </p:cNvSpPr>
              <p:nvPr/>
            </p:nvSpPr>
            <p:spPr bwMode="auto">
              <a:xfrm>
                <a:off x="8023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556086" name="Text Box 54"/>
              <p:cNvSpPr txBox="1">
                <a:spLocks noChangeArrowheads="1"/>
              </p:cNvSpPr>
              <p:nvPr/>
            </p:nvSpPr>
            <p:spPr bwMode="auto">
              <a:xfrm>
                <a:off x="8404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556091" name="Text Box 59"/>
              <p:cNvSpPr txBox="1">
                <a:spLocks noChangeArrowheads="1"/>
              </p:cNvSpPr>
              <p:nvPr/>
            </p:nvSpPr>
            <p:spPr bwMode="auto">
              <a:xfrm>
                <a:off x="7975600" y="6042025"/>
                <a:ext cx="1016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“milton”</a:t>
                </a:r>
                <a:endParaRPr lang="en-US" sz="1800"/>
              </a:p>
            </p:txBody>
          </p:sp>
        </p:grpSp>
        <p:sp>
          <p:nvSpPr>
            <p:cNvPr id="556092" name="Text Box 60"/>
            <p:cNvSpPr txBox="1">
              <a:spLocks noChangeArrowheads="1"/>
            </p:cNvSpPr>
            <p:nvPr/>
          </p:nvSpPr>
          <p:spPr bwMode="auto">
            <a:xfrm>
              <a:off x="5465763" y="6051550"/>
              <a:ext cx="97631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“sheila”</a:t>
              </a:r>
              <a:endParaRPr lang="en-US" sz="1800"/>
            </a:p>
          </p:txBody>
        </p:sp>
        <p:sp>
          <p:nvSpPr>
            <p:cNvPr id="556093" name="Text Box 61"/>
            <p:cNvSpPr txBox="1">
              <a:spLocks noChangeArrowheads="1"/>
            </p:cNvSpPr>
            <p:nvPr/>
          </p:nvSpPr>
          <p:spPr bwMode="auto">
            <a:xfrm>
              <a:off x="6356350" y="6042025"/>
              <a:ext cx="9572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simon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556094" name="Text Box 62"/>
            <p:cNvSpPr txBox="1">
              <a:spLocks noChangeArrowheads="1"/>
            </p:cNvSpPr>
            <p:nvPr/>
          </p:nvSpPr>
          <p:spPr bwMode="auto">
            <a:xfrm>
              <a:off x="6248400" y="3352800"/>
              <a:ext cx="21812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A </a:t>
              </a:r>
              <a:r>
                <a:rPr lang="en-US" dirty="0">
                  <a:solidFill>
                    <a:srgbClr val="FF0000"/>
                  </a:solidFill>
                </a:rPr>
                <a:t>Family</a:t>
              </a:r>
              <a:r>
                <a:rPr lang="en-US" dirty="0"/>
                <a:t> Tree</a:t>
              </a:r>
              <a:endParaRPr lang="en-US" dirty="0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234786" y="5384800"/>
              <a:ext cx="1029449" cy="1279235"/>
              <a:chOff x="5576598" y="5537200"/>
              <a:chExt cx="1029449" cy="1279235"/>
            </a:xfrm>
          </p:grpSpPr>
          <p:grpSp>
            <p:nvGrpSpPr>
              <p:cNvPr id="73" name="Group 26"/>
              <p:cNvGrpSpPr/>
              <p:nvPr/>
            </p:nvGrpSpPr>
            <p:grpSpPr bwMode="auto">
              <a:xfrm>
                <a:off x="5675313" y="6188075"/>
                <a:ext cx="792162" cy="592138"/>
                <a:chOff x="3511" y="3072"/>
                <a:chExt cx="729" cy="624"/>
              </a:xfrm>
            </p:grpSpPr>
            <p:sp>
              <p:nvSpPr>
                <p:cNvPr id="74" name="Rectangle 2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Rectangle 2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Rectangle 2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Rectangle 3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8" name="Line 44"/>
              <p:cNvSpPr>
                <a:spLocks noChangeShapeType="1"/>
              </p:cNvSpPr>
              <p:nvPr/>
            </p:nvSpPr>
            <p:spPr bwMode="auto">
              <a:xfrm flipH="1">
                <a:off x="5880100" y="5537200"/>
                <a:ext cx="468312" cy="642938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Text Box 49"/>
              <p:cNvSpPr txBox="1">
                <a:spLocks noChangeArrowheads="1"/>
              </p:cNvSpPr>
              <p:nvPr/>
            </p:nvSpPr>
            <p:spPr bwMode="auto">
              <a:xfrm>
                <a:off x="5643563" y="657196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80" name="Text Box 50"/>
              <p:cNvSpPr txBox="1">
                <a:spLocks noChangeArrowheads="1"/>
              </p:cNvSpPr>
              <p:nvPr/>
            </p:nvSpPr>
            <p:spPr bwMode="auto">
              <a:xfrm>
                <a:off x="6024563" y="6570373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81" name="Text Box 60"/>
              <p:cNvSpPr txBox="1">
                <a:spLocks noChangeArrowheads="1"/>
              </p:cNvSpPr>
              <p:nvPr/>
            </p:nvSpPr>
            <p:spPr bwMode="auto">
              <a:xfrm>
                <a:off x="5576598" y="6203950"/>
                <a:ext cx="1029449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“</a:t>
                </a:r>
                <a:r>
                  <a:rPr lang="en-US" sz="1600" dirty="0" err="1"/>
                  <a:t>martha</a:t>
                </a:r>
                <a:r>
                  <a:rPr lang="en-US" sz="1600" dirty="0"/>
                  <a:t>”</a:t>
                </a:r>
                <a:endParaRPr lang="en-US" sz="1600" dirty="0"/>
              </a:p>
            </p:txBody>
          </p:sp>
        </p:grpSp>
        <p:sp>
          <p:nvSpPr>
            <p:cNvPr id="556075" name="Line 43"/>
            <p:cNvSpPr>
              <a:spLocks noChangeShapeType="1"/>
            </p:cNvSpPr>
            <p:nvPr/>
          </p:nvSpPr>
          <p:spPr bwMode="auto">
            <a:xfrm>
              <a:off x="8315325" y="5435600"/>
              <a:ext cx="280987" cy="6048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D39B-1EB0-4768-B6E6-7531262C04A9}" type="slidenum">
              <a:rPr lang="en-US"/>
            </a:fld>
            <a:endParaRPr lang="en-US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82563"/>
            <a:ext cx="7772400" cy="1143000"/>
          </a:xfrm>
        </p:spPr>
        <p:txBody>
          <a:bodyPr/>
          <a:lstStyle/>
          <a:p>
            <a:r>
              <a:rPr lang="en-US"/>
              <a:t>Trees</a:t>
            </a:r>
            <a:endParaRPr lang="en-US"/>
          </a:p>
        </p:txBody>
      </p:sp>
      <p:sp>
        <p:nvSpPr>
          <p:cNvPr id="556039" name="Text Box 7"/>
          <p:cNvSpPr txBox="1">
            <a:spLocks noChangeArrowheads="1"/>
          </p:cNvSpPr>
          <p:nvPr/>
        </p:nvSpPr>
        <p:spPr bwMode="auto">
          <a:xfrm>
            <a:off x="521494" y="1165950"/>
            <a:ext cx="8101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Tree </a:t>
            </a:r>
            <a:r>
              <a:rPr lang="en-US" dirty="0"/>
              <a:t>is a special </a:t>
            </a:r>
            <a:r>
              <a:rPr lang="en-US" dirty="0">
                <a:solidFill>
                  <a:srgbClr val="FF0000"/>
                </a:solidFill>
              </a:rPr>
              <a:t>linked list-based data structure </a:t>
            </a:r>
            <a:br>
              <a:rPr lang="en-US" dirty="0"/>
            </a:br>
            <a:r>
              <a:rPr lang="en-US" dirty="0"/>
              <a:t>that has many uses in Computer Science:</a:t>
            </a:r>
            <a:endParaRPr lang="en-US" dirty="0"/>
          </a:p>
        </p:txBody>
      </p:sp>
      <p:sp>
        <p:nvSpPr>
          <p:cNvPr id="556040" name="Text Box 8"/>
          <p:cNvSpPr txBox="1">
            <a:spLocks noChangeArrowheads="1"/>
          </p:cNvSpPr>
          <p:nvPr/>
        </p:nvSpPr>
        <p:spPr bwMode="auto">
          <a:xfrm>
            <a:off x="177722" y="3004183"/>
            <a:ext cx="548481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6600CC"/>
                </a:solidFill>
              </a:rPr>
              <a:t>To organize hierarchical data </a:t>
            </a:r>
            <a:endParaRPr lang="en-US" dirty="0">
              <a:solidFill>
                <a:srgbClr val="6600CC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To make information easily 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 searchable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6600CC"/>
                </a:solidFill>
              </a:rPr>
              <a:t> 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5105400" y="3124200"/>
            <a:ext cx="3611562" cy="3311235"/>
            <a:chOff x="5465763" y="3352800"/>
            <a:chExt cx="3611562" cy="3311235"/>
          </a:xfrm>
        </p:grpSpPr>
        <p:grpSp>
          <p:nvGrpSpPr>
            <p:cNvPr id="87" name="Group 11"/>
            <p:cNvGrpSpPr/>
            <p:nvPr/>
          </p:nvGrpSpPr>
          <p:grpSpPr bwMode="auto">
            <a:xfrm>
              <a:off x="5899150" y="4910138"/>
              <a:ext cx="792162" cy="592138"/>
              <a:chOff x="3511" y="3072"/>
              <a:chExt cx="729" cy="624"/>
            </a:xfrm>
          </p:grpSpPr>
          <p:sp>
            <p:nvSpPr>
              <p:cNvPr id="143" name="Rectangle 1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Rectangle 1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" name="Rectangle 1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" name="Rectangle 1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8" name="Group 16"/>
            <p:cNvGrpSpPr/>
            <p:nvPr/>
          </p:nvGrpSpPr>
          <p:grpSpPr bwMode="auto">
            <a:xfrm>
              <a:off x="6848475" y="3903663"/>
              <a:ext cx="792162" cy="592138"/>
              <a:chOff x="3511" y="3072"/>
              <a:chExt cx="729" cy="624"/>
            </a:xfrm>
          </p:grpSpPr>
          <p:sp>
            <p:nvSpPr>
              <p:cNvPr id="139" name="Rectangle 1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Rectangle 1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1" name="Rectangle 1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2" name="Rectangle 2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9" name="Group 26"/>
            <p:cNvGrpSpPr/>
            <p:nvPr/>
          </p:nvGrpSpPr>
          <p:grpSpPr bwMode="auto">
            <a:xfrm>
              <a:off x="5522913" y="6035675"/>
              <a:ext cx="792162" cy="592138"/>
              <a:chOff x="3511" y="3072"/>
              <a:chExt cx="729" cy="624"/>
            </a:xfrm>
          </p:grpSpPr>
          <p:sp>
            <p:nvSpPr>
              <p:cNvPr id="135" name="Rectangle 2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Rectangle 2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Rectangle 2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Rectangle 3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0" name="Group 31"/>
            <p:cNvGrpSpPr/>
            <p:nvPr/>
          </p:nvGrpSpPr>
          <p:grpSpPr bwMode="auto">
            <a:xfrm>
              <a:off x="6434138" y="6034088"/>
              <a:ext cx="790575" cy="592138"/>
              <a:chOff x="3511" y="3072"/>
              <a:chExt cx="729" cy="624"/>
            </a:xfrm>
          </p:grpSpPr>
          <p:sp>
            <p:nvSpPr>
              <p:cNvPr id="131" name="Rectangle 3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Rectangle 3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Rectangle 3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" name="Rectangle 3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1" name="Line 41"/>
            <p:cNvSpPr>
              <a:spLocks noChangeShapeType="1"/>
            </p:cNvSpPr>
            <p:nvPr/>
          </p:nvSpPr>
          <p:spPr bwMode="auto">
            <a:xfrm flipH="1">
              <a:off x="6373813" y="4378325"/>
              <a:ext cx="654050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42"/>
            <p:cNvSpPr>
              <a:spLocks noChangeShapeType="1"/>
            </p:cNvSpPr>
            <p:nvPr/>
          </p:nvSpPr>
          <p:spPr bwMode="auto">
            <a:xfrm>
              <a:off x="7432675" y="4376738"/>
              <a:ext cx="541337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44"/>
            <p:cNvSpPr>
              <a:spLocks noChangeShapeType="1"/>
            </p:cNvSpPr>
            <p:nvPr/>
          </p:nvSpPr>
          <p:spPr bwMode="auto">
            <a:xfrm flipH="1">
              <a:off x="5727700" y="5384800"/>
              <a:ext cx="468312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Line 45"/>
            <p:cNvSpPr>
              <a:spLocks noChangeShapeType="1"/>
            </p:cNvSpPr>
            <p:nvPr/>
          </p:nvSpPr>
          <p:spPr bwMode="auto">
            <a:xfrm>
              <a:off x="6445250" y="5381625"/>
              <a:ext cx="465137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Text Box 49"/>
            <p:cNvSpPr txBox="1">
              <a:spLocks noChangeArrowheads="1"/>
            </p:cNvSpPr>
            <p:nvPr/>
          </p:nvSpPr>
          <p:spPr bwMode="auto">
            <a:xfrm>
              <a:off x="5491163" y="641956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96" name="Text Box 50"/>
            <p:cNvSpPr txBox="1">
              <a:spLocks noChangeArrowheads="1"/>
            </p:cNvSpPr>
            <p:nvPr/>
          </p:nvSpPr>
          <p:spPr bwMode="auto">
            <a:xfrm>
              <a:off x="5872163" y="641797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97" name="Text Box 51"/>
            <p:cNvSpPr txBox="1">
              <a:spLocks noChangeArrowheads="1"/>
            </p:cNvSpPr>
            <p:nvPr/>
          </p:nvSpPr>
          <p:spPr bwMode="auto">
            <a:xfrm>
              <a:off x="6407150" y="640051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98" name="Text Box 52"/>
            <p:cNvSpPr txBox="1">
              <a:spLocks noChangeArrowheads="1"/>
            </p:cNvSpPr>
            <p:nvPr/>
          </p:nvSpPr>
          <p:spPr bwMode="auto">
            <a:xfrm>
              <a:off x="6788150" y="639892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99" name="Text Box 56"/>
            <p:cNvSpPr txBox="1">
              <a:spLocks noChangeArrowheads="1"/>
            </p:cNvSpPr>
            <p:nvPr/>
          </p:nvSpPr>
          <p:spPr bwMode="auto">
            <a:xfrm>
              <a:off x="6737511" y="3922713"/>
              <a:ext cx="10118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marty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100" name="Text Box 57"/>
            <p:cNvSpPr txBox="1">
              <a:spLocks noChangeArrowheads="1"/>
            </p:cNvSpPr>
            <p:nvPr/>
          </p:nvSpPr>
          <p:spPr bwMode="auto">
            <a:xfrm>
              <a:off x="5880100" y="4951413"/>
              <a:ext cx="96051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“harry”</a:t>
              </a:r>
              <a:endParaRPr lang="en-US" sz="1800" dirty="0"/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7772400" y="4910138"/>
              <a:ext cx="807662" cy="592138"/>
              <a:chOff x="7621588" y="4910138"/>
              <a:chExt cx="807662" cy="592138"/>
            </a:xfrm>
          </p:grpSpPr>
          <p:grpSp>
            <p:nvGrpSpPr>
              <p:cNvPr id="125" name="Group 21"/>
              <p:cNvGrpSpPr/>
              <p:nvPr/>
            </p:nvGrpSpPr>
            <p:grpSpPr bwMode="auto">
              <a:xfrm>
                <a:off x="7621588" y="4910138"/>
                <a:ext cx="790575" cy="592138"/>
                <a:chOff x="3511" y="3072"/>
                <a:chExt cx="729" cy="624"/>
              </a:xfrm>
            </p:grpSpPr>
            <p:sp>
              <p:nvSpPr>
                <p:cNvPr id="127" name="Rectangle 2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Rectangle 2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9" name="Rectangle 2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" name="Rectangle 2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6" name="Text Box 58"/>
              <p:cNvSpPr txBox="1">
                <a:spLocks noChangeArrowheads="1"/>
              </p:cNvSpPr>
              <p:nvPr/>
            </p:nvSpPr>
            <p:spPr bwMode="auto">
              <a:xfrm>
                <a:off x="7635443" y="4948238"/>
                <a:ext cx="79380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“rich”</a:t>
                </a:r>
                <a:endParaRPr lang="en-US" sz="1800" dirty="0"/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8175625" y="6035675"/>
              <a:ext cx="901700" cy="609310"/>
              <a:chOff x="8023225" y="6035675"/>
              <a:chExt cx="901700" cy="609310"/>
            </a:xfrm>
          </p:grpSpPr>
          <p:grpSp>
            <p:nvGrpSpPr>
              <p:cNvPr id="117" name="Group 36"/>
              <p:cNvGrpSpPr/>
              <p:nvPr/>
            </p:nvGrpSpPr>
            <p:grpSpPr bwMode="auto">
              <a:xfrm>
                <a:off x="8050213" y="6035675"/>
                <a:ext cx="792162" cy="592138"/>
                <a:chOff x="3511" y="3072"/>
                <a:chExt cx="729" cy="624"/>
              </a:xfrm>
            </p:grpSpPr>
            <p:sp>
              <p:nvSpPr>
                <p:cNvPr id="121" name="Rectangle 3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" name="Rectangle 3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3" name="Rectangle 3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" name="Rectangle 4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8" name="Text Box 53"/>
              <p:cNvSpPr txBox="1">
                <a:spLocks noChangeArrowheads="1"/>
              </p:cNvSpPr>
              <p:nvPr/>
            </p:nvSpPr>
            <p:spPr bwMode="auto">
              <a:xfrm>
                <a:off x="8023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19" name="Text Box 54"/>
              <p:cNvSpPr txBox="1">
                <a:spLocks noChangeArrowheads="1"/>
              </p:cNvSpPr>
              <p:nvPr/>
            </p:nvSpPr>
            <p:spPr bwMode="auto">
              <a:xfrm>
                <a:off x="8404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0" name="Text Box 59"/>
              <p:cNvSpPr txBox="1">
                <a:spLocks noChangeArrowheads="1"/>
              </p:cNvSpPr>
              <p:nvPr/>
            </p:nvSpPr>
            <p:spPr bwMode="auto">
              <a:xfrm>
                <a:off x="8089418" y="6042025"/>
                <a:ext cx="67358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“</a:t>
                </a:r>
                <a:r>
                  <a:rPr lang="en-US" sz="1800" dirty="0" err="1"/>
                  <a:t>zai</a:t>
                </a:r>
                <a:r>
                  <a:rPr lang="en-US" sz="1800" dirty="0"/>
                  <a:t>”</a:t>
                </a:r>
                <a:endParaRPr lang="en-US" sz="1800" dirty="0"/>
              </a:p>
            </p:txBody>
          </p:sp>
        </p:grpSp>
        <p:sp>
          <p:nvSpPr>
            <p:cNvPr id="103" name="Text Box 60"/>
            <p:cNvSpPr txBox="1">
              <a:spLocks noChangeArrowheads="1"/>
            </p:cNvSpPr>
            <p:nvPr/>
          </p:nvSpPr>
          <p:spPr bwMode="auto">
            <a:xfrm>
              <a:off x="5465763" y="6051550"/>
              <a:ext cx="78739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alan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104" name="Text Box 61"/>
            <p:cNvSpPr txBox="1">
              <a:spLocks noChangeArrowheads="1"/>
            </p:cNvSpPr>
            <p:nvPr/>
          </p:nvSpPr>
          <p:spPr bwMode="auto">
            <a:xfrm>
              <a:off x="6356350" y="6042025"/>
              <a:ext cx="95571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jacob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105" name="Text Box 62"/>
            <p:cNvSpPr txBox="1">
              <a:spLocks noChangeArrowheads="1"/>
            </p:cNvSpPr>
            <p:nvPr/>
          </p:nvSpPr>
          <p:spPr bwMode="auto">
            <a:xfrm>
              <a:off x="5608084" y="3352800"/>
              <a:ext cx="33073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A Binary </a:t>
              </a:r>
              <a:r>
                <a:rPr lang="en-US" dirty="0">
                  <a:solidFill>
                    <a:srgbClr val="FF0000"/>
                  </a:solidFill>
                </a:rPr>
                <a:t>Search</a:t>
              </a:r>
              <a:r>
                <a:rPr lang="en-US" dirty="0"/>
                <a:t> Tree</a:t>
              </a:r>
              <a:endParaRPr lang="en-US" dirty="0"/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7234786" y="5384800"/>
              <a:ext cx="968665" cy="1279235"/>
              <a:chOff x="5576598" y="5537200"/>
              <a:chExt cx="968665" cy="1279235"/>
            </a:xfrm>
          </p:grpSpPr>
          <p:grpSp>
            <p:nvGrpSpPr>
              <p:cNvPr id="108" name="Group 26"/>
              <p:cNvGrpSpPr/>
              <p:nvPr/>
            </p:nvGrpSpPr>
            <p:grpSpPr bwMode="auto">
              <a:xfrm>
                <a:off x="5675313" y="6188075"/>
                <a:ext cx="792162" cy="592138"/>
                <a:chOff x="3511" y="3072"/>
                <a:chExt cx="729" cy="624"/>
              </a:xfrm>
            </p:grpSpPr>
            <p:sp>
              <p:nvSpPr>
                <p:cNvPr id="113" name="Rectangle 2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" name="Rectangle 2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" name="Rectangle 2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6" name="Rectangle 3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9" name="Line 44"/>
              <p:cNvSpPr>
                <a:spLocks noChangeShapeType="1"/>
              </p:cNvSpPr>
              <p:nvPr/>
            </p:nvSpPr>
            <p:spPr bwMode="auto">
              <a:xfrm flipH="1">
                <a:off x="5880100" y="5537200"/>
                <a:ext cx="468312" cy="642938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Text Box 49"/>
              <p:cNvSpPr txBox="1">
                <a:spLocks noChangeArrowheads="1"/>
              </p:cNvSpPr>
              <p:nvPr/>
            </p:nvSpPr>
            <p:spPr bwMode="auto">
              <a:xfrm>
                <a:off x="5643563" y="657196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11" name="Text Box 50"/>
              <p:cNvSpPr txBox="1">
                <a:spLocks noChangeArrowheads="1"/>
              </p:cNvSpPr>
              <p:nvPr/>
            </p:nvSpPr>
            <p:spPr bwMode="auto">
              <a:xfrm>
                <a:off x="6024563" y="6570373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12" name="Text Box 60"/>
              <p:cNvSpPr txBox="1">
                <a:spLocks noChangeArrowheads="1"/>
              </p:cNvSpPr>
              <p:nvPr/>
            </p:nvSpPr>
            <p:spPr bwMode="auto">
              <a:xfrm>
                <a:off x="5576598" y="6203950"/>
                <a:ext cx="878767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dirty="0"/>
                  <a:t>“</a:t>
                </a:r>
                <a:r>
                  <a:rPr lang="en-US" sz="1600" dirty="0" err="1"/>
                  <a:t>nancy</a:t>
                </a:r>
                <a:r>
                  <a:rPr lang="en-US" sz="1600" dirty="0"/>
                  <a:t>”</a:t>
                </a:r>
                <a:endParaRPr lang="en-US" sz="1600" dirty="0"/>
              </a:p>
            </p:txBody>
          </p:sp>
        </p:grpSp>
        <p:sp>
          <p:nvSpPr>
            <p:cNvPr id="107" name="Line 43"/>
            <p:cNvSpPr>
              <a:spLocks noChangeShapeType="1"/>
            </p:cNvSpPr>
            <p:nvPr/>
          </p:nvSpPr>
          <p:spPr bwMode="auto">
            <a:xfrm>
              <a:off x="8315325" y="5435600"/>
              <a:ext cx="280987" cy="6048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D39B-1EB0-4768-B6E6-7531262C04A9}" type="slidenum">
              <a:rPr lang="en-US"/>
            </a:fld>
            <a:endParaRPr lang="en-US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82563"/>
            <a:ext cx="7772400" cy="1143000"/>
          </a:xfrm>
        </p:spPr>
        <p:txBody>
          <a:bodyPr/>
          <a:lstStyle/>
          <a:p>
            <a:r>
              <a:rPr lang="en-US"/>
              <a:t>Trees</a:t>
            </a:r>
            <a:endParaRPr lang="en-US"/>
          </a:p>
        </p:txBody>
      </p:sp>
      <p:sp>
        <p:nvSpPr>
          <p:cNvPr id="556039" name="Text Box 7"/>
          <p:cNvSpPr txBox="1">
            <a:spLocks noChangeArrowheads="1"/>
          </p:cNvSpPr>
          <p:nvPr/>
        </p:nvSpPr>
        <p:spPr bwMode="auto">
          <a:xfrm>
            <a:off x="521494" y="1165950"/>
            <a:ext cx="8101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Tree </a:t>
            </a:r>
            <a:r>
              <a:rPr lang="en-US" dirty="0"/>
              <a:t>is a special </a:t>
            </a:r>
            <a:r>
              <a:rPr lang="en-US" dirty="0">
                <a:solidFill>
                  <a:srgbClr val="FF0000"/>
                </a:solidFill>
              </a:rPr>
              <a:t>linked list-based data structure </a:t>
            </a:r>
            <a:br>
              <a:rPr lang="en-US" dirty="0"/>
            </a:br>
            <a:r>
              <a:rPr lang="en-US" dirty="0"/>
              <a:t>that has many uses in Computer Science:</a:t>
            </a:r>
            <a:endParaRPr lang="en-US" dirty="0"/>
          </a:p>
        </p:txBody>
      </p:sp>
      <p:sp>
        <p:nvSpPr>
          <p:cNvPr id="556040" name="Text Box 8"/>
          <p:cNvSpPr txBox="1">
            <a:spLocks noChangeArrowheads="1"/>
          </p:cNvSpPr>
          <p:nvPr/>
        </p:nvSpPr>
        <p:spPr bwMode="auto">
          <a:xfrm>
            <a:off x="177722" y="3004183"/>
            <a:ext cx="54848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6600CC"/>
                </a:solidFill>
              </a:rPr>
              <a:t>To organize hierarchical data </a:t>
            </a:r>
            <a:endParaRPr lang="en-US" dirty="0">
              <a:solidFill>
                <a:srgbClr val="6600CC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To make information easily 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 searchable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6600CC"/>
                </a:solidFill>
              </a:rPr>
              <a:t> To simplify the evaluation of </a:t>
            </a:r>
            <a:br>
              <a:rPr lang="en-US" dirty="0">
                <a:solidFill>
                  <a:srgbClr val="6600CC"/>
                </a:solidFill>
              </a:rPr>
            </a:br>
            <a:r>
              <a:rPr lang="en-US" dirty="0">
                <a:solidFill>
                  <a:srgbClr val="6600CC"/>
                </a:solidFill>
              </a:rPr>
              <a:t>   mathematical expressions</a:t>
            </a:r>
            <a:endParaRPr lang="en-US" dirty="0">
              <a:solidFill>
                <a:srgbClr val="6600CC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105400" y="3124200"/>
            <a:ext cx="3586162" cy="3311235"/>
            <a:chOff x="5491163" y="3352800"/>
            <a:chExt cx="3586162" cy="3311235"/>
          </a:xfrm>
        </p:grpSpPr>
        <p:grpSp>
          <p:nvGrpSpPr>
            <p:cNvPr id="9" name="Group 11"/>
            <p:cNvGrpSpPr/>
            <p:nvPr/>
          </p:nvGrpSpPr>
          <p:grpSpPr bwMode="auto">
            <a:xfrm>
              <a:off x="5899150" y="4910138"/>
              <a:ext cx="792162" cy="592138"/>
              <a:chOff x="3511" y="3072"/>
              <a:chExt cx="729" cy="624"/>
            </a:xfrm>
          </p:grpSpPr>
          <p:sp>
            <p:nvSpPr>
              <p:cNvPr id="65" name="Rectangle 1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Rectangle 1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Rectangle 1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Rectangle 1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16"/>
            <p:cNvGrpSpPr/>
            <p:nvPr/>
          </p:nvGrpSpPr>
          <p:grpSpPr bwMode="auto">
            <a:xfrm>
              <a:off x="6848475" y="3903663"/>
              <a:ext cx="792162" cy="592138"/>
              <a:chOff x="3511" y="3072"/>
              <a:chExt cx="729" cy="624"/>
            </a:xfrm>
          </p:grpSpPr>
          <p:sp>
            <p:nvSpPr>
              <p:cNvPr id="61" name="Rectangle 1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Rectangle 1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Rectangle 1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Rectangle 2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6"/>
            <p:cNvGrpSpPr/>
            <p:nvPr/>
          </p:nvGrpSpPr>
          <p:grpSpPr bwMode="auto">
            <a:xfrm>
              <a:off x="5522913" y="6035675"/>
              <a:ext cx="792162" cy="592138"/>
              <a:chOff x="3511" y="3072"/>
              <a:chExt cx="729" cy="624"/>
            </a:xfrm>
          </p:grpSpPr>
          <p:sp>
            <p:nvSpPr>
              <p:cNvPr id="57" name="Rectangle 2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Rectangle 2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Rectangle 2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Rectangle 3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31"/>
            <p:cNvGrpSpPr/>
            <p:nvPr/>
          </p:nvGrpSpPr>
          <p:grpSpPr bwMode="auto">
            <a:xfrm>
              <a:off x="6434138" y="6034088"/>
              <a:ext cx="790575" cy="592138"/>
              <a:chOff x="3511" y="3072"/>
              <a:chExt cx="729" cy="624"/>
            </a:xfrm>
          </p:grpSpPr>
          <p:sp>
            <p:nvSpPr>
              <p:cNvPr id="53" name="Rectangle 3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Rectangle 3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Rectangle 3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Rectangle 3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Line 41"/>
            <p:cNvSpPr>
              <a:spLocks noChangeShapeType="1"/>
            </p:cNvSpPr>
            <p:nvPr/>
          </p:nvSpPr>
          <p:spPr bwMode="auto">
            <a:xfrm flipH="1">
              <a:off x="6373813" y="4378325"/>
              <a:ext cx="654050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42"/>
            <p:cNvSpPr>
              <a:spLocks noChangeShapeType="1"/>
            </p:cNvSpPr>
            <p:nvPr/>
          </p:nvSpPr>
          <p:spPr bwMode="auto">
            <a:xfrm>
              <a:off x="7432675" y="4376738"/>
              <a:ext cx="541337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44"/>
            <p:cNvSpPr>
              <a:spLocks noChangeShapeType="1"/>
            </p:cNvSpPr>
            <p:nvPr/>
          </p:nvSpPr>
          <p:spPr bwMode="auto">
            <a:xfrm flipH="1">
              <a:off x="5727700" y="5384800"/>
              <a:ext cx="468312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45"/>
            <p:cNvSpPr>
              <a:spLocks noChangeShapeType="1"/>
            </p:cNvSpPr>
            <p:nvPr/>
          </p:nvSpPr>
          <p:spPr bwMode="auto">
            <a:xfrm>
              <a:off x="6445250" y="5381625"/>
              <a:ext cx="465137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49"/>
            <p:cNvSpPr txBox="1">
              <a:spLocks noChangeArrowheads="1"/>
            </p:cNvSpPr>
            <p:nvPr/>
          </p:nvSpPr>
          <p:spPr bwMode="auto">
            <a:xfrm>
              <a:off x="5491163" y="641956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18" name="Text Box 50"/>
            <p:cNvSpPr txBox="1">
              <a:spLocks noChangeArrowheads="1"/>
            </p:cNvSpPr>
            <p:nvPr/>
          </p:nvSpPr>
          <p:spPr bwMode="auto">
            <a:xfrm>
              <a:off x="5872163" y="641797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19" name="Text Box 51"/>
            <p:cNvSpPr txBox="1">
              <a:spLocks noChangeArrowheads="1"/>
            </p:cNvSpPr>
            <p:nvPr/>
          </p:nvSpPr>
          <p:spPr bwMode="auto">
            <a:xfrm>
              <a:off x="6407150" y="640051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20" name="Text Box 52"/>
            <p:cNvSpPr txBox="1">
              <a:spLocks noChangeArrowheads="1"/>
            </p:cNvSpPr>
            <p:nvPr/>
          </p:nvSpPr>
          <p:spPr bwMode="auto">
            <a:xfrm>
              <a:off x="6788150" y="639892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21" name="Text Box 56"/>
            <p:cNvSpPr txBox="1">
              <a:spLocks noChangeArrowheads="1"/>
            </p:cNvSpPr>
            <p:nvPr/>
          </p:nvSpPr>
          <p:spPr bwMode="auto">
            <a:xfrm>
              <a:off x="7052476" y="3823182"/>
              <a:ext cx="35779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dirty="0"/>
                <a:t>+</a:t>
              </a:r>
              <a:endParaRPr lang="en-US" sz="2800" dirty="0"/>
            </a:p>
          </p:txBody>
        </p:sp>
        <p:sp>
          <p:nvSpPr>
            <p:cNvPr id="22" name="Text Box 57"/>
            <p:cNvSpPr txBox="1">
              <a:spLocks noChangeArrowheads="1"/>
            </p:cNvSpPr>
            <p:nvPr/>
          </p:nvSpPr>
          <p:spPr bwMode="auto">
            <a:xfrm>
              <a:off x="6123853" y="4923703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*</a:t>
              </a:r>
              <a:endParaRPr lang="en-US" dirty="0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7772400" y="4815367"/>
              <a:ext cx="790575" cy="686909"/>
              <a:chOff x="7621588" y="4815367"/>
              <a:chExt cx="790575" cy="686909"/>
            </a:xfrm>
          </p:grpSpPr>
          <p:grpSp>
            <p:nvGrpSpPr>
              <p:cNvPr id="47" name="Group 21"/>
              <p:cNvGrpSpPr/>
              <p:nvPr/>
            </p:nvGrpSpPr>
            <p:grpSpPr bwMode="auto">
              <a:xfrm>
                <a:off x="7621588" y="4910138"/>
                <a:ext cx="790575" cy="592138"/>
                <a:chOff x="3511" y="3072"/>
                <a:chExt cx="729" cy="624"/>
              </a:xfrm>
            </p:grpSpPr>
            <p:sp>
              <p:nvSpPr>
                <p:cNvPr id="49" name="Rectangle 2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Rectangle 2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Rectangle 2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Rectangle 2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" name="Text Box 58"/>
              <p:cNvSpPr txBox="1">
                <a:spLocks noChangeArrowheads="1"/>
              </p:cNvSpPr>
              <p:nvPr/>
            </p:nvSpPr>
            <p:spPr bwMode="auto">
              <a:xfrm>
                <a:off x="7828715" y="4815367"/>
                <a:ext cx="381836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3200" dirty="0"/>
                  <a:t>+</a:t>
                </a:r>
                <a:endParaRPr lang="en-US" sz="3200" dirty="0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8175625" y="6035675"/>
              <a:ext cx="901700" cy="609310"/>
              <a:chOff x="8023225" y="6035675"/>
              <a:chExt cx="901700" cy="609310"/>
            </a:xfrm>
          </p:grpSpPr>
          <p:grpSp>
            <p:nvGrpSpPr>
              <p:cNvPr id="39" name="Group 36"/>
              <p:cNvGrpSpPr/>
              <p:nvPr/>
            </p:nvGrpSpPr>
            <p:grpSpPr bwMode="auto">
              <a:xfrm>
                <a:off x="8050213" y="6035675"/>
                <a:ext cx="792162" cy="592138"/>
                <a:chOff x="3511" y="3072"/>
                <a:chExt cx="729" cy="624"/>
              </a:xfrm>
            </p:grpSpPr>
            <p:sp>
              <p:nvSpPr>
                <p:cNvPr id="43" name="Rectangle 3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Rectangle 3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Rectangle 3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Rectangle 4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0" name="Text Box 53"/>
              <p:cNvSpPr txBox="1">
                <a:spLocks noChangeArrowheads="1"/>
              </p:cNvSpPr>
              <p:nvPr/>
            </p:nvSpPr>
            <p:spPr bwMode="auto">
              <a:xfrm>
                <a:off x="8023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41" name="Text Box 54"/>
              <p:cNvSpPr txBox="1">
                <a:spLocks noChangeArrowheads="1"/>
              </p:cNvSpPr>
              <p:nvPr/>
            </p:nvSpPr>
            <p:spPr bwMode="auto">
              <a:xfrm>
                <a:off x="8404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42" name="Text Box 59"/>
              <p:cNvSpPr txBox="1">
                <a:spLocks noChangeArrowheads="1"/>
              </p:cNvSpPr>
              <p:nvPr/>
            </p:nvSpPr>
            <p:spPr bwMode="auto">
              <a:xfrm>
                <a:off x="8285163" y="6042025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4</a:t>
                </a:r>
                <a:endParaRPr lang="en-US" sz="1800" dirty="0"/>
              </a:p>
            </p:txBody>
          </p:sp>
        </p:grpSp>
        <p:sp>
          <p:nvSpPr>
            <p:cNvPr id="25" name="Text Box 60"/>
            <p:cNvSpPr txBox="1">
              <a:spLocks noChangeArrowheads="1"/>
            </p:cNvSpPr>
            <p:nvPr/>
          </p:nvSpPr>
          <p:spPr bwMode="auto">
            <a:xfrm>
              <a:off x="5701293" y="6051550"/>
              <a:ext cx="46679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32</a:t>
              </a:r>
              <a:endParaRPr lang="en-US" sz="1800" dirty="0"/>
            </a:p>
          </p:txBody>
        </p:sp>
        <p:sp>
          <p:nvSpPr>
            <p:cNvPr id="26" name="Text Box 61"/>
            <p:cNvSpPr txBox="1">
              <a:spLocks noChangeArrowheads="1"/>
            </p:cNvSpPr>
            <p:nvPr/>
          </p:nvSpPr>
          <p:spPr bwMode="auto">
            <a:xfrm>
              <a:off x="6649892" y="6069735"/>
              <a:ext cx="4299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17</a:t>
              </a:r>
              <a:endParaRPr lang="en-US" sz="1800" dirty="0"/>
            </a:p>
          </p:txBody>
        </p:sp>
        <p:sp>
          <p:nvSpPr>
            <p:cNvPr id="27" name="Text Box 62"/>
            <p:cNvSpPr txBox="1">
              <a:spLocks noChangeArrowheads="1"/>
            </p:cNvSpPr>
            <p:nvPr/>
          </p:nvSpPr>
          <p:spPr bwMode="auto">
            <a:xfrm>
              <a:off x="5770563" y="3352800"/>
              <a:ext cx="301076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An </a:t>
              </a:r>
              <a:r>
                <a:rPr lang="en-US" dirty="0">
                  <a:solidFill>
                    <a:srgbClr val="FF0000"/>
                  </a:solidFill>
                </a:rPr>
                <a:t>Expression</a:t>
              </a:r>
              <a:r>
                <a:rPr lang="en-US" dirty="0"/>
                <a:t> Tree</a:t>
              </a:r>
              <a:endParaRPr lang="en-US" dirty="0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7301751" y="5384800"/>
              <a:ext cx="901700" cy="1279235"/>
              <a:chOff x="5643563" y="5537200"/>
              <a:chExt cx="901700" cy="1279235"/>
            </a:xfrm>
          </p:grpSpPr>
          <p:grpSp>
            <p:nvGrpSpPr>
              <p:cNvPr id="30" name="Group 26"/>
              <p:cNvGrpSpPr/>
              <p:nvPr/>
            </p:nvGrpSpPr>
            <p:grpSpPr bwMode="auto">
              <a:xfrm>
                <a:off x="5675313" y="6188075"/>
                <a:ext cx="792162" cy="592138"/>
                <a:chOff x="3511" y="3072"/>
                <a:chExt cx="729" cy="624"/>
              </a:xfrm>
            </p:grpSpPr>
            <p:sp>
              <p:nvSpPr>
                <p:cNvPr id="35" name="Rectangle 2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Rectangle 2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Rectangle 2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Rectangle 3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1" name="Line 44"/>
              <p:cNvSpPr>
                <a:spLocks noChangeShapeType="1"/>
              </p:cNvSpPr>
              <p:nvPr/>
            </p:nvSpPr>
            <p:spPr bwMode="auto">
              <a:xfrm flipH="1">
                <a:off x="5880100" y="5537200"/>
                <a:ext cx="468312" cy="642938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Text Box 49"/>
              <p:cNvSpPr txBox="1">
                <a:spLocks noChangeArrowheads="1"/>
              </p:cNvSpPr>
              <p:nvPr/>
            </p:nvSpPr>
            <p:spPr bwMode="auto">
              <a:xfrm>
                <a:off x="5643563" y="657196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33" name="Text Box 50"/>
              <p:cNvSpPr txBox="1">
                <a:spLocks noChangeArrowheads="1"/>
              </p:cNvSpPr>
              <p:nvPr/>
            </p:nvSpPr>
            <p:spPr bwMode="auto">
              <a:xfrm>
                <a:off x="6024563" y="6570373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34" name="Text Box 60"/>
              <p:cNvSpPr txBox="1">
                <a:spLocks noChangeArrowheads="1"/>
              </p:cNvSpPr>
              <p:nvPr/>
            </p:nvSpPr>
            <p:spPr bwMode="auto">
              <a:xfrm>
                <a:off x="5788626" y="6217805"/>
                <a:ext cx="5629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-42</a:t>
                </a:r>
                <a:endParaRPr lang="en-US" sz="1800" dirty="0"/>
              </a:p>
            </p:txBody>
          </p:sp>
        </p:grpSp>
        <p:sp>
          <p:nvSpPr>
            <p:cNvPr id="29" name="Line 43"/>
            <p:cNvSpPr>
              <a:spLocks noChangeShapeType="1"/>
            </p:cNvSpPr>
            <p:nvPr/>
          </p:nvSpPr>
          <p:spPr bwMode="auto">
            <a:xfrm>
              <a:off x="8315325" y="5435600"/>
              <a:ext cx="280987" cy="6048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D39B-1EB0-4768-B6E6-7531262C04A9}" type="slidenum">
              <a:rPr lang="en-US"/>
            </a:fld>
            <a:endParaRPr lang="en-US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82563"/>
            <a:ext cx="7772400" cy="1143000"/>
          </a:xfrm>
        </p:spPr>
        <p:txBody>
          <a:bodyPr/>
          <a:lstStyle/>
          <a:p>
            <a:r>
              <a:rPr lang="en-US"/>
              <a:t>Trees</a:t>
            </a:r>
            <a:endParaRPr lang="en-US"/>
          </a:p>
        </p:txBody>
      </p:sp>
      <p:sp>
        <p:nvSpPr>
          <p:cNvPr id="556039" name="Text Box 7"/>
          <p:cNvSpPr txBox="1">
            <a:spLocks noChangeArrowheads="1"/>
          </p:cNvSpPr>
          <p:nvPr/>
        </p:nvSpPr>
        <p:spPr bwMode="auto">
          <a:xfrm>
            <a:off x="521494" y="1165950"/>
            <a:ext cx="8101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Tree </a:t>
            </a:r>
            <a:r>
              <a:rPr lang="en-US" dirty="0"/>
              <a:t>is a special </a:t>
            </a:r>
            <a:r>
              <a:rPr lang="en-US" dirty="0">
                <a:solidFill>
                  <a:srgbClr val="FF0000"/>
                </a:solidFill>
              </a:rPr>
              <a:t>linked list-based data structure </a:t>
            </a:r>
            <a:br>
              <a:rPr lang="en-US" dirty="0"/>
            </a:br>
            <a:r>
              <a:rPr lang="en-US" dirty="0"/>
              <a:t>that has many uses in Computer Science:</a:t>
            </a:r>
            <a:endParaRPr lang="en-US" dirty="0"/>
          </a:p>
        </p:txBody>
      </p:sp>
      <p:sp>
        <p:nvSpPr>
          <p:cNvPr id="556040" name="Text Box 8"/>
          <p:cNvSpPr txBox="1">
            <a:spLocks noChangeArrowheads="1"/>
          </p:cNvSpPr>
          <p:nvPr/>
        </p:nvSpPr>
        <p:spPr bwMode="auto">
          <a:xfrm>
            <a:off x="177722" y="3004183"/>
            <a:ext cx="54848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6600CC"/>
                </a:solidFill>
              </a:rPr>
              <a:t>To organize hierarchical data </a:t>
            </a:r>
            <a:endParaRPr lang="en-US" dirty="0">
              <a:solidFill>
                <a:srgbClr val="6600CC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To make information easily 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 searchable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6600CC"/>
                </a:solidFill>
              </a:rPr>
              <a:t> To simplify the evaluation of </a:t>
            </a:r>
            <a:br>
              <a:rPr lang="en-US" dirty="0">
                <a:solidFill>
                  <a:srgbClr val="6600CC"/>
                </a:solidFill>
              </a:rPr>
            </a:br>
            <a:r>
              <a:rPr lang="en-US" dirty="0">
                <a:solidFill>
                  <a:srgbClr val="6600CC"/>
                </a:solidFill>
              </a:rPr>
              <a:t>   mathematical expressions</a:t>
            </a:r>
            <a:endParaRPr lang="en-US" dirty="0">
              <a:solidFill>
                <a:srgbClr val="6600CC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To make decisions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168877" y="2514600"/>
            <a:ext cx="4267200" cy="3966865"/>
            <a:chOff x="4572000" y="2891135"/>
            <a:chExt cx="4267200" cy="3966865"/>
          </a:xfrm>
        </p:grpSpPr>
        <p:grpSp>
          <p:nvGrpSpPr>
            <p:cNvPr id="556113" name="Group 81"/>
            <p:cNvGrpSpPr/>
            <p:nvPr/>
          </p:nvGrpSpPr>
          <p:grpSpPr bwMode="auto">
            <a:xfrm>
              <a:off x="4572000" y="3367087"/>
              <a:ext cx="4267200" cy="3490913"/>
              <a:chOff x="3024" y="2142"/>
              <a:chExt cx="2688" cy="2199"/>
            </a:xfrm>
          </p:grpSpPr>
          <p:sp>
            <p:nvSpPr>
              <p:cNvPr id="556096" name="Rectangle 64"/>
              <p:cNvSpPr>
                <a:spLocks noChangeArrowheads="1"/>
              </p:cNvSpPr>
              <p:nvPr/>
            </p:nvSpPr>
            <p:spPr bwMode="auto">
              <a:xfrm>
                <a:off x="4221" y="2142"/>
                <a:ext cx="1008" cy="528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 dirty="0"/>
                  <a:t>Does the </a:t>
                </a:r>
                <a:br>
                  <a:rPr lang="en-US" sz="1800" dirty="0"/>
                </a:br>
                <a:r>
                  <a:rPr lang="en-US" sz="1800" dirty="0"/>
                  <a:t>patient </a:t>
                </a:r>
                <a:br>
                  <a:rPr lang="en-US" sz="1800" dirty="0"/>
                </a:br>
                <a:r>
                  <a:rPr lang="en-US" sz="1800" dirty="0"/>
                  <a:t>have a fever?</a:t>
                </a:r>
                <a:endParaRPr lang="en-US" sz="1800" dirty="0"/>
              </a:p>
            </p:txBody>
          </p:sp>
          <p:sp>
            <p:nvSpPr>
              <p:cNvPr id="556098" name="Rectangle 66"/>
              <p:cNvSpPr>
                <a:spLocks noChangeArrowheads="1"/>
              </p:cNvSpPr>
              <p:nvPr/>
            </p:nvSpPr>
            <p:spPr bwMode="auto">
              <a:xfrm>
                <a:off x="3552" y="2976"/>
                <a:ext cx="1008" cy="528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/>
                  <a:t>Does he/she</a:t>
                </a:r>
                <a:br>
                  <a:rPr lang="en-US" sz="1800"/>
                </a:br>
                <a:r>
                  <a:rPr lang="en-US" sz="1800"/>
                  <a:t>have spots on </a:t>
                </a:r>
                <a:endParaRPr lang="en-US" sz="1800"/>
              </a:p>
              <a:p>
                <a:pPr algn="ctr"/>
                <a:r>
                  <a:rPr lang="en-US" sz="1800"/>
                  <a:t>his/her face?</a:t>
                </a:r>
                <a:endParaRPr lang="en-US" sz="1800"/>
              </a:p>
            </p:txBody>
          </p:sp>
          <p:sp>
            <p:nvSpPr>
              <p:cNvPr id="556099" name="Rectangle 67"/>
              <p:cNvSpPr>
                <a:spLocks noChangeArrowheads="1"/>
              </p:cNvSpPr>
              <p:nvPr/>
            </p:nvSpPr>
            <p:spPr bwMode="auto">
              <a:xfrm>
                <a:off x="4704" y="2976"/>
                <a:ext cx="1008" cy="528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/>
                  <a:t>Does he/she</a:t>
                </a:r>
                <a:br>
                  <a:rPr lang="en-US" sz="1800"/>
                </a:br>
                <a:r>
                  <a:rPr lang="en-US" sz="1800"/>
                  <a:t>have a sore</a:t>
                </a:r>
                <a:br>
                  <a:rPr lang="en-US" sz="1800"/>
                </a:br>
                <a:r>
                  <a:rPr lang="en-US" sz="1800"/>
                  <a:t>throat?</a:t>
                </a:r>
                <a:endParaRPr lang="en-US" sz="1800"/>
              </a:p>
            </p:txBody>
          </p:sp>
          <p:sp>
            <p:nvSpPr>
              <p:cNvPr id="556100" name="Rectangle 68"/>
              <p:cNvSpPr>
                <a:spLocks noChangeArrowheads="1"/>
              </p:cNvSpPr>
              <p:nvPr/>
            </p:nvSpPr>
            <p:spPr bwMode="auto">
              <a:xfrm>
                <a:off x="3024" y="3813"/>
                <a:ext cx="1008" cy="528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 dirty="0"/>
                  <a:t>He has </a:t>
                </a:r>
                <a:br>
                  <a:rPr lang="en-US" sz="1800" dirty="0"/>
                </a:br>
                <a:r>
                  <a:rPr lang="en-US" sz="1800" dirty="0">
                    <a:solidFill>
                      <a:srgbClr val="FF0000"/>
                    </a:solidFill>
                  </a:rPr>
                  <a:t>COOTIES!</a:t>
                </a:r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56102" name="Line 70"/>
              <p:cNvSpPr>
                <a:spLocks noChangeShapeType="1"/>
              </p:cNvSpPr>
              <p:nvPr/>
            </p:nvSpPr>
            <p:spPr bwMode="auto">
              <a:xfrm flipH="1">
                <a:off x="4224" y="2671"/>
                <a:ext cx="258" cy="3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103" name="Line 71"/>
              <p:cNvSpPr>
                <a:spLocks noChangeShapeType="1"/>
              </p:cNvSpPr>
              <p:nvPr/>
            </p:nvSpPr>
            <p:spPr bwMode="auto">
              <a:xfrm>
                <a:off x="4878" y="2667"/>
                <a:ext cx="258" cy="3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104" name="Line 72"/>
              <p:cNvSpPr>
                <a:spLocks noChangeShapeType="1"/>
              </p:cNvSpPr>
              <p:nvPr/>
            </p:nvSpPr>
            <p:spPr bwMode="auto">
              <a:xfrm flipH="1">
                <a:off x="3600" y="3505"/>
                <a:ext cx="258" cy="3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105" name="Text Box 73"/>
              <p:cNvSpPr txBox="1">
                <a:spLocks noChangeArrowheads="1"/>
              </p:cNvSpPr>
              <p:nvPr/>
            </p:nvSpPr>
            <p:spPr bwMode="auto">
              <a:xfrm>
                <a:off x="3989" y="2682"/>
                <a:ext cx="36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chemeClr val="accent2"/>
                    </a:solidFill>
                  </a:rPr>
                  <a:t>yes</a:t>
                </a:r>
                <a:endParaRPr lang="en-US" sz="20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6106" name="Text Box 74"/>
              <p:cNvSpPr txBox="1">
                <a:spLocks noChangeArrowheads="1"/>
              </p:cNvSpPr>
              <p:nvPr/>
            </p:nvSpPr>
            <p:spPr bwMode="auto">
              <a:xfrm>
                <a:off x="5011" y="2688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chemeClr val="accent2"/>
                    </a:solidFill>
                  </a:rPr>
                  <a:t>no</a:t>
                </a:r>
                <a:endParaRPr lang="en-US" sz="20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6107" name="Text Box 75"/>
              <p:cNvSpPr txBox="1">
                <a:spLocks noChangeArrowheads="1"/>
              </p:cNvSpPr>
              <p:nvPr/>
            </p:nvSpPr>
            <p:spPr bwMode="auto">
              <a:xfrm>
                <a:off x="3360" y="3522"/>
                <a:ext cx="36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chemeClr val="accent2"/>
                    </a:solidFill>
                  </a:rPr>
                  <a:t>yes</a:t>
                </a:r>
                <a:endParaRPr lang="en-US" sz="20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6108" name="Line 76"/>
              <p:cNvSpPr>
                <a:spLocks noChangeShapeType="1"/>
              </p:cNvSpPr>
              <p:nvPr/>
            </p:nvSpPr>
            <p:spPr bwMode="auto">
              <a:xfrm>
                <a:off x="4175" y="3511"/>
                <a:ext cx="258" cy="3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109" name="Text Box 77"/>
              <p:cNvSpPr txBox="1">
                <a:spLocks noChangeArrowheads="1"/>
              </p:cNvSpPr>
              <p:nvPr/>
            </p:nvSpPr>
            <p:spPr bwMode="auto">
              <a:xfrm>
                <a:off x="4368" y="3624"/>
                <a:ext cx="365" cy="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4600"/>
                  <a:t>…</a:t>
                </a:r>
                <a:endParaRPr lang="en-US" sz="4600"/>
              </a:p>
            </p:txBody>
          </p:sp>
          <p:sp>
            <p:nvSpPr>
              <p:cNvPr id="556110" name="Line 78"/>
              <p:cNvSpPr>
                <a:spLocks noChangeShapeType="1"/>
              </p:cNvSpPr>
              <p:nvPr/>
            </p:nvSpPr>
            <p:spPr bwMode="auto">
              <a:xfrm flipH="1">
                <a:off x="4752" y="3508"/>
                <a:ext cx="258" cy="3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6111" name="Line 79"/>
              <p:cNvSpPr>
                <a:spLocks noChangeShapeType="1"/>
              </p:cNvSpPr>
              <p:nvPr/>
            </p:nvSpPr>
            <p:spPr bwMode="auto">
              <a:xfrm>
                <a:off x="5406" y="3504"/>
                <a:ext cx="258" cy="3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6035662" y="2891135"/>
              <a:ext cx="24817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 </a:t>
              </a:r>
              <a:r>
                <a:rPr lang="en-US" dirty="0">
                  <a:solidFill>
                    <a:srgbClr val="FF0000"/>
                  </a:solidFill>
                </a:rPr>
                <a:t>Decision </a:t>
              </a:r>
              <a:r>
                <a:rPr lang="en-US" dirty="0"/>
                <a:t>Tree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6A4C-C1C5-4627-B6B0-457DD982F4CA}" type="slidenum">
              <a:rPr lang="en-US"/>
            </a:fld>
            <a:endParaRPr lang="en-US"/>
          </a:p>
        </p:txBody>
      </p: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dirty="0"/>
              <a:t>Basic Tree Facts</a:t>
            </a:r>
            <a:endParaRPr lang="en-US" dirty="0"/>
          </a:p>
        </p:txBody>
      </p:sp>
      <p:sp>
        <p:nvSpPr>
          <p:cNvPr id="527479" name="Rectangle 119"/>
          <p:cNvSpPr>
            <a:spLocks noChangeArrowheads="1"/>
          </p:cNvSpPr>
          <p:nvPr/>
        </p:nvSpPr>
        <p:spPr bwMode="auto">
          <a:xfrm>
            <a:off x="225425" y="408710"/>
            <a:ext cx="457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2200" dirty="0"/>
              <a:t>Trees are made of </a:t>
            </a:r>
            <a:r>
              <a:rPr lang="en-US" sz="2200" dirty="0">
                <a:solidFill>
                  <a:schemeClr val="accent2"/>
                </a:solidFill>
              </a:rPr>
              <a:t>nodes (</a:t>
            </a:r>
            <a:r>
              <a:rPr lang="en-US" sz="2200" dirty="0">
                <a:solidFill>
                  <a:srgbClr val="A50021"/>
                </a:solidFill>
              </a:rPr>
              <a:t>just like linked list nodes</a:t>
            </a:r>
            <a:r>
              <a:rPr lang="en-US" sz="2200" dirty="0">
                <a:solidFill>
                  <a:schemeClr val="accent2"/>
                </a:solidFill>
              </a:rPr>
              <a:t>)</a:t>
            </a:r>
            <a:r>
              <a:rPr lang="en-US" sz="2200" dirty="0"/>
              <a:t>.</a:t>
            </a:r>
            <a:endParaRPr lang="en-US" sz="2200" dirty="0"/>
          </a:p>
        </p:txBody>
      </p:sp>
      <p:sp>
        <p:nvSpPr>
          <p:cNvPr id="527480" name="Rectangle 120"/>
          <p:cNvSpPr>
            <a:spLocks noChangeArrowheads="1"/>
          </p:cNvSpPr>
          <p:nvPr/>
        </p:nvSpPr>
        <p:spPr bwMode="auto">
          <a:xfrm>
            <a:off x="193675" y="1651692"/>
            <a:ext cx="380745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/>
            <a:r>
              <a:rPr lang="en-US" sz="2200" dirty="0"/>
              <a:t>3.  The top node of a tree</a:t>
            </a:r>
            <a:br>
              <a:rPr lang="en-US" sz="2200" dirty="0"/>
            </a:br>
            <a:r>
              <a:rPr lang="en-US" sz="2200" dirty="0"/>
              <a:t>is called its "</a:t>
            </a:r>
            <a:r>
              <a:rPr lang="en-US" sz="2200" dirty="0">
                <a:solidFill>
                  <a:schemeClr val="accent2"/>
                </a:solidFill>
              </a:rPr>
              <a:t>root</a:t>
            </a:r>
            <a:r>
              <a:rPr lang="en-US" sz="2200" dirty="0"/>
              <a:t>" node.</a:t>
            </a:r>
            <a:endParaRPr lang="en-US" sz="2200" dirty="0"/>
          </a:p>
        </p:txBody>
      </p:sp>
      <p:sp>
        <p:nvSpPr>
          <p:cNvPr id="527481" name="Rectangle 121"/>
          <p:cNvSpPr>
            <a:spLocks noChangeArrowheads="1"/>
          </p:cNvSpPr>
          <p:nvPr/>
        </p:nvSpPr>
        <p:spPr bwMode="auto">
          <a:xfrm>
            <a:off x="182563" y="2422429"/>
            <a:ext cx="47942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/>
            <a:r>
              <a:rPr lang="en-US" sz="2200" dirty="0"/>
              <a:t>4.  Every node may have zero </a:t>
            </a:r>
            <a:br>
              <a:rPr lang="en-US" sz="2200" dirty="0"/>
            </a:br>
            <a:r>
              <a:rPr lang="en-US" sz="2200" dirty="0"/>
              <a:t>or more “</a:t>
            </a:r>
            <a:r>
              <a:rPr lang="en-US" sz="2200" dirty="0">
                <a:solidFill>
                  <a:srgbClr val="0000CC"/>
                </a:solidFill>
              </a:rPr>
              <a:t>children</a:t>
            </a:r>
            <a:r>
              <a:rPr lang="en-US" sz="2200" dirty="0"/>
              <a:t>” nodes.</a:t>
            </a:r>
            <a:endParaRPr lang="en-US" sz="2200" dirty="0"/>
          </a:p>
        </p:txBody>
      </p:sp>
      <p:sp>
        <p:nvSpPr>
          <p:cNvPr id="527483" name="Rectangle 123"/>
          <p:cNvSpPr>
            <a:spLocks noChangeArrowheads="1"/>
          </p:cNvSpPr>
          <p:nvPr/>
        </p:nvSpPr>
        <p:spPr bwMode="auto">
          <a:xfrm>
            <a:off x="203200" y="3188694"/>
            <a:ext cx="478472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/>
            <a:r>
              <a:rPr lang="en-US" sz="2200" dirty="0"/>
              <a:t>5.  </a:t>
            </a:r>
            <a:r>
              <a:rPr lang="en-US" sz="2200" dirty="0">
                <a:cs typeface="Courier New" panose="02070409020205090404" pitchFamily="49" charset="0"/>
              </a:rPr>
              <a:t>A node with </a:t>
            </a:r>
            <a:r>
              <a:rPr lang="en-US" sz="2200" dirty="0">
                <a:solidFill>
                  <a:schemeClr val="accent2"/>
                </a:solidFill>
                <a:cs typeface="Courier New" panose="02070409020205090404" pitchFamily="49" charset="0"/>
              </a:rPr>
              <a:t>0 </a:t>
            </a:r>
            <a:r>
              <a:rPr lang="en-US" sz="2200" dirty="0">
                <a:cs typeface="Courier New" panose="02070409020205090404" pitchFamily="49" charset="0"/>
              </a:rPr>
              <a:t>children is </a:t>
            </a:r>
            <a:br>
              <a:rPr lang="en-US" sz="2200" dirty="0">
                <a:cs typeface="Courier New" panose="02070409020205090404" pitchFamily="49" charset="0"/>
              </a:rPr>
            </a:br>
            <a:r>
              <a:rPr lang="en-US" sz="2200" dirty="0">
                <a:cs typeface="Courier New" panose="02070409020205090404" pitchFamily="49" charset="0"/>
              </a:rPr>
              <a:t>called a “</a:t>
            </a:r>
            <a:r>
              <a:rPr lang="en-US" sz="2200" dirty="0">
                <a:solidFill>
                  <a:srgbClr val="0000CC"/>
                </a:solidFill>
                <a:cs typeface="Courier New" panose="02070409020205090404" pitchFamily="49" charset="0"/>
              </a:rPr>
              <a:t>leaf</a:t>
            </a:r>
            <a:r>
              <a:rPr lang="en-US" sz="2200" dirty="0">
                <a:cs typeface="Courier New" panose="02070409020205090404" pitchFamily="49" charset="0"/>
              </a:rPr>
              <a:t>” node.</a:t>
            </a:r>
            <a:endParaRPr lang="en-US" sz="2200" dirty="0">
              <a:cs typeface="Courier New" panose="02070409020205090404" pitchFamily="49" charset="0"/>
            </a:endParaRPr>
          </a:p>
          <a:p>
            <a:pPr marL="457200" indent="-457200"/>
            <a:endParaRPr lang="en-US" sz="2200" dirty="0"/>
          </a:p>
        </p:txBody>
      </p:sp>
      <p:sp>
        <p:nvSpPr>
          <p:cNvPr id="527484" name="Text Box 124"/>
          <p:cNvSpPr txBox="1">
            <a:spLocks noChangeArrowheads="1"/>
          </p:cNvSpPr>
          <p:nvPr/>
        </p:nvSpPr>
        <p:spPr bwMode="auto">
          <a:xfrm>
            <a:off x="196850" y="3954959"/>
            <a:ext cx="49085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r>
              <a:rPr lang="en-US" sz="2200" dirty="0">
                <a:latin typeface="+mj-lt"/>
              </a:rPr>
              <a:t>6. A tree with no nodes is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called an “</a:t>
            </a:r>
            <a:r>
              <a:rPr lang="en-US" sz="2200" dirty="0">
                <a:solidFill>
                  <a:srgbClr val="0000CC"/>
                </a:solidFill>
                <a:latin typeface="+mj-lt"/>
              </a:rPr>
              <a:t>empty tree</a:t>
            </a:r>
            <a:r>
              <a:rPr lang="en-US" sz="2200" dirty="0">
                <a:latin typeface="+mj-lt"/>
              </a:rPr>
              <a:t>.”</a:t>
            </a:r>
            <a:endParaRPr lang="en-US" sz="2200" dirty="0">
              <a:latin typeface="+mj-lt"/>
              <a:cs typeface="Courier New" panose="02070409020205090404" pitchFamily="49" charset="0"/>
            </a:endParaRPr>
          </a:p>
        </p:txBody>
      </p:sp>
      <p:grpSp>
        <p:nvGrpSpPr>
          <p:cNvPr id="527494" name="Group 134"/>
          <p:cNvGrpSpPr/>
          <p:nvPr/>
        </p:nvGrpSpPr>
        <p:grpSpPr bwMode="auto">
          <a:xfrm>
            <a:off x="4959350" y="1274763"/>
            <a:ext cx="4184650" cy="4832350"/>
            <a:chOff x="3124" y="803"/>
            <a:chExt cx="2636" cy="3044"/>
          </a:xfrm>
        </p:grpSpPr>
        <p:grpSp>
          <p:nvGrpSpPr>
            <p:cNvPr id="527427" name="Group 67"/>
            <p:cNvGrpSpPr/>
            <p:nvPr/>
          </p:nvGrpSpPr>
          <p:grpSpPr bwMode="auto">
            <a:xfrm>
              <a:off x="3152" y="803"/>
              <a:ext cx="2560" cy="3037"/>
              <a:chOff x="3152" y="323"/>
              <a:chExt cx="2560" cy="3037"/>
            </a:xfrm>
          </p:grpSpPr>
          <p:grpSp>
            <p:nvGrpSpPr>
              <p:cNvPr id="527389" name="Group 29"/>
              <p:cNvGrpSpPr/>
              <p:nvPr/>
            </p:nvGrpSpPr>
            <p:grpSpPr bwMode="auto">
              <a:xfrm>
                <a:off x="3456" y="1968"/>
                <a:ext cx="640" cy="480"/>
                <a:chOff x="3511" y="3072"/>
                <a:chExt cx="729" cy="624"/>
              </a:xfrm>
            </p:grpSpPr>
            <p:sp>
              <p:nvSpPr>
                <p:cNvPr id="527381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82" name="Rectangle 22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83" name="Rectangle 23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dirty="0"/>
                    <a:t>-33</a:t>
                  </a:r>
                  <a:endParaRPr lang="en-US" dirty="0"/>
                </a:p>
              </p:txBody>
            </p:sp>
          </p:grpSp>
          <p:grpSp>
            <p:nvGrpSpPr>
              <p:cNvPr id="527390" name="Group 30"/>
              <p:cNvGrpSpPr/>
              <p:nvPr/>
            </p:nvGrpSpPr>
            <p:grpSpPr bwMode="auto">
              <a:xfrm>
                <a:off x="4224" y="1152"/>
                <a:ext cx="640" cy="480"/>
                <a:chOff x="3511" y="3072"/>
                <a:chExt cx="729" cy="624"/>
              </a:xfrm>
            </p:grpSpPr>
            <p:sp>
              <p:nvSpPr>
                <p:cNvPr id="527391" name="Rectangle 31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92" name="Rectangle 32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93" name="Rectangle 33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94" name="Rectangle 34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dirty="0"/>
                    <a:t>5</a:t>
                  </a:r>
                  <a:endParaRPr lang="en-US" dirty="0"/>
                </a:p>
              </p:txBody>
            </p:sp>
          </p:grpSp>
          <p:grpSp>
            <p:nvGrpSpPr>
              <p:cNvPr id="527395" name="Group 35"/>
              <p:cNvGrpSpPr/>
              <p:nvPr/>
            </p:nvGrpSpPr>
            <p:grpSpPr bwMode="auto">
              <a:xfrm>
                <a:off x="4848" y="1968"/>
                <a:ext cx="640" cy="480"/>
                <a:chOff x="3511" y="3072"/>
                <a:chExt cx="729" cy="624"/>
              </a:xfrm>
            </p:grpSpPr>
            <p:sp>
              <p:nvSpPr>
                <p:cNvPr id="527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97" name="Rectangle 37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98" name="Rectangle 38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399" name="Rectangle 39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dirty="0"/>
                    <a:t>17</a:t>
                  </a:r>
                  <a:endParaRPr lang="en-US" dirty="0"/>
                </a:p>
              </p:txBody>
            </p:sp>
          </p:grpSp>
          <p:grpSp>
            <p:nvGrpSpPr>
              <p:cNvPr id="527400" name="Group 40"/>
              <p:cNvGrpSpPr/>
              <p:nvPr/>
            </p:nvGrpSpPr>
            <p:grpSpPr bwMode="auto">
              <a:xfrm>
                <a:off x="3152" y="2880"/>
                <a:ext cx="640" cy="480"/>
                <a:chOff x="3511" y="3072"/>
                <a:chExt cx="729" cy="624"/>
              </a:xfrm>
            </p:grpSpPr>
            <p:sp>
              <p:nvSpPr>
                <p:cNvPr id="527401" name="Rectangle 41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02" name="Rectangle 42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03" name="Rectangle 43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04" name="Rectangle 44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dirty="0"/>
                    <a:t>53</a:t>
                  </a:r>
                  <a:endParaRPr lang="en-US" dirty="0"/>
                </a:p>
              </p:txBody>
            </p:sp>
          </p:grpSp>
          <p:grpSp>
            <p:nvGrpSpPr>
              <p:cNvPr id="527405" name="Group 45"/>
              <p:cNvGrpSpPr/>
              <p:nvPr/>
            </p:nvGrpSpPr>
            <p:grpSpPr bwMode="auto">
              <a:xfrm>
                <a:off x="3888" y="2879"/>
                <a:ext cx="640" cy="480"/>
                <a:chOff x="3511" y="3072"/>
                <a:chExt cx="729" cy="624"/>
              </a:xfrm>
            </p:grpSpPr>
            <p:sp>
              <p:nvSpPr>
                <p:cNvPr id="527406" name="Rectangle 46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07" name="Rectangle 47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08" name="Rectangle 48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09" name="Rectangle 49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dirty="0"/>
                    <a:t>91</a:t>
                  </a:r>
                  <a:endParaRPr lang="en-US" dirty="0"/>
                </a:p>
              </p:txBody>
            </p:sp>
          </p:grpSp>
          <p:grpSp>
            <p:nvGrpSpPr>
              <p:cNvPr id="527410" name="Group 50"/>
              <p:cNvGrpSpPr/>
              <p:nvPr/>
            </p:nvGrpSpPr>
            <p:grpSpPr bwMode="auto">
              <a:xfrm>
                <a:off x="5072" y="2880"/>
                <a:ext cx="640" cy="480"/>
                <a:chOff x="3511" y="3072"/>
                <a:chExt cx="729" cy="624"/>
              </a:xfrm>
            </p:grpSpPr>
            <p:sp>
              <p:nvSpPr>
                <p:cNvPr id="527411" name="Rectangle 51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12" name="Rectangle 52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13" name="Rectangle 53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414" name="Rectangle 54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dirty="0"/>
                    <a:t>-115</a:t>
                  </a:r>
                  <a:endParaRPr lang="en-US" dirty="0"/>
                </a:p>
              </p:txBody>
            </p:sp>
          </p:grpSp>
          <p:sp>
            <p:nvSpPr>
              <p:cNvPr id="527415" name="Line 55"/>
              <p:cNvSpPr>
                <a:spLocks noChangeShapeType="1"/>
              </p:cNvSpPr>
              <p:nvPr/>
            </p:nvSpPr>
            <p:spPr bwMode="auto">
              <a:xfrm flipH="1">
                <a:off x="3840" y="1536"/>
                <a:ext cx="528" cy="432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7416" name="Line 56"/>
              <p:cNvSpPr>
                <a:spLocks noChangeShapeType="1"/>
              </p:cNvSpPr>
              <p:nvPr/>
            </p:nvSpPr>
            <p:spPr bwMode="auto">
              <a:xfrm>
                <a:off x="4696" y="1535"/>
                <a:ext cx="437" cy="431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7417" name="Line 57"/>
              <p:cNvSpPr>
                <a:spLocks noChangeShapeType="1"/>
              </p:cNvSpPr>
              <p:nvPr/>
            </p:nvSpPr>
            <p:spPr bwMode="auto">
              <a:xfrm>
                <a:off x="5286" y="2394"/>
                <a:ext cx="227" cy="490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7418" name="Line 58"/>
              <p:cNvSpPr>
                <a:spLocks noChangeShapeType="1"/>
              </p:cNvSpPr>
              <p:nvPr/>
            </p:nvSpPr>
            <p:spPr bwMode="auto">
              <a:xfrm flipH="1">
                <a:off x="3318" y="2352"/>
                <a:ext cx="378" cy="521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7419" name="Line 59"/>
              <p:cNvSpPr>
                <a:spLocks noChangeShapeType="1"/>
              </p:cNvSpPr>
              <p:nvPr/>
            </p:nvSpPr>
            <p:spPr bwMode="auto">
              <a:xfrm>
                <a:off x="3897" y="2350"/>
                <a:ext cx="377" cy="521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7424" name="Rectangle 64"/>
              <p:cNvSpPr>
                <a:spLocks noChangeArrowheads="1"/>
              </p:cNvSpPr>
              <p:nvPr/>
            </p:nvSpPr>
            <p:spPr bwMode="auto">
              <a:xfrm>
                <a:off x="4864" y="576"/>
                <a:ext cx="608" cy="217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7425" name="Line 65"/>
              <p:cNvSpPr>
                <a:spLocks noChangeShapeType="1"/>
              </p:cNvSpPr>
              <p:nvPr/>
            </p:nvSpPr>
            <p:spPr bwMode="auto">
              <a:xfrm flipH="1">
                <a:off x="4541" y="672"/>
                <a:ext cx="547" cy="50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7426" name="Rectangle 66"/>
              <p:cNvSpPr>
                <a:spLocks noChangeArrowheads="1"/>
              </p:cNvSpPr>
              <p:nvPr/>
            </p:nvSpPr>
            <p:spPr bwMode="auto">
              <a:xfrm>
                <a:off x="4793" y="323"/>
                <a:ext cx="8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root ptr</a:t>
                </a:r>
                <a:endParaRPr lang="en-US"/>
              </a:p>
            </p:txBody>
          </p:sp>
        </p:grpSp>
        <p:sp>
          <p:nvSpPr>
            <p:cNvPr id="527476" name="Line 116"/>
            <p:cNvSpPr>
              <a:spLocks noChangeShapeType="1"/>
            </p:cNvSpPr>
            <p:nvPr/>
          </p:nvSpPr>
          <p:spPr bwMode="auto">
            <a:xfrm flipH="1">
              <a:off x="4608" y="3552"/>
              <a:ext cx="2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486" name="Text Box 126"/>
            <p:cNvSpPr txBox="1">
              <a:spLocks noChangeArrowheads="1"/>
            </p:cNvSpPr>
            <p:nvPr/>
          </p:nvSpPr>
          <p:spPr bwMode="auto">
            <a:xfrm>
              <a:off x="4821" y="2752"/>
              <a:ext cx="41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FFFFCC"/>
                  </a:solidFill>
                </a:rPr>
                <a:t>NULL</a:t>
              </a:r>
              <a:endParaRPr lang="en-US" sz="1400" b="1">
                <a:solidFill>
                  <a:srgbClr val="FFFFCC"/>
                </a:solidFill>
              </a:endParaRPr>
            </a:p>
          </p:txBody>
        </p:sp>
        <p:sp>
          <p:nvSpPr>
            <p:cNvPr id="527487" name="Text Box 127"/>
            <p:cNvSpPr txBox="1">
              <a:spLocks noChangeArrowheads="1"/>
            </p:cNvSpPr>
            <p:nvPr/>
          </p:nvSpPr>
          <p:spPr bwMode="auto">
            <a:xfrm>
              <a:off x="5031" y="3655"/>
              <a:ext cx="41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FFFFCC"/>
                  </a:solidFill>
                </a:rPr>
                <a:t>NULL</a:t>
              </a:r>
              <a:endParaRPr lang="en-US" sz="1400" b="1">
                <a:solidFill>
                  <a:srgbClr val="FFFFCC"/>
                </a:solidFill>
              </a:endParaRPr>
            </a:p>
          </p:txBody>
        </p:sp>
        <p:sp>
          <p:nvSpPr>
            <p:cNvPr id="527488" name="Text Box 128"/>
            <p:cNvSpPr txBox="1">
              <a:spLocks noChangeArrowheads="1"/>
            </p:cNvSpPr>
            <p:nvPr/>
          </p:nvSpPr>
          <p:spPr bwMode="auto">
            <a:xfrm>
              <a:off x="5346" y="3655"/>
              <a:ext cx="41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FFFFCC"/>
                  </a:solidFill>
                </a:rPr>
                <a:t>NULL</a:t>
              </a:r>
              <a:endParaRPr lang="en-US" sz="1400" b="1">
                <a:solidFill>
                  <a:srgbClr val="FFFFCC"/>
                </a:solidFill>
              </a:endParaRPr>
            </a:p>
          </p:txBody>
        </p:sp>
        <p:sp>
          <p:nvSpPr>
            <p:cNvPr id="527490" name="Text Box 130"/>
            <p:cNvSpPr txBox="1">
              <a:spLocks noChangeArrowheads="1"/>
            </p:cNvSpPr>
            <p:nvPr/>
          </p:nvSpPr>
          <p:spPr bwMode="auto">
            <a:xfrm>
              <a:off x="3853" y="3642"/>
              <a:ext cx="41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FFFFCC"/>
                  </a:solidFill>
                </a:rPr>
                <a:t>NULL</a:t>
              </a:r>
              <a:endParaRPr lang="en-US" sz="1400" b="1">
                <a:solidFill>
                  <a:srgbClr val="FFFFCC"/>
                </a:solidFill>
              </a:endParaRPr>
            </a:p>
          </p:txBody>
        </p:sp>
        <p:sp>
          <p:nvSpPr>
            <p:cNvPr id="527491" name="Text Box 131"/>
            <p:cNvSpPr txBox="1">
              <a:spLocks noChangeArrowheads="1"/>
            </p:cNvSpPr>
            <p:nvPr/>
          </p:nvSpPr>
          <p:spPr bwMode="auto">
            <a:xfrm>
              <a:off x="4168" y="3642"/>
              <a:ext cx="41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FFFFCC"/>
                  </a:solidFill>
                </a:rPr>
                <a:t>NULL</a:t>
              </a:r>
              <a:endParaRPr lang="en-US" sz="1400" b="1">
                <a:solidFill>
                  <a:srgbClr val="FFFFCC"/>
                </a:solidFill>
              </a:endParaRPr>
            </a:p>
          </p:txBody>
        </p:sp>
        <p:sp>
          <p:nvSpPr>
            <p:cNvPr id="527492" name="Text Box 132"/>
            <p:cNvSpPr txBox="1">
              <a:spLocks noChangeArrowheads="1"/>
            </p:cNvSpPr>
            <p:nvPr/>
          </p:nvSpPr>
          <p:spPr bwMode="auto">
            <a:xfrm>
              <a:off x="3124" y="3655"/>
              <a:ext cx="41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FFFFCC"/>
                  </a:solidFill>
                </a:rPr>
                <a:t>NULL</a:t>
              </a:r>
              <a:endParaRPr lang="en-US" sz="1400" b="1">
                <a:solidFill>
                  <a:srgbClr val="FFFFCC"/>
                </a:solidFill>
              </a:endParaRPr>
            </a:p>
          </p:txBody>
        </p:sp>
        <p:sp>
          <p:nvSpPr>
            <p:cNvPr id="527493" name="Text Box 133"/>
            <p:cNvSpPr txBox="1">
              <a:spLocks noChangeArrowheads="1"/>
            </p:cNvSpPr>
            <p:nvPr/>
          </p:nvSpPr>
          <p:spPr bwMode="auto">
            <a:xfrm>
              <a:off x="3439" y="3655"/>
              <a:ext cx="41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rgbClr val="FFFFCC"/>
                  </a:solidFill>
                </a:rPr>
                <a:t>NULL</a:t>
              </a:r>
              <a:endParaRPr lang="en-US" sz="1400" b="1">
                <a:solidFill>
                  <a:srgbClr val="FFFFCC"/>
                </a:solidFill>
              </a:endParaRPr>
            </a:p>
          </p:txBody>
        </p:sp>
      </p:grpSp>
      <p:sp>
        <p:nvSpPr>
          <p:cNvPr id="527505" name="Rectangle 145"/>
          <p:cNvSpPr>
            <a:spLocks noChangeArrowheads="1"/>
          </p:cNvSpPr>
          <p:nvPr/>
        </p:nvSpPr>
        <p:spPr bwMode="auto">
          <a:xfrm>
            <a:off x="7197725" y="5410200"/>
            <a:ext cx="803275" cy="12192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" name="Text Box 4"/>
          <p:cNvSpPr txBox="1">
            <a:spLocks noChangeArrowheads="1"/>
          </p:cNvSpPr>
          <p:nvPr/>
        </p:nvSpPr>
        <p:spPr bwMode="auto">
          <a:xfrm>
            <a:off x="741361" y="4648200"/>
            <a:ext cx="3906839" cy="219290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Courier New" panose="02070409020205090404" pitchFamily="49" charset="0"/>
              </a:rPr>
              <a:t>struct</a:t>
            </a:r>
            <a:r>
              <a:rPr lang="en-US" sz="1800" b="1" dirty="0">
                <a:latin typeface="Courier New" panose="02070409020205090404" pitchFamily="49" charset="0"/>
              </a:rPr>
              <a:t> node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{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  </a:t>
            </a:r>
            <a:r>
              <a:rPr lang="en-US" sz="1800" b="1" dirty="0" err="1">
                <a:latin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</a:rPr>
              <a:t> value;  // some value</a:t>
            </a:r>
            <a:endParaRPr lang="en-US" sz="1800" b="1" dirty="0">
              <a:latin typeface="Courier New" panose="02070409020205090404" pitchFamily="49" charset="0"/>
            </a:endParaRPr>
          </a:p>
          <a:p>
            <a:endParaRPr lang="en-US" sz="105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  node *left, *right;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};</a:t>
            </a:r>
            <a:endParaRPr lang="en-US" sz="1800" b="1" dirty="0">
              <a:latin typeface="Courier New" panose="02070409020205090404" pitchFamily="49" charset="0"/>
            </a:endParaRPr>
          </a:p>
          <a:p>
            <a:endParaRPr lang="en-US" sz="1800" b="1" dirty="0">
              <a:latin typeface="Courier New" panose="02070409020205090404" pitchFamily="49" charset="0"/>
            </a:endParaRPr>
          </a:p>
          <a:p>
            <a:endParaRPr lang="en-US" sz="1800" b="1" dirty="0">
              <a:latin typeface="Courier New" panose="02070409020205090404" pitchFamily="49" charset="0"/>
            </a:endParaRPr>
          </a:p>
        </p:txBody>
      </p:sp>
      <p:sp>
        <p:nvSpPr>
          <p:cNvPr id="2" name="Right Arrow 1"/>
          <p:cNvSpPr/>
          <p:nvPr/>
        </p:nvSpPr>
        <p:spPr bwMode="auto">
          <a:xfrm>
            <a:off x="4959351" y="2590801"/>
            <a:ext cx="1681130" cy="859333"/>
          </a:xfrm>
          <a:prstGeom prst="rightArrow">
            <a:avLst/>
          </a:prstGeom>
          <a:solidFill>
            <a:srgbClr val="FFCC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Root node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9" name="Right Arrow 128"/>
          <p:cNvSpPr/>
          <p:nvPr/>
        </p:nvSpPr>
        <p:spPr bwMode="auto">
          <a:xfrm>
            <a:off x="4964921" y="2586883"/>
            <a:ext cx="1681130" cy="859333"/>
          </a:xfrm>
          <a:prstGeom prst="rightArrow">
            <a:avLst/>
          </a:prstGeom>
          <a:solidFill>
            <a:srgbClr val="FFCC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200" dirty="0"/>
              <a:t>2 children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1" name="Rectangle 120"/>
          <p:cNvSpPr>
            <a:spLocks noChangeArrowheads="1"/>
          </p:cNvSpPr>
          <p:nvPr/>
        </p:nvSpPr>
        <p:spPr bwMode="auto">
          <a:xfrm>
            <a:off x="193675" y="1174975"/>
            <a:ext cx="476765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/>
            <a:r>
              <a:rPr lang="en-US" sz="2200" dirty="0"/>
              <a:t>2.  Every tree has a "</a:t>
            </a:r>
            <a:r>
              <a:rPr lang="en-US" sz="2200" dirty="0">
                <a:solidFill>
                  <a:schemeClr val="accent2"/>
                </a:solidFill>
              </a:rPr>
              <a:t>root</a:t>
            </a:r>
            <a:r>
              <a:rPr lang="en-US" sz="2200" dirty="0"/>
              <a:t>" pointer.</a:t>
            </a:r>
            <a:endParaRPr lang="en-US" sz="2200" dirty="0"/>
          </a:p>
        </p:txBody>
      </p:sp>
      <p:sp>
        <p:nvSpPr>
          <p:cNvPr id="135" name="Right Arrow 134"/>
          <p:cNvSpPr/>
          <p:nvPr/>
        </p:nvSpPr>
        <p:spPr bwMode="auto">
          <a:xfrm>
            <a:off x="3778662" y="3975702"/>
            <a:ext cx="1681130" cy="859333"/>
          </a:xfrm>
          <a:prstGeom prst="rightArrow">
            <a:avLst/>
          </a:prstGeom>
          <a:solidFill>
            <a:srgbClr val="FFCC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200" dirty="0"/>
              <a:t>   1 child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6" name="Right Arrow 135"/>
          <p:cNvSpPr/>
          <p:nvPr/>
        </p:nvSpPr>
        <p:spPr bwMode="auto">
          <a:xfrm rot="20340071">
            <a:off x="3348550" y="5872893"/>
            <a:ext cx="1681130" cy="859333"/>
          </a:xfrm>
          <a:prstGeom prst="rightArrow">
            <a:avLst/>
          </a:prstGeom>
          <a:solidFill>
            <a:srgbClr val="FFCC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200" dirty="0"/>
              <a:t> 0 children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608575" y="1276639"/>
            <a:ext cx="1414463" cy="759981"/>
            <a:chOff x="11447609" y="1605396"/>
            <a:chExt cx="1414463" cy="759981"/>
          </a:xfrm>
        </p:grpSpPr>
        <p:sp>
          <p:nvSpPr>
            <p:cNvPr id="161" name="Rectangle 66"/>
            <p:cNvSpPr>
              <a:spLocks noChangeArrowheads="1"/>
            </p:cNvSpPr>
            <p:nvPr/>
          </p:nvSpPr>
          <p:spPr bwMode="auto">
            <a:xfrm>
              <a:off x="11447609" y="1605396"/>
              <a:ext cx="14144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root </a:t>
              </a:r>
              <a:r>
                <a:rPr lang="en-US" dirty="0" err="1"/>
                <a:t>ptr</a:t>
              </a:r>
              <a:endParaRPr lang="en-US" dirty="0"/>
            </a:p>
          </p:txBody>
        </p:sp>
        <p:sp>
          <p:nvSpPr>
            <p:cNvPr id="186" name="Rectangle 64"/>
            <p:cNvSpPr>
              <a:spLocks noChangeArrowheads="1"/>
            </p:cNvSpPr>
            <p:nvPr/>
          </p:nvSpPr>
          <p:spPr bwMode="auto">
            <a:xfrm>
              <a:off x="11561620" y="2020889"/>
              <a:ext cx="965200" cy="3444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>
                  <a:solidFill>
                    <a:srgbClr val="FF0000"/>
                  </a:solidFill>
                </a:rPr>
                <a:t>NULL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88" name="Right Arrow 187"/>
          <p:cNvSpPr/>
          <p:nvPr/>
        </p:nvSpPr>
        <p:spPr bwMode="auto">
          <a:xfrm>
            <a:off x="5994400" y="1418978"/>
            <a:ext cx="1681130" cy="859333"/>
          </a:xfrm>
          <a:prstGeom prst="rightArrow">
            <a:avLst/>
          </a:prstGeom>
          <a:solidFill>
            <a:srgbClr val="FFCC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200" dirty="0"/>
              <a:t>Empty tree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89" name="Rectangle 120"/>
          <p:cNvSpPr>
            <a:spLocks noChangeArrowheads="1"/>
          </p:cNvSpPr>
          <p:nvPr/>
        </p:nvSpPr>
        <p:spPr bwMode="auto">
          <a:xfrm>
            <a:off x="755216" y="6322666"/>
            <a:ext cx="21034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/>
            <a:r>
              <a:rPr lang="en-US" sz="2200" dirty="0"/>
              <a:t>node *</a:t>
            </a:r>
            <a:r>
              <a:rPr lang="en-US" sz="2200" dirty="0" err="1">
                <a:solidFill>
                  <a:srgbClr val="FF3300"/>
                </a:solidFill>
              </a:rPr>
              <a:t>rootPtr</a:t>
            </a:r>
            <a:r>
              <a:rPr lang="en-US" sz="2200" dirty="0"/>
              <a:t>;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C55B-6831-4370-9CDA-2294E9084CDF}" type="slidenum">
              <a:rPr lang="en-US"/>
            </a:fld>
            <a:endParaRPr lang="en-US"/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-76200"/>
            <a:ext cx="8552507" cy="1143000"/>
          </a:xfrm>
        </p:spPr>
        <p:txBody>
          <a:bodyPr/>
          <a:lstStyle/>
          <a:p>
            <a:r>
              <a:rPr lang="en-US" sz="3600" dirty="0"/>
              <a:t>Tree Nodes Can Have Many Children</a:t>
            </a:r>
            <a:endParaRPr lang="en-US" sz="3600" dirty="0"/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669925" y="960438"/>
            <a:ext cx="7302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A tree node can have more than just two children:</a:t>
            </a:r>
            <a:endParaRPr lang="en-US" dirty="0"/>
          </a:p>
        </p:txBody>
      </p:sp>
      <p:sp>
        <p:nvSpPr>
          <p:cNvPr id="529412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5511800" cy="1743075"/>
          </a:xfrm>
          <a:prstGeom prst="rect">
            <a:avLst/>
          </a:prstGeom>
          <a:solidFill>
            <a:srgbClr val="FFFFEF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1800" b="1" dirty="0" err="1">
                <a:latin typeface="Courier New" panose="02070409020205090404" pitchFamily="49" charset="0"/>
              </a:rPr>
              <a:t>struct</a:t>
            </a:r>
            <a:r>
              <a:rPr lang="en-US" sz="1800" b="1" dirty="0">
                <a:latin typeface="Courier New" panose="02070409020205090404" pitchFamily="49" charset="0"/>
              </a:rPr>
              <a:t> node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{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  </a:t>
            </a:r>
            <a:r>
              <a:rPr lang="en-US" sz="1800" b="1" dirty="0" err="1">
                <a:latin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</a:rPr>
              <a:t> value;  // node data</a:t>
            </a:r>
            <a:endParaRPr lang="en-US" sz="1800" b="1" dirty="0">
              <a:latin typeface="Courier New" panose="02070409020205090404" pitchFamily="49" charset="0"/>
            </a:endParaRPr>
          </a:p>
          <a:p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  node *pChild1, *pChild2, *pChild3, …;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};</a:t>
            </a:r>
            <a:endParaRPr lang="en-US" sz="1800" b="1" dirty="0">
              <a:latin typeface="Courier New" panose="02070409020205090404" pitchFamily="49" charset="0"/>
            </a:endParaRPr>
          </a:p>
        </p:txBody>
      </p:sp>
      <p:sp>
        <p:nvSpPr>
          <p:cNvPr id="529413" name="Text Box 5"/>
          <p:cNvSpPr txBox="1">
            <a:spLocks noChangeArrowheads="1"/>
          </p:cNvSpPr>
          <p:nvPr/>
        </p:nvSpPr>
        <p:spPr bwMode="auto">
          <a:xfrm>
            <a:off x="911225" y="3505200"/>
            <a:ext cx="3736975" cy="1743075"/>
          </a:xfrm>
          <a:prstGeom prst="rect">
            <a:avLst/>
          </a:prstGeom>
          <a:solidFill>
            <a:srgbClr val="FFFFEF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Courier New" panose="02070409020205090404" pitchFamily="49" charset="0"/>
              </a:rPr>
              <a:t>struct node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{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int value;  // node data</a:t>
            </a:r>
            <a:endParaRPr lang="en-US" sz="1800" b="1">
              <a:latin typeface="Courier New" panose="02070409020205090404" pitchFamily="49" charset="0"/>
            </a:endParaRPr>
          </a:p>
          <a:p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node *pChildren[26]; 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};</a:t>
            </a:r>
            <a:endParaRPr lang="en-US" sz="1800" b="1">
              <a:latin typeface="Courier New" panose="02070409020205090404" pitchFamily="49" charset="0"/>
            </a:endParaRPr>
          </a:p>
        </p:txBody>
      </p:sp>
      <p:sp>
        <p:nvSpPr>
          <p:cNvPr id="529454" name="Rectangle 46"/>
          <p:cNvSpPr>
            <a:spLocks noChangeArrowheads="1"/>
          </p:cNvSpPr>
          <p:nvPr/>
        </p:nvSpPr>
        <p:spPr bwMode="auto">
          <a:xfrm>
            <a:off x="5992813" y="3408363"/>
            <a:ext cx="228600" cy="228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9455" name="Rectangle 47"/>
          <p:cNvSpPr>
            <a:spLocks noChangeArrowheads="1"/>
          </p:cNvSpPr>
          <p:nvPr/>
        </p:nvSpPr>
        <p:spPr bwMode="auto">
          <a:xfrm>
            <a:off x="6254750" y="3659188"/>
            <a:ext cx="228600" cy="228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9507" name="Group 99"/>
          <p:cNvGrpSpPr/>
          <p:nvPr/>
        </p:nvGrpSpPr>
        <p:grpSpPr bwMode="auto">
          <a:xfrm>
            <a:off x="685800" y="2722563"/>
            <a:ext cx="8382000" cy="4211637"/>
            <a:chOff x="432" y="1715"/>
            <a:chExt cx="5280" cy="2653"/>
          </a:xfrm>
        </p:grpSpPr>
        <p:sp>
          <p:nvSpPr>
            <p:cNvPr id="529451" name="Rectangle 43"/>
            <p:cNvSpPr>
              <a:spLocks noChangeArrowheads="1"/>
            </p:cNvSpPr>
            <p:nvPr/>
          </p:nvSpPr>
          <p:spPr bwMode="auto">
            <a:xfrm>
              <a:off x="4080" y="1968"/>
              <a:ext cx="480" cy="14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452" name="Line 44"/>
            <p:cNvSpPr>
              <a:spLocks noChangeShapeType="1"/>
            </p:cNvSpPr>
            <p:nvPr/>
          </p:nvSpPr>
          <p:spPr bwMode="auto">
            <a:xfrm flipH="1">
              <a:off x="3629" y="2064"/>
              <a:ext cx="547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453" name="Rectangle 45"/>
            <p:cNvSpPr>
              <a:spLocks noChangeArrowheads="1"/>
            </p:cNvSpPr>
            <p:nvPr/>
          </p:nvSpPr>
          <p:spPr bwMode="auto">
            <a:xfrm>
              <a:off x="3881" y="1715"/>
              <a:ext cx="8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root ptr</a:t>
              </a:r>
              <a:endParaRPr lang="en-US"/>
            </a:p>
          </p:txBody>
        </p:sp>
        <p:grpSp>
          <p:nvGrpSpPr>
            <p:cNvPr id="529461" name="Group 53"/>
            <p:cNvGrpSpPr/>
            <p:nvPr/>
          </p:nvGrpSpPr>
          <p:grpSpPr bwMode="auto">
            <a:xfrm>
              <a:off x="3312" y="2544"/>
              <a:ext cx="1680" cy="576"/>
              <a:chOff x="3744" y="2784"/>
              <a:chExt cx="1271" cy="480"/>
            </a:xfrm>
          </p:grpSpPr>
          <p:sp>
            <p:nvSpPr>
              <p:cNvPr id="529422" name="Rectangle 14"/>
              <p:cNvSpPr>
                <a:spLocks noChangeArrowheads="1"/>
              </p:cNvSpPr>
              <p:nvPr/>
            </p:nvSpPr>
            <p:spPr bwMode="auto">
              <a:xfrm>
                <a:off x="3744" y="2784"/>
                <a:ext cx="1271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23" name="Rectangle 15"/>
              <p:cNvSpPr>
                <a:spLocks noChangeArrowheads="1"/>
              </p:cNvSpPr>
              <p:nvPr/>
            </p:nvSpPr>
            <p:spPr bwMode="auto">
              <a:xfrm>
                <a:off x="3778" y="3092"/>
                <a:ext cx="261" cy="14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24" name="Rectangle 16"/>
              <p:cNvSpPr>
                <a:spLocks noChangeArrowheads="1"/>
              </p:cNvSpPr>
              <p:nvPr/>
            </p:nvSpPr>
            <p:spPr bwMode="auto">
              <a:xfrm>
                <a:off x="4081" y="3088"/>
                <a:ext cx="261" cy="147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25" name="Rectangle 17"/>
              <p:cNvSpPr>
                <a:spLocks noChangeArrowheads="1"/>
              </p:cNvSpPr>
              <p:nvPr/>
            </p:nvSpPr>
            <p:spPr bwMode="auto">
              <a:xfrm>
                <a:off x="3780" y="2821"/>
                <a:ext cx="1203" cy="237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56" name="Text Box 48"/>
              <p:cNvSpPr txBox="1">
                <a:spLocks noChangeArrowheads="1"/>
              </p:cNvSpPr>
              <p:nvPr/>
            </p:nvSpPr>
            <p:spPr bwMode="auto">
              <a:xfrm>
                <a:off x="4234" y="2799"/>
                <a:ext cx="177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3</a:t>
                </a:r>
                <a:endParaRPr lang="en-US"/>
              </a:p>
            </p:txBody>
          </p:sp>
          <p:sp>
            <p:nvSpPr>
              <p:cNvPr id="529457" name="Rectangle 49"/>
              <p:cNvSpPr>
                <a:spLocks noChangeArrowheads="1"/>
              </p:cNvSpPr>
              <p:nvPr/>
            </p:nvSpPr>
            <p:spPr bwMode="auto">
              <a:xfrm>
                <a:off x="4381" y="3089"/>
                <a:ext cx="261" cy="147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58" name="Rectangle 50"/>
              <p:cNvSpPr>
                <a:spLocks noChangeArrowheads="1"/>
              </p:cNvSpPr>
              <p:nvPr/>
            </p:nvSpPr>
            <p:spPr bwMode="auto">
              <a:xfrm>
                <a:off x="4690" y="3088"/>
                <a:ext cx="261" cy="147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29447" name="Line 39"/>
            <p:cNvSpPr>
              <a:spLocks noChangeShapeType="1"/>
            </p:cNvSpPr>
            <p:nvPr/>
          </p:nvSpPr>
          <p:spPr bwMode="auto">
            <a:xfrm>
              <a:off x="4383" y="3033"/>
              <a:ext cx="71" cy="5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446" name="Line 38"/>
            <p:cNvSpPr>
              <a:spLocks noChangeShapeType="1"/>
            </p:cNvSpPr>
            <p:nvPr/>
          </p:nvSpPr>
          <p:spPr bwMode="auto">
            <a:xfrm flipH="1">
              <a:off x="1607" y="3025"/>
              <a:ext cx="1909" cy="481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462" name="Text Box 54"/>
            <p:cNvSpPr txBox="1">
              <a:spLocks noChangeArrowheads="1"/>
            </p:cNvSpPr>
            <p:nvPr/>
          </p:nvSpPr>
          <p:spPr bwMode="auto">
            <a:xfrm>
              <a:off x="4517" y="2891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grpSp>
          <p:nvGrpSpPr>
            <p:cNvPr id="529490" name="Group 82"/>
            <p:cNvGrpSpPr/>
            <p:nvPr/>
          </p:nvGrpSpPr>
          <p:grpSpPr bwMode="auto">
            <a:xfrm>
              <a:off x="432" y="3504"/>
              <a:ext cx="1680" cy="589"/>
              <a:chOff x="2208" y="3504"/>
              <a:chExt cx="1680" cy="589"/>
            </a:xfrm>
          </p:grpSpPr>
          <p:grpSp>
            <p:nvGrpSpPr>
              <p:cNvPr id="529463" name="Group 55"/>
              <p:cNvGrpSpPr/>
              <p:nvPr/>
            </p:nvGrpSpPr>
            <p:grpSpPr bwMode="auto">
              <a:xfrm>
                <a:off x="2208" y="3504"/>
                <a:ext cx="1680" cy="576"/>
                <a:chOff x="3744" y="2784"/>
                <a:chExt cx="1271" cy="480"/>
              </a:xfrm>
            </p:grpSpPr>
            <p:sp>
              <p:nvSpPr>
                <p:cNvPr id="529464" name="Rectangle 56"/>
                <p:cNvSpPr>
                  <a:spLocks noChangeArrowheads="1"/>
                </p:cNvSpPr>
                <p:nvPr/>
              </p:nvSpPr>
              <p:spPr bwMode="auto">
                <a:xfrm>
                  <a:off x="3744" y="2784"/>
                  <a:ext cx="1271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65" name="Rectangle 57"/>
                <p:cNvSpPr>
                  <a:spLocks noChangeArrowheads="1"/>
                </p:cNvSpPr>
                <p:nvPr/>
              </p:nvSpPr>
              <p:spPr bwMode="auto">
                <a:xfrm>
                  <a:off x="3778" y="3092"/>
                  <a:ext cx="261" cy="14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66" name="Rectangle 58"/>
                <p:cNvSpPr>
                  <a:spLocks noChangeArrowheads="1"/>
                </p:cNvSpPr>
                <p:nvPr/>
              </p:nvSpPr>
              <p:spPr bwMode="auto">
                <a:xfrm>
                  <a:off x="4081" y="3088"/>
                  <a:ext cx="261" cy="147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67" name="Rectangle 59"/>
                <p:cNvSpPr>
                  <a:spLocks noChangeArrowheads="1"/>
                </p:cNvSpPr>
                <p:nvPr/>
              </p:nvSpPr>
              <p:spPr bwMode="auto">
                <a:xfrm>
                  <a:off x="3780" y="2821"/>
                  <a:ext cx="1203" cy="237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68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4234" y="2799"/>
                  <a:ext cx="177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7</a:t>
                  </a:r>
                  <a:endParaRPr lang="en-US"/>
                </a:p>
              </p:txBody>
            </p:sp>
            <p:sp>
              <p:nvSpPr>
                <p:cNvPr id="529469" name="Rectangle 61"/>
                <p:cNvSpPr>
                  <a:spLocks noChangeArrowheads="1"/>
                </p:cNvSpPr>
                <p:nvPr/>
              </p:nvSpPr>
              <p:spPr bwMode="auto">
                <a:xfrm>
                  <a:off x="4381" y="3089"/>
                  <a:ext cx="261" cy="147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70" name="Rectangle 62"/>
                <p:cNvSpPr>
                  <a:spLocks noChangeArrowheads="1"/>
                </p:cNvSpPr>
                <p:nvPr/>
              </p:nvSpPr>
              <p:spPr bwMode="auto">
                <a:xfrm>
                  <a:off x="4690" y="3088"/>
                  <a:ext cx="261" cy="147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29481" name="Rectangle 73"/>
              <p:cNvSpPr>
                <a:spLocks noChangeArrowheads="1"/>
              </p:cNvSpPr>
              <p:nvPr/>
            </p:nvSpPr>
            <p:spPr bwMode="auto">
              <a:xfrm>
                <a:off x="2215" y="3881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529482" name="Rectangle 74"/>
              <p:cNvSpPr>
                <a:spLocks noChangeArrowheads="1"/>
              </p:cNvSpPr>
              <p:nvPr/>
            </p:nvSpPr>
            <p:spPr bwMode="auto">
              <a:xfrm>
                <a:off x="2615" y="3865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529483" name="Rectangle 75"/>
              <p:cNvSpPr>
                <a:spLocks noChangeArrowheads="1"/>
              </p:cNvSpPr>
              <p:nvPr/>
            </p:nvSpPr>
            <p:spPr bwMode="auto">
              <a:xfrm>
                <a:off x="3016" y="3863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529484" name="Rectangle 76"/>
              <p:cNvSpPr>
                <a:spLocks noChangeArrowheads="1"/>
              </p:cNvSpPr>
              <p:nvPr/>
            </p:nvSpPr>
            <p:spPr bwMode="auto">
              <a:xfrm>
                <a:off x="3416" y="3861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529491" name="Group 83"/>
            <p:cNvGrpSpPr/>
            <p:nvPr/>
          </p:nvGrpSpPr>
          <p:grpSpPr bwMode="auto">
            <a:xfrm>
              <a:off x="4031" y="3500"/>
              <a:ext cx="1681" cy="577"/>
              <a:chOff x="3935" y="3500"/>
              <a:chExt cx="1681" cy="577"/>
            </a:xfrm>
          </p:grpSpPr>
          <p:grpSp>
            <p:nvGrpSpPr>
              <p:cNvPr id="529471" name="Group 63"/>
              <p:cNvGrpSpPr/>
              <p:nvPr/>
            </p:nvGrpSpPr>
            <p:grpSpPr bwMode="auto">
              <a:xfrm>
                <a:off x="3936" y="3500"/>
                <a:ext cx="1680" cy="576"/>
                <a:chOff x="3744" y="2784"/>
                <a:chExt cx="1271" cy="480"/>
              </a:xfrm>
            </p:grpSpPr>
            <p:sp>
              <p:nvSpPr>
                <p:cNvPr id="529472" name="Rectangle 64"/>
                <p:cNvSpPr>
                  <a:spLocks noChangeArrowheads="1"/>
                </p:cNvSpPr>
                <p:nvPr/>
              </p:nvSpPr>
              <p:spPr bwMode="auto">
                <a:xfrm>
                  <a:off x="3744" y="2784"/>
                  <a:ext cx="1271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73" name="Rectangle 65"/>
                <p:cNvSpPr>
                  <a:spLocks noChangeArrowheads="1"/>
                </p:cNvSpPr>
                <p:nvPr/>
              </p:nvSpPr>
              <p:spPr bwMode="auto">
                <a:xfrm>
                  <a:off x="3778" y="3092"/>
                  <a:ext cx="261" cy="14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74" name="Rectangle 66"/>
                <p:cNvSpPr>
                  <a:spLocks noChangeArrowheads="1"/>
                </p:cNvSpPr>
                <p:nvPr/>
              </p:nvSpPr>
              <p:spPr bwMode="auto">
                <a:xfrm>
                  <a:off x="4081" y="3088"/>
                  <a:ext cx="261" cy="147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75" name="Rectangle 67"/>
                <p:cNvSpPr>
                  <a:spLocks noChangeArrowheads="1"/>
                </p:cNvSpPr>
                <p:nvPr/>
              </p:nvSpPr>
              <p:spPr bwMode="auto">
                <a:xfrm>
                  <a:off x="3780" y="2821"/>
                  <a:ext cx="1203" cy="237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76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234" y="2799"/>
                  <a:ext cx="242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15</a:t>
                  </a:r>
                  <a:endParaRPr lang="en-US"/>
                </a:p>
              </p:txBody>
            </p:sp>
            <p:sp>
              <p:nvSpPr>
                <p:cNvPr id="529477" name="Rectangle 69"/>
                <p:cNvSpPr>
                  <a:spLocks noChangeArrowheads="1"/>
                </p:cNvSpPr>
                <p:nvPr/>
              </p:nvSpPr>
              <p:spPr bwMode="auto">
                <a:xfrm>
                  <a:off x="4381" y="3089"/>
                  <a:ext cx="261" cy="147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9478" name="Rectangle 70"/>
                <p:cNvSpPr>
                  <a:spLocks noChangeArrowheads="1"/>
                </p:cNvSpPr>
                <p:nvPr/>
              </p:nvSpPr>
              <p:spPr bwMode="auto">
                <a:xfrm>
                  <a:off x="4690" y="3088"/>
                  <a:ext cx="261" cy="147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29485" name="Rectangle 77"/>
              <p:cNvSpPr>
                <a:spLocks noChangeArrowheads="1"/>
              </p:cNvSpPr>
              <p:nvPr/>
            </p:nvSpPr>
            <p:spPr bwMode="auto">
              <a:xfrm>
                <a:off x="3935" y="3865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529486" name="Rectangle 78"/>
              <p:cNvSpPr>
                <a:spLocks noChangeArrowheads="1"/>
              </p:cNvSpPr>
              <p:nvPr/>
            </p:nvSpPr>
            <p:spPr bwMode="auto">
              <a:xfrm>
                <a:off x="4335" y="3849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529487" name="Rectangle 79"/>
              <p:cNvSpPr>
                <a:spLocks noChangeArrowheads="1"/>
              </p:cNvSpPr>
              <p:nvPr/>
            </p:nvSpPr>
            <p:spPr bwMode="auto">
              <a:xfrm>
                <a:off x="4736" y="3847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529488" name="Rectangle 80"/>
              <p:cNvSpPr>
                <a:spLocks noChangeArrowheads="1"/>
              </p:cNvSpPr>
              <p:nvPr/>
            </p:nvSpPr>
            <p:spPr bwMode="auto">
              <a:xfrm>
                <a:off x="5136" y="3845"/>
                <a:ext cx="4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529493" name="Group 85"/>
            <p:cNvGrpSpPr/>
            <p:nvPr/>
          </p:nvGrpSpPr>
          <p:grpSpPr bwMode="auto">
            <a:xfrm>
              <a:off x="2208" y="3504"/>
              <a:ext cx="1680" cy="576"/>
              <a:chOff x="3744" y="2784"/>
              <a:chExt cx="1271" cy="480"/>
            </a:xfrm>
          </p:grpSpPr>
          <p:sp>
            <p:nvSpPr>
              <p:cNvPr id="529494" name="Rectangle 86"/>
              <p:cNvSpPr>
                <a:spLocks noChangeArrowheads="1"/>
              </p:cNvSpPr>
              <p:nvPr/>
            </p:nvSpPr>
            <p:spPr bwMode="auto">
              <a:xfrm>
                <a:off x="3744" y="2784"/>
                <a:ext cx="1271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95" name="Rectangle 87"/>
              <p:cNvSpPr>
                <a:spLocks noChangeArrowheads="1"/>
              </p:cNvSpPr>
              <p:nvPr/>
            </p:nvSpPr>
            <p:spPr bwMode="auto">
              <a:xfrm>
                <a:off x="3778" y="3092"/>
                <a:ext cx="261" cy="14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96" name="Rectangle 88"/>
              <p:cNvSpPr>
                <a:spLocks noChangeArrowheads="1"/>
              </p:cNvSpPr>
              <p:nvPr/>
            </p:nvSpPr>
            <p:spPr bwMode="auto">
              <a:xfrm>
                <a:off x="4081" y="3088"/>
                <a:ext cx="261" cy="147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97" name="Rectangle 89"/>
              <p:cNvSpPr>
                <a:spLocks noChangeArrowheads="1"/>
              </p:cNvSpPr>
              <p:nvPr/>
            </p:nvSpPr>
            <p:spPr bwMode="auto">
              <a:xfrm>
                <a:off x="3780" y="2821"/>
                <a:ext cx="1203" cy="237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498" name="Text Box 90"/>
              <p:cNvSpPr txBox="1">
                <a:spLocks noChangeArrowheads="1"/>
              </p:cNvSpPr>
              <p:nvPr/>
            </p:nvSpPr>
            <p:spPr bwMode="auto">
              <a:xfrm>
                <a:off x="4234" y="2799"/>
                <a:ext cx="177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4</a:t>
                </a:r>
                <a:endParaRPr lang="en-US"/>
              </a:p>
            </p:txBody>
          </p:sp>
          <p:sp>
            <p:nvSpPr>
              <p:cNvPr id="529499" name="Rectangle 91"/>
              <p:cNvSpPr>
                <a:spLocks noChangeArrowheads="1"/>
              </p:cNvSpPr>
              <p:nvPr/>
            </p:nvSpPr>
            <p:spPr bwMode="auto">
              <a:xfrm>
                <a:off x="4381" y="3089"/>
                <a:ext cx="261" cy="147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500" name="Rectangle 92"/>
              <p:cNvSpPr>
                <a:spLocks noChangeArrowheads="1"/>
              </p:cNvSpPr>
              <p:nvPr/>
            </p:nvSpPr>
            <p:spPr bwMode="auto">
              <a:xfrm>
                <a:off x="4690" y="3088"/>
                <a:ext cx="261" cy="147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29501" name="Rectangle 93"/>
            <p:cNvSpPr>
              <a:spLocks noChangeArrowheads="1"/>
            </p:cNvSpPr>
            <p:nvPr/>
          </p:nvSpPr>
          <p:spPr bwMode="auto">
            <a:xfrm>
              <a:off x="2215" y="3881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529502" name="Rectangle 94"/>
            <p:cNvSpPr>
              <a:spLocks noChangeArrowheads="1"/>
            </p:cNvSpPr>
            <p:nvPr/>
          </p:nvSpPr>
          <p:spPr bwMode="auto">
            <a:xfrm>
              <a:off x="2615" y="3865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529503" name="Rectangle 95"/>
            <p:cNvSpPr>
              <a:spLocks noChangeArrowheads="1"/>
            </p:cNvSpPr>
            <p:nvPr/>
          </p:nvSpPr>
          <p:spPr bwMode="auto">
            <a:xfrm>
              <a:off x="3016" y="3863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529505" name="Line 97"/>
            <p:cNvSpPr>
              <a:spLocks noChangeShapeType="1"/>
            </p:cNvSpPr>
            <p:nvPr/>
          </p:nvSpPr>
          <p:spPr bwMode="auto">
            <a:xfrm flipH="1">
              <a:off x="3511" y="3002"/>
              <a:ext cx="438" cy="499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506" name="Line 98"/>
            <p:cNvSpPr>
              <a:spLocks noChangeShapeType="1"/>
            </p:cNvSpPr>
            <p:nvPr/>
          </p:nvSpPr>
          <p:spPr bwMode="auto">
            <a:xfrm>
              <a:off x="3626" y="3988"/>
              <a:ext cx="378" cy="380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EAA4A-6E0F-4353-9D1D-D846816EF7FB}" type="slidenum">
              <a:rPr lang="en-US"/>
            </a:fld>
            <a:endParaRPr lang="en-US"/>
          </a:p>
        </p:txBody>
      </p:sp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 dirty="0"/>
              <a:t>Binary Trees</a:t>
            </a:r>
            <a:endParaRPr lang="en-US" dirty="0"/>
          </a:p>
        </p:txBody>
      </p:sp>
      <p:sp>
        <p:nvSpPr>
          <p:cNvPr id="530435" name="Text Box 3"/>
          <p:cNvSpPr txBox="1">
            <a:spLocks noChangeArrowheads="1"/>
          </p:cNvSpPr>
          <p:nvPr/>
        </p:nvSpPr>
        <p:spPr bwMode="auto">
          <a:xfrm>
            <a:off x="407988" y="914400"/>
            <a:ext cx="8355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solidFill>
                  <a:srgbClr val="FF3300"/>
                </a:solidFill>
              </a:rPr>
              <a:t>binary tree </a:t>
            </a:r>
            <a:r>
              <a:rPr lang="en-US" dirty="0"/>
              <a:t>is a special form of tree. In a binary tree, every </a:t>
            </a:r>
            <a:r>
              <a:rPr lang="en-US" dirty="0">
                <a:solidFill>
                  <a:schemeClr val="tx1"/>
                </a:solidFill>
              </a:rPr>
              <a:t>node has at most </a:t>
            </a:r>
            <a:r>
              <a:rPr lang="en-US" dirty="0">
                <a:solidFill>
                  <a:srgbClr val="FF3300"/>
                </a:solidFill>
              </a:rPr>
              <a:t>two children nodes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530436" name="Text Box 4"/>
          <p:cNvSpPr txBox="1">
            <a:spLocks noChangeArrowheads="1"/>
          </p:cNvSpPr>
          <p:nvPr/>
        </p:nvSpPr>
        <p:spPr bwMode="auto">
          <a:xfrm>
            <a:off x="2362200" y="1828800"/>
            <a:ext cx="430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A </a:t>
            </a:r>
            <a:r>
              <a:rPr lang="en-US" dirty="0">
                <a:solidFill>
                  <a:srgbClr val="FF3300"/>
                </a:solidFill>
                <a:cs typeface="Courier New" panose="02070409020205090404" pitchFamily="49" charset="0"/>
              </a:rPr>
              <a:t>left child 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and a </a:t>
            </a:r>
            <a:r>
              <a:rPr lang="en-US" dirty="0">
                <a:solidFill>
                  <a:srgbClr val="FF3300"/>
                </a:solidFill>
                <a:cs typeface="Courier New" panose="02070409020205090404" pitchFamily="49" charset="0"/>
              </a:rPr>
              <a:t>right child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.</a:t>
            </a:r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530437" name="Text Box 5"/>
          <p:cNvSpPr txBox="1">
            <a:spLocks noChangeArrowheads="1"/>
          </p:cNvSpPr>
          <p:nvPr/>
        </p:nvSpPr>
        <p:spPr bwMode="auto">
          <a:xfrm>
            <a:off x="407988" y="2647366"/>
            <a:ext cx="4746625" cy="1743075"/>
          </a:xfrm>
          <a:prstGeom prst="rect">
            <a:avLst/>
          </a:prstGeom>
          <a:solidFill>
            <a:srgbClr val="FFFFEF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1800" b="1" dirty="0" err="1">
                <a:latin typeface="Courier New" panose="02070409020205090404" pitchFamily="49" charset="0"/>
              </a:rPr>
              <a:t>struct</a:t>
            </a:r>
            <a:r>
              <a:rPr lang="en-US" sz="1800" b="1" dirty="0">
                <a:latin typeface="Courier New" panose="02070409020205090404" pitchFamily="49" charset="0"/>
              </a:rPr>
              <a:t> BTNODE	 // binary tree node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{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  string value;  // node data</a:t>
            </a:r>
            <a:endParaRPr lang="en-US" sz="1800" b="1" dirty="0">
              <a:latin typeface="Courier New" panose="02070409020205090404" pitchFamily="49" charset="0"/>
            </a:endParaRPr>
          </a:p>
          <a:p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  BTNODE *</a:t>
            </a:r>
            <a:r>
              <a:rPr lang="en-US" sz="1800" b="1" dirty="0" err="1">
                <a:solidFill>
                  <a:srgbClr val="FF3300"/>
                </a:solidFill>
                <a:latin typeface="Courier New" panose="02070409020205090404" pitchFamily="49" charset="0"/>
              </a:rPr>
              <a:t>pLeft</a:t>
            </a:r>
            <a:r>
              <a:rPr lang="en-US" sz="1800" b="1" dirty="0">
                <a:latin typeface="Courier New" panose="02070409020205090404" pitchFamily="49" charset="0"/>
              </a:rPr>
              <a:t>, *</a:t>
            </a:r>
            <a:r>
              <a:rPr lang="en-US" sz="1800" b="1" dirty="0" err="1">
                <a:solidFill>
                  <a:srgbClr val="FF3300"/>
                </a:solidFill>
                <a:latin typeface="Courier New" panose="02070409020205090404" pitchFamily="49" charset="0"/>
              </a:rPr>
              <a:t>pRight</a:t>
            </a:r>
            <a:r>
              <a:rPr lang="en-US" sz="1800" b="1" dirty="0">
                <a:latin typeface="Courier New" panose="02070409020205090404" pitchFamily="49" charset="0"/>
              </a:rPr>
              <a:t>;</a:t>
            </a:r>
            <a:endParaRPr lang="en-US" sz="1800" b="1" dirty="0">
              <a:latin typeface="Courier New" panose="02070409020205090404" pitchFamily="49" charset="0"/>
            </a:endParaRPr>
          </a:p>
          <a:p>
            <a:r>
              <a:rPr lang="en-US" sz="1800" b="1" dirty="0">
                <a:latin typeface="Courier New" panose="02070409020205090404" pitchFamily="49" charset="0"/>
              </a:rPr>
              <a:t>};</a:t>
            </a:r>
            <a:endParaRPr lang="en-US" sz="1800" b="1" dirty="0">
              <a:latin typeface="Courier New" panose="02070409020205090404" pitchFamily="49" charset="0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5257800" y="2834690"/>
            <a:ext cx="3678237" cy="3311235"/>
            <a:chOff x="5465763" y="3352800"/>
            <a:chExt cx="3678237" cy="3311235"/>
          </a:xfrm>
        </p:grpSpPr>
        <p:grpSp>
          <p:nvGrpSpPr>
            <p:cNvPr id="61" name="Group 11"/>
            <p:cNvGrpSpPr/>
            <p:nvPr/>
          </p:nvGrpSpPr>
          <p:grpSpPr bwMode="auto">
            <a:xfrm>
              <a:off x="5899150" y="4910138"/>
              <a:ext cx="792162" cy="592138"/>
              <a:chOff x="3511" y="3072"/>
              <a:chExt cx="729" cy="624"/>
            </a:xfrm>
          </p:grpSpPr>
          <p:sp>
            <p:nvSpPr>
              <p:cNvPr id="117" name="Rectangle 1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1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1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1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" name="Group 16"/>
            <p:cNvGrpSpPr/>
            <p:nvPr/>
          </p:nvGrpSpPr>
          <p:grpSpPr bwMode="auto">
            <a:xfrm>
              <a:off x="6848475" y="3903663"/>
              <a:ext cx="792162" cy="592138"/>
              <a:chOff x="3511" y="3072"/>
              <a:chExt cx="729" cy="624"/>
            </a:xfrm>
          </p:grpSpPr>
          <p:sp>
            <p:nvSpPr>
              <p:cNvPr id="113" name="Rectangle 1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1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Rectangle 1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2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3" name="Group 26"/>
            <p:cNvGrpSpPr/>
            <p:nvPr/>
          </p:nvGrpSpPr>
          <p:grpSpPr bwMode="auto">
            <a:xfrm>
              <a:off x="5522913" y="6035675"/>
              <a:ext cx="792162" cy="592138"/>
              <a:chOff x="3511" y="3072"/>
              <a:chExt cx="729" cy="624"/>
            </a:xfrm>
          </p:grpSpPr>
          <p:sp>
            <p:nvSpPr>
              <p:cNvPr id="109" name="Rectangle 2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2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2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3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4" name="Group 31"/>
            <p:cNvGrpSpPr/>
            <p:nvPr/>
          </p:nvGrpSpPr>
          <p:grpSpPr bwMode="auto">
            <a:xfrm>
              <a:off x="6434138" y="6034088"/>
              <a:ext cx="790575" cy="592138"/>
              <a:chOff x="3511" y="3072"/>
              <a:chExt cx="729" cy="624"/>
            </a:xfrm>
          </p:grpSpPr>
          <p:sp>
            <p:nvSpPr>
              <p:cNvPr id="105" name="Rectangle 3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3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3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3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 flipH="1">
              <a:off x="6373813" y="4378325"/>
              <a:ext cx="654050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42"/>
            <p:cNvSpPr>
              <a:spLocks noChangeShapeType="1"/>
            </p:cNvSpPr>
            <p:nvPr/>
          </p:nvSpPr>
          <p:spPr bwMode="auto">
            <a:xfrm>
              <a:off x="7432675" y="4376738"/>
              <a:ext cx="541337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Line 44"/>
            <p:cNvSpPr>
              <a:spLocks noChangeShapeType="1"/>
            </p:cNvSpPr>
            <p:nvPr/>
          </p:nvSpPr>
          <p:spPr bwMode="auto">
            <a:xfrm flipH="1">
              <a:off x="5727700" y="5384800"/>
              <a:ext cx="468312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45"/>
            <p:cNvSpPr>
              <a:spLocks noChangeShapeType="1"/>
            </p:cNvSpPr>
            <p:nvPr/>
          </p:nvSpPr>
          <p:spPr bwMode="auto">
            <a:xfrm>
              <a:off x="6445250" y="5381625"/>
              <a:ext cx="465137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Text Box 49"/>
            <p:cNvSpPr txBox="1">
              <a:spLocks noChangeArrowheads="1"/>
            </p:cNvSpPr>
            <p:nvPr/>
          </p:nvSpPr>
          <p:spPr bwMode="auto">
            <a:xfrm>
              <a:off x="5491163" y="641956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70" name="Text Box 50"/>
            <p:cNvSpPr txBox="1">
              <a:spLocks noChangeArrowheads="1"/>
            </p:cNvSpPr>
            <p:nvPr/>
          </p:nvSpPr>
          <p:spPr bwMode="auto">
            <a:xfrm>
              <a:off x="5872163" y="641797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71" name="Text Box 51"/>
            <p:cNvSpPr txBox="1">
              <a:spLocks noChangeArrowheads="1"/>
            </p:cNvSpPr>
            <p:nvPr/>
          </p:nvSpPr>
          <p:spPr bwMode="auto">
            <a:xfrm>
              <a:off x="6407150" y="640051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72" name="Text Box 52"/>
            <p:cNvSpPr txBox="1">
              <a:spLocks noChangeArrowheads="1"/>
            </p:cNvSpPr>
            <p:nvPr/>
          </p:nvSpPr>
          <p:spPr bwMode="auto">
            <a:xfrm>
              <a:off x="6788150" y="639892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73" name="Text Box 56"/>
            <p:cNvSpPr txBox="1">
              <a:spLocks noChangeArrowheads="1"/>
            </p:cNvSpPr>
            <p:nvPr/>
          </p:nvSpPr>
          <p:spPr bwMode="auto">
            <a:xfrm>
              <a:off x="6794500" y="3922713"/>
              <a:ext cx="9540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carey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74" name="Text Box 57"/>
            <p:cNvSpPr txBox="1">
              <a:spLocks noChangeArrowheads="1"/>
            </p:cNvSpPr>
            <p:nvPr/>
          </p:nvSpPr>
          <p:spPr bwMode="auto">
            <a:xfrm>
              <a:off x="5880100" y="4951413"/>
              <a:ext cx="7921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“leon”</a:t>
              </a:r>
              <a:endParaRPr lang="en-US" sz="1800"/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7673975" y="4910138"/>
              <a:ext cx="1089025" cy="592138"/>
              <a:chOff x="7523163" y="4910138"/>
              <a:chExt cx="1089025" cy="592138"/>
            </a:xfrm>
          </p:grpSpPr>
          <p:grpSp>
            <p:nvGrpSpPr>
              <p:cNvPr id="99" name="Group 21"/>
              <p:cNvGrpSpPr/>
              <p:nvPr/>
            </p:nvGrpSpPr>
            <p:grpSpPr bwMode="auto">
              <a:xfrm>
                <a:off x="7621588" y="4910138"/>
                <a:ext cx="790575" cy="592138"/>
                <a:chOff x="3511" y="3072"/>
                <a:chExt cx="729" cy="624"/>
              </a:xfrm>
            </p:grpSpPr>
            <p:sp>
              <p:nvSpPr>
                <p:cNvPr id="101" name="Rectangle 2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" name="Rectangle 2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" name="Rectangle 2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" name="Rectangle 2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0" name="Text Box 58"/>
              <p:cNvSpPr txBox="1">
                <a:spLocks noChangeArrowheads="1"/>
              </p:cNvSpPr>
              <p:nvPr/>
            </p:nvSpPr>
            <p:spPr bwMode="auto">
              <a:xfrm>
                <a:off x="7523163" y="4948238"/>
                <a:ext cx="1089025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“andrea”</a:t>
                </a:r>
                <a:endParaRPr lang="en-US" sz="1800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8128000" y="6035675"/>
              <a:ext cx="1016000" cy="609310"/>
              <a:chOff x="7975600" y="6035675"/>
              <a:chExt cx="1016000" cy="609310"/>
            </a:xfrm>
          </p:grpSpPr>
          <p:grpSp>
            <p:nvGrpSpPr>
              <p:cNvPr id="91" name="Group 36"/>
              <p:cNvGrpSpPr/>
              <p:nvPr/>
            </p:nvGrpSpPr>
            <p:grpSpPr bwMode="auto">
              <a:xfrm>
                <a:off x="8050213" y="6035675"/>
                <a:ext cx="792162" cy="592138"/>
                <a:chOff x="3511" y="3072"/>
                <a:chExt cx="729" cy="624"/>
              </a:xfrm>
            </p:grpSpPr>
            <p:sp>
              <p:nvSpPr>
                <p:cNvPr id="95" name="Rectangle 3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" name="Rectangle 3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" name="Rectangle 3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Rectangle 4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" name="Text Box 53"/>
              <p:cNvSpPr txBox="1">
                <a:spLocks noChangeArrowheads="1"/>
              </p:cNvSpPr>
              <p:nvPr/>
            </p:nvSpPr>
            <p:spPr bwMode="auto">
              <a:xfrm>
                <a:off x="8023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93" name="Text Box 54"/>
              <p:cNvSpPr txBox="1">
                <a:spLocks noChangeArrowheads="1"/>
              </p:cNvSpPr>
              <p:nvPr/>
            </p:nvSpPr>
            <p:spPr bwMode="auto">
              <a:xfrm>
                <a:off x="8404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94" name="Text Box 59"/>
              <p:cNvSpPr txBox="1">
                <a:spLocks noChangeArrowheads="1"/>
              </p:cNvSpPr>
              <p:nvPr/>
            </p:nvSpPr>
            <p:spPr bwMode="auto">
              <a:xfrm>
                <a:off x="7975600" y="6042025"/>
                <a:ext cx="1016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“milton”</a:t>
                </a:r>
                <a:endParaRPr lang="en-US" sz="1800"/>
              </a:p>
            </p:txBody>
          </p:sp>
        </p:grpSp>
        <p:sp>
          <p:nvSpPr>
            <p:cNvPr id="77" name="Text Box 60"/>
            <p:cNvSpPr txBox="1">
              <a:spLocks noChangeArrowheads="1"/>
            </p:cNvSpPr>
            <p:nvPr/>
          </p:nvSpPr>
          <p:spPr bwMode="auto">
            <a:xfrm>
              <a:off x="5465763" y="6051550"/>
              <a:ext cx="97631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“sheila”</a:t>
              </a:r>
              <a:endParaRPr lang="en-US" sz="1800"/>
            </a:p>
          </p:txBody>
        </p:sp>
        <p:sp>
          <p:nvSpPr>
            <p:cNvPr id="78" name="Text Box 61"/>
            <p:cNvSpPr txBox="1">
              <a:spLocks noChangeArrowheads="1"/>
            </p:cNvSpPr>
            <p:nvPr/>
          </p:nvSpPr>
          <p:spPr bwMode="auto">
            <a:xfrm>
              <a:off x="6356350" y="6042025"/>
              <a:ext cx="9572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simon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79" name="Text Box 62"/>
            <p:cNvSpPr txBox="1">
              <a:spLocks noChangeArrowheads="1"/>
            </p:cNvSpPr>
            <p:nvPr/>
          </p:nvSpPr>
          <p:spPr bwMode="auto">
            <a:xfrm>
              <a:off x="6248400" y="3352800"/>
              <a:ext cx="219322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A </a:t>
              </a:r>
              <a:r>
                <a:rPr lang="en-US" dirty="0">
                  <a:solidFill>
                    <a:srgbClr val="FF0000"/>
                  </a:solidFill>
                </a:rPr>
                <a:t>Binary </a:t>
              </a:r>
              <a:r>
                <a:rPr lang="en-US" dirty="0"/>
                <a:t>Tree</a:t>
              </a:r>
              <a:endParaRPr lang="en-US" dirty="0"/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7234786" y="5384800"/>
              <a:ext cx="1029449" cy="1279235"/>
              <a:chOff x="5576598" y="5537200"/>
              <a:chExt cx="1029449" cy="1279235"/>
            </a:xfrm>
          </p:grpSpPr>
          <p:grpSp>
            <p:nvGrpSpPr>
              <p:cNvPr id="82" name="Group 26"/>
              <p:cNvGrpSpPr/>
              <p:nvPr/>
            </p:nvGrpSpPr>
            <p:grpSpPr bwMode="auto">
              <a:xfrm>
                <a:off x="5675313" y="6188075"/>
                <a:ext cx="792162" cy="592138"/>
                <a:chOff x="3511" y="3072"/>
                <a:chExt cx="729" cy="624"/>
              </a:xfrm>
            </p:grpSpPr>
            <p:sp>
              <p:nvSpPr>
                <p:cNvPr id="87" name="Rectangle 2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Rectangle 2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Rectangle 2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Rectangle 3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Line 44"/>
              <p:cNvSpPr>
                <a:spLocks noChangeShapeType="1"/>
              </p:cNvSpPr>
              <p:nvPr/>
            </p:nvSpPr>
            <p:spPr bwMode="auto">
              <a:xfrm flipH="1">
                <a:off x="5880100" y="5537200"/>
                <a:ext cx="468312" cy="642938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5643563" y="657196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85" name="Text Box 50"/>
              <p:cNvSpPr txBox="1">
                <a:spLocks noChangeArrowheads="1"/>
              </p:cNvSpPr>
              <p:nvPr/>
            </p:nvSpPr>
            <p:spPr bwMode="auto">
              <a:xfrm>
                <a:off x="6024563" y="6570373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86" name="Text Box 60"/>
              <p:cNvSpPr txBox="1">
                <a:spLocks noChangeArrowheads="1"/>
              </p:cNvSpPr>
              <p:nvPr/>
            </p:nvSpPr>
            <p:spPr bwMode="auto">
              <a:xfrm>
                <a:off x="5576598" y="6203950"/>
                <a:ext cx="1029449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“</a:t>
                </a:r>
                <a:r>
                  <a:rPr lang="en-US" sz="1600" dirty="0" err="1"/>
                  <a:t>martha</a:t>
                </a:r>
                <a:r>
                  <a:rPr lang="en-US" sz="1600" dirty="0"/>
                  <a:t>”</a:t>
                </a:r>
                <a:endParaRPr lang="en-US" sz="1600" dirty="0"/>
              </a:p>
            </p:txBody>
          </p:sp>
        </p:grpSp>
        <p:sp>
          <p:nvSpPr>
            <p:cNvPr id="81" name="Line 43"/>
            <p:cNvSpPr>
              <a:spLocks noChangeShapeType="1"/>
            </p:cNvSpPr>
            <p:nvPr/>
          </p:nvSpPr>
          <p:spPr bwMode="auto">
            <a:xfrm>
              <a:off x="8315325" y="5435600"/>
              <a:ext cx="280987" cy="6048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9D3C-E8A7-412E-9A4B-A2661C6E7841}" type="slidenum">
              <a:rPr lang="en-US"/>
            </a:fld>
            <a:endParaRPr lang="en-US"/>
          </a:p>
        </p:txBody>
      </p:sp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dirty="0"/>
              <a:t>Binary Tree Subtrees</a:t>
            </a:r>
            <a:endParaRPr lang="en-US" dirty="0"/>
          </a:p>
        </p:txBody>
      </p:sp>
      <p:sp>
        <p:nvSpPr>
          <p:cNvPr id="531514" name="Rectangle 58"/>
          <p:cNvSpPr>
            <a:spLocks noChangeArrowheads="1"/>
          </p:cNvSpPr>
          <p:nvPr/>
        </p:nvSpPr>
        <p:spPr bwMode="auto">
          <a:xfrm>
            <a:off x="533400" y="838200"/>
            <a:ext cx="7729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We can pick any node in the tree…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4" name="Group 11"/>
          <p:cNvGrpSpPr/>
          <p:nvPr/>
        </p:nvGrpSpPr>
        <p:grpSpPr bwMode="auto">
          <a:xfrm>
            <a:off x="3162732" y="3844036"/>
            <a:ext cx="792162" cy="592138"/>
            <a:chOff x="3511" y="3072"/>
            <a:chExt cx="729" cy="624"/>
          </a:xfrm>
        </p:grpSpPr>
        <p:sp>
          <p:nvSpPr>
            <p:cNvPr id="120" name="Rectangle 12"/>
            <p:cNvSpPr>
              <a:spLocks noChangeArrowheads="1"/>
            </p:cNvSpPr>
            <p:nvPr/>
          </p:nvSpPr>
          <p:spPr bwMode="auto">
            <a:xfrm>
              <a:off x="3511" y="3072"/>
              <a:ext cx="729" cy="62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Rectangle 13"/>
            <p:cNvSpPr>
              <a:spLocks noChangeArrowheads="1"/>
            </p:cNvSpPr>
            <p:nvPr/>
          </p:nvSpPr>
          <p:spPr bwMode="auto">
            <a:xfrm>
              <a:off x="3550" y="3473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Rectangle 14"/>
            <p:cNvSpPr>
              <a:spLocks noChangeArrowheads="1"/>
            </p:cNvSpPr>
            <p:nvPr/>
          </p:nvSpPr>
          <p:spPr bwMode="auto">
            <a:xfrm>
              <a:off x="3895" y="3476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15"/>
            <p:cNvSpPr>
              <a:spLocks noChangeArrowheads="1"/>
            </p:cNvSpPr>
            <p:nvPr/>
          </p:nvSpPr>
          <p:spPr bwMode="auto">
            <a:xfrm>
              <a:off x="3552" y="3120"/>
              <a:ext cx="636" cy="308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5" name="Group 16"/>
          <p:cNvGrpSpPr/>
          <p:nvPr/>
        </p:nvGrpSpPr>
        <p:grpSpPr bwMode="auto">
          <a:xfrm>
            <a:off x="4112057" y="2837561"/>
            <a:ext cx="792162" cy="592138"/>
            <a:chOff x="3511" y="3072"/>
            <a:chExt cx="729" cy="624"/>
          </a:xfrm>
        </p:grpSpPr>
        <p:sp>
          <p:nvSpPr>
            <p:cNvPr id="116" name="Rectangle 17"/>
            <p:cNvSpPr>
              <a:spLocks noChangeArrowheads="1"/>
            </p:cNvSpPr>
            <p:nvPr/>
          </p:nvSpPr>
          <p:spPr bwMode="auto">
            <a:xfrm>
              <a:off x="3511" y="3072"/>
              <a:ext cx="729" cy="62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Rectangle 18"/>
            <p:cNvSpPr>
              <a:spLocks noChangeArrowheads="1"/>
            </p:cNvSpPr>
            <p:nvPr/>
          </p:nvSpPr>
          <p:spPr bwMode="auto">
            <a:xfrm>
              <a:off x="3550" y="3473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Rectangle 19"/>
            <p:cNvSpPr>
              <a:spLocks noChangeArrowheads="1"/>
            </p:cNvSpPr>
            <p:nvPr/>
          </p:nvSpPr>
          <p:spPr bwMode="auto">
            <a:xfrm>
              <a:off x="3895" y="3476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Rectangle 20"/>
            <p:cNvSpPr>
              <a:spLocks noChangeArrowheads="1"/>
            </p:cNvSpPr>
            <p:nvPr/>
          </p:nvSpPr>
          <p:spPr bwMode="auto">
            <a:xfrm>
              <a:off x="3552" y="3120"/>
              <a:ext cx="636" cy="308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26"/>
          <p:cNvGrpSpPr/>
          <p:nvPr/>
        </p:nvGrpSpPr>
        <p:grpSpPr bwMode="auto">
          <a:xfrm>
            <a:off x="2786495" y="4969573"/>
            <a:ext cx="792162" cy="592138"/>
            <a:chOff x="3511" y="3072"/>
            <a:chExt cx="729" cy="624"/>
          </a:xfrm>
        </p:grpSpPr>
        <p:sp>
          <p:nvSpPr>
            <p:cNvPr id="112" name="Rectangle 27"/>
            <p:cNvSpPr>
              <a:spLocks noChangeArrowheads="1"/>
            </p:cNvSpPr>
            <p:nvPr/>
          </p:nvSpPr>
          <p:spPr bwMode="auto">
            <a:xfrm>
              <a:off x="3511" y="3072"/>
              <a:ext cx="729" cy="62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Rectangle 28"/>
            <p:cNvSpPr>
              <a:spLocks noChangeArrowheads="1"/>
            </p:cNvSpPr>
            <p:nvPr/>
          </p:nvSpPr>
          <p:spPr bwMode="auto">
            <a:xfrm>
              <a:off x="3550" y="3473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Rectangle 29"/>
            <p:cNvSpPr>
              <a:spLocks noChangeArrowheads="1"/>
            </p:cNvSpPr>
            <p:nvPr/>
          </p:nvSpPr>
          <p:spPr bwMode="auto">
            <a:xfrm>
              <a:off x="3895" y="3476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Rectangle 30"/>
            <p:cNvSpPr>
              <a:spLocks noChangeArrowheads="1"/>
            </p:cNvSpPr>
            <p:nvPr/>
          </p:nvSpPr>
          <p:spPr bwMode="auto">
            <a:xfrm>
              <a:off x="3552" y="3120"/>
              <a:ext cx="636" cy="308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7" name="Group 31"/>
          <p:cNvGrpSpPr/>
          <p:nvPr/>
        </p:nvGrpSpPr>
        <p:grpSpPr bwMode="auto">
          <a:xfrm>
            <a:off x="3697720" y="4967986"/>
            <a:ext cx="790575" cy="592138"/>
            <a:chOff x="3511" y="3072"/>
            <a:chExt cx="729" cy="624"/>
          </a:xfrm>
        </p:grpSpPr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3511" y="3072"/>
              <a:ext cx="729" cy="62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3550" y="3473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Rectangle 34"/>
            <p:cNvSpPr>
              <a:spLocks noChangeArrowheads="1"/>
            </p:cNvSpPr>
            <p:nvPr/>
          </p:nvSpPr>
          <p:spPr bwMode="auto">
            <a:xfrm>
              <a:off x="3895" y="3476"/>
              <a:ext cx="297" cy="19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Rectangle 35"/>
            <p:cNvSpPr>
              <a:spLocks noChangeArrowheads="1"/>
            </p:cNvSpPr>
            <p:nvPr/>
          </p:nvSpPr>
          <p:spPr bwMode="auto">
            <a:xfrm>
              <a:off x="3552" y="3120"/>
              <a:ext cx="636" cy="308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" name="Line 41"/>
          <p:cNvSpPr>
            <a:spLocks noChangeShapeType="1"/>
          </p:cNvSpPr>
          <p:nvPr/>
        </p:nvSpPr>
        <p:spPr bwMode="auto">
          <a:xfrm flipH="1">
            <a:off x="3637395" y="3312223"/>
            <a:ext cx="654050" cy="531813"/>
          </a:xfrm>
          <a:prstGeom prst="line">
            <a:avLst/>
          </a:prstGeom>
          <a:noFill/>
          <a:ln w="57150">
            <a:solidFill>
              <a:srgbClr val="00808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Line 42"/>
          <p:cNvSpPr>
            <a:spLocks noChangeShapeType="1"/>
          </p:cNvSpPr>
          <p:nvPr/>
        </p:nvSpPr>
        <p:spPr bwMode="auto">
          <a:xfrm>
            <a:off x="4696257" y="3310636"/>
            <a:ext cx="541337" cy="531813"/>
          </a:xfrm>
          <a:prstGeom prst="line">
            <a:avLst/>
          </a:prstGeom>
          <a:noFill/>
          <a:ln w="57150">
            <a:solidFill>
              <a:srgbClr val="00808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Line 44"/>
          <p:cNvSpPr>
            <a:spLocks noChangeShapeType="1"/>
          </p:cNvSpPr>
          <p:nvPr/>
        </p:nvSpPr>
        <p:spPr bwMode="auto">
          <a:xfrm flipH="1">
            <a:off x="2991282" y="4318698"/>
            <a:ext cx="468312" cy="642938"/>
          </a:xfrm>
          <a:prstGeom prst="line">
            <a:avLst/>
          </a:prstGeom>
          <a:noFill/>
          <a:ln w="57150">
            <a:solidFill>
              <a:srgbClr val="00808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Line 45"/>
          <p:cNvSpPr>
            <a:spLocks noChangeShapeType="1"/>
          </p:cNvSpPr>
          <p:nvPr/>
        </p:nvSpPr>
        <p:spPr bwMode="auto">
          <a:xfrm>
            <a:off x="3708832" y="4315523"/>
            <a:ext cx="465137" cy="642938"/>
          </a:xfrm>
          <a:prstGeom prst="line">
            <a:avLst/>
          </a:prstGeom>
          <a:noFill/>
          <a:ln w="57150">
            <a:solidFill>
              <a:srgbClr val="00808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Text Box 49"/>
          <p:cNvSpPr txBox="1">
            <a:spLocks noChangeArrowheads="1"/>
          </p:cNvSpPr>
          <p:nvPr/>
        </p:nvSpPr>
        <p:spPr bwMode="auto">
          <a:xfrm>
            <a:off x="2754745" y="5353458"/>
            <a:ext cx="5207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srgbClr val="FFFFCC"/>
                </a:solidFill>
              </a:rPr>
              <a:t>NULL</a:t>
            </a:r>
            <a:endParaRPr lang="en-US" sz="1000" b="1">
              <a:solidFill>
                <a:srgbClr val="FFFFCC"/>
              </a:solidFill>
            </a:endParaRPr>
          </a:p>
        </p:txBody>
      </p:sp>
      <p:sp>
        <p:nvSpPr>
          <p:cNvPr id="73" name="Text Box 50"/>
          <p:cNvSpPr txBox="1">
            <a:spLocks noChangeArrowheads="1"/>
          </p:cNvSpPr>
          <p:nvPr/>
        </p:nvSpPr>
        <p:spPr bwMode="auto">
          <a:xfrm>
            <a:off x="3135745" y="5351871"/>
            <a:ext cx="5207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srgbClr val="FFFFCC"/>
                </a:solidFill>
              </a:rPr>
              <a:t>NULL</a:t>
            </a:r>
            <a:endParaRPr lang="en-US" sz="1000" b="1">
              <a:solidFill>
                <a:srgbClr val="FFFFCC"/>
              </a:solidFill>
            </a:endParaRPr>
          </a:p>
        </p:txBody>
      </p:sp>
      <p:sp>
        <p:nvSpPr>
          <p:cNvPr id="75" name="Text Box 52"/>
          <p:cNvSpPr txBox="1">
            <a:spLocks noChangeArrowheads="1"/>
          </p:cNvSpPr>
          <p:nvPr/>
        </p:nvSpPr>
        <p:spPr bwMode="auto">
          <a:xfrm>
            <a:off x="4051732" y="5332821"/>
            <a:ext cx="5207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srgbClr val="FFFFCC"/>
                </a:solidFill>
              </a:rPr>
              <a:t>NULL</a:t>
            </a:r>
            <a:endParaRPr lang="en-US" sz="1000" b="1">
              <a:solidFill>
                <a:srgbClr val="FFFFCC"/>
              </a:solidFill>
            </a:endParaRPr>
          </a:p>
        </p:txBody>
      </p:sp>
      <p:sp>
        <p:nvSpPr>
          <p:cNvPr id="76" name="Text Box 56"/>
          <p:cNvSpPr txBox="1">
            <a:spLocks noChangeArrowheads="1"/>
          </p:cNvSpPr>
          <p:nvPr/>
        </p:nvSpPr>
        <p:spPr bwMode="auto">
          <a:xfrm>
            <a:off x="4058082" y="2856611"/>
            <a:ext cx="954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“</a:t>
            </a:r>
            <a:r>
              <a:rPr lang="en-US" sz="1800" dirty="0" err="1"/>
              <a:t>carey</a:t>
            </a:r>
            <a:r>
              <a:rPr lang="en-US" sz="1800" dirty="0"/>
              <a:t>”</a:t>
            </a:r>
            <a:endParaRPr lang="en-US" sz="1800" dirty="0"/>
          </a:p>
        </p:txBody>
      </p:sp>
      <p:sp>
        <p:nvSpPr>
          <p:cNvPr id="77" name="Text Box 57"/>
          <p:cNvSpPr txBox="1">
            <a:spLocks noChangeArrowheads="1"/>
          </p:cNvSpPr>
          <p:nvPr/>
        </p:nvSpPr>
        <p:spPr bwMode="auto">
          <a:xfrm>
            <a:off x="3143682" y="3885311"/>
            <a:ext cx="7921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“leon”</a:t>
            </a:r>
            <a:endParaRPr lang="en-US" sz="1800"/>
          </a:p>
        </p:txBody>
      </p:sp>
      <p:grpSp>
        <p:nvGrpSpPr>
          <p:cNvPr id="78" name="Group 77"/>
          <p:cNvGrpSpPr/>
          <p:nvPr/>
        </p:nvGrpSpPr>
        <p:grpSpPr>
          <a:xfrm>
            <a:off x="4937557" y="3844036"/>
            <a:ext cx="1089025" cy="592138"/>
            <a:chOff x="7523163" y="4910138"/>
            <a:chExt cx="1089025" cy="592138"/>
          </a:xfrm>
        </p:grpSpPr>
        <p:grpSp>
          <p:nvGrpSpPr>
            <p:cNvPr id="102" name="Group 21"/>
            <p:cNvGrpSpPr/>
            <p:nvPr/>
          </p:nvGrpSpPr>
          <p:grpSpPr bwMode="auto">
            <a:xfrm>
              <a:off x="7621588" y="4910138"/>
              <a:ext cx="790575" cy="592138"/>
              <a:chOff x="3511" y="3072"/>
              <a:chExt cx="729" cy="624"/>
            </a:xfrm>
          </p:grpSpPr>
          <p:sp>
            <p:nvSpPr>
              <p:cNvPr id="104" name="Rectangle 2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2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2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2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3" name="Text Box 58"/>
            <p:cNvSpPr txBox="1">
              <a:spLocks noChangeArrowheads="1"/>
            </p:cNvSpPr>
            <p:nvPr/>
          </p:nvSpPr>
          <p:spPr bwMode="auto">
            <a:xfrm>
              <a:off x="7523163" y="4948238"/>
              <a:ext cx="10890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“andrea”</a:t>
              </a:r>
              <a:endParaRPr lang="en-US" sz="1800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391582" y="4969573"/>
            <a:ext cx="1016000" cy="609310"/>
            <a:chOff x="7975600" y="6035675"/>
            <a:chExt cx="1016000" cy="609310"/>
          </a:xfrm>
        </p:grpSpPr>
        <p:grpSp>
          <p:nvGrpSpPr>
            <p:cNvPr id="94" name="Group 36"/>
            <p:cNvGrpSpPr/>
            <p:nvPr/>
          </p:nvGrpSpPr>
          <p:grpSpPr bwMode="auto">
            <a:xfrm>
              <a:off x="8050213" y="6035675"/>
              <a:ext cx="792162" cy="592138"/>
              <a:chOff x="3511" y="3072"/>
              <a:chExt cx="729" cy="624"/>
            </a:xfrm>
          </p:grpSpPr>
          <p:sp>
            <p:nvSpPr>
              <p:cNvPr id="98" name="Rectangle 3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Rectangle 3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Rectangle 3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Rectangle 4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5" name="Text Box 53"/>
            <p:cNvSpPr txBox="1">
              <a:spLocks noChangeArrowheads="1"/>
            </p:cNvSpPr>
            <p:nvPr/>
          </p:nvSpPr>
          <p:spPr bwMode="auto">
            <a:xfrm>
              <a:off x="8023225" y="640051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96" name="Text Box 54"/>
            <p:cNvSpPr txBox="1">
              <a:spLocks noChangeArrowheads="1"/>
            </p:cNvSpPr>
            <p:nvPr/>
          </p:nvSpPr>
          <p:spPr bwMode="auto">
            <a:xfrm>
              <a:off x="8404225" y="640051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97" name="Text Box 59"/>
            <p:cNvSpPr txBox="1">
              <a:spLocks noChangeArrowheads="1"/>
            </p:cNvSpPr>
            <p:nvPr/>
          </p:nvSpPr>
          <p:spPr bwMode="auto">
            <a:xfrm>
              <a:off x="7975600" y="6042025"/>
              <a:ext cx="1016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“milton”</a:t>
              </a:r>
              <a:endParaRPr lang="en-US" sz="1800"/>
            </a:p>
          </p:txBody>
        </p:sp>
      </p:grpSp>
      <p:sp>
        <p:nvSpPr>
          <p:cNvPr id="80" name="Text Box 60"/>
          <p:cNvSpPr txBox="1">
            <a:spLocks noChangeArrowheads="1"/>
          </p:cNvSpPr>
          <p:nvPr/>
        </p:nvSpPr>
        <p:spPr bwMode="auto">
          <a:xfrm>
            <a:off x="2729345" y="4985448"/>
            <a:ext cx="9763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“sheila”</a:t>
            </a:r>
            <a:endParaRPr lang="en-US" sz="1800"/>
          </a:p>
        </p:txBody>
      </p:sp>
      <p:sp>
        <p:nvSpPr>
          <p:cNvPr id="81" name="Text Box 61"/>
          <p:cNvSpPr txBox="1">
            <a:spLocks noChangeArrowheads="1"/>
          </p:cNvSpPr>
          <p:nvPr/>
        </p:nvSpPr>
        <p:spPr bwMode="auto">
          <a:xfrm>
            <a:off x="3619932" y="4975923"/>
            <a:ext cx="957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“</a:t>
            </a:r>
            <a:r>
              <a:rPr lang="en-US" sz="1800" dirty="0" err="1"/>
              <a:t>simon</a:t>
            </a:r>
            <a:r>
              <a:rPr lang="en-US" sz="1800" dirty="0"/>
              <a:t>”</a:t>
            </a:r>
            <a:endParaRPr lang="en-US" sz="1800" dirty="0"/>
          </a:p>
        </p:txBody>
      </p:sp>
      <p:grpSp>
        <p:nvGrpSpPr>
          <p:cNvPr id="83" name="Group 82"/>
          <p:cNvGrpSpPr/>
          <p:nvPr/>
        </p:nvGrpSpPr>
        <p:grpSpPr>
          <a:xfrm>
            <a:off x="4498368" y="4318698"/>
            <a:ext cx="1029449" cy="1279235"/>
            <a:chOff x="5576598" y="5537200"/>
            <a:chExt cx="1029449" cy="1279235"/>
          </a:xfrm>
        </p:grpSpPr>
        <p:grpSp>
          <p:nvGrpSpPr>
            <p:cNvPr id="85" name="Group 26"/>
            <p:cNvGrpSpPr/>
            <p:nvPr/>
          </p:nvGrpSpPr>
          <p:grpSpPr bwMode="auto">
            <a:xfrm>
              <a:off x="5675313" y="6188075"/>
              <a:ext cx="792162" cy="592138"/>
              <a:chOff x="3511" y="3072"/>
              <a:chExt cx="729" cy="624"/>
            </a:xfrm>
          </p:grpSpPr>
          <p:sp>
            <p:nvSpPr>
              <p:cNvPr id="90" name="Rectangle 2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2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2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3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6" name="Line 44"/>
            <p:cNvSpPr>
              <a:spLocks noChangeShapeType="1"/>
            </p:cNvSpPr>
            <p:nvPr/>
          </p:nvSpPr>
          <p:spPr bwMode="auto">
            <a:xfrm flipH="1">
              <a:off x="5880100" y="5537200"/>
              <a:ext cx="468312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Text Box 49"/>
            <p:cNvSpPr txBox="1">
              <a:spLocks noChangeArrowheads="1"/>
            </p:cNvSpPr>
            <p:nvPr/>
          </p:nvSpPr>
          <p:spPr bwMode="auto">
            <a:xfrm>
              <a:off x="5643563" y="6571960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88" name="Text Box 50"/>
            <p:cNvSpPr txBox="1">
              <a:spLocks noChangeArrowheads="1"/>
            </p:cNvSpPr>
            <p:nvPr/>
          </p:nvSpPr>
          <p:spPr bwMode="auto">
            <a:xfrm>
              <a:off x="6024563" y="6570373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89" name="Text Box 60"/>
            <p:cNvSpPr txBox="1">
              <a:spLocks noChangeArrowheads="1"/>
            </p:cNvSpPr>
            <p:nvPr/>
          </p:nvSpPr>
          <p:spPr bwMode="auto">
            <a:xfrm>
              <a:off x="5576598" y="6203950"/>
              <a:ext cx="102944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“</a:t>
              </a:r>
              <a:r>
                <a:rPr lang="en-US" sz="1600" dirty="0" err="1"/>
                <a:t>martha</a:t>
              </a:r>
              <a:r>
                <a:rPr lang="en-US" sz="1600" dirty="0"/>
                <a:t>”</a:t>
              </a:r>
              <a:endParaRPr lang="en-US" sz="1600" dirty="0"/>
            </a:p>
          </p:txBody>
        </p:sp>
      </p:grpSp>
      <p:sp>
        <p:nvSpPr>
          <p:cNvPr id="84" name="Line 43"/>
          <p:cNvSpPr>
            <a:spLocks noChangeShapeType="1"/>
          </p:cNvSpPr>
          <p:nvPr/>
        </p:nvSpPr>
        <p:spPr bwMode="auto">
          <a:xfrm>
            <a:off x="5578907" y="4369498"/>
            <a:ext cx="280987" cy="604838"/>
          </a:xfrm>
          <a:prstGeom prst="line">
            <a:avLst/>
          </a:prstGeom>
          <a:noFill/>
          <a:ln w="57150">
            <a:solidFill>
              <a:srgbClr val="00808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Right Arrow 1"/>
          <p:cNvSpPr/>
          <p:nvPr/>
        </p:nvSpPr>
        <p:spPr bwMode="auto">
          <a:xfrm>
            <a:off x="1240013" y="3771889"/>
            <a:ext cx="1932677" cy="829468"/>
          </a:xfrm>
          <a:prstGeom prst="rightArrow">
            <a:avLst/>
          </a:prstGeom>
          <a:solidFill>
            <a:srgbClr val="FFCC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0" bIns="45720" numCol="1" spcCol="0" rtlCol="0" fromWordArt="0" anchor="ctr" anchorCtr="0" forceAA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like this node…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942757" y="6032358"/>
            <a:ext cx="952500" cy="610897"/>
            <a:chOff x="6081279" y="6999562"/>
            <a:chExt cx="952500" cy="610897"/>
          </a:xfrm>
        </p:grpSpPr>
        <p:grpSp>
          <p:nvGrpSpPr>
            <p:cNvPr id="126" name="Group 31"/>
            <p:cNvGrpSpPr/>
            <p:nvPr/>
          </p:nvGrpSpPr>
          <p:grpSpPr bwMode="auto">
            <a:xfrm>
              <a:off x="6159067" y="6999562"/>
              <a:ext cx="790575" cy="592138"/>
              <a:chOff x="3511" y="3072"/>
              <a:chExt cx="729" cy="624"/>
            </a:xfrm>
          </p:grpSpPr>
          <p:sp>
            <p:nvSpPr>
              <p:cNvPr id="127" name="Rectangle 3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" name="Rectangle 3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Rectangle 3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Rectangle 3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2" name="Text Box 51"/>
            <p:cNvSpPr txBox="1">
              <a:spLocks noChangeArrowheads="1"/>
            </p:cNvSpPr>
            <p:nvPr/>
          </p:nvSpPr>
          <p:spPr bwMode="auto">
            <a:xfrm>
              <a:off x="6132079" y="7365984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133" name="Text Box 52"/>
            <p:cNvSpPr txBox="1">
              <a:spLocks noChangeArrowheads="1"/>
            </p:cNvSpPr>
            <p:nvPr/>
          </p:nvSpPr>
          <p:spPr bwMode="auto">
            <a:xfrm>
              <a:off x="6513079" y="7364397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134" name="Text Box 61"/>
            <p:cNvSpPr txBox="1">
              <a:spLocks noChangeArrowheads="1"/>
            </p:cNvSpPr>
            <p:nvPr/>
          </p:nvSpPr>
          <p:spPr bwMode="auto">
            <a:xfrm>
              <a:off x="6081279" y="7007499"/>
              <a:ext cx="91884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ziggy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</p:grpSp>
      <p:sp>
        <p:nvSpPr>
          <p:cNvPr id="135" name="Line 44"/>
          <p:cNvSpPr>
            <a:spLocks noChangeShapeType="1"/>
          </p:cNvSpPr>
          <p:nvPr/>
        </p:nvSpPr>
        <p:spPr bwMode="auto">
          <a:xfrm flipH="1">
            <a:off x="3471501" y="5455058"/>
            <a:ext cx="468312" cy="642938"/>
          </a:xfrm>
          <a:prstGeom prst="line">
            <a:avLst/>
          </a:prstGeom>
          <a:noFill/>
          <a:ln w="57150">
            <a:solidFill>
              <a:srgbClr val="00808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90240" y="2033144"/>
            <a:ext cx="3625305" cy="3611846"/>
            <a:chOff x="5518695" y="2376055"/>
            <a:chExt cx="3625305" cy="3611846"/>
          </a:xfrm>
        </p:grpSpPr>
        <p:sp>
          <p:nvSpPr>
            <p:cNvPr id="3" name="Rectangle 2"/>
            <p:cNvSpPr/>
            <p:nvPr/>
          </p:nvSpPr>
          <p:spPr bwMode="auto">
            <a:xfrm>
              <a:off x="5518695" y="2376055"/>
              <a:ext cx="3084978" cy="1810756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8" name="Rectangle 137"/>
            <p:cNvSpPr/>
            <p:nvPr/>
          </p:nvSpPr>
          <p:spPr bwMode="auto">
            <a:xfrm>
              <a:off x="7049622" y="4177145"/>
              <a:ext cx="2094378" cy="1810756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25" name="Rectangle 58"/>
          <p:cNvSpPr>
            <a:spLocks noChangeArrowheads="1"/>
          </p:cNvSpPr>
          <p:nvPr/>
        </p:nvSpPr>
        <p:spPr bwMode="auto">
          <a:xfrm>
            <a:off x="532606" y="1295400"/>
            <a:ext cx="79557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And then focus on its “</a:t>
            </a:r>
            <a:r>
              <a:rPr lang="en-US" dirty="0">
                <a:solidFill>
                  <a:srgbClr val="0000CC"/>
                </a:solidFill>
                <a:cs typeface="Courier New" panose="02070409020205090404" pitchFamily="49" charset="0"/>
              </a:rPr>
              <a:t>subtree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” - which includes it and all of nodes below it.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0" name="Rounded Rectangular Callout 139"/>
          <p:cNvSpPr/>
          <p:nvPr/>
        </p:nvSpPr>
        <p:spPr bwMode="auto">
          <a:xfrm>
            <a:off x="4925001" y="2361625"/>
            <a:ext cx="4121245" cy="1356683"/>
          </a:xfrm>
          <a:prstGeom prst="wedgeRoundRectCallout">
            <a:avLst>
              <a:gd name="adj1" fmla="val -74076"/>
              <a:gd name="adj2" fmla="val 62851"/>
              <a:gd name="adj3" fmla="val 16667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This subtree includes four different nodes…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b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It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has the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“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leon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” node 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as its root.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730070" y="2836863"/>
            <a:ext cx="3678237" cy="3805694"/>
            <a:chOff x="5257800" y="3180472"/>
            <a:chExt cx="3678237" cy="3805694"/>
          </a:xfrm>
        </p:grpSpPr>
        <p:grpSp>
          <p:nvGrpSpPr>
            <p:cNvPr id="119" name="Group 11"/>
            <p:cNvGrpSpPr/>
            <p:nvPr/>
          </p:nvGrpSpPr>
          <p:grpSpPr bwMode="auto">
            <a:xfrm>
              <a:off x="5691187" y="4186947"/>
              <a:ext cx="792162" cy="592138"/>
              <a:chOff x="3511" y="3072"/>
              <a:chExt cx="729" cy="624"/>
            </a:xfrm>
          </p:grpSpPr>
          <p:sp>
            <p:nvSpPr>
              <p:cNvPr id="120" name="Rectangle 1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1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1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Rectangle 1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16"/>
            <p:cNvGrpSpPr/>
            <p:nvPr/>
          </p:nvGrpSpPr>
          <p:grpSpPr bwMode="auto">
            <a:xfrm>
              <a:off x="6640512" y="3180472"/>
              <a:ext cx="792162" cy="592138"/>
              <a:chOff x="3511" y="3072"/>
              <a:chExt cx="729" cy="624"/>
            </a:xfrm>
          </p:grpSpPr>
          <p:sp>
            <p:nvSpPr>
              <p:cNvPr id="125" name="Rectangle 1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1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" name="Rectangle 1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Rectangle 2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1" name="Group 26"/>
            <p:cNvGrpSpPr/>
            <p:nvPr/>
          </p:nvGrpSpPr>
          <p:grpSpPr bwMode="auto">
            <a:xfrm>
              <a:off x="5314950" y="5312484"/>
              <a:ext cx="792162" cy="592138"/>
              <a:chOff x="3511" y="3072"/>
              <a:chExt cx="729" cy="624"/>
            </a:xfrm>
          </p:grpSpPr>
          <p:sp>
            <p:nvSpPr>
              <p:cNvPr id="132" name="Rectangle 27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Rectangle 28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" name="Rectangle 29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Rectangle 30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6" name="Group 31"/>
            <p:cNvGrpSpPr/>
            <p:nvPr/>
          </p:nvGrpSpPr>
          <p:grpSpPr bwMode="auto">
            <a:xfrm>
              <a:off x="6226175" y="5310897"/>
              <a:ext cx="790575" cy="592138"/>
              <a:chOff x="3511" y="3072"/>
              <a:chExt cx="729" cy="624"/>
            </a:xfrm>
          </p:grpSpPr>
          <p:sp>
            <p:nvSpPr>
              <p:cNvPr id="137" name="Rectangle 32"/>
              <p:cNvSpPr>
                <a:spLocks noChangeArrowheads="1"/>
              </p:cNvSpPr>
              <p:nvPr/>
            </p:nvSpPr>
            <p:spPr bwMode="auto">
              <a:xfrm>
                <a:off x="3511" y="3072"/>
                <a:ext cx="729" cy="62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Rectangle 33"/>
              <p:cNvSpPr>
                <a:spLocks noChangeArrowheads="1"/>
              </p:cNvSpPr>
              <p:nvPr/>
            </p:nvSpPr>
            <p:spPr bwMode="auto">
              <a:xfrm>
                <a:off x="3550" y="3473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" name="Rectangle 34"/>
              <p:cNvSpPr>
                <a:spLocks noChangeArrowheads="1"/>
              </p:cNvSpPr>
              <p:nvPr/>
            </p:nvSpPr>
            <p:spPr bwMode="auto">
              <a:xfrm>
                <a:off x="3895" y="3476"/>
                <a:ext cx="297" cy="192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Rectangle 3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636" cy="308"/>
              </a:xfrm>
              <a:prstGeom prst="rect">
                <a:avLst/>
              </a:prstGeom>
              <a:solidFill>
                <a:srgbClr val="CCFFCC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1" name="Line 41"/>
            <p:cNvSpPr>
              <a:spLocks noChangeShapeType="1"/>
            </p:cNvSpPr>
            <p:nvPr/>
          </p:nvSpPr>
          <p:spPr bwMode="auto">
            <a:xfrm flipH="1">
              <a:off x="6165850" y="3655134"/>
              <a:ext cx="654050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Line 42"/>
            <p:cNvSpPr>
              <a:spLocks noChangeShapeType="1"/>
            </p:cNvSpPr>
            <p:nvPr/>
          </p:nvSpPr>
          <p:spPr bwMode="auto">
            <a:xfrm>
              <a:off x="7224712" y="3653547"/>
              <a:ext cx="541337" cy="531813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Line 44"/>
            <p:cNvSpPr>
              <a:spLocks noChangeShapeType="1"/>
            </p:cNvSpPr>
            <p:nvPr/>
          </p:nvSpPr>
          <p:spPr bwMode="auto">
            <a:xfrm flipH="1">
              <a:off x="5519737" y="4661609"/>
              <a:ext cx="468312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Line 45"/>
            <p:cNvSpPr>
              <a:spLocks noChangeShapeType="1"/>
            </p:cNvSpPr>
            <p:nvPr/>
          </p:nvSpPr>
          <p:spPr bwMode="auto">
            <a:xfrm>
              <a:off x="6237287" y="4658434"/>
              <a:ext cx="465137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5283200" y="5696369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5664200" y="5694782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147" name="Text Box 52"/>
            <p:cNvSpPr txBox="1">
              <a:spLocks noChangeArrowheads="1"/>
            </p:cNvSpPr>
            <p:nvPr/>
          </p:nvSpPr>
          <p:spPr bwMode="auto">
            <a:xfrm>
              <a:off x="6580187" y="5675732"/>
              <a:ext cx="5207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  <p:sp>
          <p:nvSpPr>
            <p:cNvPr id="148" name="Text Box 56"/>
            <p:cNvSpPr txBox="1">
              <a:spLocks noChangeArrowheads="1"/>
            </p:cNvSpPr>
            <p:nvPr/>
          </p:nvSpPr>
          <p:spPr bwMode="auto">
            <a:xfrm>
              <a:off x="6586537" y="3199522"/>
              <a:ext cx="9540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carey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sp>
          <p:nvSpPr>
            <p:cNvPr id="149" name="Text Box 57"/>
            <p:cNvSpPr txBox="1">
              <a:spLocks noChangeArrowheads="1"/>
            </p:cNvSpPr>
            <p:nvPr/>
          </p:nvSpPr>
          <p:spPr bwMode="auto">
            <a:xfrm>
              <a:off x="5672137" y="4228222"/>
              <a:ext cx="7921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leon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grpSp>
          <p:nvGrpSpPr>
            <p:cNvPr id="150" name="Group 149"/>
            <p:cNvGrpSpPr/>
            <p:nvPr/>
          </p:nvGrpSpPr>
          <p:grpSpPr>
            <a:xfrm>
              <a:off x="7466012" y="4186947"/>
              <a:ext cx="1089025" cy="592138"/>
              <a:chOff x="7523163" y="4910138"/>
              <a:chExt cx="1089025" cy="592138"/>
            </a:xfrm>
          </p:grpSpPr>
          <p:grpSp>
            <p:nvGrpSpPr>
              <p:cNvPr id="151" name="Group 21"/>
              <p:cNvGrpSpPr/>
              <p:nvPr/>
            </p:nvGrpSpPr>
            <p:grpSpPr bwMode="auto">
              <a:xfrm>
                <a:off x="7621588" y="4910138"/>
                <a:ext cx="790575" cy="592138"/>
                <a:chOff x="3511" y="3072"/>
                <a:chExt cx="729" cy="624"/>
              </a:xfrm>
            </p:grpSpPr>
            <p:sp>
              <p:nvSpPr>
                <p:cNvPr id="153" name="Rectangle 2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" name="Rectangle 2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" name="Rectangle 2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" name="Rectangle 2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2" name="Text Box 58"/>
              <p:cNvSpPr txBox="1">
                <a:spLocks noChangeArrowheads="1"/>
              </p:cNvSpPr>
              <p:nvPr/>
            </p:nvSpPr>
            <p:spPr bwMode="auto">
              <a:xfrm>
                <a:off x="7523163" y="4948238"/>
                <a:ext cx="1089025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“andrea”</a:t>
                </a:r>
                <a:endParaRPr lang="en-US" sz="1800"/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7920037" y="5312484"/>
              <a:ext cx="1016000" cy="609310"/>
              <a:chOff x="7975600" y="6035675"/>
              <a:chExt cx="1016000" cy="609310"/>
            </a:xfrm>
          </p:grpSpPr>
          <p:grpSp>
            <p:nvGrpSpPr>
              <p:cNvPr id="158" name="Group 36"/>
              <p:cNvGrpSpPr/>
              <p:nvPr/>
            </p:nvGrpSpPr>
            <p:grpSpPr bwMode="auto">
              <a:xfrm>
                <a:off x="8050213" y="6035675"/>
                <a:ext cx="792162" cy="592138"/>
                <a:chOff x="3511" y="3072"/>
                <a:chExt cx="729" cy="624"/>
              </a:xfrm>
            </p:grpSpPr>
            <p:sp>
              <p:nvSpPr>
                <p:cNvPr id="162" name="Rectangle 3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3" name="Rectangle 3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" name="Rectangle 3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" name="Rectangle 4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9" name="Text Box 53"/>
              <p:cNvSpPr txBox="1">
                <a:spLocks noChangeArrowheads="1"/>
              </p:cNvSpPr>
              <p:nvPr/>
            </p:nvSpPr>
            <p:spPr bwMode="auto">
              <a:xfrm>
                <a:off x="8023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60" name="Text Box 54"/>
              <p:cNvSpPr txBox="1">
                <a:spLocks noChangeArrowheads="1"/>
              </p:cNvSpPr>
              <p:nvPr/>
            </p:nvSpPr>
            <p:spPr bwMode="auto">
              <a:xfrm>
                <a:off x="8404225" y="640051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61" name="Text Box 59"/>
              <p:cNvSpPr txBox="1">
                <a:spLocks noChangeArrowheads="1"/>
              </p:cNvSpPr>
              <p:nvPr/>
            </p:nvSpPr>
            <p:spPr bwMode="auto">
              <a:xfrm>
                <a:off x="7975600" y="6042025"/>
                <a:ext cx="1016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“milton”</a:t>
                </a:r>
                <a:endParaRPr lang="en-US" sz="1800"/>
              </a:p>
            </p:txBody>
          </p:sp>
        </p:grpSp>
        <p:sp>
          <p:nvSpPr>
            <p:cNvPr id="166" name="Text Box 60"/>
            <p:cNvSpPr txBox="1">
              <a:spLocks noChangeArrowheads="1"/>
            </p:cNvSpPr>
            <p:nvPr/>
          </p:nvSpPr>
          <p:spPr bwMode="auto">
            <a:xfrm>
              <a:off x="5257800" y="5328359"/>
              <a:ext cx="97631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“sheila”</a:t>
              </a:r>
              <a:endParaRPr lang="en-US" sz="1800"/>
            </a:p>
          </p:txBody>
        </p:sp>
        <p:sp>
          <p:nvSpPr>
            <p:cNvPr id="167" name="Text Box 61"/>
            <p:cNvSpPr txBox="1">
              <a:spLocks noChangeArrowheads="1"/>
            </p:cNvSpPr>
            <p:nvPr/>
          </p:nvSpPr>
          <p:spPr bwMode="auto">
            <a:xfrm>
              <a:off x="6148387" y="5318834"/>
              <a:ext cx="9572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“</a:t>
              </a:r>
              <a:r>
                <a:rPr lang="en-US" sz="1800" dirty="0" err="1"/>
                <a:t>simon</a:t>
              </a:r>
              <a:r>
                <a:rPr lang="en-US" sz="1800" dirty="0"/>
                <a:t>”</a:t>
              </a:r>
              <a:endParaRPr lang="en-US" sz="1800" dirty="0"/>
            </a:p>
          </p:txBody>
        </p:sp>
        <p:grpSp>
          <p:nvGrpSpPr>
            <p:cNvPr id="169" name="Group 168"/>
            <p:cNvGrpSpPr/>
            <p:nvPr/>
          </p:nvGrpSpPr>
          <p:grpSpPr>
            <a:xfrm>
              <a:off x="7026823" y="4661609"/>
              <a:ext cx="1029449" cy="1279235"/>
              <a:chOff x="5576598" y="5537200"/>
              <a:chExt cx="1029449" cy="1279235"/>
            </a:xfrm>
          </p:grpSpPr>
          <p:grpSp>
            <p:nvGrpSpPr>
              <p:cNvPr id="170" name="Group 26"/>
              <p:cNvGrpSpPr/>
              <p:nvPr/>
            </p:nvGrpSpPr>
            <p:grpSpPr bwMode="auto">
              <a:xfrm>
                <a:off x="5675313" y="6188075"/>
                <a:ext cx="792162" cy="592138"/>
                <a:chOff x="3511" y="3072"/>
                <a:chExt cx="729" cy="624"/>
              </a:xfrm>
            </p:grpSpPr>
            <p:sp>
              <p:nvSpPr>
                <p:cNvPr id="175" name="Rectangle 27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6" name="Rectangle 28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7" name="Rectangle 29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8" name="Rectangle 30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1" name="Line 44"/>
              <p:cNvSpPr>
                <a:spLocks noChangeShapeType="1"/>
              </p:cNvSpPr>
              <p:nvPr/>
            </p:nvSpPr>
            <p:spPr bwMode="auto">
              <a:xfrm flipH="1">
                <a:off x="5880100" y="5537200"/>
                <a:ext cx="468312" cy="642938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2" name="Text Box 49"/>
              <p:cNvSpPr txBox="1">
                <a:spLocks noChangeArrowheads="1"/>
              </p:cNvSpPr>
              <p:nvPr/>
            </p:nvSpPr>
            <p:spPr bwMode="auto">
              <a:xfrm>
                <a:off x="5643563" y="6571960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73" name="Text Box 50"/>
              <p:cNvSpPr txBox="1">
                <a:spLocks noChangeArrowheads="1"/>
              </p:cNvSpPr>
              <p:nvPr/>
            </p:nvSpPr>
            <p:spPr bwMode="auto">
              <a:xfrm>
                <a:off x="6024563" y="6570373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74" name="Text Box 60"/>
              <p:cNvSpPr txBox="1">
                <a:spLocks noChangeArrowheads="1"/>
              </p:cNvSpPr>
              <p:nvPr/>
            </p:nvSpPr>
            <p:spPr bwMode="auto">
              <a:xfrm>
                <a:off x="5576598" y="6203950"/>
                <a:ext cx="1029449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“</a:t>
                </a:r>
                <a:r>
                  <a:rPr lang="en-US" sz="1600" dirty="0" err="1"/>
                  <a:t>martha</a:t>
                </a:r>
                <a:r>
                  <a:rPr lang="en-US" sz="1600" dirty="0"/>
                  <a:t>”</a:t>
                </a:r>
                <a:endParaRPr lang="en-US" sz="1600" dirty="0"/>
              </a:p>
            </p:txBody>
          </p:sp>
        </p:grpSp>
        <p:sp>
          <p:nvSpPr>
            <p:cNvPr id="179" name="Line 43"/>
            <p:cNvSpPr>
              <a:spLocks noChangeShapeType="1"/>
            </p:cNvSpPr>
            <p:nvPr/>
          </p:nvSpPr>
          <p:spPr bwMode="auto">
            <a:xfrm>
              <a:off x="8107362" y="4712409"/>
              <a:ext cx="280987" cy="6048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0" name="Group 179"/>
            <p:cNvGrpSpPr/>
            <p:nvPr/>
          </p:nvGrpSpPr>
          <p:grpSpPr>
            <a:xfrm>
              <a:off x="5471212" y="6375269"/>
              <a:ext cx="952500" cy="610897"/>
              <a:chOff x="6081279" y="6999562"/>
              <a:chExt cx="952500" cy="610897"/>
            </a:xfrm>
          </p:grpSpPr>
          <p:grpSp>
            <p:nvGrpSpPr>
              <p:cNvPr id="181" name="Group 31"/>
              <p:cNvGrpSpPr/>
              <p:nvPr/>
            </p:nvGrpSpPr>
            <p:grpSpPr bwMode="auto">
              <a:xfrm>
                <a:off x="6159067" y="6999562"/>
                <a:ext cx="790575" cy="592138"/>
                <a:chOff x="3511" y="3072"/>
                <a:chExt cx="729" cy="624"/>
              </a:xfrm>
            </p:grpSpPr>
            <p:sp>
              <p:nvSpPr>
                <p:cNvPr id="185" name="Rectangle 3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" name="Rectangle 3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7" name="Rectangle 3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8" name="Rectangle 3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2" name="Text Box 51"/>
              <p:cNvSpPr txBox="1">
                <a:spLocks noChangeArrowheads="1"/>
              </p:cNvSpPr>
              <p:nvPr/>
            </p:nvSpPr>
            <p:spPr bwMode="auto">
              <a:xfrm>
                <a:off x="6132079" y="7365984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83" name="Text Box 52"/>
              <p:cNvSpPr txBox="1">
                <a:spLocks noChangeArrowheads="1"/>
              </p:cNvSpPr>
              <p:nvPr/>
            </p:nvSpPr>
            <p:spPr bwMode="auto">
              <a:xfrm>
                <a:off x="6513079" y="7364397"/>
                <a:ext cx="520700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84" name="Text Box 61"/>
              <p:cNvSpPr txBox="1">
                <a:spLocks noChangeArrowheads="1"/>
              </p:cNvSpPr>
              <p:nvPr/>
            </p:nvSpPr>
            <p:spPr bwMode="auto">
              <a:xfrm>
                <a:off x="6081279" y="7007499"/>
                <a:ext cx="91884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“</a:t>
                </a:r>
                <a:r>
                  <a:rPr lang="en-US" sz="1800" dirty="0" err="1"/>
                  <a:t>ziggy</a:t>
                </a:r>
                <a:r>
                  <a:rPr lang="en-US" sz="1800" dirty="0"/>
                  <a:t>”</a:t>
                </a:r>
                <a:endParaRPr lang="en-US" sz="1800" dirty="0"/>
              </a:p>
            </p:txBody>
          </p:sp>
        </p:grpSp>
        <p:sp>
          <p:nvSpPr>
            <p:cNvPr id="189" name="Line 44"/>
            <p:cNvSpPr>
              <a:spLocks noChangeShapeType="1"/>
            </p:cNvSpPr>
            <p:nvPr/>
          </p:nvSpPr>
          <p:spPr bwMode="auto">
            <a:xfrm flipH="1">
              <a:off x="5999956" y="5797969"/>
              <a:ext cx="468312" cy="642938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ECF1-E9C0-4A2A-BC58-946E5CAC4BA6}" type="slidenum">
              <a:rPr lang="en-US"/>
            </a:fld>
            <a:endParaRPr lang="en-US"/>
          </a:p>
        </p:txBody>
      </p:sp>
      <p:sp>
        <p:nvSpPr>
          <p:cNvPr id="532538" name="Rectangle 58"/>
          <p:cNvSpPr>
            <a:spLocks noChangeArrowheads="1"/>
          </p:cNvSpPr>
          <p:nvPr/>
        </p:nvSpPr>
        <p:spPr bwMode="auto">
          <a:xfrm>
            <a:off x="484187" y="957263"/>
            <a:ext cx="81311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If we pick a node from our tree…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32546" name="Group 66"/>
          <p:cNvGrpSpPr/>
          <p:nvPr/>
        </p:nvGrpSpPr>
        <p:grpSpPr bwMode="auto">
          <a:xfrm>
            <a:off x="914400" y="3171337"/>
            <a:ext cx="3644901" cy="3673475"/>
            <a:chOff x="2357" y="2582"/>
            <a:chExt cx="2296" cy="2314"/>
          </a:xfrm>
        </p:grpSpPr>
        <p:sp>
          <p:nvSpPr>
            <p:cNvPr id="532544" name="Oval 64"/>
            <p:cNvSpPr>
              <a:spLocks noChangeArrowheads="1"/>
            </p:cNvSpPr>
            <p:nvPr/>
          </p:nvSpPr>
          <p:spPr bwMode="auto">
            <a:xfrm>
              <a:off x="3143" y="2790"/>
              <a:ext cx="1510" cy="2106"/>
            </a:xfrm>
            <a:prstGeom prst="ellipse">
              <a:avLst/>
            </a:prstGeom>
            <a:noFill/>
            <a:ln w="3810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45" name="Text Box 65"/>
            <p:cNvSpPr txBox="1">
              <a:spLocks noChangeArrowheads="1"/>
            </p:cNvSpPr>
            <p:nvPr/>
          </p:nvSpPr>
          <p:spPr bwMode="auto">
            <a:xfrm>
              <a:off x="2357" y="2582"/>
              <a:ext cx="904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Carey’s </a:t>
              </a:r>
              <a:r>
                <a:rPr lang="en-US" dirty="0">
                  <a:solidFill>
                    <a:srgbClr val="FF0000"/>
                  </a:solidFill>
                </a:rPr>
                <a:t>left subtree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32550" name="Group 70"/>
          <p:cNvGrpSpPr/>
          <p:nvPr/>
        </p:nvGrpSpPr>
        <p:grpSpPr bwMode="auto">
          <a:xfrm>
            <a:off x="4537437" y="2748342"/>
            <a:ext cx="2854324" cy="3621086"/>
            <a:chOff x="3851" y="2151"/>
            <a:chExt cx="1798" cy="2281"/>
          </a:xfrm>
        </p:grpSpPr>
        <p:sp>
          <p:nvSpPr>
            <p:cNvPr id="532548" name="Oval 68"/>
            <p:cNvSpPr>
              <a:spLocks noChangeArrowheads="1"/>
            </p:cNvSpPr>
            <p:nvPr/>
          </p:nvSpPr>
          <p:spPr bwMode="auto">
            <a:xfrm>
              <a:off x="3851" y="2738"/>
              <a:ext cx="1318" cy="1694"/>
            </a:xfrm>
            <a:prstGeom prst="ellipse">
              <a:avLst/>
            </a:prstGeom>
            <a:noFill/>
            <a:ln w="3810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49" name="Text Box 69"/>
            <p:cNvSpPr txBox="1">
              <a:spLocks noChangeArrowheads="1"/>
            </p:cNvSpPr>
            <p:nvPr/>
          </p:nvSpPr>
          <p:spPr bwMode="auto">
            <a:xfrm>
              <a:off x="4745" y="2151"/>
              <a:ext cx="90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Carey’s </a:t>
              </a:r>
              <a:r>
                <a:rPr lang="en-US" dirty="0">
                  <a:solidFill>
                    <a:srgbClr val="FF0000"/>
                  </a:solidFill>
                </a:rPr>
                <a:t>right subtree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8" name="Right Arrow 117"/>
          <p:cNvSpPr/>
          <p:nvPr/>
        </p:nvSpPr>
        <p:spPr bwMode="auto">
          <a:xfrm>
            <a:off x="2097225" y="2748342"/>
            <a:ext cx="1932677" cy="829468"/>
          </a:xfrm>
          <a:prstGeom prst="rightArrow">
            <a:avLst/>
          </a:prstGeom>
          <a:solidFill>
            <a:srgbClr val="FFCC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0" bIns="45720" numCol="1" spcCol="0" rtlCol="0" fromWordArt="0" anchor="ctr" anchorCtr="0" forceAA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like this node…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93" name="Rectangle 58"/>
          <p:cNvSpPr>
            <a:spLocks noChangeArrowheads="1"/>
          </p:cNvSpPr>
          <p:nvPr/>
        </p:nvSpPr>
        <p:spPr bwMode="auto">
          <a:xfrm>
            <a:off x="631825" y="1367135"/>
            <a:ext cx="81311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we can also identify </a:t>
            </a:r>
            <a:r>
              <a:rPr lang="en-US" i="1" dirty="0">
                <a:solidFill>
                  <a:schemeClr val="tx1"/>
                </a:solidFill>
                <a:cs typeface="Courier New" panose="02070409020205090404" pitchFamily="49" charset="0"/>
              </a:rPr>
              <a:t>its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left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and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right sub-trees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dirty="0"/>
              <a:t>Binary Tree Subtrees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E9A74-C9CB-4EF9-87EB-D7C7EB86C564}" type="slidenum">
              <a:rPr lang="en-US"/>
            </a:fld>
            <a:endParaRPr lang="en-US"/>
          </a:p>
        </p:txBody>
      </p:sp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on Binary Trees</a:t>
            </a:r>
            <a:endParaRPr lang="en-US"/>
          </a:p>
        </p:txBody>
      </p:sp>
      <p:sp>
        <p:nvSpPr>
          <p:cNvPr id="557060" name="Rectangle 4"/>
          <p:cNvSpPr>
            <a:spLocks noChangeArrowheads="1"/>
          </p:cNvSpPr>
          <p:nvPr/>
        </p:nvSpPr>
        <p:spPr bwMode="auto">
          <a:xfrm>
            <a:off x="881063" y="2320925"/>
            <a:ext cx="7545387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FontTx/>
              <a:buChar char="•"/>
            </a:pPr>
            <a:r>
              <a:rPr lang="en-US" dirty="0">
                <a:solidFill>
                  <a:srgbClr val="006666"/>
                </a:solidFill>
              </a:rPr>
              <a:t> enumerating all the items</a:t>
            </a:r>
            <a:endParaRPr lang="en-US" dirty="0">
              <a:solidFill>
                <a:srgbClr val="006666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6666"/>
                </a:solidFill>
              </a:rPr>
              <a:t> </a:t>
            </a:r>
            <a:r>
              <a:rPr lang="en-US" dirty="0">
                <a:solidFill>
                  <a:srgbClr val="6600CC"/>
                </a:solidFill>
              </a:rPr>
              <a:t>searching for an item</a:t>
            </a:r>
            <a:endParaRPr lang="en-US" dirty="0">
              <a:solidFill>
                <a:srgbClr val="6600CC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6666"/>
                </a:solidFill>
              </a:rPr>
              <a:t> adding a new item at a certain position on the tree</a:t>
            </a:r>
            <a:endParaRPr lang="en-US" dirty="0">
              <a:solidFill>
                <a:srgbClr val="006666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6666"/>
                </a:solidFill>
              </a:rPr>
              <a:t> </a:t>
            </a:r>
            <a:r>
              <a:rPr lang="en-US" dirty="0">
                <a:solidFill>
                  <a:srgbClr val="6600CC"/>
                </a:solidFill>
              </a:rPr>
              <a:t>deleting an item</a:t>
            </a:r>
            <a:endParaRPr lang="en-US" dirty="0">
              <a:solidFill>
                <a:srgbClr val="6600CC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6666"/>
                </a:solidFill>
              </a:rPr>
              <a:t> deleting the entire tree (destruction)</a:t>
            </a:r>
            <a:endParaRPr lang="en-US" dirty="0">
              <a:solidFill>
                <a:srgbClr val="006666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6666"/>
                </a:solidFill>
              </a:rPr>
              <a:t> </a:t>
            </a:r>
            <a:r>
              <a:rPr lang="en-US" dirty="0">
                <a:solidFill>
                  <a:srgbClr val="6600CC"/>
                </a:solidFill>
              </a:rPr>
              <a:t>removing a whole section of a tree (called </a:t>
            </a:r>
            <a:r>
              <a:rPr lang="en-US" b="1" dirty="0">
                <a:solidFill>
                  <a:srgbClr val="6600CC"/>
                </a:solidFill>
              </a:rPr>
              <a:t>pruning</a:t>
            </a:r>
            <a:r>
              <a:rPr lang="en-US" dirty="0">
                <a:solidFill>
                  <a:srgbClr val="6600CC"/>
                </a:solidFill>
              </a:rPr>
              <a:t>)</a:t>
            </a:r>
            <a:endParaRPr lang="en-US" dirty="0">
              <a:solidFill>
                <a:srgbClr val="6600CC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6666"/>
                </a:solidFill>
              </a:rPr>
              <a:t> adding a whole section to a tree (called </a:t>
            </a:r>
            <a:r>
              <a:rPr lang="en-US" b="1" dirty="0">
                <a:solidFill>
                  <a:srgbClr val="006666"/>
                </a:solidFill>
              </a:rPr>
              <a:t>grafting</a:t>
            </a:r>
            <a:r>
              <a:rPr lang="en-US" dirty="0">
                <a:solidFill>
                  <a:srgbClr val="006666"/>
                </a:solidFill>
              </a:rPr>
              <a:t>)</a:t>
            </a:r>
            <a:endParaRPr lang="en-US" dirty="0">
              <a:solidFill>
                <a:srgbClr val="006666"/>
              </a:solidFill>
            </a:endParaRPr>
          </a:p>
          <a:p>
            <a:pPr eaLnBrk="0" hangingPunct="0">
              <a:buFontTx/>
              <a:buChar char="•"/>
            </a:pPr>
            <a:endParaRPr lang="en-US" dirty="0">
              <a:solidFill>
                <a:srgbClr val="006666"/>
              </a:solidFill>
              <a:latin typeface="Times New Roman" panose="02020503050405090304" pitchFamily="18" charset="0"/>
            </a:endParaRPr>
          </a:p>
        </p:txBody>
      </p:sp>
      <p:sp>
        <p:nvSpPr>
          <p:cNvPr id="557061" name="Text Box 5"/>
          <p:cNvSpPr txBox="1">
            <a:spLocks noChangeArrowheads="1"/>
          </p:cNvSpPr>
          <p:nvPr/>
        </p:nvSpPr>
        <p:spPr bwMode="auto">
          <a:xfrm>
            <a:off x="603250" y="1295400"/>
            <a:ext cx="795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The following are common operations that we might perform on a Binary Tree:</a:t>
            </a:r>
            <a:endParaRPr lang="en-US" dirty="0"/>
          </a:p>
        </p:txBody>
      </p:sp>
      <p:sp>
        <p:nvSpPr>
          <p:cNvPr id="557062" name="Text Box 6"/>
          <p:cNvSpPr txBox="1">
            <a:spLocks noChangeArrowheads="1"/>
          </p:cNvSpPr>
          <p:nvPr/>
        </p:nvSpPr>
        <p:spPr bwMode="auto">
          <a:xfrm>
            <a:off x="669925" y="5410200"/>
            <a:ext cx="79089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We’ll learn about many of these operations over the next two classes.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CD49D-1D07-48C6-9789-C2B5616ECE3C}" type="slidenum">
              <a:rPr lang="en-US"/>
            </a:fld>
            <a:endParaRPr lang="en-US"/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188" y="53975"/>
            <a:ext cx="5087937" cy="1143000"/>
          </a:xfrm>
        </p:spPr>
        <p:txBody>
          <a:bodyPr/>
          <a:lstStyle/>
          <a:p>
            <a:r>
              <a:rPr lang="en-US" sz="4000"/>
              <a:t>A Simple Tree Example</a:t>
            </a:r>
            <a:endParaRPr lang="en-US" sz="4000"/>
          </a:p>
        </p:txBody>
      </p:sp>
      <p:sp>
        <p:nvSpPr>
          <p:cNvPr id="552964" name="Text Box 4"/>
          <p:cNvSpPr txBox="1">
            <a:spLocks noChangeArrowheads="1"/>
          </p:cNvSpPr>
          <p:nvPr/>
        </p:nvSpPr>
        <p:spPr bwMode="auto">
          <a:xfrm>
            <a:off x="406400" y="109538"/>
            <a:ext cx="3467100" cy="1468437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latin typeface="Courier New" panose="02070409020205090404" pitchFamily="49" charset="0"/>
              </a:rPr>
              <a:t>struct BTNODE	 // node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{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int value;  // data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BTNODE *</a:t>
            </a:r>
            <a:r>
              <a:rPr lang="en-US" sz="1800" b="1">
                <a:solidFill>
                  <a:srgbClr val="FF3300"/>
                </a:solidFill>
                <a:latin typeface="Courier New" panose="02070409020205090404" pitchFamily="49" charset="0"/>
              </a:rPr>
              <a:t>left</a:t>
            </a:r>
            <a:r>
              <a:rPr lang="en-US" sz="1800" b="1">
                <a:latin typeface="Courier New" panose="02070409020205090404" pitchFamily="49" charset="0"/>
              </a:rPr>
              <a:t>, *</a:t>
            </a:r>
            <a:r>
              <a:rPr lang="en-US" sz="1800" b="1">
                <a:solidFill>
                  <a:srgbClr val="FF3300"/>
                </a:solidFill>
                <a:latin typeface="Courier New" panose="02070409020205090404" pitchFamily="49" charset="0"/>
              </a:rPr>
              <a:t>right</a:t>
            </a:r>
            <a:r>
              <a:rPr lang="en-US" sz="1800" b="1">
                <a:latin typeface="Courier New" panose="02070409020205090404" pitchFamily="49" charset="0"/>
              </a:rPr>
              <a:t>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};</a:t>
            </a:r>
            <a:endParaRPr lang="en-US" sz="1800" b="1">
              <a:latin typeface="Courier New" panose="02070409020205090404" pitchFamily="49" charset="0"/>
            </a:endParaRPr>
          </a:p>
        </p:txBody>
      </p:sp>
      <p:sp>
        <p:nvSpPr>
          <p:cNvPr id="552965" name="Text Box 5"/>
          <p:cNvSpPr txBox="1">
            <a:spLocks noChangeArrowheads="1"/>
          </p:cNvSpPr>
          <p:nvPr/>
        </p:nvSpPr>
        <p:spPr bwMode="auto">
          <a:xfrm>
            <a:off x="398463" y="1671638"/>
            <a:ext cx="3479800" cy="5037137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latin typeface="Courier New" panose="02070409020205090404" pitchFamily="49" charset="0"/>
              </a:rPr>
              <a:t>main()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{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BTNODE *temp, *pRoot;</a:t>
            </a:r>
            <a:endParaRPr lang="en-US" sz="1800" b="1">
              <a:latin typeface="Courier New" panose="02070409020205090404" pitchFamily="49" charset="0"/>
            </a:endParaRPr>
          </a:p>
          <a:p>
            <a:endParaRPr lang="en-US" sz="10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pRoot = new BTNODE;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pRoot-&gt;value = 5;</a:t>
            </a:r>
            <a:endParaRPr lang="en-US" sz="1800" b="1">
              <a:latin typeface="Courier New" panose="02070409020205090404" pitchFamily="49" charset="0"/>
            </a:endParaRPr>
          </a:p>
          <a:p>
            <a:endParaRPr lang="en-US" sz="10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temp = new BTNODE;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temp-&gt;value = 7;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temp-&gt;left = NULL;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temp-&gt;right = NULL;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pRoot-&gt;left = temp;</a:t>
            </a:r>
            <a:endParaRPr lang="en-US" sz="1800" b="1">
              <a:latin typeface="Courier New" panose="02070409020205090404" pitchFamily="49" charset="0"/>
            </a:endParaRPr>
          </a:p>
          <a:p>
            <a:endParaRPr lang="en-US" sz="1000" b="1">
              <a:latin typeface="Courier New" panose="02070409020205090404" pitchFamily="49" charset="0"/>
            </a:endParaRPr>
          </a:p>
          <a:p>
            <a:r>
              <a:rPr lang="en-US"/>
              <a:t>   </a:t>
            </a:r>
            <a:r>
              <a:rPr lang="en-US" sz="1800">
                <a:latin typeface="Courier New" panose="02070409020205090404" pitchFamily="49" charset="0"/>
              </a:rPr>
              <a:t> </a:t>
            </a:r>
            <a:r>
              <a:rPr lang="en-US" sz="1800" b="1">
                <a:latin typeface="Courier New" panose="02070409020205090404" pitchFamily="49" charset="0"/>
              </a:rPr>
              <a:t>temp = new BTNODE;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temp-&gt;value = -3;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temp-&gt;left = NULL;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temp-&gt;right = NULL;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pRoot-&gt;right = temp;</a:t>
            </a:r>
            <a:endParaRPr lang="en-US" sz="1800" b="1">
              <a:latin typeface="Courier New" panose="02070409020205090404" pitchFamily="49" charset="0"/>
            </a:endParaRPr>
          </a:p>
          <a:p>
            <a:r>
              <a:rPr lang="en-US" sz="1800" b="1">
                <a:latin typeface="Courier New" panose="02070409020205090404" pitchFamily="49" charset="0"/>
              </a:rPr>
              <a:t>   // etc…</a:t>
            </a:r>
            <a:endParaRPr lang="en-US" sz="1800" b="1">
              <a:latin typeface="Courier New" panose="02070409020205090404" pitchFamily="49" charset="0"/>
            </a:endParaRPr>
          </a:p>
        </p:txBody>
      </p:sp>
      <p:sp>
        <p:nvSpPr>
          <p:cNvPr id="552966" name="Line 6"/>
          <p:cNvSpPr>
            <a:spLocks noChangeShapeType="1"/>
          </p:cNvSpPr>
          <p:nvPr/>
        </p:nvSpPr>
        <p:spPr bwMode="auto">
          <a:xfrm>
            <a:off x="533400" y="239553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2969" name="Group 9"/>
          <p:cNvGrpSpPr/>
          <p:nvPr/>
        </p:nvGrpSpPr>
        <p:grpSpPr bwMode="auto">
          <a:xfrm>
            <a:off x="4860925" y="1722438"/>
            <a:ext cx="1839913" cy="457200"/>
            <a:chOff x="3062" y="1085"/>
            <a:chExt cx="1159" cy="288"/>
          </a:xfrm>
        </p:grpSpPr>
        <p:sp>
          <p:nvSpPr>
            <p:cNvPr id="552967" name="Text Box 7"/>
            <p:cNvSpPr txBox="1">
              <a:spLocks noChangeArrowheads="1"/>
            </p:cNvSpPr>
            <p:nvPr/>
          </p:nvSpPr>
          <p:spPr bwMode="auto">
            <a:xfrm>
              <a:off x="3062" y="1085"/>
              <a:ext cx="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pRoot</a:t>
              </a:r>
              <a:endParaRPr lang="en-US"/>
            </a:p>
          </p:txBody>
        </p:sp>
        <p:sp>
          <p:nvSpPr>
            <p:cNvPr id="552968" name="Rectangle 8"/>
            <p:cNvSpPr>
              <a:spLocks noChangeArrowheads="1"/>
            </p:cNvSpPr>
            <p:nvPr/>
          </p:nvSpPr>
          <p:spPr bwMode="auto">
            <a:xfrm>
              <a:off x="3688" y="1135"/>
              <a:ext cx="533" cy="20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52970" name="Group 10"/>
          <p:cNvGrpSpPr/>
          <p:nvPr/>
        </p:nvGrpSpPr>
        <p:grpSpPr bwMode="auto">
          <a:xfrm>
            <a:off x="4857750" y="1309688"/>
            <a:ext cx="1839913" cy="457200"/>
            <a:chOff x="3062" y="1085"/>
            <a:chExt cx="1159" cy="288"/>
          </a:xfrm>
        </p:grpSpPr>
        <p:sp>
          <p:nvSpPr>
            <p:cNvPr id="552971" name="Text Box 11"/>
            <p:cNvSpPr txBox="1">
              <a:spLocks noChangeArrowheads="1"/>
            </p:cNvSpPr>
            <p:nvPr/>
          </p:nvSpPr>
          <p:spPr bwMode="auto">
            <a:xfrm>
              <a:off x="3062" y="1085"/>
              <a:ext cx="5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temp</a:t>
              </a:r>
              <a:endParaRPr lang="en-US"/>
            </a:p>
          </p:txBody>
        </p:sp>
        <p:sp>
          <p:nvSpPr>
            <p:cNvPr id="552972" name="Rectangle 12"/>
            <p:cNvSpPr>
              <a:spLocks noChangeArrowheads="1"/>
            </p:cNvSpPr>
            <p:nvPr/>
          </p:nvSpPr>
          <p:spPr bwMode="auto">
            <a:xfrm>
              <a:off x="3688" y="1135"/>
              <a:ext cx="533" cy="20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2973" name="Line 13"/>
          <p:cNvSpPr>
            <a:spLocks noChangeShapeType="1"/>
          </p:cNvSpPr>
          <p:nvPr/>
        </p:nvSpPr>
        <p:spPr bwMode="auto">
          <a:xfrm>
            <a:off x="547688" y="2819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2985" name="Group 25"/>
          <p:cNvGrpSpPr/>
          <p:nvPr/>
        </p:nvGrpSpPr>
        <p:grpSpPr bwMode="auto">
          <a:xfrm>
            <a:off x="5819775" y="2576513"/>
            <a:ext cx="2216150" cy="1352550"/>
            <a:chOff x="3666" y="1623"/>
            <a:chExt cx="1396" cy="852"/>
          </a:xfrm>
        </p:grpSpPr>
        <p:grpSp>
          <p:nvGrpSpPr>
            <p:cNvPr id="552983" name="Group 23"/>
            <p:cNvGrpSpPr/>
            <p:nvPr/>
          </p:nvGrpSpPr>
          <p:grpSpPr bwMode="auto">
            <a:xfrm>
              <a:off x="3666" y="1707"/>
              <a:ext cx="878" cy="768"/>
              <a:chOff x="3666" y="1707"/>
              <a:chExt cx="878" cy="768"/>
            </a:xfrm>
          </p:grpSpPr>
          <p:sp>
            <p:nvSpPr>
              <p:cNvPr id="552976" name="Rectangle 16"/>
              <p:cNvSpPr>
                <a:spLocks noChangeArrowheads="1"/>
              </p:cNvSpPr>
              <p:nvPr/>
            </p:nvSpPr>
            <p:spPr bwMode="auto">
              <a:xfrm>
                <a:off x="3680" y="1707"/>
                <a:ext cx="864" cy="768"/>
              </a:xfrm>
              <a:prstGeom prst="rect">
                <a:avLst/>
              </a:prstGeom>
              <a:solidFill>
                <a:srgbClr val="FFDBED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2977" name="Text Box 17"/>
              <p:cNvSpPr txBox="1">
                <a:spLocks noChangeArrowheads="1"/>
              </p:cNvSpPr>
              <p:nvPr/>
            </p:nvSpPr>
            <p:spPr bwMode="auto">
              <a:xfrm>
                <a:off x="3666" y="1758"/>
                <a:ext cx="45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value</a:t>
                </a:r>
                <a:endParaRPr lang="en-US" sz="1800"/>
              </a:p>
            </p:txBody>
          </p:sp>
          <p:sp>
            <p:nvSpPr>
              <p:cNvPr id="552978" name="Rectangle 18"/>
              <p:cNvSpPr>
                <a:spLocks noChangeArrowheads="1"/>
              </p:cNvSpPr>
              <p:nvPr/>
            </p:nvSpPr>
            <p:spPr bwMode="auto">
              <a:xfrm>
                <a:off x="4118" y="1778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2979" name="Text Box 19"/>
              <p:cNvSpPr txBox="1">
                <a:spLocks noChangeArrowheads="1"/>
              </p:cNvSpPr>
              <p:nvPr/>
            </p:nvSpPr>
            <p:spPr bwMode="auto">
              <a:xfrm>
                <a:off x="3705" y="2031"/>
                <a:ext cx="37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left</a:t>
                </a:r>
                <a:endParaRPr lang="en-US" sz="1800"/>
              </a:p>
            </p:txBody>
          </p:sp>
          <p:sp>
            <p:nvSpPr>
              <p:cNvPr id="552980" name="Text Box 20"/>
              <p:cNvSpPr txBox="1">
                <a:spLocks noChangeArrowheads="1"/>
              </p:cNvSpPr>
              <p:nvPr/>
            </p:nvSpPr>
            <p:spPr bwMode="auto">
              <a:xfrm>
                <a:off x="4089" y="2022"/>
                <a:ext cx="4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right</a:t>
                </a:r>
                <a:endParaRPr lang="en-US" sz="1800"/>
              </a:p>
            </p:txBody>
          </p:sp>
          <p:sp>
            <p:nvSpPr>
              <p:cNvPr id="552981" name="Rectangle 21"/>
              <p:cNvSpPr>
                <a:spLocks noChangeArrowheads="1"/>
              </p:cNvSpPr>
              <p:nvPr/>
            </p:nvSpPr>
            <p:spPr bwMode="auto">
              <a:xfrm>
                <a:off x="3711" y="2232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2982" name="Rectangle 22"/>
              <p:cNvSpPr>
                <a:spLocks noChangeArrowheads="1"/>
              </p:cNvSpPr>
              <p:nvPr/>
            </p:nvSpPr>
            <p:spPr bwMode="auto">
              <a:xfrm>
                <a:off x="4134" y="2235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2984" name="Text Box 24"/>
            <p:cNvSpPr txBox="1">
              <a:spLocks noChangeArrowheads="1"/>
            </p:cNvSpPr>
            <p:nvPr/>
          </p:nvSpPr>
          <p:spPr bwMode="auto">
            <a:xfrm>
              <a:off x="4509" y="1623"/>
              <a:ext cx="5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1000</a:t>
              </a:r>
              <a:endParaRPr lang="en-US"/>
            </a:p>
          </p:txBody>
        </p:sp>
      </p:grpSp>
      <p:sp>
        <p:nvSpPr>
          <p:cNvPr id="552986" name="Text Box 26"/>
          <p:cNvSpPr txBox="1">
            <a:spLocks noChangeArrowheads="1"/>
          </p:cNvSpPr>
          <p:nvPr/>
        </p:nvSpPr>
        <p:spPr bwMode="auto">
          <a:xfrm>
            <a:off x="5813425" y="1747838"/>
            <a:ext cx="87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CC"/>
                </a:solidFill>
              </a:rPr>
              <a:t>1000</a:t>
            </a:r>
            <a:endParaRPr lang="en-US">
              <a:solidFill>
                <a:srgbClr val="FFFFCC"/>
              </a:solidFill>
            </a:endParaRPr>
          </a:p>
        </p:txBody>
      </p:sp>
      <p:cxnSp>
        <p:nvCxnSpPr>
          <p:cNvPr id="552987" name="AutoShape 27"/>
          <p:cNvCxnSpPr>
            <a:cxnSpLocks noChangeShapeType="1"/>
            <a:stCxn id="552968" idx="3"/>
            <a:endCxn id="552976" idx="0"/>
          </p:cNvCxnSpPr>
          <p:nvPr/>
        </p:nvCxnSpPr>
        <p:spPr bwMode="auto">
          <a:xfrm flipH="1">
            <a:off x="6527800" y="1965325"/>
            <a:ext cx="173038" cy="744538"/>
          </a:xfrm>
          <a:prstGeom prst="curvedConnector4">
            <a:avLst>
              <a:gd name="adj1" fmla="val -132111"/>
              <a:gd name="adj2" fmla="val 60981"/>
            </a:avLst>
          </a:prstGeom>
          <a:noFill/>
          <a:ln w="38100">
            <a:solidFill>
              <a:schemeClr val="tx1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2988" name="Line 28"/>
          <p:cNvSpPr>
            <a:spLocks noChangeShapeType="1"/>
          </p:cNvSpPr>
          <p:nvPr/>
        </p:nvSpPr>
        <p:spPr bwMode="auto">
          <a:xfrm>
            <a:off x="547688" y="3124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2989" name="Text Box 29"/>
          <p:cNvSpPr txBox="1">
            <a:spLocks noChangeArrowheads="1"/>
          </p:cNvSpPr>
          <p:nvPr/>
        </p:nvSpPr>
        <p:spPr bwMode="auto">
          <a:xfrm>
            <a:off x="6654800" y="27400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552990" name="Line 30"/>
          <p:cNvSpPr>
            <a:spLocks noChangeShapeType="1"/>
          </p:cNvSpPr>
          <p:nvPr/>
        </p:nvSpPr>
        <p:spPr bwMode="auto">
          <a:xfrm>
            <a:off x="552450" y="35337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2993" name="Group 33"/>
          <p:cNvGrpSpPr/>
          <p:nvPr/>
        </p:nvGrpSpPr>
        <p:grpSpPr bwMode="auto">
          <a:xfrm>
            <a:off x="4641850" y="4210050"/>
            <a:ext cx="2216150" cy="1352550"/>
            <a:chOff x="3666" y="1623"/>
            <a:chExt cx="1396" cy="852"/>
          </a:xfrm>
        </p:grpSpPr>
        <p:grpSp>
          <p:nvGrpSpPr>
            <p:cNvPr id="552994" name="Group 34"/>
            <p:cNvGrpSpPr/>
            <p:nvPr/>
          </p:nvGrpSpPr>
          <p:grpSpPr bwMode="auto">
            <a:xfrm>
              <a:off x="3666" y="1707"/>
              <a:ext cx="878" cy="768"/>
              <a:chOff x="3666" y="1707"/>
              <a:chExt cx="878" cy="768"/>
            </a:xfrm>
          </p:grpSpPr>
          <p:sp>
            <p:nvSpPr>
              <p:cNvPr id="552995" name="Rectangle 35"/>
              <p:cNvSpPr>
                <a:spLocks noChangeArrowheads="1"/>
              </p:cNvSpPr>
              <p:nvPr/>
            </p:nvSpPr>
            <p:spPr bwMode="auto">
              <a:xfrm>
                <a:off x="3680" y="1707"/>
                <a:ext cx="864" cy="768"/>
              </a:xfrm>
              <a:prstGeom prst="rect">
                <a:avLst/>
              </a:prstGeom>
              <a:solidFill>
                <a:srgbClr val="FFDBED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2996" name="Text Box 36"/>
              <p:cNvSpPr txBox="1">
                <a:spLocks noChangeArrowheads="1"/>
              </p:cNvSpPr>
              <p:nvPr/>
            </p:nvSpPr>
            <p:spPr bwMode="auto">
              <a:xfrm>
                <a:off x="3666" y="1758"/>
                <a:ext cx="45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value</a:t>
                </a:r>
                <a:endParaRPr lang="en-US" sz="1800"/>
              </a:p>
            </p:txBody>
          </p:sp>
          <p:sp>
            <p:nvSpPr>
              <p:cNvPr id="552997" name="Rectangle 37"/>
              <p:cNvSpPr>
                <a:spLocks noChangeArrowheads="1"/>
              </p:cNvSpPr>
              <p:nvPr/>
            </p:nvSpPr>
            <p:spPr bwMode="auto">
              <a:xfrm>
                <a:off x="4118" y="1778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2998" name="Text Box 38"/>
              <p:cNvSpPr txBox="1">
                <a:spLocks noChangeArrowheads="1"/>
              </p:cNvSpPr>
              <p:nvPr/>
            </p:nvSpPr>
            <p:spPr bwMode="auto">
              <a:xfrm>
                <a:off x="3705" y="2031"/>
                <a:ext cx="37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left</a:t>
                </a:r>
                <a:endParaRPr lang="en-US" sz="1800"/>
              </a:p>
            </p:txBody>
          </p:sp>
          <p:sp>
            <p:nvSpPr>
              <p:cNvPr id="552999" name="Text Box 39"/>
              <p:cNvSpPr txBox="1">
                <a:spLocks noChangeArrowheads="1"/>
              </p:cNvSpPr>
              <p:nvPr/>
            </p:nvSpPr>
            <p:spPr bwMode="auto">
              <a:xfrm>
                <a:off x="4089" y="2022"/>
                <a:ext cx="4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right</a:t>
                </a:r>
                <a:endParaRPr lang="en-US" sz="1800"/>
              </a:p>
            </p:txBody>
          </p:sp>
          <p:sp>
            <p:nvSpPr>
              <p:cNvPr id="553000" name="Rectangle 40"/>
              <p:cNvSpPr>
                <a:spLocks noChangeArrowheads="1"/>
              </p:cNvSpPr>
              <p:nvPr/>
            </p:nvSpPr>
            <p:spPr bwMode="auto">
              <a:xfrm>
                <a:off x="3711" y="2232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001" name="Rectangle 41"/>
              <p:cNvSpPr>
                <a:spLocks noChangeArrowheads="1"/>
              </p:cNvSpPr>
              <p:nvPr/>
            </p:nvSpPr>
            <p:spPr bwMode="auto">
              <a:xfrm>
                <a:off x="4134" y="2235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3002" name="Text Box 42"/>
            <p:cNvSpPr txBox="1">
              <a:spLocks noChangeArrowheads="1"/>
            </p:cNvSpPr>
            <p:nvPr/>
          </p:nvSpPr>
          <p:spPr bwMode="auto">
            <a:xfrm>
              <a:off x="4509" y="1623"/>
              <a:ext cx="5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1200</a:t>
              </a:r>
              <a:endParaRPr lang="en-US"/>
            </a:p>
          </p:txBody>
        </p:sp>
      </p:grpSp>
      <p:sp>
        <p:nvSpPr>
          <p:cNvPr id="553003" name="Text Box 43"/>
          <p:cNvSpPr txBox="1">
            <a:spLocks noChangeArrowheads="1"/>
          </p:cNvSpPr>
          <p:nvPr/>
        </p:nvSpPr>
        <p:spPr bwMode="auto">
          <a:xfrm>
            <a:off x="5824538" y="1323975"/>
            <a:ext cx="87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CC"/>
                </a:solidFill>
              </a:rPr>
              <a:t>1200</a:t>
            </a:r>
            <a:endParaRPr lang="en-US">
              <a:solidFill>
                <a:srgbClr val="FFFFCC"/>
              </a:solidFill>
            </a:endParaRPr>
          </a:p>
        </p:txBody>
      </p:sp>
      <p:sp>
        <p:nvSpPr>
          <p:cNvPr id="553004" name="Text Box 44"/>
          <p:cNvSpPr txBox="1">
            <a:spLocks noChangeArrowheads="1"/>
          </p:cNvSpPr>
          <p:nvPr/>
        </p:nvSpPr>
        <p:spPr bwMode="auto">
          <a:xfrm>
            <a:off x="3810000" y="4291013"/>
            <a:ext cx="9001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temp-&gt;</a:t>
            </a:r>
            <a:endParaRPr lang="en-US" sz="1800">
              <a:solidFill>
                <a:srgbClr val="6600CC"/>
              </a:solidFill>
            </a:endParaRPr>
          </a:p>
        </p:txBody>
      </p:sp>
      <p:sp>
        <p:nvSpPr>
          <p:cNvPr id="553005" name="Line 45"/>
          <p:cNvSpPr>
            <a:spLocks noChangeShapeType="1"/>
          </p:cNvSpPr>
          <p:nvPr/>
        </p:nvSpPr>
        <p:spPr bwMode="auto">
          <a:xfrm>
            <a:off x="547688" y="38100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06" name="Text Box 46"/>
          <p:cNvSpPr txBox="1">
            <a:spLocks noChangeArrowheads="1"/>
          </p:cNvSpPr>
          <p:nvPr/>
        </p:nvSpPr>
        <p:spPr bwMode="auto">
          <a:xfrm>
            <a:off x="5467350" y="43910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553007" name="Line 47"/>
          <p:cNvSpPr>
            <a:spLocks noChangeShapeType="1"/>
          </p:cNvSpPr>
          <p:nvPr/>
        </p:nvSpPr>
        <p:spPr bwMode="auto">
          <a:xfrm>
            <a:off x="566738" y="40671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08" name="Text Box 48"/>
          <p:cNvSpPr txBox="1">
            <a:spLocks noChangeArrowheads="1"/>
          </p:cNvSpPr>
          <p:nvPr/>
        </p:nvSpPr>
        <p:spPr bwMode="auto">
          <a:xfrm>
            <a:off x="4633913" y="5148263"/>
            <a:ext cx="785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NULL</a:t>
            </a:r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553009" name="Line 49"/>
          <p:cNvSpPr>
            <a:spLocks noChangeShapeType="1"/>
          </p:cNvSpPr>
          <p:nvPr/>
        </p:nvSpPr>
        <p:spPr bwMode="auto">
          <a:xfrm>
            <a:off x="581025" y="435768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10" name="Text Box 50"/>
          <p:cNvSpPr txBox="1">
            <a:spLocks noChangeArrowheads="1"/>
          </p:cNvSpPr>
          <p:nvPr/>
        </p:nvSpPr>
        <p:spPr bwMode="auto">
          <a:xfrm>
            <a:off x="5291138" y="5148263"/>
            <a:ext cx="785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NULL</a:t>
            </a:r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553011" name="Line 51"/>
          <p:cNvSpPr>
            <a:spLocks noChangeShapeType="1"/>
          </p:cNvSpPr>
          <p:nvPr/>
        </p:nvSpPr>
        <p:spPr bwMode="auto">
          <a:xfrm>
            <a:off x="581025" y="4648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12" name="Oval 52"/>
          <p:cNvSpPr>
            <a:spLocks noChangeArrowheads="1"/>
          </p:cNvSpPr>
          <p:nvPr/>
        </p:nvSpPr>
        <p:spPr bwMode="auto">
          <a:xfrm>
            <a:off x="5715000" y="3352800"/>
            <a:ext cx="9906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13" name="Text Box 53"/>
          <p:cNvSpPr txBox="1">
            <a:spLocks noChangeArrowheads="1"/>
          </p:cNvSpPr>
          <p:nvPr/>
        </p:nvSpPr>
        <p:spPr bwMode="auto">
          <a:xfrm>
            <a:off x="5854700" y="3519488"/>
            <a:ext cx="7064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1200</a:t>
            </a:r>
            <a:endParaRPr lang="en-US" sz="1800">
              <a:solidFill>
                <a:srgbClr val="FF3300"/>
              </a:solidFill>
            </a:endParaRPr>
          </a:p>
        </p:txBody>
      </p:sp>
      <p:cxnSp>
        <p:nvCxnSpPr>
          <p:cNvPr id="553014" name="AutoShape 54"/>
          <p:cNvCxnSpPr>
            <a:cxnSpLocks noChangeShapeType="1"/>
            <a:stCxn id="553013" idx="1"/>
            <a:endCxn id="552995" idx="0"/>
          </p:cNvCxnSpPr>
          <p:nvPr/>
        </p:nvCxnSpPr>
        <p:spPr bwMode="auto">
          <a:xfrm rot="10800000" flipV="1">
            <a:off x="5349875" y="3703638"/>
            <a:ext cx="504825" cy="639762"/>
          </a:xfrm>
          <a:prstGeom prst="curvedConnector2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015" name="Line 55"/>
          <p:cNvSpPr>
            <a:spLocks noChangeShapeType="1"/>
          </p:cNvSpPr>
          <p:nvPr/>
        </p:nvSpPr>
        <p:spPr bwMode="auto">
          <a:xfrm>
            <a:off x="581025" y="51149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3018" name="Group 58"/>
          <p:cNvGrpSpPr/>
          <p:nvPr/>
        </p:nvGrpSpPr>
        <p:grpSpPr bwMode="auto">
          <a:xfrm>
            <a:off x="7010400" y="4591050"/>
            <a:ext cx="2166938" cy="1352550"/>
            <a:chOff x="3666" y="1623"/>
            <a:chExt cx="1365" cy="852"/>
          </a:xfrm>
        </p:grpSpPr>
        <p:grpSp>
          <p:nvGrpSpPr>
            <p:cNvPr id="553019" name="Group 59"/>
            <p:cNvGrpSpPr/>
            <p:nvPr/>
          </p:nvGrpSpPr>
          <p:grpSpPr bwMode="auto">
            <a:xfrm>
              <a:off x="3666" y="1707"/>
              <a:ext cx="878" cy="768"/>
              <a:chOff x="3666" y="1707"/>
              <a:chExt cx="878" cy="768"/>
            </a:xfrm>
          </p:grpSpPr>
          <p:sp>
            <p:nvSpPr>
              <p:cNvPr id="553020" name="Rectangle 60"/>
              <p:cNvSpPr>
                <a:spLocks noChangeArrowheads="1"/>
              </p:cNvSpPr>
              <p:nvPr/>
            </p:nvSpPr>
            <p:spPr bwMode="auto">
              <a:xfrm>
                <a:off x="3680" y="1707"/>
                <a:ext cx="864" cy="768"/>
              </a:xfrm>
              <a:prstGeom prst="rect">
                <a:avLst/>
              </a:prstGeom>
              <a:solidFill>
                <a:srgbClr val="FFDBED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021" name="Text Box 61"/>
              <p:cNvSpPr txBox="1">
                <a:spLocks noChangeArrowheads="1"/>
              </p:cNvSpPr>
              <p:nvPr/>
            </p:nvSpPr>
            <p:spPr bwMode="auto">
              <a:xfrm>
                <a:off x="3666" y="1758"/>
                <a:ext cx="45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value</a:t>
                </a:r>
                <a:endParaRPr lang="en-US" sz="1800"/>
              </a:p>
            </p:txBody>
          </p:sp>
          <p:sp>
            <p:nvSpPr>
              <p:cNvPr id="553022" name="Rectangle 62"/>
              <p:cNvSpPr>
                <a:spLocks noChangeArrowheads="1"/>
              </p:cNvSpPr>
              <p:nvPr/>
            </p:nvSpPr>
            <p:spPr bwMode="auto">
              <a:xfrm>
                <a:off x="4118" y="1778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023" name="Text Box 63"/>
              <p:cNvSpPr txBox="1">
                <a:spLocks noChangeArrowheads="1"/>
              </p:cNvSpPr>
              <p:nvPr/>
            </p:nvSpPr>
            <p:spPr bwMode="auto">
              <a:xfrm>
                <a:off x="3705" y="2031"/>
                <a:ext cx="37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left</a:t>
                </a:r>
                <a:endParaRPr lang="en-US" sz="1800"/>
              </a:p>
            </p:txBody>
          </p:sp>
          <p:sp>
            <p:nvSpPr>
              <p:cNvPr id="553024" name="Text Box 64"/>
              <p:cNvSpPr txBox="1">
                <a:spLocks noChangeArrowheads="1"/>
              </p:cNvSpPr>
              <p:nvPr/>
            </p:nvSpPr>
            <p:spPr bwMode="auto">
              <a:xfrm>
                <a:off x="4089" y="2022"/>
                <a:ext cx="4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right</a:t>
                </a:r>
                <a:endParaRPr lang="en-US" sz="1800"/>
              </a:p>
            </p:txBody>
          </p:sp>
          <p:sp>
            <p:nvSpPr>
              <p:cNvPr id="553025" name="Rectangle 65"/>
              <p:cNvSpPr>
                <a:spLocks noChangeArrowheads="1"/>
              </p:cNvSpPr>
              <p:nvPr/>
            </p:nvSpPr>
            <p:spPr bwMode="auto">
              <a:xfrm>
                <a:off x="3711" y="2232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026" name="Rectangle 66"/>
              <p:cNvSpPr>
                <a:spLocks noChangeArrowheads="1"/>
              </p:cNvSpPr>
              <p:nvPr/>
            </p:nvSpPr>
            <p:spPr bwMode="auto">
              <a:xfrm>
                <a:off x="4134" y="2235"/>
                <a:ext cx="378" cy="189"/>
              </a:xfrm>
              <a:prstGeom prst="rect">
                <a:avLst/>
              </a:prstGeom>
              <a:solidFill>
                <a:srgbClr val="99CC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3027" name="Text Box 67"/>
            <p:cNvSpPr txBox="1">
              <a:spLocks noChangeArrowheads="1"/>
            </p:cNvSpPr>
            <p:nvPr/>
          </p:nvSpPr>
          <p:spPr bwMode="auto">
            <a:xfrm>
              <a:off x="4509" y="1623"/>
              <a:ext cx="5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1100</a:t>
              </a:r>
              <a:endParaRPr lang="en-US"/>
            </a:p>
          </p:txBody>
        </p:sp>
      </p:grpSp>
      <p:sp>
        <p:nvSpPr>
          <p:cNvPr id="553028" name="Text Box 68"/>
          <p:cNvSpPr txBox="1">
            <a:spLocks noChangeArrowheads="1"/>
          </p:cNvSpPr>
          <p:nvPr/>
        </p:nvSpPr>
        <p:spPr bwMode="auto">
          <a:xfrm>
            <a:off x="5853113" y="1328738"/>
            <a:ext cx="82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CC"/>
                </a:solidFill>
              </a:rPr>
              <a:t>1100</a:t>
            </a:r>
            <a:endParaRPr lang="en-US">
              <a:solidFill>
                <a:srgbClr val="FFFFCC"/>
              </a:solidFill>
            </a:endParaRPr>
          </a:p>
        </p:txBody>
      </p:sp>
      <p:sp>
        <p:nvSpPr>
          <p:cNvPr id="553029" name="Text Box 69"/>
          <p:cNvSpPr txBox="1">
            <a:spLocks noChangeArrowheads="1"/>
          </p:cNvSpPr>
          <p:nvPr/>
        </p:nvSpPr>
        <p:spPr bwMode="auto">
          <a:xfrm>
            <a:off x="6186488" y="4670425"/>
            <a:ext cx="900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temp-&gt;</a:t>
            </a:r>
            <a:endParaRPr lang="en-US" sz="1800">
              <a:solidFill>
                <a:srgbClr val="6600CC"/>
              </a:solidFill>
            </a:endParaRPr>
          </a:p>
        </p:txBody>
      </p:sp>
      <p:sp>
        <p:nvSpPr>
          <p:cNvPr id="553030" name="Line 70"/>
          <p:cNvSpPr>
            <a:spLocks noChangeShapeType="1"/>
          </p:cNvSpPr>
          <p:nvPr/>
        </p:nvSpPr>
        <p:spPr bwMode="auto">
          <a:xfrm>
            <a:off x="576263" y="54387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1" name="Text Box 71"/>
          <p:cNvSpPr txBox="1">
            <a:spLocks noChangeArrowheads="1"/>
          </p:cNvSpPr>
          <p:nvPr/>
        </p:nvSpPr>
        <p:spPr bwMode="auto">
          <a:xfrm>
            <a:off x="7758113" y="4772025"/>
            <a:ext cx="496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-3</a:t>
            </a:r>
            <a:endParaRPr lang="en-US"/>
          </a:p>
        </p:txBody>
      </p:sp>
      <p:sp>
        <p:nvSpPr>
          <p:cNvPr id="553032" name="Line 72"/>
          <p:cNvSpPr>
            <a:spLocks noChangeShapeType="1"/>
          </p:cNvSpPr>
          <p:nvPr/>
        </p:nvSpPr>
        <p:spPr bwMode="auto">
          <a:xfrm>
            <a:off x="590550" y="570071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3" name="Text Box 73"/>
          <p:cNvSpPr txBox="1">
            <a:spLocks noChangeArrowheads="1"/>
          </p:cNvSpPr>
          <p:nvPr/>
        </p:nvSpPr>
        <p:spPr bwMode="auto">
          <a:xfrm>
            <a:off x="6986588" y="5548313"/>
            <a:ext cx="785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NULL</a:t>
            </a:r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553034" name="Line 74"/>
          <p:cNvSpPr>
            <a:spLocks noChangeShapeType="1"/>
          </p:cNvSpPr>
          <p:nvPr/>
        </p:nvSpPr>
        <p:spPr bwMode="auto">
          <a:xfrm>
            <a:off x="590550" y="595788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5" name="Text Box 75"/>
          <p:cNvSpPr txBox="1">
            <a:spLocks noChangeArrowheads="1"/>
          </p:cNvSpPr>
          <p:nvPr/>
        </p:nvSpPr>
        <p:spPr bwMode="auto">
          <a:xfrm>
            <a:off x="7658100" y="5548313"/>
            <a:ext cx="7858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NULL</a:t>
            </a:r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553037" name="Line 77"/>
          <p:cNvSpPr>
            <a:spLocks noChangeShapeType="1"/>
          </p:cNvSpPr>
          <p:nvPr/>
        </p:nvSpPr>
        <p:spPr bwMode="auto">
          <a:xfrm>
            <a:off x="577850" y="62515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8" name="Oval 78"/>
          <p:cNvSpPr>
            <a:spLocks noChangeArrowheads="1"/>
          </p:cNvSpPr>
          <p:nvPr/>
        </p:nvSpPr>
        <p:spPr bwMode="auto">
          <a:xfrm>
            <a:off x="6367463" y="3346450"/>
            <a:ext cx="9906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9" name="Text Box 79"/>
          <p:cNvSpPr txBox="1">
            <a:spLocks noChangeArrowheads="1"/>
          </p:cNvSpPr>
          <p:nvPr/>
        </p:nvSpPr>
        <p:spPr bwMode="auto">
          <a:xfrm>
            <a:off x="6538913" y="3519488"/>
            <a:ext cx="669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1100</a:t>
            </a:r>
            <a:endParaRPr lang="en-US" sz="1800">
              <a:solidFill>
                <a:srgbClr val="FF3300"/>
              </a:solidFill>
            </a:endParaRPr>
          </a:p>
        </p:txBody>
      </p:sp>
      <p:cxnSp>
        <p:nvCxnSpPr>
          <p:cNvPr id="553040" name="AutoShape 80"/>
          <p:cNvCxnSpPr>
            <a:cxnSpLocks noChangeShapeType="1"/>
            <a:stCxn id="553039" idx="3"/>
            <a:endCxn id="553020" idx="0"/>
          </p:cNvCxnSpPr>
          <p:nvPr/>
        </p:nvCxnSpPr>
        <p:spPr bwMode="auto">
          <a:xfrm>
            <a:off x="7208838" y="3703638"/>
            <a:ext cx="509587" cy="1020762"/>
          </a:xfrm>
          <a:prstGeom prst="curvedConnector2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041" name="Text Box 81"/>
          <p:cNvSpPr txBox="1">
            <a:spLocks noChangeArrowheads="1"/>
          </p:cNvSpPr>
          <p:nvPr/>
        </p:nvSpPr>
        <p:spPr bwMode="auto">
          <a:xfrm>
            <a:off x="4108450" y="6019800"/>
            <a:ext cx="4730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And of course, later we’d have to delete our tree’s nodes.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5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5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55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5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55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6" grpId="0" animBg="1"/>
      <p:bldP spid="552966" grpId="1" animBg="1"/>
      <p:bldP spid="552973" grpId="0" animBg="1"/>
      <p:bldP spid="552973" grpId="1" animBg="1"/>
      <p:bldP spid="552986" grpId="0"/>
      <p:bldP spid="552988" grpId="0" animBg="1"/>
      <p:bldP spid="552988" grpId="1" animBg="1"/>
      <p:bldP spid="552989" grpId="0"/>
      <p:bldP spid="552990" grpId="0" animBg="1"/>
      <p:bldP spid="552990" grpId="1" animBg="1"/>
      <p:bldP spid="553003" grpId="0"/>
      <p:bldP spid="553003" grpId="1"/>
      <p:bldP spid="553004" grpId="0"/>
      <p:bldP spid="553004" grpId="1"/>
      <p:bldP spid="553005" grpId="0" animBg="1"/>
      <p:bldP spid="553005" grpId="1" animBg="1"/>
      <p:bldP spid="553006" grpId="0"/>
      <p:bldP spid="553007" grpId="0" animBg="1"/>
      <p:bldP spid="553007" grpId="1" animBg="1"/>
      <p:bldP spid="553008" grpId="0"/>
      <p:bldP spid="553009" grpId="0" animBg="1"/>
      <p:bldP spid="553009" grpId="1" animBg="1"/>
      <p:bldP spid="553010" grpId="0"/>
      <p:bldP spid="553011" grpId="0" animBg="1"/>
      <p:bldP spid="553011" grpId="1" animBg="1"/>
      <p:bldP spid="553012" grpId="0" animBg="1"/>
      <p:bldP spid="553012" grpId="1" animBg="1"/>
      <p:bldP spid="553013" grpId="0"/>
      <p:bldP spid="553015" grpId="0" animBg="1"/>
      <p:bldP spid="553015" grpId="1" animBg="1"/>
      <p:bldP spid="553028" grpId="0"/>
      <p:bldP spid="553029" grpId="0"/>
      <p:bldP spid="553030" grpId="0" animBg="1"/>
      <p:bldP spid="553030" grpId="1" animBg="1"/>
      <p:bldP spid="553031" grpId="0"/>
      <p:bldP spid="553032" grpId="0" animBg="1"/>
      <p:bldP spid="553032" grpId="1" animBg="1"/>
      <p:bldP spid="553033" grpId="0"/>
      <p:bldP spid="553034" grpId="0" animBg="1"/>
      <p:bldP spid="553034" grpId="1" animBg="1"/>
      <p:bldP spid="553035" grpId="0"/>
      <p:bldP spid="553037" grpId="0" animBg="1"/>
      <p:bldP spid="553037" grpId="1" animBg="1"/>
      <p:bldP spid="553038" grpId="0" animBg="1"/>
      <p:bldP spid="553038" grpId="1" animBg="1"/>
      <p:bldP spid="553039" grpId="0"/>
      <p:bldP spid="5530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6461663" y="4123835"/>
            <a:ext cx="2709924" cy="2667532"/>
            <a:chOff x="-221027" y="4114800"/>
            <a:chExt cx="8392191" cy="2515103"/>
          </a:xfrm>
        </p:grpSpPr>
        <p:sp>
          <p:nvSpPr>
            <p:cNvPr id="69" name="Rectangle 68"/>
            <p:cNvSpPr/>
            <p:nvPr/>
          </p:nvSpPr>
          <p:spPr bwMode="auto">
            <a:xfrm>
              <a:off x="190992" y="4114800"/>
              <a:ext cx="7568154" cy="2514600"/>
            </a:xfrm>
            <a:prstGeom prst="rect">
              <a:avLst/>
            </a:prstGeom>
            <a:solidFill>
              <a:srgbClr val="FFE1E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-221027" y="5672277"/>
              <a:ext cx="8392191" cy="9576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L.O.T. uses a </a:t>
              </a:r>
              <a:r>
                <a:rPr lang="en-US" sz="1900" dirty="0">
                  <a:solidFill>
                    <a:srgbClr val="FF0000"/>
                  </a:solidFill>
                </a:rPr>
                <a:t>breadth-first-search</a:t>
              </a:r>
              <a:r>
                <a:rPr lang="en-US" sz="2000" dirty="0"/>
                <a:t> to visit nodes.</a:t>
              </a:r>
              <a:endParaRPr lang="en-US" sz="20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67193" y="4123837"/>
            <a:ext cx="6302266" cy="2667000"/>
            <a:chOff x="250934" y="4114800"/>
            <a:chExt cx="6302266" cy="2514600"/>
          </a:xfrm>
        </p:grpSpPr>
        <p:sp>
          <p:nvSpPr>
            <p:cNvPr id="7" name="Rectangle 6"/>
            <p:cNvSpPr/>
            <p:nvPr/>
          </p:nvSpPr>
          <p:spPr bwMode="auto">
            <a:xfrm>
              <a:off x="250934" y="4114800"/>
              <a:ext cx="6302266" cy="2514600"/>
            </a:xfrm>
            <a:prstGeom prst="rect">
              <a:avLst/>
            </a:prstGeom>
            <a:solidFill>
              <a:srgbClr val="FFE1E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56191" y="5766093"/>
              <a:ext cx="6192846" cy="667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These traversals all use </a:t>
              </a:r>
              <a:r>
                <a:rPr lang="en-US" sz="2000" dirty="0">
                  <a:solidFill>
                    <a:srgbClr val="FF0000"/>
                  </a:solidFill>
                </a:rPr>
                <a:t>recursion</a:t>
              </a:r>
              <a:r>
                <a:rPr lang="en-US" sz="2000" dirty="0"/>
                <a:t>, and are nearly identical algorithms.</a:t>
              </a:r>
              <a:endParaRPr lang="en-US" sz="2000" dirty="0"/>
            </a:p>
          </p:txBody>
        </p:sp>
      </p:grpSp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94A1-F779-431B-9A63-9C56BB4A4B3B}" type="slidenum">
              <a:rPr lang="en-US"/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7671" y="-198437"/>
            <a:ext cx="7772400" cy="1143000"/>
          </a:xfrm>
        </p:spPr>
        <p:txBody>
          <a:bodyPr/>
          <a:lstStyle/>
          <a:p>
            <a:r>
              <a:rPr lang="en-US" sz="4000" dirty="0">
                <a:cs typeface="Courier New" panose="02070409020205090404" pitchFamily="49" charset="0"/>
              </a:rPr>
              <a:t>Binary Tree Traversals</a:t>
            </a:r>
            <a:r>
              <a:rPr lang="en-US" sz="4000" dirty="0"/>
              <a:t> </a:t>
            </a:r>
            <a:endParaRPr lang="en-US" sz="4000" dirty="0"/>
          </a:p>
        </p:txBody>
      </p:sp>
      <p:sp>
        <p:nvSpPr>
          <p:cNvPr id="594947" name="Text Box 3"/>
          <p:cNvSpPr txBox="1">
            <a:spLocks noChangeArrowheads="1"/>
          </p:cNvSpPr>
          <p:nvPr/>
        </p:nvSpPr>
        <p:spPr bwMode="auto">
          <a:xfrm>
            <a:off x="304800" y="811940"/>
            <a:ext cx="838041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Just as we can traverse through linked lists, </a:t>
            </a:r>
            <a:br>
              <a:rPr lang="en-US" sz="2000" dirty="0">
                <a:cs typeface="Courier New" panose="02070409020205090404" pitchFamily="49" charset="0"/>
              </a:rPr>
            </a:br>
            <a:r>
              <a:rPr lang="en-US" sz="2000" dirty="0">
                <a:cs typeface="Courier New" panose="02070409020205090404" pitchFamily="49" charset="0"/>
              </a:rPr>
              <a:t>we can also traverse through the nodes of a tree.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594995" name="Text Box 51"/>
          <p:cNvSpPr txBox="1">
            <a:spLocks noChangeArrowheads="1"/>
          </p:cNvSpPr>
          <p:nvPr/>
        </p:nvSpPr>
        <p:spPr bwMode="auto">
          <a:xfrm>
            <a:off x="1752600" y="2089443"/>
            <a:ext cx="34628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All tree traversals start with the </a:t>
            </a:r>
            <a:r>
              <a:rPr lang="en-US" sz="2000" dirty="0">
                <a:solidFill>
                  <a:srgbClr val="6600CC"/>
                </a:solidFill>
                <a:cs typeface="Courier New" panose="02070409020205090404" pitchFamily="49" charset="0"/>
              </a:rPr>
              <a:t>root node</a:t>
            </a:r>
            <a:r>
              <a:rPr lang="en-US" sz="2000" dirty="0">
                <a:cs typeface="Courier New" panose="02070409020205090404" pitchFamily="49" charset="0"/>
              </a:rPr>
              <a:t>.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594999" name="Text Box 55"/>
          <p:cNvSpPr txBox="1">
            <a:spLocks noChangeArrowheads="1"/>
          </p:cNvSpPr>
          <p:nvPr/>
        </p:nvSpPr>
        <p:spPr bwMode="auto">
          <a:xfrm>
            <a:off x="1137031" y="3260075"/>
            <a:ext cx="694017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There are four common ways to traverse a tree – and each visits the tree's nodes in a different order: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242767" y="4256638"/>
            <a:ext cx="1981200" cy="14478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Pre-order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Traversal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2316904" y="4256638"/>
            <a:ext cx="1981200" cy="14478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In-order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Traversal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4409421" y="4256638"/>
            <a:ext cx="1981200" cy="14478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Post-order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Traversal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6826025" y="4260048"/>
            <a:ext cx="1981200" cy="14478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Level-order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Traversal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156371" y="4123834"/>
            <a:ext cx="6302266" cy="2667000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FF0000">
                <a:alpha val="6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594215" y="1580522"/>
            <a:ext cx="1974398" cy="1593351"/>
            <a:chOff x="5594215" y="1580522"/>
            <a:chExt cx="1974398" cy="1593351"/>
          </a:xfrm>
        </p:grpSpPr>
        <p:grpSp>
          <p:nvGrpSpPr>
            <p:cNvPr id="2" name="Group 1"/>
            <p:cNvGrpSpPr/>
            <p:nvPr/>
          </p:nvGrpSpPr>
          <p:grpSpPr>
            <a:xfrm>
              <a:off x="5594215" y="1580522"/>
              <a:ext cx="1974398" cy="1593351"/>
              <a:chOff x="7454907" y="2671435"/>
              <a:chExt cx="2667002" cy="2322513"/>
            </a:xfrm>
          </p:grpSpPr>
          <p:grpSp>
            <p:nvGrpSpPr>
              <p:cNvPr id="594950" name="Group 6"/>
              <p:cNvGrpSpPr/>
              <p:nvPr/>
            </p:nvGrpSpPr>
            <p:grpSpPr bwMode="auto">
              <a:xfrm>
                <a:off x="7454907" y="2671435"/>
                <a:ext cx="2667002" cy="2322513"/>
                <a:chOff x="3928" y="243"/>
                <a:chExt cx="1680" cy="1463"/>
              </a:xfrm>
            </p:grpSpPr>
            <p:grpSp>
              <p:nvGrpSpPr>
                <p:cNvPr id="594951" name="Group 7"/>
                <p:cNvGrpSpPr/>
                <p:nvPr/>
              </p:nvGrpSpPr>
              <p:grpSpPr bwMode="auto">
                <a:xfrm>
                  <a:off x="3953" y="666"/>
                  <a:ext cx="1655" cy="1040"/>
                  <a:chOff x="3890" y="687"/>
                  <a:chExt cx="1655" cy="1040"/>
                </a:xfrm>
              </p:grpSpPr>
              <p:grpSp>
                <p:nvGrpSpPr>
                  <p:cNvPr id="594952" name="Group 8"/>
                  <p:cNvGrpSpPr/>
                  <p:nvPr/>
                </p:nvGrpSpPr>
                <p:grpSpPr bwMode="auto">
                  <a:xfrm>
                    <a:off x="3917" y="1327"/>
                    <a:ext cx="499" cy="373"/>
                    <a:chOff x="3511" y="3072"/>
                    <a:chExt cx="729" cy="624"/>
                  </a:xfrm>
                </p:grpSpPr>
                <p:sp>
                  <p:nvSpPr>
                    <p:cNvPr id="594953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1" y="3072"/>
                      <a:ext cx="729" cy="62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54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0" y="3473"/>
                      <a:ext cx="297" cy="192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55" name="Rectangl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5" y="3476"/>
                      <a:ext cx="297" cy="192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56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2" y="3120"/>
                      <a:ext cx="636" cy="308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</p:grpSp>
              <p:grpSp>
                <p:nvGrpSpPr>
                  <p:cNvPr id="594957" name="Group 13"/>
                  <p:cNvGrpSpPr/>
                  <p:nvPr/>
                </p:nvGrpSpPr>
                <p:grpSpPr bwMode="auto">
                  <a:xfrm>
                    <a:off x="4515" y="693"/>
                    <a:ext cx="499" cy="373"/>
                    <a:chOff x="3511" y="3072"/>
                    <a:chExt cx="729" cy="624"/>
                  </a:xfrm>
                </p:grpSpPr>
                <p:sp>
                  <p:nvSpPr>
                    <p:cNvPr id="594958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1" y="3072"/>
                      <a:ext cx="729" cy="62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59" name="Rectangle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0" y="3473"/>
                      <a:ext cx="297" cy="192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60" name="Rectangle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5" y="3476"/>
                      <a:ext cx="297" cy="192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61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2" y="3120"/>
                      <a:ext cx="636" cy="308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</p:grpSp>
              <p:grpSp>
                <p:nvGrpSpPr>
                  <p:cNvPr id="594962" name="Group 18"/>
                  <p:cNvGrpSpPr/>
                  <p:nvPr/>
                </p:nvGrpSpPr>
                <p:grpSpPr bwMode="auto">
                  <a:xfrm>
                    <a:off x="5002" y="1327"/>
                    <a:ext cx="498" cy="373"/>
                    <a:chOff x="3511" y="3072"/>
                    <a:chExt cx="729" cy="624"/>
                  </a:xfrm>
                </p:grpSpPr>
                <p:sp>
                  <p:nvSpPr>
                    <p:cNvPr id="594963" name="Rectangle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1" y="3072"/>
                      <a:ext cx="729" cy="62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64" name="Rectangle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0" y="3473"/>
                      <a:ext cx="297" cy="192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65" name="Rectangle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5" y="3476"/>
                      <a:ext cx="297" cy="192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  <p:sp>
                  <p:nvSpPr>
                    <p:cNvPr id="594966" name="Rectangle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2" y="3120"/>
                      <a:ext cx="636" cy="308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800"/>
                    </a:p>
                  </p:txBody>
                </p:sp>
              </p:grpSp>
              <p:sp>
                <p:nvSpPr>
                  <p:cNvPr id="594967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216" y="992"/>
                    <a:ext cx="412" cy="335"/>
                  </a:xfrm>
                  <a:prstGeom prst="line">
                    <a:avLst/>
                  </a:prstGeom>
                  <a:noFill/>
                  <a:ln w="57150">
                    <a:solidFill>
                      <a:srgbClr val="008080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800"/>
                  </a:p>
                </p:txBody>
              </p:sp>
              <p:sp>
                <p:nvSpPr>
                  <p:cNvPr id="594968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4883" y="991"/>
                    <a:ext cx="341" cy="335"/>
                  </a:xfrm>
                  <a:prstGeom prst="line">
                    <a:avLst/>
                  </a:prstGeom>
                  <a:noFill/>
                  <a:ln w="57150">
                    <a:solidFill>
                      <a:srgbClr val="008080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800"/>
                  </a:p>
                </p:txBody>
              </p:sp>
              <p:sp>
                <p:nvSpPr>
                  <p:cNvPr id="594969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8" y="1541"/>
                    <a:ext cx="360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700" b="1">
                        <a:solidFill>
                          <a:srgbClr val="FFFFCC"/>
                        </a:solidFill>
                      </a:rPr>
                      <a:t>NULL</a:t>
                    </a:r>
                    <a:endParaRPr lang="en-US" sz="700" b="1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594970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45" y="687"/>
                    <a:ext cx="529" cy="28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dirty="0"/>
                      <a:t>   “A"</a:t>
                    </a:r>
                    <a:endParaRPr lang="en-US" sz="1400" dirty="0"/>
                  </a:p>
                </p:txBody>
              </p:sp>
              <p:sp>
                <p:nvSpPr>
                  <p:cNvPr id="594971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0" y="1320"/>
                    <a:ext cx="469" cy="28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dirty="0"/>
                      <a:t>  “B"</a:t>
                    </a:r>
                    <a:endParaRPr lang="en-US" sz="1400" dirty="0"/>
                  </a:p>
                </p:txBody>
              </p:sp>
              <p:sp>
                <p:nvSpPr>
                  <p:cNvPr id="594972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9" y="1327"/>
                    <a:ext cx="374" cy="28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dirty="0"/>
                      <a:t>“C"</a:t>
                    </a:r>
                    <a:endParaRPr lang="en-US" sz="1400" dirty="0"/>
                  </a:p>
                </p:txBody>
              </p:sp>
              <p:sp>
                <p:nvSpPr>
                  <p:cNvPr id="594973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85" y="1543"/>
                    <a:ext cx="360" cy="1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700" b="1" dirty="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700" b="1" dirty="0">
                      <a:solidFill>
                        <a:srgbClr val="FFFFCC"/>
                      </a:solidFill>
                    </a:endParaRPr>
                  </a:p>
                </p:txBody>
              </p:sp>
            </p:grpSp>
            <p:sp>
              <p:nvSpPr>
                <p:cNvPr id="594992" name="Rectangle 48"/>
                <p:cNvSpPr>
                  <a:spLocks noChangeArrowheads="1"/>
                </p:cNvSpPr>
                <p:nvPr/>
              </p:nvSpPr>
              <p:spPr bwMode="auto">
                <a:xfrm>
                  <a:off x="3966" y="509"/>
                  <a:ext cx="472" cy="149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499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928" y="243"/>
                  <a:ext cx="551" cy="3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dirty="0"/>
                    <a:t>root</a:t>
                  </a:r>
                  <a:endParaRPr lang="en-US" sz="1800" dirty="0"/>
                </a:p>
              </p:txBody>
            </p:sp>
            <p:sp>
              <p:nvSpPr>
                <p:cNvPr id="594994" name="Line 50"/>
                <p:cNvSpPr>
                  <a:spLocks noChangeShapeType="1"/>
                </p:cNvSpPr>
                <p:nvPr/>
              </p:nvSpPr>
              <p:spPr bwMode="auto">
                <a:xfrm>
                  <a:off x="4210" y="582"/>
                  <a:ext cx="368" cy="11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sp>
            <p:nvSpPr>
              <p:cNvPr id="594996" name="Oval 52"/>
              <p:cNvSpPr>
                <a:spLocks noChangeArrowheads="1"/>
              </p:cNvSpPr>
              <p:nvPr/>
            </p:nvSpPr>
            <p:spPr bwMode="auto">
              <a:xfrm>
                <a:off x="8352836" y="3192208"/>
                <a:ext cx="1090408" cy="92602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2" name="Text Box 25"/>
            <p:cNvSpPr txBox="1">
              <a:spLocks noChangeArrowheads="1"/>
            </p:cNvSpPr>
            <p:nvPr/>
          </p:nvSpPr>
          <p:spPr bwMode="auto">
            <a:xfrm>
              <a:off x="5597320" y="2960375"/>
              <a:ext cx="423085" cy="200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 b="1">
                  <a:solidFill>
                    <a:srgbClr val="FFFFCC"/>
                  </a:solidFill>
                </a:rPr>
                <a:t>NULL</a:t>
              </a:r>
              <a:endParaRPr lang="en-US" sz="700" b="1">
                <a:solidFill>
                  <a:srgbClr val="FFFFCC"/>
                </a:solidFill>
              </a:endParaRPr>
            </a:p>
          </p:txBody>
        </p:sp>
        <p:sp>
          <p:nvSpPr>
            <p:cNvPr id="73" name="Text Box 29"/>
            <p:cNvSpPr txBox="1">
              <a:spLocks noChangeArrowheads="1"/>
            </p:cNvSpPr>
            <p:nvPr/>
          </p:nvSpPr>
          <p:spPr bwMode="auto">
            <a:xfrm>
              <a:off x="5864099" y="2962553"/>
              <a:ext cx="423085" cy="200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 b="1" dirty="0">
                  <a:solidFill>
                    <a:srgbClr val="FFFFCC"/>
                  </a:solidFill>
                </a:rPr>
                <a:t>NULL</a:t>
              </a:r>
              <a:endParaRPr lang="en-US" sz="700" b="1" dirty="0">
                <a:solidFill>
                  <a:srgbClr val="FFFFCC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94A1-F779-431B-9A63-9C56BB4A4B3B}" type="slidenum">
              <a:rPr lang="en-US"/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7671" y="-198437"/>
            <a:ext cx="7772400" cy="1143000"/>
          </a:xfrm>
        </p:spPr>
        <p:txBody>
          <a:bodyPr/>
          <a:lstStyle/>
          <a:p>
            <a:r>
              <a:rPr lang="en-US" sz="3600" dirty="0">
                <a:cs typeface="Courier New" panose="02070409020205090404" pitchFamily="49" charset="0"/>
              </a:rPr>
              <a:t>Pre-order, In-order and Post-order</a:t>
            </a:r>
            <a:endParaRPr lang="en-US" sz="3600" dirty="0"/>
          </a:p>
        </p:txBody>
      </p:sp>
      <p:sp>
        <p:nvSpPr>
          <p:cNvPr id="594947" name="Text Box 3"/>
          <p:cNvSpPr txBox="1">
            <a:spLocks noChangeArrowheads="1"/>
          </p:cNvSpPr>
          <p:nvPr/>
        </p:nvSpPr>
        <p:spPr bwMode="auto">
          <a:xfrm>
            <a:off x="304800" y="811940"/>
            <a:ext cx="8380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Let's see the code for simple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pre-</a:t>
            </a:r>
            <a:r>
              <a:rPr lang="en-US" sz="2000" dirty="0">
                <a:cs typeface="Courier New" panose="020704090202050904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in-</a:t>
            </a:r>
            <a:r>
              <a:rPr lang="en-US" sz="2000" dirty="0">
                <a:cs typeface="Courier New" panose="02070409020205090404" pitchFamily="49" charset="0"/>
              </a:rPr>
              <a:t>, and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post-order</a:t>
            </a:r>
            <a:r>
              <a:rPr lang="en-US" sz="2000" dirty="0">
                <a:cs typeface="Courier New" panose="02070409020205090404" pitchFamily="49" charset="0"/>
              </a:rPr>
              <a:t> traversals!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47" name="Text Box 3"/>
          <p:cNvSpPr txBox="1">
            <a:spLocks noChangeArrowheads="1"/>
          </p:cNvSpPr>
          <p:nvPr/>
        </p:nvSpPr>
        <p:spPr bwMode="auto">
          <a:xfrm>
            <a:off x="3114540" y="1626502"/>
            <a:ext cx="2926476" cy="23083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void preorder(Node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*p)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if (p ==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return;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&lt;&lt; p-&gt;value;</a:t>
            </a:r>
            <a:endParaRPr lang="en-US" sz="1800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preorder(p-&gt;left);</a:t>
            </a:r>
            <a:endParaRPr lang="en-US" sz="18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A365D1"/>
                </a:solidFill>
                <a:latin typeface="Consolas" panose="020B0609020204030204" pitchFamily="49" charset="0"/>
              </a:rPr>
              <a:t>preorder(p-&gt;right);</a:t>
            </a:r>
            <a:endParaRPr lang="en-US" sz="1800" dirty="0">
              <a:solidFill>
                <a:srgbClr val="A365D1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980781" y="4102976"/>
            <a:ext cx="3276600" cy="2462207"/>
            <a:chOff x="5791200" y="1182687"/>
            <a:chExt cx="3276600" cy="2462207"/>
          </a:xfrm>
        </p:grpSpPr>
        <p:grpSp>
          <p:nvGrpSpPr>
            <p:cNvPr id="57" name="Group 56"/>
            <p:cNvGrpSpPr/>
            <p:nvPr/>
          </p:nvGrpSpPr>
          <p:grpSpPr>
            <a:xfrm>
              <a:off x="5791200" y="1182687"/>
              <a:ext cx="3276600" cy="2462207"/>
              <a:chOff x="5810250" y="840550"/>
              <a:chExt cx="2895600" cy="2171700"/>
            </a:xfrm>
          </p:grpSpPr>
          <p:pic>
            <p:nvPicPr>
              <p:cNvPr id="72" name="Picture 71" descr="Diagram&#10;&#10;Description automatically generated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10250" y="840550"/>
                <a:ext cx="2895600" cy="2171700"/>
              </a:xfrm>
              <a:prstGeom prst="rect">
                <a:avLst/>
              </a:prstGeom>
            </p:spPr>
          </p:pic>
          <p:sp>
            <p:nvSpPr>
              <p:cNvPr id="73" name="Oval 72"/>
              <p:cNvSpPr/>
              <p:nvPr/>
            </p:nvSpPr>
            <p:spPr bwMode="auto">
              <a:xfrm>
                <a:off x="6705600" y="1752600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4" name="Oval 73"/>
              <p:cNvSpPr/>
              <p:nvPr/>
            </p:nvSpPr>
            <p:spPr bwMode="auto">
              <a:xfrm>
                <a:off x="7105650" y="1103313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5" name="Oval 74"/>
              <p:cNvSpPr/>
              <p:nvPr/>
            </p:nvSpPr>
            <p:spPr bwMode="auto">
              <a:xfrm>
                <a:off x="6092825" y="2438399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6" name="Oval 75"/>
              <p:cNvSpPr/>
              <p:nvPr/>
            </p:nvSpPr>
            <p:spPr bwMode="auto">
              <a:xfrm>
                <a:off x="6736588" y="2400301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7" name="Oval 76"/>
              <p:cNvSpPr/>
              <p:nvPr/>
            </p:nvSpPr>
            <p:spPr bwMode="auto">
              <a:xfrm>
                <a:off x="7520180" y="1793227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8" name="Oval 77"/>
              <p:cNvSpPr/>
              <p:nvPr/>
            </p:nvSpPr>
            <p:spPr bwMode="auto">
              <a:xfrm>
                <a:off x="7520180" y="2400301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9" name="Oval 78"/>
              <p:cNvSpPr/>
              <p:nvPr/>
            </p:nvSpPr>
            <p:spPr bwMode="auto">
              <a:xfrm>
                <a:off x="8123239" y="2427290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7090303" y="1508978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Eat</a:t>
              </a:r>
              <a:endParaRPr lang="en-US" sz="18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637615" y="2234853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Rats</a:t>
              </a:r>
              <a:endParaRPr lang="en-US" sz="18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969252" y="2961950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For</a:t>
              </a:r>
              <a:endParaRPr lang="en-US" sz="1800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572238" y="2951910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They</a:t>
              </a:r>
              <a:endParaRPr lang="en-US" sz="18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67600" y="2221468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Are</a:t>
              </a:r>
              <a:endParaRPr lang="en-US" sz="18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467600" y="2958006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Tasty</a:t>
              </a:r>
              <a:endParaRPr lang="en-US" sz="18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71026" y="2939787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Treats</a:t>
              </a:r>
              <a:endParaRPr lang="en-US" sz="1800" dirty="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754389" y="4799913"/>
            <a:ext cx="2906868" cy="1795448"/>
            <a:chOff x="6564808" y="1879624"/>
            <a:chExt cx="2906868" cy="1795448"/>
          </a:xfrm>
        </p:grpSpPr>
        <p:sp>
          <p:nvSpPr>
            <p:cNvPr id="81" name="Rectangle 80"/>
            <p:cNvSpPr/>
            <p:nvPr/>
          </p:nvSpPr>
          <p:spPr bwMode="auto">
            <a:xfrm rot="2189691">
              <a:off x="6564808" y="1879624"/>
              <a:ext cx="2906868" cy="912223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 rot="2189691">
              <a:off x="7312365" y="3102408"/>
              <a:ext cx="1766759" cy="572664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83" name="Rectangle: Rounded Corners 82"/>
          <p:cNvSpPr/>
          <p:nvPr/>
        </p:nvSpPr>
        <p:spPr bwMode="auto">
          <a:xfrm>
            <a:off x="4168286" y="4318436"/>
            <a:ext cx="906370" cy="571174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4" name="Rectangle: Rounded Corners 83"/>
          <p:cNvSpPr/>
          <p:nvPr/>
        </p:nvSpPr>
        <p:spPr bwMode="auto">
          <a:xfrm>
            <a:off x="3086557" y="5026100"/>
            <a:ext cx="1484406" cy="1343033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85" name="Group 84"/>
          <p:cNvGrpSpPr/>
          <p:nvPr/>
        </p:nvGrpSpPr>
        <p:grpSpPr>
          <a:xfrm flipH="1" flipV="1">
            <a:off x="2540506" y="4858789"/>
            <a:ext cx="2906868" cy="1795448"/>
            <a:chOff x="6564808" y="1879624"/>
            <a:chExt cx="2906868" cy="1795448"/>
          </a:xfrm>
        </p:grpSpPr>
        <p:sp>
          <p:nvSpPr>
            <p:cNvPr id="86" name="Rectangle 85"/>
            <p:cNvSpPr/>
            <p:nvPr/>
          </p:nvSpPr>
          <p:spPr bwMode="auto">
            <a:xfrm rot="2189691">
              <a:off x="6564808" y="1879624"/>
              <a:ext cx="2906868" cy="912223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 rot="2189691">
              <a:off x="7312365" y="3102408"/>
              <a:ext cx="1766759" cy="572664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608687" y="4116999"/>
            <a:ext cx="804048" cy="369332"/>
            <a:chOff x="278875" y="2819410"/>
            <a:chExt cx="804048" cy="369332"/>
          </a:xfrm>
        </p:grpSpPr>
        <p:sp>
          <p:nvSpPr>
            <p:cNvPr id="106" name="Rectangle 48"/>
            <p:cNvSpPr>
              <a:spLocks noChangeArrowheads="1"/>
            </p:cNvSpPr>
            <p:nvPr/>
          </p:nvSpPr>
          <p:spPr bwMode="auto">
            <a:xfrm>
              <a:off x="513902" y="2938587"/>
              <a:ext cx="308098" cy="16227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07" name="Text Box 49"/>
            <p:cNvSpPr txBox="1">
              <a:spLocks noChangeArrowheads="1"/>
            </p:cNvSpPr>
            <p:nvPr/>
          </p:nvSpPr>
          <p:spPr bwMode="auto">
            <a:xfrm>
              <a:off x="278875" y="2819410"/>
              <a:ext cx="30809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p</a:t>
              </a:r>
              <a:endParaRPr lang="en-US" sz="1800" dirty="0"/>
            </a:p>
          </p:txBody>
        </p:sp>
        <p:sp>
          <p:nvSpPr>
            <p:cNvPr id="108" name="Line 50"/>
            <p:cNvSpPr>
              <a:spLocks noChangeShapeType="1"/>
            </p:cNvSpPr>
            <p:nvPr/>
          </p:nvSpPr>
          <p:spPr bwMode="auto">
            <a:xfrm>
              <a:off x="650554" y="3019725"/>
              <a:ext cx="432369" cy="1449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88" name="Rectangle 87"/>
          <p:cNvSpPr/>
          <p:nvPr/>
        </p:nvSpPr>
        <p:spPr bwMode="auto">
          <a:xfrm rot="18593125" flipH="1" flipV="1">
            <a:off x="4170053" y="4386028"/>
            <a:ext cx="1003912" cy="836889"/>
          </a:xfrm>
          <a:prstGeom prst="rect">
            <a:avLst/>
          </a:prstGeom>
          <a:solidFill>
            <a:srgbClr val="FFFFFF">
              <a:alpha val="83922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9" name="Rectangle: Rounded Corners 88"/>
          <p:cNvSpPr/>
          <p:nvPr/>
        </p:nvSpPr>
        <p:spPr bwMode="auto">
          <a:xfrm>
            <a:off x="4683750" y="5006256"/>
            <a:ext cx="1484406" cy="1343033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1" name="Speech Bubble: Rectangle with Corners Rounded 50"/>
          <p:cNvSpPr/>
          <p:nvPr/>
        </p:nvSpPr>
        <p:spPr bwMode="auto">
          <a:xfrm>
            <a:off x="4609503" y="3235679"/>
            <a:ext cx="3276600" cy="924970"/>
          </a:xfrm>
          <a:prstGeom prst="wedgeRoundRectCallout">
            <a:avLst>
              <a:gd name="adj1" fmla="val -44707"/>
              <a:gd name="adj2" fmla="val -130665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First we handle the base case – an </a:t>
            </a:r>
            <a:r>
              <a:rPr lang="en-US" sz="1800" dirty="0">
                <a:solidFill>
                  <a:srgbClr val="FF0000"/>
                </a:solidFill>
              </a:rPr>
              <a:t>empty tree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3" name="Speech Bubble: Rectangle with Corners Rounded 52"/>
          <p:cNvSpPr/>
          <p:nvPr/>
        </p:nvSpPr>
        <p:spPr bwMode="auto">
          <a:xfrm>
            <a:off x="5271424" y="3793810"/>
            <a:ext cx="3276600" cy="924970"/>
          </a:xfrm>
          <a:prstGeom prst="wedgeRoundRectCallout">
            <a:avLst>
              <a:gd name="adj1" fmla="val -43864"/>
              <a:gd name="adj2" fmla="val -110638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Then we fully </a:t>
            </a:r>
            <a:r>
              <a:rPr lang="en-US" sz="1800" dirty="0">
                <a:solidFill>
                  <a:srgbClr val="0070C0"/>
                </a:solidFill>
              </a:rPr>
              <a:t>process the left subtree</a:t>
            </a:r>
            <a:r>
              <a:rPr lang="en-US" sz="1800" dirty="0">
                <a:solidFill>
                  <a:schemeClr val="tx1"/>
                </a:solidFill>
              </a:rPr>
              <a:t> of the current node using recursion.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5" name="Speech Bubble: Rectangle with Corners Rounded 54"/>
          <p:cNvSpPr/>
          <p:nvPr/>
        </p:nvSpPr>
        <p:spPr bwMode="auto">
          <a:xfrm>
            <a:off x="76200" y="3632694"/>
            <a:ext cx="3389128" cy="924970"/>
          </a:xfrm>
          <a:prstGeom prst="wedgeRoundRectCallout">
            <a:avLst>
              <a:gd name="adj1" fmla="val 50067"/>
              <a:gd name="adj2" fmla="val -66749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Finally, we fully </a:t>
            </a:r>
            <a:r>
              <a:rPr lang="en-US" sz="1800" dirty="0">
                <a:solidFill>
                  <a:srgbClr val="A365D1"/>
                </a:solidFill>
              </a:rPr>
              <a:t>process the right subtree </a:t>
            </a:r>
            <a:r>
              <a:rPr lang="en-US" sz="1800" dirty="0">
                <a:solidFill>
                  <a:schemeClr val="tx1"/>
                </a:solidFill>
              </a:rPr>
              <a:t>of the current node using recursion.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2" name="Speech Bubble: Rectangle with Corners Rounded 51"/>
          <p:cNvSpPr/>
          <p:nvPr/>
        </p:nvSpPr>
        <p:spPr bwMode="auto">
          <a:xfrm>
            <a:off x="5690789" y="3224369"/>
            <a:ext cx="2691211" cy="842103"/>
          </a:xfrm>
          <a:prstGeom prst="wedgeRoundRectCallout">
            <a:avLst>
              <a:gd name="adj1" fmla="val -54226"/>
              <a:gd name="adj2" fmla="val -85733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Then we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"process"</a:t>
            </a:r>
            <a:r>
              <a:rPr lang="en-US" sz="1800" dirty="0">
                <a:solidFill>
                  <a:schemeClr val="tx1"/>
                </a:solidFill>
              </a:rPr>
              <a:t> the current node's value.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10" name="Line 56"/>
          <p:cNvSpPr>
            <a:spLocks noChangeShapeType="1"/>
          </p:cNvSpPr>
          <p:nvPr/>
        </p:nvSpPr>
        <p:spPr bwMode="auto">
          <a:xfrm>
            <a:off x="3047143" y="2899541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" name="Line 56"/>
          <p:cNvSpPr>
            <a:spLocks noChangeShapeType="1"/>
          </p:cNvSpPr>
          <p:nvPr/>
        </p:nvSpPr>
        <p:spPr bwMode="auto">
          <a:xfrm>
            <a:off x="3057654" y="3193831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" name="Line 56"/>
          <p:cNvSpPr>
            <a:spLocks noChangeShapeType="1"/>
          </p:cNvSpPr>
          <p:nvPr/>
        </p:nvSpPr>
        <p:spPr bwMode="auto">
          <a:xfrm>
            <a:off x="3048457" y="345659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43302" y="4001864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#1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159914" y="5062809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#2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76090" y="5066117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#3</a:t>
            </a:r>
            <a:endParaRPr 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1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1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7" grpId="0"/>
      <p:bldP spid="47" grpId="0" animBg="1" uiExpand="1" build="p"/>
      <p:bldP spid="83" grpId="0" animBg="1"/>
      <p:bldP spid="83" grpId="1" animBg="1"/>
      <p:bldP spid="83" grpId="2" animBg="1"/>
      <p:bldP spid="83" grpId="3" animBg="1"/>
      <p:bldP spid="84" grpId="0" animBg="1"/>
      <p:bldP spid="84" grpId="1" animBg="1"/>
      <p:bldP spid="84" grpId="2" animBg="1"/>
      <p:bldP spid="84" grpId="3" animBg="1"/>
      <p:bldP spid="88" grpId="0" animBg="1"/>
      <p:bldP spid="88" grpId="1" animBg="1"/>
      <p:bldP spid="89" grpId="0" animBg="1"/>
      <p:bldP spid="89" grpId="1" animBg="1"/>
      <p:bldP spid="89" grpId="2" animBg="1"/>
      <p:bldP spid="89" grpId="3" animBg="1"/>
      <p:bldP spid="51" grpId="0" animBg="1"/>
      <p:bldP spid="51" grpId="1" animBg="1"/>
      <p:bldP spid="53" grpId="0" animBg="1"/>
      <p:bldP spid="53" grpId="1" animBg="1"/>
      <p:bldP spid="55" grpId="0" animBg="1"/>
      <p:bldP spid="55" grpId="1" animBg="1"/>
      <p:bldP spid="52" grpId="0" animBg="1"/>
      <p:bldP spid="52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3" grpId="0"/>
      <p:bldP spid="113" grpId="0"/>
      <p:bldP spid="1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94A1-F779-431B-9A63-9C56BB4A4B3B}" type="slidenum">
              <a:rPr lang="en-US"/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7671" y="-198437"/>
            <a:ext cx="7772400" cy="1143000"/>
          </a:xfrm>
        </p:spPr>
        <p:txBody>
          <a:bodyPr/>
          <a:lstStyle/>
          <a:p>
            <a:r>
              <a:rPr lang="en-US" sz="3600" dirty="0">
                <a:cs typeface="Courier New" panose="02070409020205090404" pitchFamily="49" charset="0"/>
              </a:rPr>
              <a:t>Pre-order, In-order and Post-order</a:t>
            </a:r>
            <a:endParaRPr lang="en-US" sz="3600" dirty="0"/>
          </a:p>
        </p:txBody>
      </p:sp>
      <p:sp>
        <p:nvSpPr>
          <p:cNvPr id="594947" name="Text Box 3"/>
          <p:cNvSpPr txBox="1">
            <a:spLocks noChangeArrowheads="1"/>
          </p:cNvSpPr>
          <p:nvPr/>
        </p:nvSpPr>
        <p:spPr bwMode="auto">
          <a:xfrm>
            <a:off x="304800" y="811940"/>
            <a:ext cx="8380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Let's see the code for simple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pre-</a:t>
            </a:r>
            <a:r>
              <a:rPr lang="en-US" sz="2000" dirty="0">
                <a:cs typeface="Courier New" panose="020704090202050904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in-</a:t>
            </a:r>
            <a:r>
              <a:rPr lang="en-US" sz="2000" dirty="0">
                <a:cs typeface="Courier New" panose="02070409020205090404" pitchFamily="49" charset="0"/>
              </a:rPr>
              <a:t>, and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post-order</a:t>
            </a:r>
            <a:r>
              <a:rPr lang="en-US" sz="2000" dirty="0">
                <a:cs typeface="Courier New" panose="02070409020205090404" pitchFamily="49" charset="0"/>
              </a:rPr>
              <a:t> traversals!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47" name="Text Box 3"/>
          <p:cNvSpPr txBox="1">
            <a:spLocks noChangeArrowheads="1"/>
          </p:cNvSpPr>
          <p:nvPr/>
        </p:nvSpPr>
        <p:spPr bwMode="auto">
          <a:xfrm>
            <a:off x="3114540" y="1626502"/>
            <a:ext cx="2926476" cy="23083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void preorder(Node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*p)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if (p ==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return;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&lt;&lt; p-&gt;value;</a:t>
            </a:r>
            <a:endParaRPr lang="en-US" sz="1800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preorder(p-&gt;left);</a:t>
            </a:r>
            <a:endParaRPr lang="en-US" sz="18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A365D1"/>
                </a:solidFill>
                <a:latin typeface="Consolas" panose="020B0609020204030204" pitchFamily="49" charset="0"/>
              </a:rPr>
              <a:t>preorder(p-&gt;right);</a:t>
            </a:r>
            <a:endParaRPr lang="en-US" sz="1800" dirty="0">
              <a:solidFill>
                <a:srgbClr val="A365D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980781" y="4102976"/>
            <a:ext cx="3276600" cy="2462207"/>
            <a:chOff x="2980781" y="4102976"/>
            <a:chExt cx="3276600" cy="2462207"/>
          </a:xfrm>
        </p:grpSpPr>
        <p:grpSp>
          <p:nvGrpSpPr>
            <p:cNvPr id="56" name="Group 55"/>
            <p:cNvGrpSpPr/>
            <p:nvPr/>
          </p:nvGrpSpPr>
          <p:grpSpPr>
            <a:xfrm>
              <a:off x="2980781" y="4102976"/>
              <a:ext cx="3276600" cy="2462207"/>
              <a:chOff x="5791200" y="1182687"/>
              <a:chExt cx="3276600" cy="2462207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5791200" y="1182687"/>
                <a:ext cx="3276600" cy="2462207"/>
                <a:chOff x="5810250" y="840550"/>
                <a:chExt cx="2895600" cy="2171700"/>
              </a:xfrm>
            </p:grpSpPr>
            <p:pic>
              <p:nvPicPr>
                <p:cNvPr id="72" name="Picture 71" descr="Diagram&#10;&#10;Description automatically generated"/>
                <p:cNvPicPr>
                  <a:picLocks noChangeAspect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10250" y="840550"/>
                  <a:ext cx="2895600" cy="2171700"/>
                </a:xfrm>
                <a:prstGeom prst="rect">
                  <a:avLst/>
                </a:prstGeom>
              </p:spPr>
            </p:pic>
            <p:sp>
              <p:nvSpPr>
                <p:cNvPr id="73" name="Oval 72"/>
                <p:cNvSpPr/>
                <p:nvPr/>
              </p:nvSpPr>
              <p:spPr bwMode="auto">
                <a:xfrm>
                  <a:off x="6705600" y="1752600"/>
                  <a:ext cx="304800" cy="304800"/>
                </a:xfrm>
                <a:prstGeom prst="ellipse">
                  <a:avLst/>
                </a:prstGeom>
                <a:solidFill>
                  <a:srgbClr val="51B6FF"/>
                </a:solidFill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74" name="Oval 73"/>
                <p:cNvSpPr/>
                <p:nvPr/>
              </p:nvSpPr>
              <p:spPr bwMode="auto">
                <a:xfrm>
                  <a:off x="7105650" y="1103313"/>
                  <a:ext cx="304800" cy="304800"/>
                </a:xfrm>
                <a:prstGeom prst="ellipse">
                  <a:avLst/>
                </a:prstGeom>
                <a:solidFill>
                  <a:srgbClr val="51B6FF"/>
                </a:solidFill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75" name="Oval 74"/>
                <p:cNvSpPr/>
                <p:nvPr/>
              </p:nvSpPr>
              <p:spPr bwMode="auto">
                <a:xfrm>
                  <a:off x="6092825" y="2438399"/>
                  <a:ext cx="304800" cy="304800"/>
                </a:xfrm>
                <a:prstGeom prst="ellipse">
                  <a:avLst/>
                </a:prstGeom>
                <a:solidFill>
                  <a:srgbClr val="51B6FF"/>
                </a:solidFill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76" name="Oval 75"/>
                <p:cNvSpPr/>
                <p:nvPr/>
              </p:nvSpPr>
              <p:spPr bwMode="auto">
                <a:xfrm>
                  <a:off x="6736588" y="2400301"/>
                  <a:ext cx="304800" cy="304800"/>
                </a:xfrm>
                <a:prstGeom prst="ellipse">
                  <a:avLst/>
                </a:prstGeom>
                <a:solidFill>
                  <a:srgbClr val="51B6FF"/>
                </a:solidFill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77" name="Oval 76"/>
                <p:cNvSpPr/>
                <p:nvPr/>
              </p:nvSpPr>
              <p:spPr bwMode="auto">
                <a:xfrm>
                  <a:off x="7520180" y="1793227"/>
                  <a:ext cx="304800" cy="304800"/>
                </a:xfrm>
                <a:prstGeom prst="ellipse">
                  <a:avLst/>
                </a:prstGeom>
                <a:solidFill>
                  <a:srgbClr val="51B6FF"/>
                </a:solidFill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78" name="Oval 77"/>
                <p:cNvSpPr/>
                <p:nvPr/>
              </p:nvSpPr>
              <p:spPr bwMode="auto">
                <a:xfrm>
                  <a:off x="7520180" y="2400301"/>
                  <a:ext cx="304800" cy="304800"/>
                </a:xfrm>
                <a:prstGeom prst="ellipse">
                  <a:avLst/>
                </a:prstGeom>
                <a:solidFill>
                  <a:srgbClr val="51B6FF"/>
                </a:solidFill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79" name="Oval 78"/>
                <p:cNvSpPr/>
                <p:nvPr/>
              </p:nvSpPr>
              <p:spPr bwMode="auto">
                <a:xfrm>
                  <a:off x="8123239" y="2427290"/>
                  <a:ext cx="304800" cy="304800"/>
                </a:xfrm>
                <a:prstGeom prst="ellipse">
                  <a:avLst/>
                </a:prstGeom>
                <a:solidFill>
                  <a:srgbClr val="51B6FF"/>
                </a:solidFill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endParaRPr>
                </a:p>
              </p:txBody>
            </p:sp>
          </p:grpSp>
          <p:sp>
            <p:nvSpPr>
              <p:cNvPr id="61" name="TextBox 60"/>
              <p:cNvSpPr txBox="1"/>
              <p:nvPr/>
            </p:nvSpPr>
            <p:spPr>
              <a:xfrm>
                <a:off x="7090303" y="1508978"/>
                <a:ext cx="6783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/>
                  <a:t>Eat</a:t>
                </a:r>
                <a:endParaRPr lang="en-US" sz="1800" dirty="0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6637615" y="2234853"/>
                <a:ext cx="6783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/>
                  <a:t>Rats</a:t>
                </a:r>
                <a:endParaRPr lang="en-US" sz="1800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969252" y="2961950"/>
                <a:ext cx="6783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/>
                  <a:t>For</a:t>
                </a:r>
                <a:endParaRPr lang="en-US" sz="1800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572238" y="2951910"/>
                <a:ext cx="809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/>
                  <a:t>They</a:t>
                </a:r>
                <a:endParaRPr lang="en-US" sz="1800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467600" y="2221468"/>
                <a:ext cx="809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/>
                  <a:t>Are</a:t>
                </a:r>
                <a:endParaRPr lang="en-US" sz="1800" dirty="0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7467600" y="2958006"/>
                <a:ext cx="809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/>
                  <a:t>Tasty</a:t>
                </a:r>
                <a:endParaRPr lang="en-US" sz="1800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8071026" y="2939787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/>
                  <a:t>Treats</a:t>
                </a:r>
                <a:endParaRPr lang="en-US" sz="1800" dirty="0"/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3608687" y="4116999"/>
              <a:ext cx="804048" cy="369332"/>
              <a:chOff x="278875" y="2819410"/>
              <a:chExt cx="804048" cy="369332"/>
            </a:xfrm>
          </p:grpSpPr>
          <p:sp>
            <p:nvSpPr>
              <p:cNvPr id="106" name="Rectangle 48"/>
              <p:cNvSpPr>
                <a:spLocks noChangeArrowheads="1"/>
              </p:cNvSpPr>
              <p:nvPr/>
            </p:nvSpPr>
            <p:spPr bwMode="auto">
              <a:xfrm>
                <a:off x="513902" y="2938587"/>
                <a:ext cx="308098" cy="162276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7" name="Text Box 49"/>
              <p:cNvSpPr txBox="1">
                <a:spLocks noChangeArrowheads="1"/>
              </p:cNvSpPr>
              <p:nvPr/>
            </p:nvSpPr>
            <p:spPr bwMode="auto">
              <a:xfrm>
                <a:off x="278875" y="2819410"/>
                <a:ext cx="3080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p</a:t>
                </a:r>
                <a:endParaRPr lang="en-US" sz="1800" dirty="0"/>
              </a:p>
            </p:txBody>
          </p:sp>
          <p:sp>
            <p:nvSpPr>
              <p:cNvPr id="108" name="Line 50"/>
              <p:cNvSpPr>
                <a:spLocks noChangeShapeType="1"/>
              </p:cNvSpPr>
              <p:nvPr/>
            </p:nvSpPr>
            <p:spPr bwMode="auto">
              <a:xfrm>
                <a:off x="650554" y="3019725"/>
                <a:ext cx="432369" cy="14490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44444E-6 L -0.3342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94A1-F779-431B-9A63-9C56BB4A4B3B}" type="slidenum">
              <a:rPr lang="en-US"/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7671" y="-198437"/>
            <a:ext cx="7772400" cy="1143000"/>
          </a:xfrm>
        </p:spPr>
        <p:txBody>
          <a:bodyPr/>
          <a:lstStyle/>
          <a:p>
            <a:r>
              <a:rPr lang="en-US" sz="3600" dirty="0">
                <a:cs typeface="Courier New" panose="02070409020205090404" pitchFamily="49" charset="0"/>
              </a:rPr>
              <a:t>Pre-order, In-order and Post-order</a:t>
            </a:r>
            <a:endParaRPr lang="en-US" sz="3600" dirty="0"/>
          </a:p>
        </p:txBody>
      </p:sp>
      <p:sp>
        <p:nvSpPr>
          <p:cNvPr id="594947" name="Text Box 3"/>
          <p:cNvSpPr txBox="1">
            <a:spLocks noChangeArrowheads="1"/>
          </p:cNvSpPr>
          <p:nvPr/>
        </p:nvSpPr>
        <p:spPr bwMode="auto">
          <a:xfrm>
            <a:off x="304800" y="811940"/>
            <a:ext cx="8380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Let's see the code for simple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pre-</a:t>
            </a:r>
            <a:r>
              <a:rPr lang="en-US" sz="2000" dirty="0">
                <a:cs typeface="Courier New" panose="020704090202050904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in-</a:t>
            </a:r>
            <a:r>
              <a:rPr lang="en-US" sz="2000" dirty="0">
                <a:cs typeface="Courier New" panose="02070409020205090404" pitchFamily="49" charset="0"/>
              </a:rPr>
              <a:t>, and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post-order</a:t>
            </a:r>
            <a:r>
              <a:rPr lang="en-US" sz="2000" dirty="0">
                <a:cs typeface="Courier New" panose="02070409020205090404" pitchFamily="49" charset="0"/>
              </a:rPr>
              <a:t> traversals!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47" name="Text Box 3"/>
          <p:cNvSpPr txBox="1">
            <a:spLocks noChangeArrowheads="1"/>
          </p:cNvSpPr>
          <p:nvPr/>
        </p:nvSpPr>
        <p:spPr bwMode="auto">
          <a:xfrm>
            <a:off x="60436" y="1626502"/>
            <a:ext cx="2926476" cy="23083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void preorder(Node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*p)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if (p ==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return;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&lt;&lt; p-&gt;value;</a:t>
            </a:r>
            <a:endParaRPr lang="en-US" sz="1800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preorder(p-&gt;left);</a:t>
            </a:r>
            <a:endParaRPr lang="en-US" sz="18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A365D1"/>
                </a:solidFill>
                <a:latin typeface="Consolas" panose="020B0609020204030204" pitchFamily="49" charset="0"/>
              </a:rPr>
              <a:t>preorder(p-&gt;right);</a:t>
            </a:r>
            <a:endParaRPr lang="en-US" sz="1800" dirty="0">
              <a:solidFill>
                <a:srgbClr val="A365D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3087418" y="1626502"/>
            <a:ext cx="2842392" cy="23083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inorder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(Node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*p)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if (p ==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return;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inorder</a:t>
            </a:r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(p-&gt;left);</a:t>
            </a:r>
            <a:endParaRPr lang="en-US" sz="18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&lt;&lt; p-&gt;value;</a:t>
            </a:r>
            <a:endParaRPr lang="en-US" sz="18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A365D1"/>
                </a:solidFill>
                <a:latin typeface="Consolas" panose="020B0609020204030204" pitchFamily="49" charset="0"/>
              </a:rPr>
              <a:t>inorder</a:t>
            </a:r>
            <a:r>
              <a:rPr lang="en-US" sz="1800" dirty="0">
                <a:solidFill>
                  <a:srgbClr val="A365D1"/>
                </a:solidFill>
                <a:latin typeface="Consolas" panose="020B0609020204030204" pitchFamily="49" charset="0"/>
              </a:rPr>
              <a:t>(p-&gt;right);</a:t>
            </a:r>
            <a:endParaRPr lang="en-US" sz="1800" dirty="0">
              <a:solidFill>
                <a:srgbClr val="A365D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980781" y="4102976"/>
            <a:ext cx="3276600" cy="2462207"/>
            <a:chOff x="5791200" y="1182687"/>
            <a:chExt cx="3276600" cy="2462207"/>
          </a:xfrm>
        </p:grpSpPr>
        <p:grpSp>
          <p:nvGrpSpPr>
            <p:cNvPr id="57" name="Group 56"/>
            <p:cNvGrpSpPr/>
            <p:nvPr/>
          </p:nvGrpSpPr>
          <p:grpSpPr>
            <a:xfrm>
              <a:off x="5791200" y="1182687"/>
              <a:ext cx="3276600" cy="2462207"/>
              <a:chOff x="5810250" y="840550"/>
              <a:chExt cx="2895600" cy="2171700"/>
            </a:xfrm>
          </p:grpSpPr>
          <p:pic>
            <p:nvPicPr>
              <p:cNvPr id="72" name="Picture 71" descr="Diagram&#10;&#10;Description automatically generated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10250" y="840550"/>
                <a:ext cx="2895600" cy="2171700"/>
              </a:xfrm>
              <a:prstGeom prst="rect">
                <a:avLst/>
              </a:prstGeom>
            </p:spPr>
          </p:pic>
          <p:sp>
            <p:nvSpPr>
              <p:cNvPr id="73" name="Oval 72"/>
              <p:cNvSpPr/>
              <p:nvPr/>
            </p:nvSpPr>
            <p:spPr bwMode="auto">
              <a:xfrm>
                <a:off x="6705600" y="1752600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4" name="Oval 73"/>
              <p:cNvSpPr/>
              <p:nvPr/>
            </p:nvSpPr>
            <p:spPr bwMode="auto">
              <a:xfrm>
                <a:off x="7105650" y="1103313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5" name="Oval 74"/>
              <p:cNvSpPr/>
              <p:nvPr/>
            </p:nvSpPr>
            <p:spPr bwMode="auto">
              <a:xfrm>
                <a:off x="6092825" y="2438399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6" name="Oval 75"/>
              <p:cNvSpPr/>
              <p:nvPr/>
            </p:nvSpPr>
            <p:spPr bwMode="auto">
              <a:xfrm>
                <a:off x="6736588" y="2400301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7" name="Oval 76"/>
              <p:cNvSpPr/>
              <p:nvPr/>
            </p:nvSpPr>
            <p:spPr bwMode="auto">
              <a:xfrm>
                <a:off x="7520180" y="1793227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8" name="Oval 77"/>
              <p:cNvSpPr/>
              <p:nvPr/>
            </p:nvSpPr>
            <p:spPr bwMode="auto">
              <a:xfrm>
                <a:off x="7520180" y="2400301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9" name="Oval 78"/>
              <p:cNvSpPr/>
              <p:nvPr/>
            </p:nvSpPr>
            <p:spPr bwMode="auto">
              <a:xfrm>
                <a:off x="8123239" y="2427290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7090303" y="1508978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Eat</a:t>
              </a:r>
              <a:endParaRPr lang="en-US" sz="18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637615" y="2234853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Rats</a:t>
              </a:r>
              <a:endParaRPr lang="en-US" sz="18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969252" y="2961950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For</a:t>
              </a:r>
              <a:endParaRPr lang="en-US" sz="1800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572238" y="2951910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They</a:t>
              </a:r>
              <a:endParaRPr lang="en-US" sz="18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67600" y="2221468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Are</a:t>
              </a:r>
              <a:endParaRPr lang="en-US" sz="18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467600" y="2958006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Tasty</a:t>
              </a:r>
              <a:endParaRPr lang="en-US" sz="18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71026" y="2939787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Treats</a:t>
              </a:r>
              <a:endParaRPr lang="en-US" sz="1800" dirty="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754389" y="4799913"/>
            <a:ext cx="2906868" cy="1795448"/>
            <a:chOff x="6564808" y="1879624"/>
            <a:chExt cx="2906868" cy="1795448"/>
          </a:xfrm>
        </p:grpSpPr>
        <p:sp>
          <p:nvSpPr>
            <p:cNvPr id="81" name="Rectangle 80"/>
            <p:cNvSpPr/>
            <p:nvPr/>
          </p:nvSpPr>
          <p:spPr bwMode="auto">
            <a:xfrm rot="2189691">
              <a:off x="6564808" y="1879624"/>
              <a:ext cx="2906868" cy="912223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 rot="2189691">
              <a:off x="7312365" y="3102408"/>
              <a:ext cx="1766759" cy="572664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83" name="Rectangle: Rounded Corners 82"/>
          <p:cNvSpPr/>
          <p:nvPr/>
        </p:nvSpPr>
        <p:spPr bwMode="auto">
          <a:xfrm>
            <a:off x="4198062" y="4224413"/>
            <a:ext cx="846818" cy="685800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4" name="Rectangle: Rounded Corners 83"/>
          <p:cNvSpPr/>
          <p:nvPr/>
        </p:nvSpPr>
        <p:spPr bwMode="auto">
          <a:xfrm>
            <a:off x="3086557" y="5026100"/>
            <a:ext cx="1484406" cy="1343033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85" name="Group 84"/>
          <p:cNvGrpSpPr/>
          <p:nvPr/>
        </p:nvGrpSpPr>
        <p:grpSpPr>
          <a:xfrm flipH="1" flipV="1">
            <a:off x="2540506" y="4858789"/>
            <a:ext cx="2906868" cy="1795448"/>
            <a:chOff x="6564808" y="1879624"/>
            <a:chExt cx="2906868" cy="1795448"/>
          </a:xfrm>
        </p:grpSpPr>
        <p:sp>
          <p:nvSpPr>
            <p:cNvPr id="86" name="Rectangle 85"/>
            <p:cNvSpPr/>
            <p:nvPr/>
          </p:nvSpPr>
          <p:spPr bwMode="auto">
            <a:xfrm rot="2189691">
              <a:off x="6564808" y="1879624"/>
              <a:ext cx="2906868" cy="912223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 rot="2189691">
              <a:off x="7312365" y="3102408"/>
              <a:ext cx="1766759" cy="572664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88" name="Rectangle 87"/>
          <p:cNvSpPr/>
          <p:nvPr/>
        </p:nvSpPr>
        <p:spPr bwMode="auto">
          <a:xfrm rot="18593125" flipH="1" flipV="1">
            <a:off x="4143774" y="4329820"/>
            <a:ext cx="1003912" cy="905384"/>
          </a:xfrm>
          <a:prstGeom prst="rect">
            <a:avLst/>
          </a:prstGeom>
          <a:solidFill>
            <a:srgbClr val="FFFFFF">
              <a:alpha val="83922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3608687" y="4116999"/>
            <a:ext cx="804048" cy="369332"/>
            <a:chOff x="278875" y="2819410"/>
            <a:chExt cx="804048" cy="369332"/>
          </a:xfrm>
        </p:grpSpPr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513902" y="2938587"/>
              <a:ext cx="308098" cy="16227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9" name="Text Box 49"/>
            <p:cNvSpPr txBox="1">
              <a:spLocks noChangeArrowheads="1"/>
            </p:cNvSpPr>
            <p:nvPr/>
          </p:nvSpPr>
          <p:spPr bwMode="auto">
            <a:xfrm>
              <a:off x="278875" y="2819410"/>
              <a:ext cx="30809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p</a:t>
              </a:r>
              <a:endParaRPr lang="en-US" sz="1800" dirty="0"/>
            </a:p>
          </p:txBody>
        </p:sp>
        <p:sp>
          <p:nvSpPr>
            <p:cNvPr id="100" name="Line 50"/>
            <p:cNvSpPr>
              <a:spLocks noChangeShapeType="1"/>
            </p:cNvSpPr>
            <p:nvPr/>
          </p:nvSpPr>
          <p:spPr bwMode="auto">
            <a:xfrm>
              <a:off x="650554" y="3019725"/>
              <a:ext cx="432369" cy="1449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89" name="Rectangle: Rounded Corners 88"/>
          <p:cNvSpPr/>
          <p:nvPr/>
        </p:nvSpPr>
        <p:spPr bwMode="auto">
          <a:xfrm>
            <a:off x="4683750" y="5006256"/>
            <a:ext cx="1484406" cy="1343033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93" name="Speech Bubble: Rectangle with Corners Rounded 92"/>
          <p:cNvSpPr/>
          <p:nvPr/>
        </p:nvSpPr>
        <p:spPr bwMode="auto">
          <a:xfrm>
            <a:off x="6196273" y="3447444"/>
            <a:ext cx="2713913" cy="842103"/>
          </a:xfrm>
          <a:prstGeom prst="wedgeRoundRectCallout">
            <a:avLst>
              <a:gd name="adj1" fmla="val -71947"/>
              <a:gd name="adj2" fmla="val -81521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How's it different from the pre-order traversal?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4" name="Speech Bubble: Rectangle with Corners Rounded 93"/>
          <p:cNvSpPr/>
          <p:nvPr/>
        </p:nvSpPr>
        <p:spPr bwMode="auto">
          <a:xfrm>
            <a:off x="6096000" y="1965189"/>
            <a:ext cx="2691211" cy="842103"/>
          </a:xfrm>
          <a:prstGeom prst="wedgeRoundRectCallout">
            <a:avLst>
              <a:gd name="adj1" fmla="val -98602"/>
              <a:gd name="adj2" fmla="val -47822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Next let's see the in-order traversal!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5" name="Speech Bubble: Rectangle with Corners Rounded 94"/>
          <p:cNvSpPr/>
          <p:nvPr/>
        </p:nvSpPr>
        <p:spPr bwMode="auto">
          <a:xfrm>
            <a:off x="152400" y="4191015"/>
            <a:ext cx="3075618" cy="1142985"/>
          </a:xfrm>
          <a:prstGeom prst="wedgeRoundRectCallout">
            <a:avLst>
              <a:gd name="adj1" fmla="val -15460"/>
              <a:gd name="adj2" fmla="val -102092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In pre-order, we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process</a:t>
            </a:r>
            <a:r>
              <a:rPr lang="en-US" sz="1800" dirty="0">
                <a:solidFill>
                  <a:schemeClr val="tx1"/>
                </a:solidFill>
              </a:rPr>
              <a:t> the current node first, </a:t>
            </a:r>
            <a:r>
              <a:rPr lang="en-US" sz="1800" i="1" dirty="0">
                <a:solidFill>
                  <a:schemeClr val="tx1"/>
                </a:solidFill>
              </a:rPr>
              <a:t>then</a:t>
            </a:r>
            <a:r>
              <a:rPr lang="en-US" sz="1800" dirty="0">
                <a:solidFill>
                  <a:schemeClr val="tx1"/>
                </a:solidFill>
              </a:rPr>
              <a:t> process its </a:t>
            </a:r>
            <a:r>
              <a:rPr lang="en-US" sz="1800" dirty="0">
                <a:solidFill>
                  <a:srgbClr val="0070C0"/>
                </a:solidFill>
              </a:rPr>
              <a:t>left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800" dirty="0">
                <a:solidFill>
                  <a:srgbClr val="7030A0"/>
                </a:solidFill>
              </a:rPr>
              <a:t>right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subtrees.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6" name="Speech Bubble: Rectangle with Corners Rounded 95"/>
          <p:cNvSpPr/>
          <p:nvPr/>
        </p:nvSpPr>
        <p:spPr bwMode="auto">
          <a:xfrm>
            <a:off x="5814313" y="4013308"/>
            <a:ext cx="3206004" cy="1142985"/>
          </a:xfrm>
          <a:prstGeom prst="wedgeRoundRectCallout">
            <a:avLst>
              <a:gd name="adj1" fmla="val -56994"/>
              <a:gd name="adj2" fmla="val -122437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But with in-order, we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process</a:t>
            </a:r>
            <a:r>
              <a:rPr lang="en-US" sz="1800" dirty="0">
                <a:solidFill>
                  <a:schemeClr val="tx1"/>
                </a:solidFill>
              </a:rPr>
              <a:t> the current node </a:t>
            </a:r>
            <a:r>
              <a:rPr lang="en-US" sz="1800" i="1" dirty="0">
                <a:solidFill>
                  <a:schemeClr val="tx1"/>
                </a:solidFill>
              </a:rPr>
              <a:t>in between </a:t>
            </a:r>
            <a:r>
              <a:rPr lang="en-US" sz="1800" dirty="0">
                <a:solidFill>
                  <a:schemeClr val="tx1"/>
                </a:solidFill>
              </a:rPr>
              <a:t>processing its </a:t>
            </a:r>
            <a:r>
              <a:rPr lang="en-US" sz="1800" dirty="0">
                <a:solidFill>
                  <a:srgbClr val="0070C0"/>
                </a:solidFill>
              </a:rPr>
              <a:t>left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800" dirty="0">
                <a:solidFill>
                  <a:srgbClr val="7030A0"/>
                </a:solidFill>
              </a:rPr>
              <a:t>right </a:t>
            </a:r>
            <a:r>
              <a:rPr lang="en-US" sz="1800" dirty="0">
                <a:solidFill>
                  <a:schemeClr val="tx1"/>
                </a:solidFill>
              </a:rPr>
              <a:t>subtrees.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1" name="Line 56"/>
          <p:cNvSpPr>
            <a:spLocks noChangeShapeType="1"/>
          </p:cNvSpPr>
          <p:nvPr/>
        </p:nvSpPr>
        <p:spPr bwMode="auto">
          <a:xfrm>
            <a:off x="3047143" y="2899541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" name="Line 56"/>
          <p:cNvSpPr>
            <a:spLocks noChangeShapeType="1"/>
          </p:cNvSpPr>
          <p:nvPr/>
        </p:nvSpPr>
        <p:spPr bwMode="auto">
          <a:xfrm>
            <a:off x="3057654" y="3193831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Line 56"/>
          <p:cNvSpPr>
            <a:spLocks noChangeShapeType="1"/>
          </p:cNvSpPr>
          <p:nvPr/>
        </p:nvSpPr>
        <p:spPr bwMode="auto">
          <a:xfrm>
            <a:off x="3048457" y="345659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343302" y="4001864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#2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3159914" y="5062809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#1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476090" y="5066117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#3</a:t>
            </a:r>
            <a:endParaRPr 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 uiExpand="1" build="p"/>
      <p:bldP spid="83" grpId="0" animBg="1"/>
      <p:bldP spid="83" grpId="1" animBg="1"/>
      <p:bldP spid="83" grpId="2" animBg="1"/>
      <p:bldP spid="83" grpId="3" animBg="1"/>
      <p:bldP spid="84" grpId="0" animBg="1"/>
      <p:bldP spid="84" grpId="1" animBg="1"/>
      <p:bldP spid="84" grpId="2" animBg="1"/>
      <p:bldP spid="84" grpId="3" animBg="1"/>
      <p:bldP spid="88" grpId="0" animBg="1"/>
      <p:bldP spid="88" grpId="1" animBg="1"/>
      <p:bldP spid="89" grpId="0" animBg="1"/>
      <p:bldP spid="89" grpId="1" animBg="1"/>
      <p:bldP spid="89" grpId="2" animBg="1"/>
      <p:bldP spid="89" grpId="3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/>
      <p:bldP spid="105" grpId="0"/>
      <p:bldP spid="10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94A1-F779-431B-9A63-9C56BB4A4B3B}" type="slidenum">
              <a:rPr lang="en-US"/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7671" y="-198437"/>
            <a:ext cx="7772400" cy="1143000"/>
          </a:xfrm>
        </p:spPr>
        <p:txBody>
          <a:bodyPr/>
          <a:lstStyle/>
          <a:p>
            <a:r>
              <a:rPr lang="en-US" sz="3600" dirty="0">
                <a:cs typeface="Courier New" panose="02070409020205090404" pitchFamily="49" charset="0"/>
              </a:rPr>
              <a:t>Pre-order, In-order and Post-order</a:t>
            </a:r>
            <a:endParaRPr lang="en-US" sz="3600" dirty="0"/>
          </a:p>
        </p:txBody>
      </p:sp>
      <p:sp>
        <p:nvSpPr>
          <p:cNvPr id="594947" name="Text Box 3"/>
          <p:cNvSpPr txBox="1">
            <a:spLocks noChangeArrowheads="1"/>
          </p:cNvSpPr>
          <p:nvPr/>
        </p:nvSpPr>
        <p:spPr bwMode="auto">
          <a:xfrm>
            <a:off x="304800" y="811940"/>
            <a:ext cx="8380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Let's see the code for simple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pre-</a:t>
            </a:r>
            <a:r>
              <a:rPr lang="en-US" sz="2000" dirty="0">
                <a:cs typeface="Courier New" panose="020704090202050904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in-</a:t>
            </a:r>
            <a:r>
              <a:rPr lang="en-US" sz="2000" dirty="0">
                <a:cs typeface="Courier New" panose="02070409020205090404" pitchFamily="49" charset="0"/>
              </a:rPr>
              <a:t>, and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post-order</a:t>
            </a:r>
            <a:r>
              <a:rPr lang="en-US" sz="2000" dirty="0">
                <a:cs typeface="Courier New" panose="02070409020205090404" pitchFamily="49" charset="0"/>
              </a:rPr>
              <a:t> traversals!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6030315" y="1626502"/>
            <a:ext cx="3053256" cy="23083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postorder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(Node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*p)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if (p ==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return;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postorder</a:t>
            </a:r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(p-&gt;left);</a:t>
            </a:r>
            <a:endParaRPr lang="en-US" sz="18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365D1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A365D1"/>
                </a:solidFill>
                <a:latin typeface="Consolas" panose="020B0609020204030204" pitchFamily="49" charset="0"/>
              </a:rPr>
              <a:t>postorder</a:t>
            </a:r>
            <a:r>
              <a:rPr lang="en-US" sz="1800" dirty="0">
                <a:solidFill>
                  <a:srgbClr val="A365D1"/>
                </a:solidFill>
                <a:latin typeface="Consolas" panose="020B0609020204030204" pitchFamily="49" charset="0"/>
              </a:rPr>
              <a:t>(p-&gt;right);</a:t>
            </a:r>
            <a:endParaRPr lang="en-US" sz="1800" dirty="0">
              <a:solidFill>
                <a:srgbClr val="A365D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365D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&lt;&lt; p-&gt;value;</a:t>
            </a:r>
            <a:endParaRPr lang="en-US" sz="1800" dirty="0">
              <a:solidFill>
                <a:srgbClr val="A365D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980781" y="4102976"/>
            <a:ext cx="3276600" cy="2462207"/>
            <a:chOff x="5791200" y="1182687"/>
            <a:chExt cx="3276600" cy="2462207"/>
          </a:xfrm>
        </p:grpSpPr>
        <p:grpSp>
          <p:nvGrpSpPr>
            <p:cNvPr id="57" name="Group 56"/>
            <p:cNvGrpSpPr/>
            <p:nvPr/>
          </p:nvGrpSpPr>
          <p:grpSpPr>
            <a:xfrm>
              <a:off x="5791200" y="1182687"/>
              <a:ext cx="3276600" cy="2462207"/>
              <a:chOff x="5810250" y="840550"/>
              <a:chExt cx="2895600" cy="2171700"/>
            </a:xfrm>
          </p:grpSpPr>
          <p:pic>
            <p:nvPicPr>
              <p:cNvPr id="72" name="Picture 71" descr="Diagram&#10;&#10;Description automatically generated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10250" y="840550"/>
                <a:ext cx="2895600" cy="2171700"/>
              </a:xfrm>
              <a:prstGeom prst="rect">
                <a:avLst/>
              </a:prstGeom>
            </p:spPr>
          </p:pic>
          <p:sp>
            <p:nvSpPr>
              <p:cNvPr id="73" name="Oval 72"/>
              <p:cNvSpPr/>
              <p:nvPr/>
            </p:nvSpPr>
            <p:spPr bwMode="auto">
              <a:xfrm>
                <a:off x="6705600" y="1752600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4" name="Oval 73"/>
              <p:cNvSpPr/>
              <p:nvPr/>
            </p:nvSpPr>
            <p:spPr bwMode="auto">
              <a:xfrm>
                <a:off x="7105650" y="1103313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5" name="Oval 74"/>
              <p:cNvSpPr/>
              <p:nvPr/>
            </p:nvSpPr>
            <p:spPr bwMode="auto">
              <a:xfrm>
                <a:off x="6092825" y="2438399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6" name="Oval 75"/>
              <p:cNvSpPr/>
              <p:nvPr/>
            </p:nvSpPr>
            <p:spPr bwMode="auto">
              <a:xfrm>
                <a:off x="6736588" y="2400301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7" name="Oval 76"/>
              <p:cNvSpPr/>
              <p:nvPr/>
            </p:nvSpPr>
            <p:spPr bwMode="auto">
              <a:xfrm>
                <a:off x="7520180" y="1793227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8" name="Oval 77"/>
              <p:cNvSpPr/>
              <p:nvPr/>
            </p:nvSpPr>
            <p:spPr bwMode="auto">
              <a:xfrm>
                <a:off x="7520180" y="2400301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79" name="Oval 78"/>
              <p:cNvSpPr/>
              <p:nvPr/>
            </p:nvSpPr>
            <p:spPr bwMode="auto">
              <a:xfrm>
                <a:off x="8123239" y="2427290"/>
                <a:ext cx="304800" cy="304800"/>
              </a:xfrm>
              <a:prstGeom prst="ellipse">
                <a:avLst/>
              </a:prstGeom>
              <a:solidFill>
                <a:srgbClr val="51B6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7090303" y="1508978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Eat</a:t>
              </a:r>
              <a:endParaRPr lang="en-US" sz="18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637615" y="2234853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Rats</a:t>
              </a:r>
              <a:endParaRPr lang="en-US" sz="18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969252" y="2961950"/>
              <a:ext cx="67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For</a:t>
              </a:r>
              <a:endParaRPr lang="en-US" sz="1800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572238" y="2951910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They</a:t>
              </a:r>
              <a:endParaRPr lang="en-US" sz="18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67600" y="2221468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Are</a:t>
              </a:r>
              <a:endParaRPr lang="en-US" sz="18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467600" y="2958006"/>
              <a:ext cx="809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Tasty</a:t>
              </a:r>
              <a:endParaRPr lang="en-US" sz="18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71026" y="2939787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Treats</a:t>
              </a:r>
              <a:endParaRPr lang="en-US" sz="1800" dirty="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754389" y="4799913"/>
            <a:ext cx="2906868" cy="1795448"/>
            <a:chOff x="6564808" y="1879624"/>
            <a:chExt cx="2906868" cy="1795448"/>
          </a:xfrm>
        </p:grpSpPr>
        <p:sp>
          <p:nvSpPr>
            <p:cNvPr id="81" name="Rectangle 80"/>
            <p:cNvSpPr/>
            <p:nvPr/>
          </p:nvSpPr>
          <p:spPr bwMode="auto">
            <a:xfrm rot="2189691">
              <a:off x="6564808" y="1879624"/>
              <a:ext cx="2906868" cy="912223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 rot="2189691">
              <a:off x="7312365" y="3102408"/>
              <a:ext cx="1766759" cy="572664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83" name="Rectangle: Rounded Corners 82"/>
          <p:cNvSpPr/>
          <p:nvPr/>
        </p:nvSpPr>
        <p:spPr bwMode="auto">
          <a:xfrm>
            <a:off x="4250752" y="4224413"/>
            <a:ext cx="741438" cy="685800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4" name="Rectangle: Rounded Corners 83"/>
          <p:cNvSpPr/>
          <p:nvPr/>
        </p:nvSpPr>
        <p:spPr bwMode="auto">
          <a:xfrm>
            <a:off x="3086557" y="5026100"/>
            <a:ext cx="1484406" cy="1343033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85" name="Group 84"/>
          <p:cNvGrpSpPr/>
          <p:nvPr/>
        </p:nvGrpSpPr>
        <p:grpSpPr>
          <a:xfrm flipH="1" flipV="1">
            <a:off x="2540506" y="4858789"/>
            <a:ext cx="2906868" cy="1795448"/>
            <a:chOff x="6564808" y="1879624"/>
            <a:chExt cx="2906868" cy="1795448"/>
          </a:xfrm>
        </p:grpSpPr>
        <p:sp>
          <p:nvSpPr>
            <p:cNvPr id="86" name="Rectangle 85"/>
            <p:cNvSpPr/>
            <p:nvPr/>
          </p:nvSpPr>
          <p:spPr bwMode="auto">
            <a:xfrm rot="2189691">
              <a:off x="6564808" y="1879624"/>
              <a:ext cx="2906868" cy="912223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 rot="2189691">
              <a:off x="7312365" y="3102408"/>
              <a:ext cx="1766759" cy="572664"/>
            </a:xfrm>
            <a:prstGeom prst="rect">
              <a:avLst/>
            </a:prstGeom>
            <a:solidFill>
              <a:srgbClr val="FFFFFF">
                <a:alpha val="83922"/>
              </a:srgb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88" name="Rectangle 87"/>
          <p:cNvSpPr/>
          <p:nvPr/>
        </p:nvSpPr>
        <p:spPr bwMode="auto">
          <a:xfrm rot="18593125" flipH="1" flipV="1">
            <a:off x="4143774" y="4329820"/>
            <a:ext cx="1003912" cy="905384"/>
          </a:xfrm>
          <a:prstGeom prst="rect">
            <a:avLst/>
          </a:prstGeom>
          <a:solidFill>
            <a:srgbClr val="FFFFFF">
              <a:alpha val="83922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9" name="Rectangle: Rounded Corners 88"/>
          <p:cNvSpPr/>
          <p:nvPr/>
        </p:nvSpPr>
        <p:spPr bwMode="auto">
          <a:xfrm>
            <a:off x="4683750" y="5006256"/>
            <a:ext cx="1484406" cy="1343033"/>
          </a:xfrm>
          <a:prstGeom prst="round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5" name="Speech Bubble: Rectangle with Corners Rounded 34"/>
          <p:cNvSpPr/>
          <p:nvPr/>
        </p:nvSpPr>
        <p:spPr bwMode="auto">
          <a:xfrm>
            <a:off x="6317772" y="4513775"/>
            <a:ext cx="2691211" cy="842103"/>
          </a:xfrm>
          <a:prstGeom prst="wedgeRoundRectCallout">
            <a:avLst>
              <a:gd name="adj1" fmla="val -28744"/>
              <a:gd name="adj2" fmla="val -143302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Finally, let's see the post-order traversal!</a:t>
            </a:r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0436" y="1626502"/>
            <a:ext cx="5869374" cy="2308324"/>
            <a:chOff x="60436" y="1626502"/>
            <a:chExt cx="5869374" cy="2308324"/>
          </a:xfrm>
        </p:grpSpPr>
        <p:sp>
          <p:nvSpPr>
            <p:cNvPr id="36" name="Text Box 3"/>
            <p:cNvSpPr txBox="1">
              <a:spLocks noChangeArrowheads="1"/>
            </p:cNvSpPr>
            <p:nvPr/>
          </p:nvSpPr>
          <p:spPr bwMode="auto">
            <a:xfrm>
              <a:off x="60436" y="1626502"/>
              <a:ext cx="2926476" cy="230832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preorder(Node</a:t>
              </a:r>
              <a:r>
                <a:rPr lang="en-US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*p)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if (p == </a:t>
              </a:r>
              <a:r>
                <a:rPr lang="en-US" sz="18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nullptr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return;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800" dirty="0" err="1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</a:rPr>
                <a:t> &lt;&lt; p-&gt;value;</a:t>
              </a:r>
              <a:endParaRPr lang="en-US" sz="1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 preorder(p-&gt;left);</a:t>
              </a:r>
              <a:endParaRPr lang="en-US" sz="18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800" dirty="0">
                  <a:solidFill>
                    <a:srgbClr val="A365D1"/>
                  </a:solidFill>
                  <a:latin typeface="Consolas" panose="020B0609020204030204" pitchFamily="49" charset="0"/>
                </a:rPr>
                <a:t>preorder(p-&gt;right);</a:t>
              </a:r>
              <a:endParaRPr lang="en-US" sz="1800" dirty="0">
                <a:solidFill>
                  <a:srgbClr val="A365D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Text Box 3"/>
            <p:cNvSpPr txBox="1">
              <a:spLocks noChangeArrowheads="1"/>
            </p:cNvSpPr>
            <p:nvPr/>
          </p:nvSpPr>
          <p:spPr bwMode="auto">
            <a:xfrm>
              <a:off x="3087418" y="1626502"/>
              <a:ext cx="2842392" cy="230832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</a:t>
              </a:r>
              <a:r>
                <a:rPr lang="en-US" sz="1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inorder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(Node</a:t>
              </a:r>
              <a:r>
                <a:rPr lang="en-US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*p)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if (p == </a:t>
              </a:r>
              <a:r>
                <a:rPr lang="en-US" sz="18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nullptr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return;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800" dirty="0" err="1">
                  <a:solidFill>
                    <a:schemeClr val="accent2"/>
                  </a:solidFill>
                  <a:latin typeface="Consolas" panose="020B0609020204030204" pitchFamily="49" charset="0"/>
                </a:rPr>
                <a:t>inorder</a:t>
              </a:r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(p-&gt;left);</a:t>
              </a:r>
              <a:endParaRPr lang="en-US" sz="18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800" dirty="0" err="1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</a:rPr>
                <a:t> &lt;&lt; p-&gt;value;</a:t>
              </a:r>
              <a:endParaRPr lang="en-US" sz="18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800" dirty="0" err="1">
                  <a:solidFill>
                    <a:srgbClr val="A365D1"/>
                  </a:solidFill>
                  <a:latin typeface="Consolas" panose="020B0609020204030204" pitchFamily="49" charset="0"/>
                </a:rPr>
                <a:t>inorder</a:t>
              </a:r>
              <a:r>
                <a:rPr lang="en-US" sz="1800" dirty="0">
                  <a:solidFill>
                    <a:srgbClr val="A365D1"/>
                  </a:solidFill>
                  <a:latin typeface="Consolas" panose="020B0609020204030204" pitchFamily="49" charset="0"/>
                </a:rPr>
                <a:t>(p-&gt;right);</a:t>
              </a:r>
              <a:endParaRPr lang="en-US" sz="1800" dirty="0">
                <a:solidFill>
                  <a:srgbClr val="A365D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" name="Rectangle 2"/>
          <p:cNvSpPr/>
          <p:nvPr/>
        </p:nvSpPr>
        <p:spPr bwMode="auto">
          <a:xfrm>
            <a:off x="0" y="1524000"/>
            <a:ext cx="5990897" cy="2499081"/>
          </a:xfrm>
          <a:prstGeom prst="rect">
            <a:avLst/>
          </a:prstGeom>
          <a:solidFill>
            <a:schemeClr val="bg1">
              <a:alpha val="89804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9" name="Speech Bubble: Rectangle with Corners Rounded 38"/>
          <p:cNvSpPr/>
          <p:nvPr/>
        </p:nvSpPr>
        <p:spPr bwMode="auto">
          <a:xfrm>
            <a:off x="2449771" y="1595664"/>
            <a:ext cx="3276600" cy="924970"/>
          </a:xfrm>
          <a:prstGeom prst="wedgeRoundRectCallout">
            <a:avLst>
              <a:gd name="adj1" fmla="val 69448"/>
              <a:gd name="adj2" fmla="val 92616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First we fully </a:t>
            </a:r>
            <a:r>
              <a:rPr lang="en-US" sz="1800" dirty="0">
                <a:solidFill>
                  <a:srgbClr val="0070C0"/>
                </a:solidFill>
              </a:rPr>
              <a:t>process the left subtree</a:t>
            </a:r>
            <a:r>
              <a:rPr lang="en-US" sz="1800" dirty="0">
                <a:solidFill>
                  <a:schemeClr val="tx1"/>
                </a:solidFill>
              </a:rPr>
              <a:t> of the current node using recursion.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Speech Bubble: Rectangle with Corners Rounded 39"/>
          <p:cNvSpPr/>
          <p:nvPr/>
        </p:nvSpPr>
        <p:spPr bwMode="auto">
          <a:xfrm>
            <a:off x="2237987" y="3032703"/>
            <a:ext cx="3389128" cy="924970"/>
          </a:xfrm>
          <a:prstGeom prst="wedgeRoundRectCallout">
            <a:avLst>
              <a:gd name="adj1" fmla="val 71698"/>
              <a:gd name="adj2" fmla="val -31808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Then we fully </a:t>
            </a:r>
            <a:r>
              <a:rPr lang="en-US" sz="1800" dirty="0">
                <a:solidFill>
                  <a:srgbClr val="A365D1"/>
                </a:solidFill>
              </a:rPr>
              <a:t>process the right subtree </a:t>
            </a:r>
            <a:r>
              <a:rPr lang="en-US" sz="1800" dirty="0">
                <a:solidFill>
                  <a:schemeClr val="tx1"/>
                </a:solidFill>
              </a:rPr>
              <a:t>of the current node using recursion.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1" name="Speech Bubble: Rectangle with Corners Rounded 40"/>
          <p:cNvSpPr/>
          <p:nvPr/>
        </p:nvSpPr>
        <p:spPr bwMode="auto">
          <a:xfrm>
            <a:off x="6030315" y="3945797"/>
            <a:ext cx="2949654" cy="842103"/>
          </a:xfrm>
          <a:prstGeom prst="wedgeRoundRectCallout">
            <a:avLst>
              <a:gd name="adj1" fmla="val -5320"/>
              <a:gd name="adj2" fmla="val -89945"/>
              <a:gd name="adj3" fmla="val 16667"/>
            </a:avLst>
          </a:prstGeom>
          <a:solidFill>
            <a:srgbClr val="C5E8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Finally, after everything else, we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"post-process"</a:t>
            </a:r>
            <a:r>
              <a:rPr lang="en-US" sz="1800" dirty="0">
                <a:solidFill>
                  <a:schemeClr val="tx1"/>
                </a:solidFill>
              </a:rPr>
              <a:t> the current node's value.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2" name="Line 56"/>
          <p:cNvSpPr>
            <a:spLocks noChangeShapeType="1"/>
          </p:cNvSpPr>
          <p:nvPr/>
        </p:nvSpPr>
        <p:spPr bwMode="auto">
          <a:xfrm>
            <a:off x="5983471" y="292319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56"/>
          <p:cNvSpPr>
            <a:spLocks noChangeShapeType="1"/>
          </p:cNvSpPr>
          <p:nvPr/>
        </p:nvSpPr>
        <p:spPr bwMode="auto">
          <a:xfrm>
            <a:off x="5993982" y="321748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56"/>
          <p:cNvSpPr>
            <a:spLocks noChangeShapeType="1"/>
          </p:cNvSpPr>
          <p:nvPr/>
        </p:nvSpPr>
        <p:spPr bwMode="auto">
          <a:xfrm>
            <a:off x="5984785" y="3480239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3608687" y="4116999"/>
            <a:ext cx="804048" cy="369332"/>
            <a:chOff x="278875" y="2819410"/>
            <a:chExt cx="804048" cy="369332"/>
          </a:xfrm>
        </p:grpSpPr>
        <p:sp>
          <p:nvSpPr>
            <p:cNvPr id="48" name="Rectangle 48"/>
            <p:cNvSpPr>
              <a:spLocks noChangeArrowheads="1"/>
            </p:cNvSpPr>
            <p:nvPr/>
          </p:nvSpPr>
          <p:spPr bwMode="auto">
            <a:xfrm>
              <a:off x="513902" y="2938587"/>
              <a:ext cx="308098" cy="16227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51" name="Text Box 49"/>
            <p:cNvSpPr txBox="1">
              <a:spLocks noChangeArrowheads="1"/>
            </p:cNvSpPr>
            <p:nvPr/>
          </p:nvSpPr>
          <p:spPr bwMode="auto">
            <a:xfrm>
              <a:off x="278875" y="2819410"/>
              <a:ext cx="30809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p</a:t>
              </a:r>
              <a:endParaRPr lang="en-US" sz="1800" dirty="0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>
              <a:off x="650554" y="3019725"/>
              <a:ext cx="432369" cy="1449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4343302" y="4001864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#3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59914" y="5062809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#1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476090" y="5066117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#2</a:t>
            </a:r>
            <a:endParaRPr 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 uiExpand="1" build="p"/>
      <p:bldP spid="83" grpId="0" animBg="1"/>
      <p:bldP spid="83" grpId="1" animBg="1"/>
      <p:bldP spid="83" grpId="2" animBg="1"/>
      <p:bldP spid="83" grpId="3" animBg="1"/>
      <p:bldP spid="84" grpId="0" animBg="1"/>
      <p:bldP spid="84" grpId="1" animBg="1"/>
      <p:bldP spid="84" grpId="2" animBg="1"/>
      <p:bldP spid="84" grpId="3" animBg="1"/>
      <p:bldP spid="88" grpId="0" animBg="1"/>
      <p:bldP spid="88" grpId="1" animBg="1"/>
      <p:bldP spid="89" grpId="0" animBg="1"/>
      <p:bldP spid="89" grpId="1" animBg="1"/>
      <p:bldP spid="89" grpId="2" animBg="1"/>
      <p:bldP spid="89" grpId="3" animBg="1"/>
      <p:bldP spid="35" grpId="0" animBg="1"/>
      <p:bldP spid="35" grpId="1" animBg="1"/>
      <p:bldP spid="3" grpId="0" animBg="1"/>
      <p:bldP spid="3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53" grpId="0"/>
      <p:bldP spid="55" grpId="0"/>
      <p:bldP spid="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94A1-F779-431B-9A63-9C56BB4A4B3B}" type="slidenum">
              <a:rPr lang="en-US"/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7671" y="-198437"/>
            <a:ext cx="7772400" cy="1143000"/>
          </a:xfrm>
        </p:spPr>
        <p:txBody>
          <a:bodyPr/>
          <a:lstStyle/>
          <a:p>
            <a:r>
              <a:rPr lang="en-US" sz="3600" dirty="0">
                <a:cs typeface="Courier New" panose="02070409020205090404" pitchFamily="49" charset="0"/>
              </a:rPr>
              <a:t>Pre-order, In-order and Post-order</a:t>
            </a:r>
            <a:endParaRPr lang="en-US" sz="3600" dirty="0"/>
          </a:p>
        </p:txBody>
      </p:sp>
      <p:sp>
        <p:nvSpPr>
          <p:cNvPr id="594947" name="Text Box 3"/>
          <p:cNvSpPr txBox="1">
            <a:spLocks noChangeArrowheads="1"/>
          </p:cNvSpPr>
          <p:nvPr/>
        </p:nvSpPr>
        <p:spPr bwMode="auto">
          <a:xfrm>
            <a:off x="304800" y="811940"/>
            <a:ext cx="8380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Let's see the code for simple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pre-</a:t>
            </a:r>
            <a:r>
              <a:rPr lang="en-US" sz="2000" dirty="0">
                <a:cs typeface="Courier New" panose="020704090202050904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in-</a:t>
            </a:r>
            <a:r>
              <a:rPr lang="en-US" sz="2000" dirty="0">
                <a:cs typeface="Courier New" panose="02070409020205090404" pitchFamily="49" charset="0"/>
              </a:rPr>
              <a:t>, and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post-order</a:t>
            </a:r>
            <a:r>
              <a:rPr lang="en-US" sz="2000" dirty="0">
                <a:cs typeface="Courier New" panose="02070409020205090404" pitchFamily="49" charset="0"/>
              </a:rPr>
              <a:t> traversals!</a:t>
            </a:r>
            <a:endParaRPr lang="en-US" sz="2000" dirty="0">
              <a:cs typeface="Courier New" panose="020704090202050904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0436" y="1626502"/>
            <a:ext cx="9023135" cy="2308324"/>
            <a:chOff x="60436" y="1626502"/>
            <a:chExt cx="9023135" cy="2308324"/>
          </a:xfrm>
        </p:grpSpPr>
        <p:sp>
          <p:nvSpPr>
            <p:cNvPr id="50" name="Text Box 3"/>
            <p:cNvSpPr txBox="1">
              <a:spLocks noChangeArrowheads="1"/>
            </p:cNvSpPr>
            <p:nvPr/>
          </p:nvSpPr>
          <p:spPr bwMode="auto">
            <a:xfrm>
              <a:off x="6030315" y="1626502"/>
              <a:ext cx="3053256" cy="230832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</a:t>
              </a:r>
              <a:r>
                <a:rPr lang="en-US" sz="1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postorder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(Node</a:t>
              </a:r>
              <a:r>
                <a:rPr lang="en-US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*p)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if (p == </a:t>
              </a:r>
              <a:r>
                <a:rPr lang="en-US" sz="18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nullptr</a:t>
              </a:r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return;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800" dirty="0" err="1">
                  <a:solidFill>
                    <a:schemeClr val="accent2"/>
                  </a:solidFill>
                  <a:latin typeface="Consolas" panose="020B0609020204030204" pitchFamily="49" charset="0"/>
                </a:rPr>
                <a:t>postorder</a:t>
              </a:r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(p-&gt;left);</a:t>
              </a:r>
              <a:endParaRPr lang="en-US" sz="18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rgbClr val="A365D1"/>
                  </a:solidFill>
                  <a:latin typeface="Consolas" panose="020B0609020204030204" pitchFamily="49" charset="0"/>
                </a:rPr>
                <a:t>  </a:t>
              </a:r>
              <a:r>
                <a:rPr lang="en-US" sz="1800" dirty="0" err="1">
                  <a:solidFill>
                    <a:srgbClr val="A365D1"/>
                  </a:solidFill>
                  <a:latin typeface="Consolas" panose="020B0609020204030204" pitchFamily="49" charset="0"/>
                </a:rPr>
                <a:t>postorder</a:t>
              </a:r>
              <a:r>
                <a:rPr lang="en-US" sz="1800" dirty="0">
                  <a:solidFill>
                    <a:srgbClr val="A365D1"/>
                  </a:solidFill>
                  <a:latin typeface="Consolas" panose="020B0609020204030204" pitchFamily="49" charset="0"/>
                </a:rPr>
                <a:t>(p-&gt;right);</a:t>
              </a:r>
              <a:endParaRPr lang="en-US" sz="1800" dirty="0">
                <a:solidFill>
                  <a:srgbClr val="A365D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rgbClr val="A365D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 err="1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</a:rPr>
                <a:t> &lt;&lt; p-&gt;value;</a:t>
              </a:r>
              <a:endParaRPr lang="en-US" sz="1800" dirty="0">
                <a:solidFill>
                  <a:srgbClr val="A365D1"/>
                </a:solidFill>
                <a:latin typeface="Consolas" panose="020B0609020204030204" pitchFamily="49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0436" y="1626502"/>
              <a:ext cx="5869374" cy="2308324"/>
              <a:chOff x="60436" y="1626502"/>
              <a:chExt cx="5869374" cy="2308324"/>
            </a:xfrm>
          </p:grpSpPr>
          <p:sp>
            <p:nvSpPr>
              <p:cNvPr id="36" name="Text Box 3"/>
              <p:cNvSpPr txBox="1">
                <a:spLocks noChangeArrowheads="1"/>
              </p:cNvSpPr>
              <p:nvPr/>
            </p:nvSpPr>
            <p:spPr bwMode="auto">
              <a:xfrm>
                <a:off x="60436" y="1626502"/>
                <a:ext cx="2926476" cy="2308324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void preorder(Node</a:t>
                </a:r>
                <a:r>
                  <a:rPr lang="en-US" sz="11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*p)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{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 if (p == </a:t>
                </a:r>
                <a:r>
                  <a:rPr lang="en-US" sz="1800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nullptr</a:t>
                </a:r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) 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   return;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  </a:t>
                </a:r>
                <a:r>
                  <a:rPr lang="en-US" sz="1800" dirty="0" err="1">
                    <a:solidFill>
                      <a:schemeClr val="accent5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cout</a:t>
                </a:r>
                <a:r>
                  <a:rPr lang="en-US" sz="1800" dirty="0">
                    <a:solidFill>
                      <a:schemeClr val="accent5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 &lt;&lt; p-&gt;value;</a:t>
                </a:r>
                <a:endParaRPr lang="en-US" sz="1800" dirty="0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  preorder(p-&gt;left);</a:t>
                </a:r>
                <a:endPara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  </a:t>
                </a:r>
                <a:r>
                  <a:rPr lang="en-US" sz="1800" dirty="0">
                    <a:solidFill>
                      <a:srgbClr val="A365D1"/>
                    </a:solidFill>
                    <a:latin typeface="Consolas" panose="020B0609020204030204" pitchFamily="49" charset="0"/>
                  </a:rPr>
                  <a:t>preorder(p-&gt;right);</a:t>
                </a:r>
                <a:endParaRPr lang="en-US" sz="1800" dirty="0">
                  <a:solidFill>
                    <a:srgbClr val="A365D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}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37" name="Text Box 3"/>
              <p:cNvSpPr txBox="1">
                <a:spLocks noChangeArrowheads="1"/>
              </p:cNvSpPr>
              <p:nvPr/>
            </p:nvSpPr>
            <p:spPr bwMode="auto">
              <a:xfrm>
                <a:off x="3087418" y="1626502"/>
                <a:ext cx="2842392" cy="2308324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void </a:t>
                </a:r>
                <a:r>
                  <a:rPr lang="en-US" sz="1800" dirty="0" err="1">
                    <a:solidFill>
                      <a:schemeClr val="tx1"/>
                    </a:solidFill>
                    <a:latin typeface="Consolas" panose="020B0609020204030204" pitchFamily="49" charset="0"/>
                  </a:rPr>
                  <a:t>inorder</a:t>
                </a:r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(Node</a:t>
                </a:r>
                <a:r>
                  <a:rPr lang="en-US" sz="11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*p)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{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 if (p == </a:t>
                </a:r>
                <a:r>
                  <a:rPr lang="en-US" sz="1800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nullptr</a:t>
                </a:r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) 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   return;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  </a:t>
                </a:r>
                <a:r>
                  <a:rPr lang="en-US" sz="1800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inorder</a:t>
                </a:r>
                <a:r>
                  <a:rPr lang="en-US" sz="1800" dirty="0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(p-&gt;left);</a:t>
                </a:r>
                <a:endPara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  </a:t>
                </a:r>
                <a:r>
                  <a:rPr lang="en-US" sz="1800" dirty="0" err="1">
                    <a:solidFill>
                      <a:schemeClr val="accent5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cout</a:t>
                </a:r>
                <a:r>
                  <a:rPr lang="en-US" sz="1800" dirty="0">
                    <a:solidFill>
                      <a:schemeClr val="accent5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 &lt;&lt; p-&gt;value;</a:t>
                </a:r>
                <a:endParaRPr lang="en-US" sz="1800" dirty="0">
                  <a:solidFill>
                    <a:schemeClr val="accent2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  </a:t>
                </a:r>
                <a:r>
                  <a:rPr lang="en-US" sz="1800" dirty="0" err="1">
                    <a:solidFill>
                      <a:srgbClr val="A365D1"/>
                    </a:solidFill>
                    <a:latin typeface="Consolas" panose="020B0609020204030204" pitchFamily="49" charset="0"/>
                  </a:rPr>
                  <a:t>inorder</a:t>
                </a:r>
                <a:r>
                  <a:rPr lang="en-US" sz="1800" dirty="0">
                    <a:solidFill>
                      <a:srgbClr val="A365D1"/>
                    </a:solidFill>
                    <a:latin typeface="Consolas" panose="020B0609020204030204" pitchFamily="49" charset="0"/>
                  </a:rPr>
                  <a:t>(p-&gt;right);</a:t>
                </a:r>
                <a:endParaRPr lang="en-US" sz="1800" dirty="0">
                  <a:solidFill>
                    <a:srgbClr val="A365D1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}</a:t>
                </a:r>
                <a:endParaRPr lang="en-US" sz="1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393664" y="4314114"/>
            <a:ext cx="8380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Notice that the only difference is placement of the </a:t>
            </a:r>
            <a:r>
              <a:rPr lang="en-US" sz="2000" dirty="0">
                <a:solidFill>
                  <a:srgbClr val="00B050"/>
                </a:solidFill>
                <a:cs typeface="Courier New" panose="02070409020205090404" pitchFamily="49" charset="0"/>
              </a:rPr>
              <a:t>processing step</a:t>
            </a:r>
            <a:r>
              <a:rPr lang="en-US" sz="2000" dirty="0">
                <a:cs typeface="Courier New" panose="02070409020205090404" pitchFamily="49" charset="0"/>
              </a:rPr>
              <a:t>! 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13997" y="2780664"/>
            <a:ext cx="2276803" cy="267336"/>
          </a:xfrm>
          <a:prstGeom prst="rect">
            <a:avLst/>
          </a:pr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00B050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3363311" y="3067071"/>
            <a:ext cx="2276803" cy="267336"/>
          </a:xfrm>
          <a:prstGeom prst="rect">
            <a:avLst/>
          </a:pr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00B050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6325915" y="3353478"/>
            <a:ext cx="2276803" cy="267336"/>
          </a:xfrm>
          <a:prstGeom prst="rect">
            <a:avLst/>
          </a:pr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00B050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9" name="Text Box 3"/>
          <p:cNvSpPr txBox="1">
            <a:spLocks noChangeArrowheads="1"/>
          </p:cNvSpPr>
          <p:nvPr/>
        </p:nvSpPr>
        <p:spPr bwMode="auto">
          <a:xfrm>
            <a:off x="393664" y="4947680"/>
            <a:ext cx="838041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But </a:t>
            </a:r>
            <a:r>
              <a:rPr lang="en-US" sz="2000">
                <a:cs typeface="Courier New" panose="02070409020205090404" pitchFamily="49" charset="0"/>
              </a:rPr>
              <a:t>that small change </a:t>
            </a:r>
            <a:r>
              <a:rPr lang="en-US" sz="2000" dirty="0">
                <a:cs typeface="Courier New" panose="02070409020205090404" pitchFamily="49" charset="0"/>
              </a:rPr>
              <a:t>results in major differences in the order the nodes are processed!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401364" y="5796121"/>
            <a:ext cx="8380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cs typeface="Courier New" panose="02070409020205090404" pitchFamily="49" charset="0"/>
              </a:rPr>
              <a:t>Ok, let's trace through our </a:t>
            </a:r>
            <a:r>
              <a:rPr lang="en-US" sz="2000" dirty="0">
                <a:solidFill>
                  <a:srgbClr val="00B0F0"/>
                </a:solidFill>
                <a:cs typeface="Courier New" panose="02070409020205090404" pitchFamily="49" charset="0"/>
              </a:rPr>
              <a:t>pre-order</a:t>
            </a:r>
            <a:r>
              <a:rPr lang="en-US" sz="2000" dirty="0">
                <a:cs typeface="Courier New" panose="02070409020205090404" pitchFamily="49" charset="0"/>
              </a:rPr>
              <a:t> traversal!</a:t>
            </a:r>
            <a:endParaRPr lang="en-US" sz="2000" dirty="0">
              <a:cs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0135F-B13F-4A19-A982-047C9F045D04}" type="slidenum">
              <a:rPr lang="en-US"/>
            </a:fld>
            <a:endParaRPr lang="en-US"/>
          </a:p>
        </p:txBody>
      </p:sp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130175" y="41148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6754813" y="4435475"/>
            <a:ext cx="2317750" cy="222885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main()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Node *root;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…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preorder(root);</a:t>
            </a:r>
            <a:endParaRPr lang="en-US" sz="2000" dirty="0"/>
          </a:p>
          <a:p>
            <a:r>
              <a:rPr lang="en-US" sz="2000" dirty="0"/>
              <a:t>}</a:t>
            </a:r>
            <a:endParaRPr lang="en-US" sz="2000" dirty="0"/>
          </a:p>
        </p:txBody>
      </p:sp>
      <p:sp>
        <p:nvSpPr>
          <p:cNvPr id="599044" name="Line 4"/>
          <p:cNvSpPr>
            <a:spLocks noChangeShapeType="1"/>
          </p:cNvSpPr>
          <p:nvPr/>
        </p:nvSpPr>
        <p:spPr bwMode="auto">
          <a:xfrm>
            <a:off x="6732588" y="522128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99046" name="Group 6"/>
          <p:cNvGrpSpPr/>
          <p:nvPr/>
        </p:nvGrpSpPr>
        <p:grpSpPr bwMode="auto">
          <a:xfrm>
            <a:off x="5437188" y="155575"/>
            <a:ext cx="3722688" cy="2892425"/>
            <a:chOff x="3425" y="509"/>
            <a:chExt cx="2345" cy="1822"/>
          </a:xfrm>
        </p:grpSpPr>
        <p:grpSp>
          <p:nvGrpSpPr>
            <p:cNvPr id="599047" name="Group 7"/>
            <p:cNvGrpSpPr/>
            <p:nvPr/>
          </p:nvGrpSpPr>
          <p:grpSpPr bwMode="auto">
            <a:xfrm>
              <a:off x="3425" y="672"/>
              <a:ext cx="2170" cy="1659"/>
              <a:chOff x="3362" y="693"/>
              <a:chExt cx="2170" cy="1659"/>
            </a:xfrm>
          </p:grpSpPr>
          <p:grpSp>
            <p:nvGrpSpPr>
              <p:cNvPr id="599048" name="Group 8"/>
              <p:cNvGrpSpPr/>
              <p:nvPr/>
            </p:nvGrpSpPr>
            <p:grpSpPr bwMode="auto">
              <a:xfrm>
                <a:off x="3917" y="1327"/>
                <a:ext cx="499" cy="373"/>
                <a:chOff x="3511" y="3072"/>
                <a:chExt cx="729" cy="624"/>
              </a:xfrm>
            </p:grpSpPr>
            <p:sp>
              <p:nvSpPr>
                <p:cNvPr id="599049" name="Rectangle 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50" name="Rectangle 1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51" name="Rectangle 1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52" name="Rectangle 1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9053" name="Group 13"/>
              <p:cNvGrpSpPr/>
              <p:nvPr/>
            </p:nvGrpSpPr>
            <p:grpSpPr bwMode="auto">
              <a:xfrm>
                <a:off x="4515" y="693"/>
                <a:ext cx="499" cy="373"/>
                <a:chOff x="3511" y="3072"/>
                <a:chExt cx="729" cy="624"/>
              </a:xfrm>
            </p:grpSpPr>
            <p:sp>
              <p:nvSpPr>
                <p:cNvPr id="599054" name="Rectangle 14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55" name="Rectangle 15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56" name="Rectangle 16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57" name="Rectangle 17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9058" name="Group 18"/>
              <p:cNvGrpSpPr/>
              <p:nvPr/>
            </p:nvGrpSpPr>
            <p:grpSpPr bwMode="auto">
              <a:xfrm>
                <a:off x="5002" y="1327"/>
                <a:ext cx="498" cy="373"/>
                <a:chOff x="3511" y="3072"/>
                <a:chExt cx="729" cy="624"/>
              </a:xfrm>
            </p:grpSpPr>
            <p:sp>
              <p:nvSpPr>
                <p:cNvPr id="599059" name="Rectangle 1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60" name="Rectangle 2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61" name="Rectangle 2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62" name="Rectangle 2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99063" name="Line 23"/>
              <p:cNvSpPr>
                <a:spLocks noChangeShapeType="1"/>
              </p:cNvSpPr>
              <p:nvPr/>
            </p:nvSpPr>
            <p:spPr bwMode="auto">
              <a:xfrm flipH="1">
                <a:off x="4216" y="992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9064" name="Line 24"/>
              <p:cNvSpPr>
                <a:spLocks noChangeShapeType="1"/>
              </p:cNvSpPr>
              <p:nvPr/>
            </p:nvSpPr>
            <p:spPr bwMode="auto">
              <a:xfrm>
                <a:off x="4883" y="991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9065" name="Text Box 25"/>
              <p:cNvSpPr txBox="1">
                <a:spLocks noChangeArrowheads="1"/>
              </p:cNvSpPr>
              <p:nvPr/>
            </p:nvSpPr>
            <p:spPr bwMode="auto">
              <a:xfrm>
                <a:off x="4986" y="157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599066" name="Text Box 26"/>
              <p:cNvSpPr txBox="1">
                <a:spLocks noChangeArrowheads="1"/>
              </p:cNvSpPr>
              <p:nvPr/>
            </p:nvSpPr>
            <p:spPr bwMode="auto">
              <a:xfrm>
                <a:off x="4379" y="704"/>
                <a:ext cx="6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"USC"</a:t>
                </a:r>
                <a:endParaRPr lang="en-US" sz="1800" dirty="0"/>
              </a:p>
            </p:txBody>
          </p:sp>
          <p:sp>
            <p:nvSpPr>
              <p:cNvPr id="599067" name="Text Box 27"/>
              <p:cNvSpPr txBox="1">
                <a:spLocks noChangeArrowheads="1"/>
              </p:cNvSpPr>
              <p:nvPr/>
            </p:nvSpPr>
            <p:spPr bwMode="auto">
              <a:xfrm>
                <a:off x="3826" y="1341"/>
                <a:ext cx="6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"kids"</a:t>
                </a:r>
                <a:endParaRPr lang="en-US" sz="1800" dirty="0"/>
              </a:p>
            </p:txBody>
          </p:sp>
          <p:sp>
            <p:nvSpPr>
              <p:cNvPr id="599068" name="Text Box 28"/>
              <p:cNvSpPr txBox="1">
                <a:spLocks noChangeArrowheads="1"/>
              </p:cNvSpPr>
              <p:nvPr/>
            </p:nvSpPr>
            <p:spPr bwMode="auto">
              <a:xfrm>
                <a:off x="4825" y="1338"/>
                <a:ext cx="6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"clue"</a:t>
                </a:r>
                <a:endParaRPr lang="en-US" sz="1800" dirty="0"/>
              </a:p>
            </p:txBody>
          </p:sp>
          <p:sp>
            <p:nvSpPr>
              <p:cNvPr id="599069" name="Text Box 29"/>
              <p:cNvSpPr txBox="1">
                <a:spLocks noChangeArrowheads="1"/>
              </p:cNvSpPr>
              <p:nvPr/>
            </p:nvSpPr>
            <p:spPr bwMode="auto">
              <a:xfrm>
                <a:off x="5204" y="156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599070" name="Line 30"/>
              <p:cNvSpPr>
                <a:spLocks noChangeShapeType="1"/>
              </p:cNvSpPr>
              <p:nvPr/>
            </p:nvSpPr>
            <p:spPr bwMode="auto">
              <a:xfrm flipH="1">
                <a:off x="3698" y="1634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99071" name="Group 31"/>
              <p:cNvGrpSpPr/>
              <p:nvPr/>
            </p:nvGrpSpPr>
            <p:grpSpPr bwMode="auto">
              <a:xfrm>
                <a:off x="3518" y="1960"/>
                <a:ext cx="499" cy="373"/>
                <a:chOff x="3511" y="3072"/>
                <a:chExt cx="729" cy="624"/>
              </a:xfrm>
            </p:grpSpPr>
            <p:sp>
              <p:nvSpPr>
                <p:cNvPr id="599072" name="Rectangle 3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73" name="Rectangle 3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74" name="Rectangle 3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75" name="Rectangle 3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99076" name="Text Box 36"/>
              <p:cNvSpPr txBox="1">
                <a:spLocks noChangeArrowheads="1"/>
              </p:cNvSpPr>
              <p:nvPr/>
            </p:nvSpPr>
            <p:spPr bwMode="auto">
              <a:xfrm>
                <a:off x="3362" y="1976"/>
                <a:ext cx="6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"have"</a:t>
                </a:r>
                <a:endParaRPr lang="en-US" sz="1800" dirty="0"/>
              </a:p>
            </p:txBody>
          </p:sp>
          <p:sp>
            <p:nvSpPr>
              <p:cNvPr id="599077" name="Text Box 37"/>
              <p:cNvSpPr txBox="1">
                <a:spLocks noChangeArrowheads="1"/>
              </p:cNvSpPr>
              <p:nvPr/>
            </p:nvSpPr>
            <p:spPr bwMode="auto">
              <a:xfrm>
                <a:off x="3489" y="2183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599078" name="Text Box 38"/>
              <p:cNvSpPr txBox="1">
                <a:spLocks noChangeArrowheads="1"/>
              </p:cNvSpPr>
              <p:nvPr/>
            </p:nvSpPr>
            <p:spPr bwMode="auto">
              <a:xfrm>
                <a:off x="3726" y="2192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grpSp>
            <p:nvGrpSpPr>
              <p:cNvPr id="599079" name="Group 39"/>
              <p:cNvGrpSpPr/>
              <p:nvPr/>
            </p:nvGrpSpPr>
            <p:grpSpPr bwMode="auto">
              <a:xfrm>
                <a:off x="4414" y="1954"/>
                <a:ext cx="498" cy="373"/>
                <a:chOff x="3511" y="3072"/>
                <a:chExt cx="729" cy="624"/>
              </a:xfrm>
            </p:grpSpPr>
            <p:sp>
              <p:nvSpPr>
                <p:cNvPr id="599080" name="Rectangle 40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81" name="Rectangle 41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82" name="Rectangle 42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083" name="Rectangle 43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99084" name="Line 44"/>
              <p:cNvSpPr>
                <a:spLocks noChangeShapeType="1"/>
              </p:cNvSpPr>
              <p:nvPr/>
            </p:nvSpPr>
            <p:spPr bwMode="auto">
              <a:xfrm>
                <a:off x="4295" y="1618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9085" name="Text Box 45"/>
              <p:cNvSpPr txBox="1">
                <a:spLocks noChangeArrowheads="1"/>
              </p:cNvSpPr>
              <p:nvPr/>
            </p:nvSpPr>
            <p:spPr bwMode="auto">
              <a:xfrm>
                <a:off x="4398" y="219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599086" name="Text Box 46"/>
              <p:cNvSpPr txBox="1">
                <a:spLocks noChangeArrowheads="1"/>
              </p:cNvSpPr>
              <p:nvPr/>
            </p:nvSpPr>
            <p:spPr bwMode="auto">
              <a:xfrm>
                <a:off x="4297" y="1958"/>
                <a:ext cx="5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"no"</a:t>
                </a:r>
                <a:endParaRPr lang="en-US" sz="1800" dirty="0"/>
              </a:p>
            </p:txBody>
          </p:sp>
          <p:sp>
            <p:nvSpPr>
              <p:cNvPr id="599087" name="Text Box 47"/>
              <p:cNvSpPr txBox="1">
                <a:spLocks noChangeArrowheads="1"/>
              </p:cNvSpPr>
              <p:nvPr/>
            </p:nvSpPr>
            <p:spPr bwMode="auto">
              <a:xfrm>
                <a:off x="4616" y="218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599088" name="Rectangle 48"/>
            <p:cNvSpPr>
              <a:spLocks noChangeArrowheads="1"/>
            </p:cNvSpPr>
            <p:nvPr/>
          </p:nvSpPr>
          <p:spPr bwMode="auto">
            <a:xfrm>
              <a:off x="5206" y="509"/>
              <a:ext cx="472" cy="14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9089" name="Text Box 49"/>
            <p:cNvSpPr txBox="1">
              <a:spLocks noChangeArrowheads="1"/>
            </p:cNvSpPr>
            <p:nvPr/>
          </p:nvSpPr>
          <p:spPr bwMode="auto">
            <a:xfrm>
              <a:off x="5270" y="60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root</a:t>
              </a:r>
              <a:endParaRPr lang="en-US"/>
            </a:p>
          </p:txBody>
        </p:sp>
        <p:sp>
          <p:nvSpPr>
            <p:cNvPr id="599090" name="Line 50"/>
            <p:cNvSpPr>
              <a:spLocks noChangeShapeType="1"/>
            </p:cNvSpPr>
            <p:nvPr/>
          </p:nvSpPr>
          <p:spPr bwMode="auto">
            <a:xfrm flipH="1">
              <a:off x="5072" y="591"/>
              <a:ext cx="217" cy="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9093" name="Group 53"/>
          <p:cNvGrpSpPr/>
          <p:nvPr/>
        </p:nvGrpSpPr>
        <p:grpSpPr bwMode="auto">
          <a:xfrm>
            <a:off x="6303963" y="336550"/>
            <a:ext cx="927100" cy="457200"/>
            <a:chOff x="1240" y="1132"/>
            <a:chExt cx="584" cy="288"/>
          </a:xfrm>
        </p:grpSpPr>
        <p:sp>
          <p:nvSpPr>
            <p:cNvPr id="599094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9095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599098" name="Text Box 58"/>
          <p:cNvSpPr txBox="1">
            <a:spLocks noChangeArrowheads="1"/>
          </p:cNvSpPr>
          <p:nvPr/>
        </p:nvSpPr>
        <p:spPr bwMode="auto">
          <a:xfrm>
            <a:off x="228600" y="838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Output:</a:t>
            </a:r>
            <a:endParaRPr lang="en-US" dirty="0"/>
          </a:p>
        </p:txBody>
      </p:sp>
      <p:cxnSp>
        <p:nvCxnSpPr>
          <p:cNvPr id="139" name="Straight Arrow Connector 138"/>
          <p:cNvCxnSpPr/>
          <p:nvPr/>
        </p:nvCxnSpPr>
        <p:spPr bwMode="auto">
          <a:xfrm flipH="1">
            <a:off x="5997884" y="1915699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9099" name="Text Box 59"/>
          <p:cNvSpPr txBox="1">
            <a:spLocks noChangeArrowheads="1"/>
          </p:cNvSpPr>
          <p:nvPr/>
        </p:nvSpPr>
        <p:spPr bwMode="auto">
          <a:xfrm>
            <a:off x="7321036" y="418085"/>
            <a:ext cx="776206" cy="44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USC</a:t>
            </a:r>
            <a:endParaRPr lang="en-US" sz="2000" dirty="0">
              <a:solidFill>
                <a:srgbClr val="6600CC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6808304" y="889001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9112" name="Text Box 72"/>
          <p:cNvSpPr txBox="1">
            <a:spLocks noChangeArrowheads="1"/>
          </p:cNvSpPr>
          <p:nvPr/>
        </p:nvSpPr>
        <p:spPr bwMode="auto">
          <a:xfrm>
            <a:off x="6381518" y="1427714"/>
            <a:ext cx="6703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kids</a:t>
            </a:r>
            <a:endParaRPr lang="en-US" sz="2000" dirty="0">
              <a:solidFill>
                <a:srgbClr val="6600CC"/>
              </a:solidFill>
            </a:endParaRPr>
          </a:p>
        </p:txBody>
      </p:sp>
      <p:sp>
        <p:nvSpPr>
          <p:cNvPr id="599114" name="Rectangle 74"/>
          <p:cNvSpPr>
            <a:spLocks noGrp="1" noChangeArrowheads="1"/>
          </p:cNvSpPr>
          <p:nvPr>
            <p:ph type="title"/>
          </p:nvPr>
        </p:nvSpPr>
        <p:spPr>
          <a:xfrm>
            <a:off x="-990600" y="0"/>
            <a:ext cx="7772400" cy="1143000"/>
          </a:xfrm>
        </p:spPr>
        <p:txBody>
          <a:bodyPr/>
          <a:lstStyle/>
          <a:p>
            <a:r>
              <a:rPr lang="en-US" sz="3600" dirty="0"/>
              <a:t>The Pre-order Traversal</a:t>
            </a:r>
            <a:endParaRPr lang="en-US" sz="3600" dirty="0"/>
          </a:p>
        </p:txBody>
      </p:sp>
      <p:sp>
        <p:nvSpPr>
          <p:cNvPr id="599125" name="Text Box 85"/>
          <p:cNvSpPr txBox="1">
            <a:spLocks noChangeArrowheads="1"/>
          </p:cNvSpPr>
          <p:nvPr/>
        </p:nvSpPr>
        <p:spPr bwMode="auto">
          <a:xfrm>
            <a:off x="5721056" y="2420962"/>
            <a:ext cx="7296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have</a:t>
            </a:r>
            <a:endParaRPr lang="en-US" sz="2000" dirty="0">
              <a:solidFill>
                <a:srgbClr val="6600CC"/>
              </a:solidFill>
            </a:endParaRPr>
          </a:p>
        </p:txBody>
      </p:sp>
      <p:sp>
        <p:nvSpPr>
          <p:cNvPr id="95" name="Line 4"/>
          <p:cNvSpPr>
            <a:spLocks noChangeShapeType="1"/>
          </p:cNvSpPr>
          <p:nvPr/>
        </p:nvSpPr>
        <p:spPr bwMode="auto">
          <a:xfrm>
            <a:off x="6753454" y="5791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Line 4"/>
          <p:cNvSpPr>
            <a:spLocks noChangeShapeType="1"/>
          </p:cNvSpPr>
          <p:nvPr/>
        </p:nvSpPr>
        <p:spPr bwMode="auto">
          <a:xfrm>
            <a:off x="6783755" y="6172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Line 4"/>
          <p:cNvSpPr>
            <a:spLocks noChangeShapeType="1"/>
          </p:cNvSpPr>
          <p:nvPr/>
        </p:nvSpPr>
        <p:spPr bwMode="auto">
          <a:xfrm>
            <a:off x="-52042" y="429370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" name="Line 4"/>
          <p:cNvSpPr>
            <a:spLocks noChangeShapeType="1"/>
          </p:cNvSpPr>
          <p:nvPr/>
        </p:nvSpPr>
        <p:spPr bwMode="auto">
          <a:xfrm>
            <a:off x="178905" y="484698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Line 4"/>
          <p:cNvSpPr>
            <a:spLocks noChangeShapeType="1"/>
          </p:cNvSpPr>
          <p:nvPr/>
        </p:nvSpPr>
        <p:spPr bwMode="auto">
          <a:xfrm>
            <a:off x="178905" y="55499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Line 4"/>
          <p:cNvSpPr>
            <a:spLocks noChangeShapeType="1"/>
          </p:cNvSpPr>
          <p:nvPr/>
        </p:nvSpPr>
        <p:spPr bwMode="auto">
          <a:xfrm>
            <a:off x="168966" y="595353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Text Box 2"/>
          <p:cNvSpPr txBox="1">
            <a:spLocks noChangeArrowheads="1"/>
          </p:cNvSpPr>
          <p:nvPr/>
        </p:nvSpPr>
        <p:spPr bwMode="auto">
          <a:xfrm>
            <a:off x="273671" y="381994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102" name="Line 4"/>
          <p:cNvSpPr>
            <a:spLocks noChangeShapeType="1"/>
          </p:cNvSpPr>
          <p:nvPr/>
        </p:nvSpPr>
        <p:spPr bwMode="auto">
          <a:xfrm>
            <a:off x="76200" y="3985316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6299200" y="-76200"/>
            <a:ext cx="2773363" cy="1490663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04" name="Group 53"/>
          <p:cNvGrpSpPr/>
          <p:nvPr/>
        </p:nvGrpSpPr>
        <p:grpSpPr bwMode="auto">
          <a:xfrm>
            <a:off x="5372515" y="1301435"/>
            <a:ext cx="927100" cy="457200"/>
            <a:chOff x="1240" y="1132"/>
            <a:chExt cx="584" cy="288"/>
          </a:xfrm>
        </p:grpSpPr>
        <p:sp>
          <p:nvSpPr>
            <p:cNvPr id="105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07" name="Line 4"/>
          <p:cNvSpPr>
            <a:spLocks noChangeShapeType="1"/>
          </p:cNvSpPr>
          <p:nvPr/>
        </p:nvSpPr>
        <p:spPr bwMode="auto">
          <a:xfrm>
            <a:off x="334618" y="4535282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Line 4"/>
          <p:cNvSpPr>
            <a:spLocks noChangeShapeType="1"/>
          </p:cNvSpPr>
          <p:nvPr/>
        </p:nvSpPr>
        <p:spPr bwMode="auto">
          <a:xfrm>
            <a:off x="334618" y="52641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" name="Rectangle 109"/>
          <p:cNvSpPr/>
          <p:nvPr/>
        </p:nvSpPr>
        <p:spPr bwMode="auto">
          <a:xfrm>
            <a:off x="7772401" y="1421295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2" name="Line 4"/>
          <p:cNvSpPr>
            <a:spLocks noChangeShapeType="1"/>
          </p:cNvSpPr>
          <p:nvPr/>
        </p:nvSpPr>
        <p:spPr bwMode="auto">
          <a:xfrm>
            <a:off x="341245" y="565163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" name="Text Box 2"/>
          <p:cNvSpPr txBox="1">
            <a:spLocks noChangeArrowheads="1"/>
          </p:cNvSpPr>
          <p:nvPr/>
        </p:nvSpPr>
        <p:spPr bwMode="auto">
          <a:xfrm>
            <a:off x="470659" y="35814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114" name="Line 4"/>
          <p:cNvSpPr>
            <a:spLocks noChangeShapeType="1"/>
          </p:cNvSpPr>
          <p:nvPr/>
        </p:nvSpPr>
        <p:spPr bwMode="auto">
          <a:xfrm>
            <a:off x="294861" y="378018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Rectangle 114"/>
          <p:cNvSpPr/>
          <p:nvPr/>
        </p:nvSpPr>
        <p:spPr bwMode="auto">
          <a:xfrm>
            <a:off x="5348840" y="1415636"/>
            <a:ext cx="2283848" cy="1000126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6822040" y="2412655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17" name="Group 53"/>
          <p:cNvGrpSpPr/>
          <p:nvPr/>
        </p:nvGrpSpPr>
        <p:grpSpPr bwMode="auto">
          <a:xfrm>
            <a:off x="4757738" y="2306323"/>
            <a:ext cx="927100" cy="457200"/>
            <a:chOff x="1240" y="1132"/>
            <a:chExt cx="584" cy="288"/>
          </a:xfrm>
        </p:grpSpPr>
        <p:sp>
          <p:nvSpPr>
            <p:cNvPr id="118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20" name="Line 4"/>
          <p:cNvSpPr>
            <a:spLocks noChangeShapeType="1"/>
          </p:cNvSpPr>
          <p:nvPr/>
        </p:nvSpPr>
        <p:spPr bwMode="auto">
          <a:xfrm>
            <a:off x="509588" y="430364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" name="Line 4"/>
          <p:cNvSpPr>
            <a:spLocks noChangeShapeType="1"/>
          </p:cNvSpPr>
          <p:nvPr/>
        </p:nvSpPr>
        <p:spPr bwMode="auto">
          <a:xfrm>
            <a:off x="499856" y="5029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" name="Line 4"/>
          <p:cNvSpPr>
            <a:spLocks noChangeShapeType="1"/>
          </p:cNvSpPr>
          <p:nvPr/>
        </p:nvSpPr>
        <p:spPr bwMode="auto">
          <a:xfrm>
            <a:off x="509590" y="54133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" name="Text Box 2"/>
          <p:cNvSpPr txBox="1">
            <a:spLocks noChangeArrowheads="1"/>
          </p:cNvSpPr>
          <p:nvPr/>
        </p:nvSpPr>
        <p:spPr bwMode="auto">
          <a:xfrm>
            <a:off x="663575" y="334645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125" name="Line 4"/>
          <p:cNvSpPr>
            <a:spLocks noChangeShapeType="1"/>
          </p:cNvSpPr>
          <p:nvPr/>
        </p:nvSpPr>
        <p:spPr bwMode="auto">
          <a:xfrm>
            <a:off x="467141" y="354267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73028" y="2149856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nullptr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27" name="Group 53"/>
          <p:cNvGrpSpPr/>
          <p:nvPr/>
        </p:nvGrpSpPr>
        <p:grpSpPr bwMode="auto">
          <a:xfrm>
            <a:off x="2084241" y="2139780"/>
            <a:ext cx="927100" cy="457200"/>
            <a:chOff x="1240" y="1132"/>
            <a:chExt cx="584" cy="288"/>
          </a:xfrm>
        </p:grpSpPr>
        <p:sp>
          <p:nvSpPr>
            <p:cNvPr id="128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31" name="Line 4"/>
          <p:cNvSpPr>
            <a:spLocks noChangeShapeType="1"/>
          </p:cNvSpPr>
          <p:nvPr/>
        </p:nvSpPr>
        <p:spPr bwMode="auto">
          <a:xfrm>
            <a:off x="712374" y="406282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" name="Line 4"/>
          <p:cNvSpPr>
            <a:spLocks noChangeShapeType="1"/>
          </p:cNvSpPr>
          <p:nvPr/>
        </p:nvSpPr>
        <p:spPr bwMode="auto">
          <a:xfrm>
            <a:off x="1060658" y="435699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0" name="Straight Arrow Connector 139"/>
          <p:cNvCxnSpPr/>
          <p:nvPr/>
        </p:nvCxnSpPr>
        <p:spPr bwMode="auto">
          <a:xfrm flipH="1">
            <a:off x="5536096" y="2863752"/>
            <a:ext cx="434492" cy="47579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Rectangle 129"/>
          <p:cNvSpPr/>
          <p:nvPr/>
        </p:nvSpPr>
        <p:spPr bwMode="auto">
          <a:xfrm>
            <a:off x="4355618" y="2425700"/>
            <a:ext cx="2327744" cy="913848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3" name="AutoShape 31"/>
          <p:cNvSpPr>
            <a:spLocks noChangeArrowheads="1"/>
          </p:cNvSpPr>
          <p:nvPr/>
        </p:nvSpPr>
        <p:spPr bwMode="auto">
          <a:xfrm>
            <a:off x="4267200" y="2553623"/>
            <a:ext cx="4230687" cy="2346278"/>
          </a:xfrm>
          <a:prstGeom prst="wedgeRoundRectCallout">
            <a:avLst>
              <a:gd name="adj1" fmla="val -98452"/>
              <a:gd name="adj2" fmla="val 45569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lang="en-US" dirty="0"/>
              <a:t>Our base case checks to see if </a:t>
            </a:r>
            <a:r>
              <a:rPr lang="en-US" dirty="0">
                <a:solidFill>
                  <a:srgbClr val="FF0000"/>
                </a:solidFill>
              </a:rPr>
              <a:t>cur</a:t>
            </a:r>
            <a:r>
              <a:rPr lang="en-US" dirty="0"/>
              <a:t> points at an </a:t>
            </a:r>
            <a:r>
              <a:rPr lang="en-US" dirty="0">
                <a:solidFill>
                  <a:srgbClr val="FF0000"/>
                </a:solidFill>
              </a:rPr>
              <a:t>empty sub-tree</a:t>
            </a:r>
            <a:r>
              <a:rPr lang="en-US" dirty="0"/>
              <a:t>.</a:t>
            </a:r>
            <a:endParaRPr lang="en-US" dirty="0"/>
          </a:p>
          <a:p>
            <a:pPr algn="ctr"/>
            <a:endParaRPr lang="en-US" sz="1800" dirty="0"/>
          </a:p>
          <a:p>
            <a:pPr algn="ctr"/>
            <a:r>
              <a:rPr lang="en-US" dirty="0"/>
              <a:t>If so, there’s nothing to process and </a:t>
            </a:r>
            <a:r>
              <a:rPr lang="en-US" dirty="0">
                <a:solidFill>
                  <a:srgbClr val="FF0000"/>
                </a:solidFill>
              </a:rPr>
              <a:t>we’re done</a:t>
            </a:r>
            <a:r>
              <a:rPr lang="en-US" dirty="0"/>
              <a:t>!</a:t>
            </a:r>
            <a:endParaRPr lang="en-US" dirty="0"/>
          </a:p>
        </p:txBody>
      </p:sp>
      <p:sp>
        <p:nvSpPr>
          <p:cNvPr id="109" name="AutoShape 31"/>
          <p:cNvSpPr>
            <a:spLocks noChangeArrowheads="1"/>
          </p:cNvSpPr>
          <p:nvPr/>
        </p:nvSpPr>
        <p:spPr bwMode="auto">
          <a:xfrm>
            <a:off x="3670301" y="3451643"/>
            <a:ext cx="4230687" cy="1653757"/>
          </a:xfrm>
          <a:prstGeom prst="wedgeRoundRectCallout">
            <a:avLst>
              <a:gd name="adj1" fmla="val -92230"/>
              <a:gd name="adj2" fmla="val 72377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lang="en-US" dirty="0"/>
              <a:t>Otherwise we </a:t>
            </a:r>
            <a:r>
              <a:rPr lang="en-US" dirty="0">
                <a:solidFill>
                  <a:srgbClr val="00B050"/>
                </a:solidFill>
              </a:rPr>
              <a:t>“process” </a:t>
            </a:r>
            <a:r>
              <a:rPr lang="en-US" dirty="0"/>
              <a:t>the value in the current node…</a:t>
            </a:r>
            <a:endParaRPr lang="en-US" dirty="0"/>
          </a:p>
        </p:txBody>
      </p:sp>
      <p:sp>
        <p:nvSpPr>
          <p:cNvPr id="122" name="Oval 53"/>
          <p:cNvSpPr>
            <a:spLocks noChangeArrowheads="1"/>
          </p:cNvSpPr>
          <p:nvPr/>
        </p:nvSpPr>
        <p:spPr bwMode="auto">
          <a:xfrm>
            <a:off x="5376550" y="1219200"/>
            <a:ext cx="2728360" cy="2362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9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9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9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9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9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44444E-6 L -0.76198 0.13194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5990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108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2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48148E-6 L -0.59219 -0.01458 " pathEditMode="relative" rAng="0" ptsTypes="AA">
                                      <p:cBhvr>
                                        <p:cTn id="160" dur="2000" fill="hold"/>
                                        <p:tgtEl>
                                          <p:spTgt spid="599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18" y="-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83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07407E-6 L -0.45885 -0.16065 " pathEditMode="relative" rAng="0" ptsTypes="AA">
                                      <p:cBhvr>
                                        <p:cTn id="222" dur="2000" fill="hold"/>
                                        <p:tgtEl>
                                          <p:spTgt spid="599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51" y="-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24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2" grpId="0" animBg="1"/>
      <p:bldP spid="599044" grpId="0" animBg="1"/>
      <p:bldP spid="599044" grpId="1" animBg="1"/>
      <p:bldP spid="599099" grpId="0"/>
      <p:bldP spid="599099" grpId="1"/>
      <p:bldP spid="599112" grpId="0"/>
      <p:bldP spid="599112" grpId="1"/>
      <p:bldP spid="599125" grpId="0"/>
      <p:bldP spid="599125" grpId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1" grpId="0" animBg="1"/>
      <p:bldP spid="102" grpId="0" animBg="1"/>
      <p:bldP spid="102" grpId="1" animBg="1"/>
      <p:bldP spid="2" grpId="0" animBg="1"/>
      <p:bldP spid="107" grpId="0" animBg="1"/>
      <p:bldP spid="107" grpId="1" animBg="1"/>
      <p:bldP spid="108" grpId="0" animBg="1"/>
      <p:bldP spid="108" grpId="1" animBg="1"/>
      <p:bldP spid="110" grpId="0" animBg="1"/>
      <p:bldP spid="112" grpId="0" animBg="1"/>
      <p:bldP spid="113" grpId="0" animBg="1"/>
      <p:bldP spid="114" grpId="0" animBg="1"/>
      <p:bldP spid="114" grpId="1" animBg="1"/>
      <p:bldP spid="115" grpId="0" animBg="1"/>
      <p:bldP spid="116" grpId="0" animBg="1"/>
      <p:bldP spid="120" grpId="0" animBg="1"/>
      <p:bldP spid="120" grpId="1" animBg="1"/>
      <p:bldP spid="121" grpId="0" animBg="1"/>
      <p:bldP spid="121" grpId="1" animBg="1"/>
      <p:bldP spid="123" grpId="0" animBg="1"/>
      <p:bldP spid="124" grpId="0" animBg="1"/>
      <p:bldP spid="125" grpId="0" animBg="1"/>
      <p:bldP spid="125" grpId="1" animBg="1"/>
      <p:bldP spid="3" grpId="0"/>
      <p:bldP spid="131" grpId="0" animBg="1"/>
      <p:bldP spid="131" grpId="1" animBg="1"/>
      <p:bldP spid="132" grpId="0" animBg="1"/>
      <p:bldP spid="132" grpId="1" animBg="1"/>
      <p:bldP spid="130" grpId="0" animBg="1"/>
      <p:bldP spid="103" grpId="0" animBg="1"/>
      <p:bldP spid="103" grpId="1" animBg="1"/>
      <p:bldP spid="109" grpId="0" animBg="1"/>
      <p:bldP spid="109" grpId="1" animBg="1"/>
      <p:bldP spid="122" grpId="0" animBg="1"/>
      <p:bldP spid="12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6"/>
          <p:cNvGrpSpPr/>
          <p:nvPr/>
        </p:nvGrpSpPr>
        <p:grpSpPr bwMode="auto">
          <a:xfrm>
            <a:off x="5437188" y="155575"/>
            <a:ext cx="3722688" cy="2892425"/>
            <a:chOff x="3425" y="509"/>
            <a:chExt cx="2345" cy="1822"/>
          </a:xfrm>
        </p:grpSpPr>
        <p:grpSp>
          <p:nvGrpSpPr>
            <p:cNvPr id="93" name="Group 7"/>
            <p:cNvGrpSpPr/>
            <p:nvPr/>
          </p:nvGrpSpPr>
          <p:grpSpPr bwMode="auto">
            <a:xfrm>
              <a:off x="3425" y="672"/>
              <a:ext cx="2170" cy="1659"/>
              <a:chOff x="3362" y="693"/>
              <a:chExt cx="2170" cy="1659"/>
            </a:xfrm>
          </p:grpSpPr>
          <p:grpSp>
            <p:nvGrpSpPr>
              <p:cNvPr id="98" name="Group 8"/>
              <p:cNvGrpSpPr/>
              <p:nvPr/>
            </p:nvGrpSpPr>
            <p:grpSpPr bwMode="auto">
              <a:xfrm>
                <a:off x="3917" y="1327"/>
                <a:ext cx="499" cy="373"/>
                <a:chOff x="3511" y="3072"/>
                <a:chExt cx="729" cy="624"/>
              </a:xfrm>
            </p:grpSpPr>
            <p:sp>
              <p:nvSpPr>
                <p:cNvPr id="162" name="Rectangle 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3" name="Rectangle 1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" name="Rectangle 1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" name="Rectangle 1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" name="Group 13"/>
              <p:cNvGrpSpPr/>
              <p:nvPr/>
            </p:nvGrpSpPr>
            <p:grpSpPr bwMode="auto">
              <a:xfrm>
                <a:off x="4515" y="693"/>
                <a:ext cx="499" cy="373"/>
                <a:chOff x="3511" y="3072"/>
                <a:chExt cx="729" cy="624"/>
              </a:xfrm>
            </p:grpSpPr>
            <p:sp>
              <p:nvSpPr>
                <p:cNvPr id="158" name="Rectangle 14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9" name="Rectangle 15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0" name="Rectangle 16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1" name="Rectangle 17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2" name="Group 18"/>
              <p:cNvGrpSpPr/>
              <p:nvPr/>
            </p:nvGrpSpPr>
            <p:grpSpPr bwMode="auto">
              <a:xfrm>
                <a:off x="5002" y="1327"/>
                <a:ext cx="498" cy="373"/>
                <a:chOff x="3511" y="3072"/>
                <a:chExt cx="729" cy="624"/>
              </a:xfrm>
            </p:grpSpPr>
            <p:sp>
              <p:nvSpPr>
                <p:cNvPr id="154" name="Rectangle 1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" name="Rectangle 2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" name="Rectangle 2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7" name="Rectangle 2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3" name="Line 23"/>
              <p:cNvSpPr>
                <a:spLocks noChangeShapeType="1"/>
              </p:cNvSpPr>
              <p:nvPr/>
            </p:nvSpPr>
            <p:spPr bwMode="auto">
              <a:xfrm flipH="1">
                <a:off x="4216" y="992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Line 24"/>
              <p:cNvSpPr>
                <a:spLocks noChangeShapeType="1"/>
              </p:cNvSpPr>
              <p:nvPr/>
            </p:nvSpPr>
            <p:spPr bwMode="auto">
              <a:xfrm>
                <a:off x="4883" y="991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Text Box 25"/>
              <p:cNvSpPr txBox="1">
                <a:spLocks noChangeArrowheads="1"/>
              </p:cNvSpPr>
              <p:nvPr/>
            </p:nvSpPr>
            <p:spPr bwMode="auto">
              <a:xfrm>
                <a:off x="4986" y="157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11" name="Text Box 26"/>
              <p:cNvSpPr txBox="1">
                <a:spLocks noChangeArrowheads="1"/>
              </p:cNvSpPr>
              <p:nvPr/>
            </p:nvSpPr>
            <p:spPr bwMode="auto">
              <a:xfrm>
                <a:off x="4379" y="704"/>
                <a:ext cx="6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"USC"</a:t>
                </a:r>
                <a:endParaRPr lang="en-US" sz="1800" dirty="0"/>
              </a:p>
            </p:txBody>
          </p:sp>
          <p:sp>
            <p:nvSpPr>
              <p:cNvPr id="114" name="Text Box 27"/>
              <p:cNvSpPr txBox="1">
                <a:spLocks noChangeArrowheads="1"/>
              </p:cNvSpPr>
              <p:nvPr/>
            </p:nvSpPr>
            <p:spPr bwMode="auto">
              <a:xfrm>
                <a:off x="3826" y="1341"/>
                <a:ext cx="6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"kids"</a:t>
                </a:r>
                <a:endParaRPr lang="en-US" sz="1800" dirty="0"/>
              </a:p>
            </p:txBody>
          </p:sp>
          <p:sp>
            <p:nvSpPr>
              <p:cNvPr id="120" name="Text Box 28"/>
              <p:cNvSpPr txBox="1">
                <a:spLocks noChangeArrowheads="1"/>
              </p:cNvSpPr>
              <p:nvPr/>
            </p:nvSpPr>
            <p:spPr bwMode="auto">
              <a:xfrm>
                <a:off x="4825" y="1338"/>
                <a:ext cx="6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"clue"</a:t>
                </a:r>
                <a:endParaRPr lang="en-US" sz="1800" dirty="0"/>
              </a:p>
            </p:txBody>
          </p:sp>
          <p:sp>
            <p:nvSpPr>
              <p:cNvPr id="121" name="Text Box 29"/>
              <p:cNvSpPr txBox="1">
                <a:spLocks noChangeArrowheads="1"/>
              </p:cNvSpPr>
              <p:nvPr/>
            </p:nvSpPr>
            <p:spPr bwMode="auto">
              <a:xfrm>
                <a:off x="5204" y="156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4" name="Line 30"/>
              <p:cNvSpPr>
                <a:spLocks noChangeShapeType="1"/>
              </p:cNvSpPr>
              <p:nvPr/>
            </p:nvSpPr>
            <p:spPr bwMode="auto">
              <a:xfrm flipH="1">
                <a:off x="3698" y="1634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5" name="Group 31"/>
              <p:cNvGrpSpPr/>
              <p:nvPr/>
            </p:nvGrpSpPr>
            <p:grpSpPr bwMode="auto">
              <a:xfrm>
                <a:off x="3518" y="1960"/>
                <a:ext cx="499" cy="373"/>
                <a:chOff x="3511" y="3072"/>
                <a:chExt cx="729" cy="624"/>
              </a:xfrm>
            </p:grpSpPr>
            <p:sp>
              <p:nvSpPr>
                <p:cNvPr id="150" name="Rectangle 3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1" name="Rectangle 3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2" name="Rectangle 3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" name="Rectangle 3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6" name="Text Box 36"/>
              <p:cNvSpPr txBox="1">
                <a:spLocks noChangeArrowheads="1"/>
              </p:cNvSpPr>
              <p:nvPr/>
            </p:nvSpPr>
            <p:spPr bwMode="auto">
              <a:xfrm>
                <a:off x="3362" y="1976"/>
                <a:ext cx="6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"have"</a:t>
                </a:r>
                <a:endParaRPr lang="en-US" sz="1800" dirty="0"/>
              </a:p>
            </p:txBody>
          </p:sp>
          <p:sp>
            <p:nvSpPr>
              <p:cNvPr id="127" name="Text Box 37"/>
              <p:cNvSpPr txBox="1">
                <a:spLocks noChangeArrowheads="1"/>
              </p:cNvSpPr>
              <p:nvPr/>
            </p:nvSpPr>
            <p:spPr bwMode="auto">
              <a:xfrm>
                <a:off x="3489" y="2183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8" name="Text Box 38"/>
              <p:cNvSpPr txBox="1">
                <a:spLocks noChangeArrowheads="1"/>
              </p:cNvSpPr>
              <p:nvPr/>
            </p:nvSpPr>
            <p:spPr bwMode="auto">
              <a:xfrm>
                <a:off x="3726" y="2192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grpSp>
            <p:nvGrpSpPr>
              <p:cNvPr id="129" name="Group 39"/>
              <p:cNvGrpSpPr/>
              <p:nvPr/>
            </p:nvGrpSpPr>
            <p:grpSpPr bwMode="auto">
              <a:xfrm>
                <a:off x="4414" y="1954"/>
                <a:ext cx="498" cy="373"/>
                <a:chOff x="3511" y="3072"/>
                <a:chExt cx="729" cy="624"/>
              </a:xfrm>
            </p:grpSpPr>
            <p:sp>
              <p:nvSpPr>
                <p:cNvPr id="146" name="Rectangle 40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7" name="Rectangle 41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8" name="Rectangle 42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9" name="Rectangle 43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1" name="Line 44"/>
              <p:cNvSpPr>
                <a:spLocks noChangeShapeType="1"/>
              </p:cNvSpPr>
              <p:nvPr/>
            </p:nvSpPr>
            <p:spPr bwMode="auto">
              <a:xfrm>
                <a:off x="4295" y="1618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Text Box 45"/>
              <p:cNvSpPr txBox="1">
                <a:spLocks noChangeArrowheads="1"/>
              </p:cNvSpPr>
              <p:nvPr/>
            </p:nvSpPr>
            <p:spPr bwMode="auto">
              <a:xfrm>
                <a:off x="4398" y="219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41" name="Text Box 46"/>
              <p:cNvSpPr txBox="1">
                <a:spLocks noChangeArrowheads="1"/>
              </p:cNvSpPr>
              <p:nvPr/>
            </p:nvSpPr>
            <p:spPr bwMode="auto">
              <a:xfrm>
                <a:off x="4297" y="1958"/>
                <a:ext cx="5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"no"</a:t>
                </a:r>
                <a:endParaRPr lang="en-US" sz="1800" dirty="0"/>
              </a:p>
            </p:txBody>
          </p:sp>
          <p:sp>
            <p:nvSpPr>
              <p:cNvPr id="145" name="Text Box 47"/>
              <p:cNvSpPr txBox="1">
                <a:spLocks noChangeArrowheads="1"/>
              </p:cNvSpPr>
              <p:nvPr/>
            </p:nvSpPr>
            <p:spPr bwMode="auto">
              <a:xfrm>
                <a:off x="4616" y="218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95" name="Rectangle 48"/>
            <p:cNvSpPr>
              <a:spLocks noChangeArrowheads="1"/>
            </p:cNvSpPr>
            <p:nvPr/>
          </p:nvSpPr>
          <p:spPr bwMode="auto">
            <a:xfrm>
              <a:off x="5206" y="509"/>
              <a:ext cx="472" cy="14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Text Box 49"/>
            <p:cNvSpPr txBox="1">
              <a:spLocks noChangeArrowheads="1"/>
            </p:cNvSpPr>
            <p:nvPr/>
          </p:nvSpPr>
          <p:spPr bwMode="auto">
            <a:xfrm>
              <a:off x="5270" y="60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root</a:t>
              </a:r>
              <a:endParaRPr lang="en-US"/>
            </a:p>
          </p:txBody>
        </p:sp>
        <p:sp>
          <p:nvSpPr>
            <p:cNvPr id="97" name="Line 50"/>
            <p:cNvSpPr>
              <a:spLocks noChangeShapeType="1"/>
            </p:cNvSpPr>
            <p:nvPr/>
          </p:nvSpPr>
          <p:spPr bwMode="auto">
            <a:xfrm flipH="1">
              <a:off x="5072" y="591"/>
              <a:ext cx="217" cy="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0135F-B13F-4A19-A982-047C9F045D04}" type="slidenum">
              <a:rPr lang="en-US"/>
            </a:fld>
            <a:endParaRPr lang="en-US"/>
          </a:p>
        </p:txBody>
      </p:sp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130175" y="41148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6754813" y="4435475"/>
            <a:ext cx="2317750" cy="222885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main()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Node *root;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…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preorder(root);</a:t>
            </a:r>
            <a:endParaRPr lang="en-US" sz="2000" dirty="0"/>
          </a:p>
          <a:p>
            <a:r>
              <a:rPr lang="en-US" sz="2000" dirty="0"/>
              <a:t>}</a:t>
            </a:r>
            <a:endParaRPr lang="en-US" sz="2000" dirty="0"/>
          </a:p>
        </p:txBody>
      </p:sp>
      <p:grpSp>
        <p:nvGrpSpPr>
          <p:cNvPr id="599093" name="Group 53"/>
          <p:cNvGrpSpPr/>
          <p:nvPr/>
        </p:nvGrpSpPr>
        <p:grpSpPr bwMode="auto">
          <a:xfrm>
            <a:off x="6303963" y="345454"/>
            <a:ext cx="927100" cy="457200"/>
            <a:chOff x="1240" y="1132"/>
            <a:chExt cx="584" cy="288"/>
          </a:xfrm>
        </p:grpSpPr>
        <p:sp>
          <p:nvSpPr>
            <p:cNvPr id="599094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9095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599098" name="Text Box 58"/>
          <p:cNvSpPr txBox="1">
            <a:spLocks noChangeArrowheads="1"/>
          </p:cNvSpPr>
          <p:nvPr/>
        </p:nvSpPr>
        <p:spPr bwMode="auto">
          <a:xfrm>
            <a:off x="228600" y="838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Output:</a:t>
            </a:r>
            <a:endParaRPr lang="en-US"/>
          </a:p>
        </p:txBody>
      </p:sp>
      <p:sp>
        <p:nvSpPr>
          <p:cNvPr id="100" name="Line 4"/>
          <p:cNvSpPr>
            <a:spLocks noChangeShapeType="1"/>
          </p:cNvSpPr>
          <p:nvPr/>
        </p:nvSpPr>
        <p:spPr bwMode="auto">
          <a:xfrm>
            <a:off x="168966" y="5953539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Text Box 2"/>
          <p:cNvSpPr txBox="1">
            <a:spLocks noChangeArrowheads="1"/>
          </p:cNvSpPr>
          <p:nvPr/>
        </p:nvSpPr>
        <p:spPr bwMode="auto">
          <a:xfrm>
            <a:off x="273671" y="381994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cxnSp>
        <p:nvCxnSpPr>
          <p:cNvPr id="142" name="Straight Arrow Connector 141"/>
          <p:cNvCxnSpPr/>
          <p:nvPr/>
        </p:nvCxnSpPr>
        <p:spPr bwMode="auto">
          <a:xfrm flipH="1">
            <a:off x="5997884" y="1915699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Straight Arrow Connector 142"/>
          <p:cNvCxnSpPr/>
          <p:nvPr/>
        </p:nvCxnSpPr>
        <p:spPr bwMode="auto">
          <a:xfrm flipH="1">
            <a:off x="6808304" y="889001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 1"/>
          <p:cNvSpPr/>
          <p:nvPr/>
        </p:nvSpPr>
        <p:spPr bwMode="auto">
          <a:xfrm>
            <a:off x="6299200" y="-67296"/>
            <a:ext cx="2773363" cy="1490663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04" name="Group 53"/>
          <p:cNvGrpSpPr/>
          <p:nvPr/>
        </p:nvGrpSpPr>
        <p:grpSpPr bwMode="auto">
          <a:xfrm>
            <a:off x="5372515" y="1310339"/>
            <a:ext cx="927100" cy="457200"/>
            <a:chOff x="1240" y="1132"/>
            <a:chExt cx="584" cy="288"/>
          </a:xfrm>
        </p:grpSpPr>
        <p:sp>
          <p:nvSpPr>
            <p:cNvPr id="105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10" name="Rectangle 109"/>
          <p:cNvSpPr/>
          <p:nvPr/>
        </p:nvSpPr>
        <p:spPr bwMode="auto">
          <a:xfrm>
            <a:off x="7772401" y="1430199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2" name="Line 4"/>
          <p:cNvSpPr>
            <a:spLocks noChangeShapeType="1"/>
          </p:cNvSpPr>
          <p:nvPr/>
        </p:nvSpPr>
        <p:spPr bwMode="auto">
          <a:xfrm>
            <a:off x="341245" y="5651638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" name="Text Box 2"/>
          <p:cNvSpPr txBox="1">
            <a:spLocks noChangeArrowheads="1"/>
          </p:cNvSpPr>
          <p:nvPr/>
        </p:nvSpPr>
        <p:spPr bwMode="auto">
          <a:xfrm>
            <a:off x="470659" y="35814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115" name="Rectangle 114"/>
          <p:cNvSpPr/>
          <p:nvPr/>
        </p:nvSpPr>
        <p:spPr bwMode="auto">
          <a:xfrm>
            <a:off x="5348840" y="1424540"/>
            <a:ext cx="2283848" cy="1000126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6822040" y="2421559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17" name="Group 53"/>
          <p:cNvGrpSpPr/>
          <p:nvPr/>
        </p:nvGrpSpPr>
        <p:grpSpPr bwMode="auto">
          <a:xfrm>
            <a:off x="4757738" y="2315227"/>
            <a:ext cx="927100" cy="457200"/>
            <a:chOff x="1240" y="1132"/>
            <a:chExt cx="584" cy="288"/>
          </a:xfrm>
        </p:grpSpPr>
        <p:sp>
          <p:nvSpPr>
            <p:cNvPr id="118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23" name="Line 4"/>
          <p:cNvSpPr>
            <a:spLocks noChangeShapeType="1"/>
          </p:cNvSpPr>
          <p:nvPr/>
        </p:nvSpPr>
        <p:spPr bwMode="auto">
          <a:xfrm>
            <a:off x="509590" y="5413375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" name="Line 4"/>
          <p:cNvSpPr>
            <a:spLocks noChangeShapeType="1"/>
          </p:cNvSpPr>
          <p:nvPr/>
        </p:nvSpPr>
        <p:spPr bwMode="auto">
          <a:xfrm>
            <a:off x="538789" y="570119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" name="Text Box 2"/>
          <p:cNvSpPr txBox="1">
            <a:spLocks noChangeArrowheads="1"/>
          </p:cNvSpPr>
          <p:nvPr/>
        </p:nvSpPr>
        <p:spPr bwMode="auto">
          <a:xfrm>
            <a:off x="663575" y="342265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133" name="Rectangle 74"/>
          <p:cNvSpPr>
            <a:spLocks noGrp="1" noChangeArrowheads="1"/>
          </p:cNvSpPr>
          <p:nvPr>
            <p:ph type="title"/>
          </p:nvPr>
        </p:nvSpPr>
        <p:spPr>
          <a:xfrm>
            <a:off x="-990600" y="0"/>
            <a:ext cx="7772400" cy="1143000"/>
          </a:xfrm>
        </p:spPr>
        <p:txBody>
          <a:bodyPr/>
          <a:lstStyle/>
          <a:p>
            <a:r>
              <a:rPr lang="en-US" sz="3600" dirty="0"/>
              <a:t>The Pre-order Traversal</a:t>
            </a:r>
            <a:endParaRPr lang="en-US" sz="3600" dirty="0"/>
          </a:p>
        </p:txBody>
      </p:sp>
      <p:sp>
        <p:nvSpPr>
          <p:cNvPr id="134" name="Line 4"/>
          <p:cNvSpPr>
            <a:spLocks noChangeShapeType="1"/>
          </p:cNvSpPr>
          <p:nvPr/>
        </p:nvSpPr>
        <p:spPr bwMode="auto">
          <a:xfrm>
            <a:off x="467141" y="362778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3087874" y="1833373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nullptr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36" name="Group 53"/>
          <p:cNvGrpSpPr/>
          <p:nvPr/>
        </p:nvGrpSpPr>
        <p:grpSpPr bwMode="auto">
          <a:xfrm>
            <a:off x="2225290" y="1801262"/>
            <a:ext cx="927100" cy="457200"/>
            <a:chOff x="1240" y="1132"/>
            <a:chExt cx="584" cy="288"/>
          </a:xfrm>
        </p:grpSpPr>
        <p:sp>
          <p:nvSpPr>
            <p:cNvPr id="137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39" name="Line 4"/>
          <p:cNvSpPr>
            <a:spLocks noChangeShapeType="1"/>
          </p:cNvSpPr>
          <p:nvPr/>
        </p:nvSpPr>
        <p:spPr bwMode="auto">
          <a:xfrm>
            <a:off x="715033" y="41910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" name="Line 4"/>
          <p:cNvSpPr>
            <a:spLocks noChangeShapeType="1"/>
          </p:cNvSpPr>
          <p:nvPr/>
        </p:nvSpPr>
        <p:spPr bwMode="auto">
          <a:xfrm>
            <a:off x="1057275" y="445535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4" name="Straight Arrow Connector 143"/>
          <p:cNvCxnSpPr/>
          <p:nvPr/>
        </p:nvCxnSpPr>
        <p:spPr bwMode="auto">
          <a:xfrm>
            <a:off x="6248918" y="2901556"/>
            <a:ext cx="390041" cy="47579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Rectangle 129"/>
          <p:cNvSpPr/>
          <p:nvPr/>
        </p:nvSpPr>
        <p:spPr bwMode="auto">
          <a:xfrm>
            <a:off x="4355618" y="2434604"/>
            <a:ext cx="2327744" cy="942748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353017" y="1323518"/>
            <a:ext cx="1907326" cy="440121"/>
            <a:chOff x="-450429" y="1468055"/>
            <a:chExt cx="1907326" cy="440121"/>
          </a:xfrm>
        </p:grpSpPr>
        <p:sp>
          <p:nvSpPr>
            <p:cNvPr id="90" name="Text Box 59"/>
            <p:cNvSpPr txBox="1">
              <a:spLocks noChangeArrowheads="1"/>
            </p:cNvSpPr>
            <p:nvPr/>
          </p:nvSpPr>
          <p:spPr bwMode="auto">
            <a:xfrm>
              <a:off x="-450429" y="1468055"/>
              <a:ext cx="776206" cy="440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USC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  <p:sp>
          <p:nvSpPr>
            <p:cNvPr id="91" name="Text Box 72"/>
            <p:cNvSpPr txBox="1">
              <a:spLocks noChangeArrowheads="1"/>
            </p:cNvSpPr>
            <p:nvPr/>
          </p:nvSpPr>
          <p:spPr bwMode="auto">
            <a:xfrm>
              <a:off x="164556" y="1474305"/>
              <a:ext cx="129234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kids have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09" grpId="0" animBg="1"/>
      <p:bldP spid="122" grpId="0" animBg="1"/>
      <p:bldP spid="134" grpId="0" animBg="1"/>
      <p:bldP spid="134" grpId="1" animBg="1"/>
      <p:bldP spid="135" grpId="0"/>
      <p:bldP spid="139" grpId="0" animBg="1"/>
      <p:bldP spid="139" grpId="1" animBg="1"/>
      <p:bldP spid="140" grpId="0" animBg="1"/>
      <p:bldP spid="140" grpId="1" animBg="1"/>
      <p:bldP spid="130" grpId="0" animBg="1"/>
      <p:bldP spid="13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6"/>
          <p:cNvGrpSpPr/>
          <p:nvPr/>
        </p:nvGrpSpPr>
        <p:grpSpPr bwMode="auto">
          <a:xfrm>
            <a:off x="5437188" y="155575"/>
            <a:ext cx="3722688" cy="2892425"/>
            <a:chOff x="3425" y="509"/>
            <a:chExt cx="2345" cy="1822"/>
          </a:xfrm>
        </p:grpSpPr>
        <p:grpSp>
          <p:nvGrpSpPr>
            <p:cNvPr id="84" name="Group 7"/>
            <p:cNvGrpSpPr/>
            <p:nvPr/>
          </p:nvGrpSpPr>
          <p:grpSpPr bwMode="auto">
            <a:xfrm>
              <a:off x="3425" y="672"/>
              <a:ext cx="2170" cy="1659"/>
              <a:chOff x="3362" y="693"/>
              <a:chExt cx="2170" cy="1659"/>
            </a:xfrm>
          </p:grpSpPr>
          <p:grpSp>
            <p:nvGrpSpPr>
              <p:cNvPr id="91" name="Group 8"/>
              <p:cNvGrpSpPr/>
              <p:nvPr/>
            </p:nvGrpSpPr>
            <p:grpSpPr bwMode="auto">
              <a:xfrm>
                <a:off x="3917" y="1327"/>
                <a:ext cx="499" cy="373"/>
                <a:chOff x="3511" y="3072"/>
                <a:chExt cx="729" cy="624"/>
              </a:xfrm>
            </p:grpSpPr>
            <p:sp>
              <p:nvSpPr>
                <p:cNvPr id="144" name="Rectangle 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" name="Rectangle 1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" name="Rectangle 1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7" name="Rectangle 1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13"/>
              <p:cNvGrpSpPr/>
              <p:nvPr/>
            </p:nvGrpSpPr>
            <p:grpSpPr bwMode="auto">
              <a:xfrm>
                <a:off x="4515" y="693"/>
                <a:ext cx="499" cy="373"/>
                <a:chOff x="3511" y="3072"/>
                <a:chExt cx="729" cy="624"/>
              </a:xfrm>
            </p:grpSpPr>
            <p:sp>
              <p:nvSpPr>
                <p:cNvPr id="140" name="Rectangle 14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1" name="Rectangle 15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2" name="Rectangle 16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3" name="Rectangle 17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18"/>
              <p:cNvGrpSpPr/>
              <p:nvPr/>
            </p:nvGrpSpPr>
            <p:grpSpPr bwMode="auto">
              <a:xfrm>
                <a:off x="5002" y="1327"/>
                <a:ext cx="498" cy="373"/>
                <a:chOff x="3511" y="3072"/>
                <a:chExt cx="729" cy="624"/>
              </a:xfrm>
            </p:grpSpPr>
            <p:sp>
              <p:nvSpPr>
                <p:cNvPr id="136" name="Rectangle 1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" name="Rectangle 2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" name="Rectangle 2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Rectangle 2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5" name="Line 23"/>
              <p:cNvSpPr>
                <a:spLocks noChangeShapeType="1"/>
              </p:cNvSpPr>
              <p:nvPr/>
            </p:nvSpPr>
            <p:spPr bwMode="auto">
              <a:xfrm flipH="1">
                <a:off x="4216" y="992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Line 24"/>
              <p:cNvSpPr>
                <a:spLocks noChangeShapeType="1"/>
              </p:cNvSpPr>
              <p:nvPr/>
            </p:nvSpPr>
            <p:spPr bwMode="auto">
              <a:xfrm>
                <a:off x="4883" y="991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Text Box 25"/>
              <p:cNvSpPr txBox="1">
                <a:spLocks noChangeArrowheads="1"/>
              </p:cNvSpPr>
              <p:nvPr/>
            </p:nvSpPr>
            <p:spPr bwMode="auto">
              <a:xfrm>
                <a:off x="4986" y="157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98" name="Text Box 26"/>
              <p:cNvSpPr txBox="1">
                <a:spLocks noChangeArrowheads="1"/>
              </p:cNvSpPr>
              <p:nvPr/>
            </p:nvSpPr>
            <p:spPr bwMode="auto">
              <a:xfrm>
                <a:off x="4379" y="704"/>
                <a:ext cx="6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"USC"</a:t>
                </a:r>
                <a:endParaRPr lang="en-US" sz="1800" dirty="0"/>
              </a:p>
            </p:txBody>
          </p:sp>
          <p:sp>
            <p:nvSpPr>
              <p:cNvPr id="99" name="Text Box 27"/>
              <p:cNvSpPr txBox="1">
                <a:spLocks noChangeArrowheads="1"/>
              </p:cNvSpPr>
              <p:nvPr/>
            </p:nvSpPr>
            <p:spPr bwMode="auto">
              <a:xfrm>
                <a:off x="3826" y="1341"/>
                <a:ext cx="6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"kids"</a:t>
                </a:r>
                <a:endParaRPr lang="en-US" sz="1800" dirty="0"/>
              </a:p>
            </p:txBody>
          </p:sp>
          <p:sp>
            <p:nvSpPr>
              <p:cNvPr id="102" name="Text Box 28"/>
              <p:cNvSpPr txBox="1">
                <a:spLocks noChangeArrowheads="1"/>
              </p:cNvSpPr>
              <p:nvPr/>
            </p:nvSpPr>
            <p:spPr bwMode="auto">
              <a:xfrm>
                <a:off x="4825" y="1338"/>
                <a:ext cx="6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"clue"</a:t>
                </a:r>
                <a:endParaRPr lang="en-US" sz="1800" dirty="0"/>
              </a:p>
            </p:txBody>
          </p:sp>
          <p:sp>
            <p:nvSpPr>
              <p:cNvPr id="103" name="Text Box 29"/>
              <p:cNvSpPr txBox="1">
                <a:spLocks noChangeArrowheads="1"/>
              </p:cNvSpPr>
              <p:nvPr/>
            </p:nvSpPr>
            <p:spPr bwMode="auto">
              <a:xfrm>
                <a:off x="5204" y="156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07" name="Line 30"/>
              <p:cNvSpPr>
                <a:spLocks noChangeShapeType="1"/>
              </p:cNvSpPr>
              <p:nvPr/>
            </p:nvSpPr>
            <p:spPr bwMode="auto">
              <a:xfrm flipH="1">
                <a:off x="3698" y="1634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8" name="Group 31"/>
              <p:cNvGrpSpPr/>
              <p:nvPr/>
            </p:nvGrpSpPr>
            <p:grpSpPr bwMode="auto">
              <a:xfrm>
                <a:off x="3518" y="1960"/>
                <a:ext cx="499" cy="373"/>
                <a:chOff x="3511" y="3072"/>
                <a:chExt cx="729" cy="624"/>
              </a:xfrm>
            </p:grpSpPr>
            <p:sp>
              <p:nvSpPr>
                <p:cNvPr id="131" name="Rectangle 3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" name="Rectangle 3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4" name="Rectangle 3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Rectangle 3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9" name="Text Box 36"/>
              <p:cNvSpPr txBox="1">
                <a:spLocks noChangeArrowheads="1"/>
              </p:cNvSpPr>
              <p:nvPr/>
            </p:nvSpPr>
            <p:spPr bwMode="auto">
              <a:xfrm>
                <a:off x="3362" y="1976"/>
                <a:ext cx="6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"have"</a:t>
                </a:r>
                <a:endParaRPr lang="en-US" sz="1800" dirty="0"/>
              </a:p>
            </p:txBody>
          </p:sp>
          <p:sp>
            <p:nvSpPr>
              <p:cNvPr id="111" name="Text Box 37"/>
              <p:cNvSpPr txBox="1">
                <a:spLocks noChangeArrowheads="1"/>
              </p:cNvSpPr>
              <p:nvPr/>
            </p:nvSpPr>
            <p:spPr bwMode="auto">
              <a:xfrm>
                <a:off x="3489" y="2183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14" name="Text Box 38"/>
              <p:cNvSpPr txBox="1">
                <a:spLocks noChangeArrowheads="1"/>
              </p:cNvSpPr>
              <p:nvPr/>
            </p:nvSpPr>
            <p:spPr bwMode="auto">
              <a:xfrm>
                <a:off x="3726" y="2192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grpSp>
            <p:nvGrpSpPr>
              <p:cNvPr id="120" name="Group 39"/>
              <p:cNvGrpSpPr/>
              <p:nvPr/>
            </p:nvGrpSpPr>
            <p:grpSpPr bwMode="auto">
              <a:xfrm>
                <a:off x="4414" y="1954"/>
                <a:ext cx="498" cy="373"/>
                <a:chOff x="3511" y="3072"/>
                <a:chExt cx="729" cy="624"/>
              </a:xfrm>
            </p:grpSpPr>
            <p:sp>
              <p:nvSpPr>
                <p:cNvPr id="126" name="Rectangle 40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7" name="Rectangle 41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Rectangle 42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9" name="Rectangle 43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1" name="Line 44"/>
              <p:cNvSpPr>
                <a:spLocks noChangeShapeType="1"/>
              </p:cNvSpPr>
              <p:nvPr/>
            </p:nvSpPr>
            <p:spPr bwMode="auto">
              <a:xfrm>
                <a:off x="4295" y="1618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Text Box 45"/>
              <p:cNvSpPr txBox="1">
                <a:spLocks noChangeArrowheads="1"/>
              </p:cNvSpPr>
              <p:nvPr/>
            </p:nvSpPr>
            <p:spPr bwMode="auto">
              <a:xfrm>
                <a:off x="4398" y="219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4" name="Text Box 46"/>
              <p:cNvSpPr txBox="1">
                <a:spLocks noChangeArrowheads="1"/>
              </p:cNvSpPr>
              <p:nvPr/>
            </p:nvSpPr>
            <p:spPr bwMode="auto">
              <a:xfrm>
                <a:off x="4297" y="1958"/>
                <a:ext cx="5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"no"</a:t>
                </a:r>
                <a:endParaRPr lang="en-US" sz="1800" dirty="0"/>
              </a:p>
            </p:txBody>
          </p:sp>
          <p:sp>
            <p:nvSpPr>
              <p:cNvPr id="125" name="Text Box 47"/>
              <p:cNvSpPr txBox="1">
                <a:spLocks noChangeArrowheads="1"/>
              </p:cNvSpPr>
              <p:nvPr/>
            </p:nvSpPr>
            <p:spPr bwMode="auto">
              <a:xfrm>
                <a:off x="4616" y="218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85" name="Rectangle 48"/>
            <p:cNvSpPr>
              <a:spLocks noChangeArrowheads="1"/>
            </p:cNvSpPr>
            <p:nvPr/>
          </p:nvSpPr>
          <p:spPr bwMode="auto">
            <a:xfrm>
              <a:off x="5206" y="509"/>
              <a:ext cx="472" cy="14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Text Box 49"/>
            <p:cNvSpPr txBox="1">
              <a:spLocks noChangeArrowheads="1"/>
            </p:cNvSpPr>
            <p:nvPr/>
          </p:nvSpPr>
          <p:spPr bwMode="auto">
            <a:xfrm>
              <a:off x="5270" y="60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root</a:t>
              </a:r>
              <a:endParaRPr lang="en-US"/>
            </a:p>
          </p:txBody>
        </p:sp>
        <p:sp>
          <p:nvSpPr>
            <p:cNvPr id="90" name="Line 50"/>
            <p:cNvSpPr>
              <a:spLocks noChangeShapeType="1"/>
            </p:cNvSpPr>
            <p:nvPr/>
          </p:nvSpPr>
          <p:spPr bwMode="auto">
            <a:xfrm flipH="1">
              <a:off x="5072" y="591"/>
              <a:ext cx="217" cy="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0135F-B13F-4A19-A982-047C9F045D04}" type="slidenum">
              <a:rPr lang="en-US"/>
            </a:fld>
            <a:endParaRPr lang="en-US"/>
          </a:p>
        </p:txBody>
      </p:sp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130175" y="41148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6754813" y="4435475"/>
            <a:ext cx="2317750" cy="222885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main()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Node *root;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…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preorder(root);</a:t>
            </a:r>
            <a:endParaRPr lang="en-US" sz="2000" dirty="0"/>
          </a:p>
          <a:p>
            <a:r>
              <a:rPr lang="en-US" sz="2000" dirty="0"/>
              <a:t>}</a:t>
            </a:r>
            <a:endParaRPr lang="en-US" sz="2000" dirty="0"/>
          </a:p>
        </p:txBody>
      </p:sp>
      <p:grpSp>
        <p:nvGrpSpPr>
          <p:cNvPr id="599093" name="Group 53"/>
          <p:cNvGrpSpPr/>
          <p:nvPr/>
        </p:nvGrpSpPr>
        <p:grpSpPr bwMode="auto">
          <a:xfrm>
            <a:off x="6303963" y="345454"/>
            <a:ext cx="927100" cy="457200"/>
            <a:chOff x="1240" y="1132"/>
            <a:chExt cx="584" cy="288"/>
          </a:xfrm>
        </p:grpSpPr>
        <p:sp>
          <p:nvSpPr>
            <p:cNvPr id="599094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9095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599098" name="Text Box 58"/>
          <p:cNvSpPr txBox="1">
            <a:spLocks noChangeArrowheads="1"/>
          </p:cNvSpPr>
          <p:nvPr/>
        </p:nvSpPr>
        <p:spPr bwMode="auto">
          <a:xfrm>
            <a:off x="228600" y="838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Output:</a:t>
            </a:r>
            <a:endParaRPr lang="en-US"/>
          </a:p>
        </p:txBody>
      </p:sp>
      <p:sp>
        <p:nvSpPr>
          <p:cNvPr id="100" name="Line 4"/>
          <p:cNvSpPr>
            <a:spLocks noChangeShapeType="1"/>
          </p:cNvSpPr>
          <p:nvPr/>
        </p:nvSpPr>
        <p:spPr bwMode="auto">
          <a:xfrm>
            <a:off x="168966" y="5953539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7" name="Straight Arrow Connector 86"/>
          <p:cNvCxnSpPr/>
          <p:nvPr/>
        </p:nvCxnSpPr>
        <p:spPr bwMode="auto">
          <a:xfrm flipH="1">
            <a:off x="5997884" y="1915699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Straight Arrow Connector 87"/>
          <p:cNvCxnSpPr/>
          <p:nvPr/>
        </p:nvCxnSpPr>
        <p:spPr bwMode="auto">
          <a:xfrm flipH="1">
            <a:off x="6808304" y="889001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1" name="Text Box 2"/>
          <p:cNvSpPr txBox="1">
            <a:spLocks noChangeArrowheads="1"/>
          </p:cNvSpPr>
          <p:nvPr/>
        </p:nvSpPr>
        <p:spPr bwMode="auto">
          <a:xfrm>
            <a:off x="273671" y="381994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6299200" y="-67296"/>
            <a:ext cx="2773363" cy="1490663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04" name="Group 53"/>
          <p:cNvGrpSpPr/>
          <p:nvPr/>
        </p:nvGrpSpPr>
        <p:grpSpPr bwMode="auto">
          <a:xfrm>
            <a:off x="5372515" y="1310339"/>
            <a:ext cx="927100" cy="457200"/>
            <a:chOff x="1240" y="1132"/>
            <a:chExt cx="584" cy="288"/>
          </a:xfrm>
        </p:grpSpPr>
        <p:sp>
          <p:nvSpPr>
            <p:cNvPr id="105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10" name="Rectangle 109"/>
          <p:cNvSpPr/>
          <p:nvPr/>
        </p:nvSpPr>
        <p:spPr bwMode="auto">
          <a:xfrm>
            <a:off x="7772401" y="1430199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2" name="Line 4"/>
          <p:cNvSpPr>
            <a:spLocks noChangeShapeType="1"/>
          </p:cNvSpPr>
          <p:nvPr/>
        </p:nvSpPr>
        <p:spPr bwMode="auto">
          <a:xfrm>
            <a:off x="341245" y="5651638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" name="Text Box 2"/>
          <p:cNvSpPr txBox="1">
            <a:spLocks noChangeArrowheads="1"/>
          </p:cNvSpPr>
          <p:nvPr/>
        </p:nvSpPr>
        <p:spPr bwMode="auto">
          <a:xfrm>
            <a:off x="470659" y="35814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115" name="Rectangle 114"/>
          <p:cNvSpPr/>
          <p:nvPr/>
        </p:nvSpPr>
        <p:spPr bwMode="auto">
          <a:xfrm>
            <a:off x="5348840" y="1424540"/>
            <a:ext cx="2283848" cy="1000126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6822040" y="2421559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17" name="Group 53"/>
          <p:cNvGrpSpPr/>
          <p:nvPr/>
        </p:nvGrpSpPr>
        <p:grpSpPr bwMode="auto">
          <a:xfrm>
            <a:off x="4757738" y="2315227"/>
            <a:ext cx="927100" cy="457200"/>
            <a:chOff x="1240" y="1132"/>
            <a:chExt cx="584" cy="288"/>
          </a:xfrm>
        </p:grpSpPr>
        <p:sp>
          <p:nvSpPr>
            <p:cNvPr id="118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23" name="Line 4"/>
          <p:cNvSpPr>
            <a:spLocks noChangeShapeType="1"/>
          </p:cNvSpPr>
          <p:nvPr/>
        </p:nvSpPr>
        <p:spPr bwMode="auto">
          <a:xfrm>
            <a:off x="509590" y="5715000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" name="Rectangle 129"/>
          <p:cNvSpPr/>
          <p:nvPr/>
        </p:nvSpPr>
        <p:spPr bwMode="auto">
          <a:xfrm>
            <a:off x="4355618" y="2434604"/>
            <a:ext cx="2327744" cy="606425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3" name="Rectangle 74"/>
          <p:cNvSpPr>
            <a:spLocks noGrp="1" noChangeArrowheads="1"/>
          </p:cNvSpPr>
          <p:nvPr>
            <p:ph type="title"/>
          </p:nvPr>
        </p:nvSpPr>
        <p:spPr>
          <a:xfrm>
            <a:off x="-990600" y="0"/>
            <a:ext cx="7772400" cy="1143000"/>
          </a:xfrm>
        </p:spPr>
        <p:txBody>
          <a:bodyPr/>
          <a:lstStyle/>
          <a:p>
            <a:r>
              <a:rPr lang="en-US" sz="3600" dirty="0"/>
              <a:t>The Pre-order Traversal</a:t>
            </a:r>
            <a:endParaRPr lang="en-US" sz="3600" dirty="0"/>
          </a:p>
        </p:txBody>
      </p:sp>
      <p:sp>
        <p:nvSpPr>
          <p:cNvPr id="86" name="Line 4"/>
          <p:cNvSpPr>
            <a:spLocks noChangeShapeType="1"/>
          </p:cNvSpPr>
          <p:nvPr/>
        </p:nvSpPr>
        <p:spPr bwMode="auto">
          <a:xfrm>
            <a:off x="301557" y="6019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7" name="Group 76"/>
          <p:cNvGrpSpPr/>
          <p:nvPr/>
        </p:nvGrpSpPr>
        <p:grpSpPr>
          <a:xfrm>
            <a:off x="353017" y="1323518"/>
            <a:ext cx="1907326" cy="440121"/>
            <a:chOff x="-450429" y="1468055"/>
            <a:chExt cx="1907326" cy="440121"/>
          </a:xfrm>
        </p:grpSpPr>
        <p:sp>
          <p:nvSpPr>
            <p:cNvPr id="78" name="Text Box 59"/>
            <p:cNvSpPr txBox="1">
              <a:spLocks noChangeArrowheads="1"/>
            </p:cNvSpPr>
            <p:nvPr/>
          </p:nvSpPr>
          <p:spPr bwMode="auto">
            <a:xfrm>
              <a:off x="-450429" y="1468055"/>
              <a:ext cx="776206" cy="440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USC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  <p:sp>
          <p:nvSpPr>
            <p:cNvPr id="79" name="Text Box 72"/>
            <p:cNvSpPr txBox="1">
              <a:spLocks noChangeArrowheads="1"/>
            </p:cNvSpPr>
            <p:nvPr/>
          </p:nvSpPr>
          <p:spPr bwMode="auto">
            <a:xfrm>
              <a:off x="164556" y="1474305"/>
              <a:ext cx="129234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kids have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30" grpId="0" animBg="1"/>
      <p:bldP spid="86" grpId="0" animBg="1"/>
      <p:bldP spid="8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6"/>
          <p:cNvGrpSpPr/>
          <p:nvPr/>
        </p:nvGrpSpPr>
        <p:grpSpPr bwMode="auto">
          <a:xfrm>
            <a:off x="5437188" y="155575"/>
            <a:ext cx="3722688" cy="2892425"/>
            <a:chOff x="3425" y="509"/>
            <a:chExt cx="2345" cy="1822"/>
          </a:xfrm>
        </p:grpSpPr>
        <p:grpSp>
          <p:nvGrpSpPr>
            <p:cNvPr id="111" name="Group 7"/>
            <p:cNvGrpSpPr/>
            <p:nvPr/>
          </p:nvGrpSpPr>
          <p:grpSpPr bwMode="auto">
            <a:xfrm>
              <a:off x="3425" y="672"/>
              <a:ext cx="2170" cy="1659"/>
              <a:chOff x="3362" y="693"/>
              <a:chExt cx="2170" cy="1659"/>
            </a:xfrm>
          </p:grpSpPr>
          <p:grpSp>
            <p:nvGrpSpPr>
              <p:cNvPr id="117" name="Group 8"/>
              <p:cNvGrpSpPr/>
              <p:nvPr/>
            </p:nvGrpSpPr>
            <p:grpSpPr bwMode="auto">
              <a:xfrm>
                <a:off x="3917" y="1327"/>
                <a:ext cx="499" cy="373"/>
                <a:chOff x="3511" y="3072"/>
                <a:chExt cx="729" cy="624"/>
              </a:xfrm>
            </p:grpSpPr>
            <p:sp>
              <p:nvSpPr>
                <p:cNvPr id="154" name="Rectangle 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" name="Rectangle 1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" name="Rectangle 1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7" name="Rectangle 1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" name="Group 13"/>
              <p:cNvGrpSpPr/>
              <p:nvPr/>
            </p:nvGrpSpPr>
            <p:grpSpPr bwMode="auto">
              <a:xfrm>
                <a:off x="4515" y="693"/>
                <a:ext cx="499" cy="373"/>
                <a:chOff x="3511" y="3072"/>
                <a:chExt cx="729" cy="624"/>
              </a:xfrm>
            </p:grpSpPr>
            <p:sp>
              <p:nvSpPr>
                <p:cNvPr id="150" name="Rectangle 14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1" name="Rectangle 15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2" name="Rectangle 16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" name="Rectangle 17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" name="Group 18"/>
              <p:cNvGrpSpPr/>
              <p:nvPr/>
            </p:nvGrpSpPr>
            <p:grpSpPr bwMode="auto">
              <a:xfrm>
                <a:off x="5002" y="1327"/>
                <a:ext cx="498" cy="373"/>
                <a:chOff x="3511" y="3072"/>
                <a:chExt cx="729" cy="624"/>
              </a:xfrm>
            </p:grpSpPr>
            <p:sp>
              <p:nvSpPr>
                <p:cNvPr id="146" name="Rectangle 1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7" name="Rectangle 2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8" name="Rectangle 2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9" name="Rectangle 2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0" name="Line 23"/>
              <p:cNvSpPr>
                <a:spLocks noChangeShapeType="1"/>
              </p:cNvSpPr>
              <p:nvPr/>
            </p:nvSpPr>
            <p:spPr bwMode="auto">
              <a:xfrm flipH="1">
                <a:off x="4216" y="992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Line 24"/>
              <p:cNvSpPr>
                <a:spLocks noChangeShapeType="1"/>
              </p:cNvSpPr>
              <p:nvPr/>
            </p:nvSpPr>
            <p:spPr bwMode="auto">
              <a:xfrm>
                <a:off x="4883" y="991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Text Box 25"/>
              <p:cNvSpPr txBox="1">
                <a:spLocks noChangeArrowheads="1"/>
              </p:cNvSpPr>
              <p:nvPr/>
            </p:nvSpPr>
            <p:spPr bwMode="auto">
              <a:xfrm>
                <a:off x="4986" y="157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3" name="Text Box 26"/>
              <p:cNvSpPr txBox="1">
                <a:spLocks noChangeArrowheads="1"/>
              </p:cNvSpPr>
              <p:nvPr/>
            </p:nvSpPr>
            <p:spPr bwMode="auto">
              <a:xfrm>
                <a:off x="4379" y="704"/>
                <a:ext cx="6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"USC"</a:t>
                </a:r>
                <a:endParaRPr lang="en-US" sz="1800" dirty="0"/>
              </a:p>
            </p:txBody>
          </p:sp>
          <p:sp>
            <p:nvSpPr>
              <p:cNvPr id="124" name="Text Box 27"/>
              <p:cNvSpPr txBox="1">
                <a:spLocks noChangeArrowheads="1"/>
              </p:cNvSpPr>
              <p:nvPr/>
            </p:nvSpPr>
            <p:spPr bwMode="auto">
              <a:xfrm>
                <a:off x="3826" y="1341"/>
                <a:ext cx="6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"kids"</a:t>
                </a:r>
                <a:endParaRPr lang="en-US" sz="1800" dirty="0"/>
              </a:p>
            </p:txBody>
          </p:sp>
          <p:sp>
            <p:nvSpPr>
              <p:cNvPr id="125" name="Text Box 28"/>
              <p:cNvSpPr txBox="1">
                <a:spLocks noChangeArrowheads="1"/>
              </p:cNvSpPr>
              <p:nvPr/>
            </p:nvSpPr>
            <p:spPr bwMode="auto">
              <a:xfrm>
                <a:off x="4825" y="1338"/>
                <a:ext cx="6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"clue"</a:t>
                </a:r>
                <a:endParaRPr lang="en-US" sz="1800" dirty="0"/>
              </a:p>
            </p:txBody>
          </p:sp>
          <p:sp>
            <p:nvSpPr>
              <p:cNvPr id="126" name="Text Box 29"/>
              <p:cNvSpPr txBox="1">
                <a:spLocks noChangeArrowheads="1"/>
              </p:cNvSpPr>
              <p:nvPr/>
            </p:nvSpPr>
            <p:spPr bwMode="auto">
              <a:xfrm>
                <a:off x="5204" y="156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7" name="Line 30"/>
              <p:cNvSpPr>
                <a:spLocks noChangeShapeType="1"/>
              </p:cNvSpPr>
              <p:nvPr/>
            </p:nvSpPr>
            <p:spPr bwMode="auto">
              <a:xfrm flipH="1">
                <a:off x="3698" y="1634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8" name="Group 31"/>
              <p:cNvGrpSpPr/>
              <p:nvPr/>
            </p:nvGrpSpPr>
            <p:grpSpPr bwMode="auto">
              <a:xfrm>
                <a:off x="3518" y="1960"/>
                <a:ext cx="499" cy="373"/>
                <a:chOff x="3511" y="3072"/>
                <a:chExt cx="729" cy="624"/>
              </a:xfrm>
            </p:grpSpPr>
            <p:sp>
              <p:nvSpPr>
                <p:cNvPr id="142" name="Rectangle 3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3" name="Rectangle 3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4" name="Rectangle 3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" name="Rectangle 3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9" name="Text Box 36"/>
              <p:cNvSpPr txBox="1">
                <a:spLocks noChangeArrowheads="1"/>
              </p:cNvSpPr>
              <p:nvPr/>
            </p:nvSpPr>
            <p:spPr bwMode="auto">
              <a:xfrm>
                <a:off x="3362" y="1976"/>
                <a:ext cx="6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"have"</a:t>
                </a:r>
                <a:endParaRPr lang="en-US" sz="1800" dirty="0"/>
              </a:p>
            </p:txBody>
          </p:sp>
          <p:sp>
            <p:nvSpPr>
              <p:cNvPr id="130" name="Text Box 37"/>
              <p:cNvSpPr txBox="1">
                <a:spLocks noChangeArrowheads="1"/>
              </p:cNvSpPr>
              <p:nvPr/>
            </p:nvSpPr>
            <p:spPr bwMode="auto">
              <a:xfrm>
                <a:off x="3489" y="2183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31" name="Text Box 38"/>
              <p:cNvSpPr txBox="1">
                <a:spLocks noChangeArrowheads="1"/>
              </p:cNvSpPr>
              <p:nvPr/>
            </p:nvSpPr>
            <p:spPr bwMode="auto">
              <a:xfrm>
                <a:off x="3726" y="2192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grpSp>
            <p:nvGrpSpPr>
              <p:cNvPr id="132" name="Group 39"/>
              <p:cNvGrpSpPr/>
              <p:nvPr/>
            </p:nvGrpSpPr>
            <p:grpSpPr bwMode="auto">
              <a:xfrm>
                <a:off x="4414" y="1954"/>
                <a:ext cx="498" cy="373"/>
                <a:chOff x="3511" y="3072"/>
                <a:chExt cx="729" cy="624"/>
              </a:xfrm>
            </p:grpSpPr>
            <p:sp>
              <p:nvSpPr>
                <p:cNvPr id="138" name="Rectangle 40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Rectangle 41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0" name="Rectangle 42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1" name="Rectangle 43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" name="Line 44"/>
              <p:cNvSpPr>
                <a:spLocks noChangeShapeType="1"/>
              </p:cNvSpPr>
              <p:nvPr/>
            </p:nvSpPr>
            <p:spPr bwMode="auto">
              <a:xfrm>
                <a:off x="4295" y="1618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Text Box 45"/>
              <p:cNvSpPr txBox="1">
                <a:spLocks noChangeArrowheads="1"/>
              </p:cNvSpPr>
              <p:nvPr/>
            </p:nvSpPr>
            <p:spPr bwMode="auto">
              <a:xfrm>
                <a:off x="4398" y="219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36" name="Text Box 46"/>
              <p:cNvSpPr txBox="1">
                <a:spLocks noChangeArrowheads="1"/>
              </p:cNvSpPr>
              <p:nvPr/>
            </p:nvSpPr>
            <p:spPr bwMode="auto">
              <a:xfrm>
                <a:off x="4297" y="1958"/>
                <a:ext cx="5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"no"</a:t>
                </a:r>
                <a:endParaRPr lang="en-US" sz="1800" dirty="0"/>
              </a:p>
            </p:txBody>
          </p:sp>
          <p:sp>
            <p:nvSpPr>
              <p:cNvPr id="137" name="Text Box 47"/>
              <p:cNvSpPr txBox="1">
                <a:spLocks noChangeArrowheads="1"/>
              </p:cNvSpPr>
              <p:nvPr/>
            </p:nvSpPr>
            <p:spPr bwMode="auto">
              <a:xfrm>
                <a:off x="4616" y="218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112" name="Rectangle 48"/>
            <p:cNvSpPr>
              <a:spLocks noChangeArrowheads="1"/>
            </p:cNvSpPr>
            <p:nvPr/>
          </p:nvSpPr>
          <p:spPr bwMode="auto">
            <a:xfrm>
              <a:off x="5206" y="509"/>
              <a:ext cx="472" cy="14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Text Box 49"/>
            <p:cNvSpPr txBox="1">
              <a:spLocks noChangeArrowheads="1"/>
            </p:cNvSpPr>
            <p:nvPr/>
          </p:nvSpPr>
          <p:spPr bwMode="auto">
            <a:xfrm>
              <a:off x="5270" y="60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root</a:t>
              </a:r>
              <a:endParaRPr lang="en-US"/>
            </a:p>
          </p:txBody>
        </p:sp>
        <p:sp>
          <p:nvSpPr>
            <p:cNvPr id="114" name="Line 50"/>
            <p:cNvSpPr>
              <a:spLocks noChangeShapeType="1"/>
            </p:cNvSpPr>
            <p:nvPr/>
          </p:nvSpPr>
          <p:spPr bwMode="auto">
            <a:xfrm flipH="1">
              <a:off x="5072" y="591"/>
              <a:ext cx="217" cy="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0135F-B13F-4A19-A982-047C9F045D04}" type="slidenum">
              <a:rPr lang="en-US"/>
            </a:fld>
            <a:endParaRPr lang="en-US"/>
          </a:p>
        </p:txBody>
      </p:sp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130175" y="41148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6754813" y="4435475"/>
            <a:ext cx="2317750" cy="222885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main()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Node *root;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…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preorder(root);</a:t>
            </a:r>
            <a:endParaRPr lang="en-US" sz="2000" dirty="0"/>
          </a:p>
          <a:p>
            <a:r>
              <a:rPr lang="en-US" sz="2000" dirty="0"/>
              <a:t>}</a:t>
            </a:r>
            <a:endParaRPr lang="en-US" sz="2000" dirty="0"/>
          </a:p>
        </p:txBody>
      </p:sp>
      <p:grpSp>
        <p:nvGrpSpPr>
          <p:cNvPr id="599093" name="Group 53"/>
          <p:cNvGrpSpPr/>
          <p:nvPr/>
        </p:nvGrpSpPr>
        <p:grpSpPr bwMode="auto">
          <a:xfrm>
            <a:off x="6303963" y="345454"/>
            <a:ext cx="927100" cy="457200"/>
            <a:chOff x="1240" y="1132"/>
            <a:chExt cx="584" cy="288"/>
          </a:xfrm>
        </p:grpSpPr>
        <p:sp>
          <p:nvSpPr>
            <p:cNvPr id="599094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9095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599098" name="Text Box 58"/>
          <p:cNvSpPr txBox="1">
            <a:spLocks noChangeArrowheads="1"/>
          </p:cNvSpPr>
          <p:nvPr/>
        </p:nvSpPr>
        <p:spPr bwMode="auto">
          <a:xfrm>
            <a:off x="228600" y="838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Output:</a:t>
            </a:r>
            <a:endParaRPr lang="en-US"/>
          </a:p>
        </p:txBody>
      </p:sp>
      <p:sp>
        <p:nvSpPr>
          <p:cNvPr id="100" name="Line 4"/>
          <p:cNvSpPr>
            <a:spLocks noChangeShapeType="1"/>
          </p:cNvSpPr>
          <p:nvPr/>
        </p:nvSpPr>
        <p:spPr bwMode="auto">
          <a:xfrm>
            <a:off x="168966" y="5953539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7" name="Straight Arrow Connector 96"/>
          <p:cNvCxnSpPr/>
          <p:nvPr/>
        </p:nvCxnSpPr>
        <p:spPr bwMode="auto">
          <a:xfrm flipH="1">
            <a:off x="6808304" y="889001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1" name="Text Box 2"/>
          <p:cNvSpPr txBox="1">
            <a:spLocks noChangeArrowheads="1"/>
          </p:cNvSpPr>
          <p:nvPr/>
        </p:nvSpPr>
        <p:spPr bwMode="auto">
          <a:xfrm>
            <a:off x="273671" y="381994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6299200" y="-67296"/>
            <a:ext cx="2773363" cy="1490663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04" name="Group 53"/>
          <p:cNvGrpSpPr/>
          <p:nvPr/>
        </p:nvGrpSpPr>
        <p:grpSpPr bwMode="auto">
          <a:xfrm>
            <a:off x="5372515" y="1310339"/>
            <a:ext cx="927100" cy="457200"/>
            <a:chOff x="1240" y="1132"/>
            <a:chExt cx="584" cy="288"/>
          </a:xfrm>
        </p:grpSpPr>
        <p:sp>
          <p:nvSpPr>
            <p:cNvPr id="105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10" name="Rectangle 109"/>
          <p:cNvSpPr/>
          <p:nvPr/>
        </p:nvSpPr>
        <p:spPr bwMode="auto">
          <a:xfrm>
            <a:off x="7772401" y="1430199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5348840" y="1424540"/>
            <a:ext cx="2283848" cy="1000126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6822040" y="2421559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3" name="Rectangle 74"/>
          <p:cNvSpPr>
            <a:spLocks noGrp="1" noChangeArrowheads="1"/>
          </p:cNvSpPr>
          <p:nvPr>
            <p:ph type="title"/>
          </p:nvPr>
        </p:nvSpPr>
        <p:spPr>
          <a:xfrm>
            <a:off x="-990600" y="0"/>
            <a:ext cx="7772400" cy="1143000"/>
          </a:xfrm>
        </p:spPr>
        <p:txBody>
          <a:bodyPr/>
          <a:lstStyle/>
          <a:p>
            <a:r>
              <a:rPr lang="en-US" sz="3600" dirty="0"/>
              <a:t>The Pre-order Traversal</a:t>
            </a:r>
            <a:endParaRPr lang="en-US" sz="3600" dirty="0"/>
          </a:p>
        </p:txBody>
      </p:sp>
      <p:sp>
        <p:nvSpPr>
          <p:cNvPr id="78" name="Line 4"/>
          <p:cNvSpPr>
            <a:spLocks noChangeShapeType="1"/>
          </p:cNvSpPr>
          <p:nvPr/>
        </p:nvSpPr>
        <p:spPr bwMode="auto">
          <a:xfrm>
            <a:off x="341244" y="5665305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8" name="Straight Arrow Connector 97"/>
          <p:cNvCxnSpPr/>
          <p:nvPr/>
        </p:nvCxnSpPr>
        <p:spPr bwMode="auto">
          <a:xfrm>
            <a:off x="6901401" y="1884307"/>
            <a:ext cx="596500" cy="537252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Line 4"/>
          <p:cNvSpPr>
            <a:spLocks noChangeShapeType="1"/>
          </p:cNvSpPr>
          <p:nvPr/>
        </p:nvSpPr>
        <p:spPr bwMode="auto">
          <a:xfrm>
            <a:off x="344556" y="593021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Rectangle 79"/>
          <p:cNvSpPr/>
          <p:nvPr/>
        </p:nvSpPr>
        <p:spPr bwMode="auto">
          <a:xfrm>
            <a:off x="4723198" y="1425919"/>
            <a:ext cx="2773363" cy="985701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5392532" y="2431498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2" name="Text Box 2"/>
          <p:cNvSpPr txBox="1">
            <a:spLocks noChangeArrowheads="1"/>
          </p:cNvSpPr>
          <p:nvPr/>
        </p:nvSpPr>
        <p:spPr bwMode="auto">
          <a:xfrm>
            <a:off x="511175" y="357505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83" name="Line 4"/>
          <p:cNvSpPr>
            <a:spLocks noChangeShapeType="1"/>
          </p:cNvSpPr>
          <p:nvPr/>
        </p:nvSpPr>
        <p:spPr bwMode="auto">
          <a:xfrm>
            <a:off x="304800" y="376361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4" name="Group 53"/>
          <p:cNvGrpSpPr/>
          <p:nvPr/>
        </p:nvGrpSpPr>
        <p:grpSpPr bwMode="auto">
          <a:xfrm>
            <a:off x="7983399" y="2502074"/>
            <a:ext cx="1027113" cy="457200"/>
            <a:chOff x="1000" y="1132"/>
            <a:chExt cx="647" cy="288"/>
          </a:xfrm>
        </p:grpSpPr>
        <p:sp>
          <p:nvSpPr>
            <p:cNvPr id="85" name="Line 54"/>
            <p:cNvSpPr>
              <a:spLocks noChangeShapeType="1"/>
            </p:cNvSpPr>
            <p:nvPr/>
          </p:nvSpPr>
          <p:spPr bwMode="auto">
            <a:xfrm flipH="1">
              <a:off x="1000" y="1296"/>
              <a:ext cx="240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88" name="Line 4"/>
          <p:cNvSpPr>
            <a:spLocks noChangeShapeType="1"/>
          </p:cNvSpPr>
          <p:nvPr/>
        </p:nvSpPr>
        <p:spPr bwMode="auto">
          <a:xfrm>
            <a:off x="536127" y="431689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4"/>
          <p:cNvSpPr>
            <a:spLocks noChangeShapeType="1"/>
          </p:cNvSpPr>
          <p:nvPr/>
        </p:nvSpPr>
        <p:spPr bwMode="auto">
          <a:xfrm>
            <a:off x="565944" y="5029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Text Box 85"/>
          <p:cNvSpPr txBox="1">
            <a:spLocks noChangeArrowheads="1"/>
          </p:cNvSpPr>
          <p:nvPr/>
        </p:nvSpPr>
        <p:spPr bwMode="auto">
          <a:xfrm>
            <a:off x="7287004" y="2394424"/>
            <a:ext cx="4539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no</a:t>
            </a:r>
            <a:endParaRPr lang="en-US" sz="2000" dirty="0">
              <a:solidFill>
                <a:srgbClr val="6600CC"/>
              </a:solidFill>
            </a:endParaRPr>
          </a:p>
        </p:txBody>
      </p:sp>
      <p:sp>
        <p:nvSpPr>
          <p:cNvPr id="91" name="Line 4"/>
          <p:cNvSpPr>
            <a:spLocks noChangeShapeType="1"/>
          </p:cNvSpPr>
          <p:nvPr/>
        </p:nvSpPr>
        <p:spPr bwMode="auto">
          <a:xfrm>
            <a:off x="542167" y="542662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" name="Line 4"/>
          <p:cNvSpPr>
            <a:spLocks noChangeShapeType="1"/>
          </p:cNvSpPr>
          <p:nvPr/>
        </p:nvSpPr>
        <p:spPr bwMode="auto">
          <a:xfrm>
            <a:off x="564186" y="5708236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Line 4"/>
          <p:cNvSpPr>
            <a:spLocks noChangeShapeType="1"/>
          </p:cNvSpPr>
          <p:nvPr/>
        </p:nvSpPr>
        <p:spPr bwMode="auto">
          <a:xfrm>
            <a:off x="285892" y="5999922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 bwMode="auto">
          <a:xfrm flipH="1">
            <a:off x="6926263" y="2925142"/>
            <a:ext cx="434492" cy="47579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Straight Arrow Connector 101"/>
          <p:cNvCxnSpPr/>
          <p:nvPr/>
        </p:nvCxnSpPr>
        <p:spPr bwMode="auto">
          <a:xfrm>
            <a:off x="7632687" y="2896703"/>
            <a:ext cx="390041" cy="47579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03" name="Group 102"/>
          <p:cNvGrpSpPr/>
          <p:nvPr/>
        </p:nvGrpSpPr>
        <p:grpSpPr>
          <a:xfrm>
            <a:off x="353017" y="1323518"/>
            <a:ext cx="1907326" cy="440121"/>
            <a:chOff x="-450429" y="1468055"/>
            <a:chExt cx="1907326" cy="440121"/>
          </a:xfrm>
        </p:grpSpPr>
        <p:sp>
          <p:nvSpPr>
            <p:cNvPr id="107" name="Text Box 59"/>
            <p:cNvSpPr txBox="1">
              <a:spLocks noChangeArrowheads="1"/>
            </p:cNvSpPr>
            <p:nvPr/>
          </p:nvSpPr>
          <p:spPr bwMode="auto">
            <a:xfrm>
              <a:off x="-450429" y="1468055"/>
              <a:ext cx="776206" cy="440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USC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  <p:sp>
          <p:nvSpPr>
            <p:cNvPr id="108" name="Text Box 72"/>
            <p:cNvSpPr txBox="1">
              <a:spLocks noChangeArrowheads="1"/>
            </p:cNvSpPr>
            <p:nvPr/>
          </p:nvSpPr>
          <p:spPr bwMode="auto">
            <a:xfrm>
              <a:off x="164556" y="1474305"/>
              <a:ext cx="129234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kids have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7.40741E-7 L -0.56493 -0.15555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247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6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3" grpId="1" animBg="1"/>
      <p:bldP spid="88" grpId="0" animBg="1"/>
      <p:bldP spid="88" grpId="1" animBg="1"/>
      <p:bldP spid="89" grpId="0" animBg="1"/>
      <p:bldP spid="89" grpId="1" animBg="1"/>
      <p:bldP spid="90" grpId="0"/>
      <p:bldP spid="90" grpId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6"/>
          <p:cNvGrpSpPr/>
          <p:nvPr/>
        </p:nvGrpSpPr>
        <p:grpSpPr bwMode="auto">
          <a:xfrm>
            <a:off x="5437188" y="155575"/>
            <a:ext cx="3722688" cy="2892425"/>
            <a:chOff x="3425" y="509"/>
            <a:chExt cx="2345" cy="1822"/>
          </a:xfrm>
        </p:grpSpPr>
        <p:grpSp>
          <p:nvGrpSpPr>
            <p:cNvPr id="74" name="Group 7"/>
            <p:cNvGrpSpPr/>
            <p:nvPr/>
          </p:nvGrpSpPr>
          <p:grpSpPr bwMode="auto">
            <a:xfrm>
              <a:off x="3425" y="672"/>
              <a:ext cx="2170" cy="1659"/>
              <a:chOff x="3362" y="693"/>
              <a:chExt cx="2170" cy="1659"/>
            </a:xfrm>
          </p:grpSpPr>
          <p:grpSp>
            <p:nvGrpSpPr>
              <p:cNvPr id="79" name="Group 8"/>
              <p:cNvGrpSpPr/>
              <p:nvPr/>
            </p:nvGrpSpPr>
            <p:grpSpPr bwMode="auto">
              <a:xfrm>
                <a:off x="3917" y="1327"/>
                <a:ext cx="499" cy="373"/>
                <a:chOff x="3511" y="3072"/>
                <a:chExt cx="729" cy="624"/>
              </a:xfrm>
            </p:grpSpPr>
            <p:sp>
              <p:nvSpPr>
                <p:cNvPr id="124" name="Rectangle 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" name="Rectangle 1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6" name="Rectangle 1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7" name="Rectangle 1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" name="Group 13"/>
              <p:cNvGrpSpPr/>
              <p:nvPr/>
            </p:nvGrpSpPr>
            <p:grpSpPr bwMode="auto">
              <a:xfrm>
                <a:off x="4515" y="693"/>
                <a:ext cx="499" cy="373"/>
                <a:chOff x="3511" y="3072"/>
                <a:chExt cx="729" cy="624"/>
              </a:xfrm>
            </p:grpSpPr>
            <p:sp>
              <p:nvSpPr>
                <p:cNvPr id="120" name="Rectangle 14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" name="Rectangle 16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3" name="Rectangle 17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1" name="Group 18"/>
              <p:cNvGrpSpPr/>
              <p:nvPr/>
            </p:nvGrpSpPr>
            <p:grpSpPr bwMode="auto">
              <a:xfrm>
                <a:off x="5002" y="1327"/>
                <a:ext cx="498" cy="373"/>
                <a:chOff x="3511" y="3072"/>
                <a:chExt cx="729" cy="624"/>
              </a:xfrm>
            </p:grpSpPr>
            <p:sp>
              <p:nvSpPr>
                <p:cNvPr id="116" name="Rectangle 1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" name="Rectangle 2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" name="Rectangle 2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" name="Rectangle 2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2" name="Line 23"/>
              <p:cNvSpPr>
                <a:spLocks noChangeShapeType="1"/>
              </p:cNvSpPr>
              <p:nvPr/>
            </p:nvSpPr>
            <p:spPr bwMode="auto">
              <a:xfrm flipH="1">
                <a:off x="4216" y="992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24"/>
              <p:cNvSpPr>
                <a:spLocks noChangeShapeType="1"/>
              </p:cNvSpPr>
              <p:nvPr/>
            </p:nvSpPr>
            <p:spPr bwMode="auto">
              <a:xfrm>
                <a:off x="4883" y="991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Text Box 25"/>
              <p:cNvSpPr txBox="1">
                <a:spLocks noChangeArrowheads="1"/>
              </p:cNvSpPr>
              <p:nvPr/>
            </p:nvSpPr>
            <p:spPr bwMode="auto">
              <a:xfrm>
                <a:off x="4986" y="157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85" name="Text Box 26"/>
              <p:cNvSpPr txBox="1">
                <a:spLocks noChangeArrowheads="1"/>
              </p:cNvSpPr>
              <p:nvPr/>
            </p:nvSpPr>
            <p:spPr bwMode="auto">
              <a:xfrm>
                <a:off x="4379" y="704"/>
                <a:ext cx="6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"USC"</a:t>
                </a:r>
                <a:endParaRPr lang="en-US" sz="1800" dirty="0"/>
              </a:p>
            </p:txBody>
          </p:sp>
          <p:sp>
            <p:nvSpPr>
              <p:cNvPr id="87" name="Text Box 27"/>
              <p:cNvSpPr txBox="1">
                <a:spLocks noChangeArrowheads="1"/>
              </p:cNvSpPr>
              <p:nvPr/>
            </p:nvSpPr>
            <p:spPr bwMode="auto">
              <a:xfrm>
                <a:off x="3826" y="1341"/>
                <a:ext cx="6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"kids"</a:t>
                </a:r>
                <a:endParaRPr lang="en-US" sz="1800" dirty="0"/>
              </a:p>
            </p:txBody>
          </p:sp>
          <p:sp>
            <p:nvSpPr>
              <p:cNvPr id="88" name="Text Box 28"/>
              <p:cNvSpPr txBox="1">
                <a:spLocks noChangeArrowheads="1"/>
              </p:cNvSpPr>
              <p:nvPr/>
            </p:nvSpPr>
            <p:spPr bwMode="auto">
              <a:xfrm>
                <a:off x="4825" y="1338"/>
                <a:ext cx="6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"clue"</a:t>
                </a:r>
                <a:endParaRPr lang="en-US" sz="1800" dirty="0"/>
              </a:p>
            </p:txBody>
          </p:sp>
          <p:sp>
            <p:nvSpPr>
              <p:cNvPr id="89" name="Text Box 29"/>
              <p:cNvSpPr txBox="1">
                <a:spLocks noChangeArrowheads="1"/>
              </p:cNvSpPr>
              <p:nvPr/>
            </p:nvSpPr>
            <p:spPr bwMode="auto">
              <a:xfrm>
                <a:off x="5204" y="156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90" name="Line 30"/>
              <p:cNvSpPr>
                <a:spLocks noChangeShapeType="1"/>
              </p:cNvSpPr>
              <p:nvPr/>
            </p:nvSpPr>
            <p:spPr bwMode="auto">
              <a:xfrm flipH="1">
                <a:off x="3698" y="1634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1" name="Group 31"/>
              <p:cNvGrpSpPr/>
              <p:nvPr/>
            </p:nvGrpSpPr>
            <p:grpSpPr bwMode="auto">
              <a:xfrm>
                <a:off x="3518" y="1960"/>
                <a:ext cx="499" cy="373"/>
                <a:chOff x="3511" y="3072"/>
                <a:chExt cx="729" cy="624"/>
              </a:xfrm>
            </p:grpSpPr>
            <p:sp>
              <p:nvSpPr>
                <p:cNvPr id="112" name="Rectangle 3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" name="Rectangle 3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" name="Rectangle 3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" name="Rectangle 3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" name="Text Box 36"/>
              <p:cNvSpPr txBox="1">
                <a:spLocks noChangeArrowheads="1"/>
              </p:cNvSpPr>
              <p:nvPr/>
            </p:nvSpPr>
            <p:spPr bwMode="auto">
              <a:xfrm>
                <a:off x="3362" y="1976"/>
                <a:ext cx="6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"have"</a:t>
                </a:r>
                <a:endParaRPr lang="en-US" sz="1800" dirty="0"/>
              </a:p>
            </p:txBody>
          </p:sp>
          <p:sp>
            <p:nvSpPr>
              <p:cNvPr id="93" name="Text Box 37"/>
              <p:cNvSpPr txBox="1">
                <a:spLocks noChangeArrowheads="1"/>
              </p:cNvSpPr>
              <p:nvPr/>
            </p:nvSpPr>
            <p:spPr bwMode="auto">
              <a:xfrm>
                <a:off x="3489" y="2183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95" name="Text Box 38"/>
              <p:cNvSpPr txBox="1">
                <a:spLocks noChangeArrowheads="1"/>
              </p:cNvSpPr>
              <p:nvPr/>
            </p:nvSpPr>
            <p:spPr bwMode="auto">
              <a:xfrm>
                <a:off x="3726" y="2192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grpSp>
            <p:nvGrpSpPr>
              <p:cNvPr id="96" name="Group 39"/>
              <p:cNvGrpSpPr/>
              <p:nvPr/>
            </p:nvGrpSpPr>
            <p:grpSpPr bwMode="auto">
              <a:xfrm>
                <a:off x="4414" y="1954"/>
                <a:ext cx="498" cy="373"/>
                <a:chOff x="3511" y="3072"/>
                <a:chExt cx="729" cy="624"/>
              </a:xfrm>
            </p:grpSpPr>
            <p:sp>
              <p:nvSpPr>
                <p:cNvPr id="107" name="Rectangle 40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" name="Rectangle 41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" name="Rectangle 42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1" name="Rectangle 43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8" name="Line 44"/>
              <p:cNvSpPr>
                <a:spLocks noChangeShapeType="1"/>
              </p:cNvSpPr>
              <p:nvPr/>
            </p:nvSpPr>
            <p:spPr bwMode="auto">
              <a:xfrm>
                <a:off x="4295" y="1618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Text Box 45"/>
              <p:cNvSpPr txBox="1">
                <a:spLocks noChangeArrowheads="1"/>
              </p:cNvSpPr>
              <p:nvPr/>
            </p:nvSpPr>
            <p:spPr bwMode="auto">
              <a:xfrm>
                <a:off x="4398" y="219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02" name="Text Box 46"/>
              <p:cNvSpPr txBox="1">
                <a:spLocks noChangeArrowheads="1"/>
              </p:cNvSpPr>
              <p:nvPr/>
            </p:nvSpPr>
            <p:spPr bwMode="auto">
              <a:xfrm>
                <a:off x="4297" y="1958"/>
                <a:ext cx="5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"no"</a:t>
                </a:r>
                <a:endParaRPr lang="en-US" sz="1800" dirty="0"/>
              </a:p>
            </p:txBody>
          </p:sp>
          <p:sp>
            <p:nvSpPr>
              <p:cNvPr id="103" name="Text Box 47"/>
              <p:cNvSpPr txBox="1">
                <a:spLocks noChangeArrowheads="1"/>
              </p:cNvSpPr>
              <p:nvPr/>
            </p:nvSpPr>
            <p:spPr bwMode="auto">
              <a:xfrm>
                <a:off x="4616" y="218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5" name="Rectangle 48"/>
            <p:cNvSpPr>
              <a:spLocks noChangeArrowheads="1"/>
            </p:cNvSpPr>
            <p:nvPr/>
          </p:nvSpPr>
          <p:spPr bwMode="auto">
            <a:xfrm>
              <a:off x="5206" y="509"/>
              <a:ext cx="472" cy="14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Text Box 49"/>
            <p:cNvSpPr txBox="1">
              <a:spLocks noChangeArrowheads="1"/>
            </p:cNvSpPr>
            <p:nvPr/>
          </p:nvSpPr>
          <p:spPr bwMode="auto">
            <a:xfrm>
              <a:off x="5270" y="60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root</a:t>
              </a:r>
              <a:endParaRPr lang="en-US"/>
            </a:p>
          </p:txBody>
        </p:sp>
        <p:sp>
          <p:nvSpPr>
            <p:cNvPr id="77" name="Line 50"/>
            <p:cNvSpPr>
              <a:spLocks noChangeShapeType="1"/>
            </p:cNvSpPr>
            <p:nvPr/>
          </p:nvSpPr>
          <p:spPr bwMode="auto">
            <a:xfrm flipH="1">
              <a:off x="5072" y="591"/>
              <a:ext cx="217" cy="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0135F-B13F-4A19-A982-047C9F045D04}" type="slidenum">
              <a:rPr lang="en-US"/>
            </a:fld>
            <a:endParaRPr lang="en-US"/>
          </a:p>
        </p:txBody>
      </p:sp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130175" y="41148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6754813" y="4435475"/>
            <a:ext cx="2317750" cy="222885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main()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Node *root;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…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preorder(root);</a:t>
            </a:r>
            <a:endParaRPr lang="en-US" sz="2000" dirty="0"/>
          </a:p>
          <a:p>
            <a:r>
              <a:rPr lang="en-US" sz="2000" dirty="0"/>
              <a:t>}</a:t>
            </a:r>
            <a:endParaRPr lang="en-US" sz="2000" dirty="0"/>
          </a:p>
        </p:txBody>
      </p:sp>
      <p:grpSp>
        <p:nvGrpSpPr>
          <p:cNvPr id="599093" name="Group 53"/>
          <p:cNvGrpSpPr/>
          <p:nvPr/>
        </p:nvGrpSpPr>
        <p:grpSpPr bwMode="auto">
          <a:xfrm>
            <a:off x="6303963" y="345454"/>
            <a:ext cx="927100" cy="457200"/>
            <a:chOff x="1240" y="1132"/>
            <a:chExt cx="584" cy="288"/>
          </a:xfrm>
        </p:grpSpPr>
        <p:sp>
          <p:nvSpPr>
            <p:cNvPr id="599094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9095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599098" name="Text Box 58"/>
          <p:cNvSpPr txBox="1">
            <a:spLocks noChangeArrowheads="1"/>
          </p:cNvSpPr>
          <p:nvPr/>
        </p:nvSpPr>
        <p:spPr bwMode="auto">
          <a:xfrm>
            <a:off x="228600" y="838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Output:</a:t>
            </a:r>
            <a:endParaRPr lang="en-US"/>
          </a:p>
        </p:txBody>
      </p:sp>
      <p:sp>
        <p:nvSpPr>
          <p:cNvPr id="100" name="Line 4"/>
          <p:cNvSpPr>
            <a:spLocks noChangeShapeType="1"/>
          </p:cNvSpPr>
          <p:nvPr/>
        </p:nvSpPr>
        <p:spPr bwMode="auto">
          <a:xfrm>
            <a:off x="168966" y="5953539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Text Box 2"/>
          <p:cNvSpPr txBox="1">
            <a:spLocks noChangeArrowheads="1"/>
          </p:cNvSpPr>
          <p:nvPr/>
        </p:nvSpPr>
        <p:spPr bwMode="auto">
          <a:xfrm>
            <a:off x="273671" y="381994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cxnSp>
        <p:nvCxnSpPr>
          <p:cNvPr id="97" name="Straight Arrow Connector 96"/>
          <p:cNvCxnSpPr/>
          <p:nvPr/>
        </p:nvCxnSpPr>
        <p:spPr bwMode="auto">
          <a:xfrm flipH="1">
            <a:off x="6808304" y="889001"/>
            <a:ext cx="619610" cy="51241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 1"/>
          <p:cNvSpPr/>
          <p:nvPr/>
        </p:nvSpPr>
        <p:spPr bwMode="auto">
          <a:xfrm>
            <a:off x="6299200" y="-67296"/>
            <a:ext cx="2773363" cy="1490663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04" name="Group 53"/>
          <p:cNvGrpSpPr/>
          <p:nvPr/>
        </p:nvGrpSpPr>
        <p:grpSpPr bwMode="auto">
          <a:xfrm>
            <a:off x="5372515" y="1310339"/>
            <a:ext cx="927100" cy="457200"/>
            <a:chOff x="1240" y="1132"/>
            <a:chExt cx="584" cy="288"/>
          </a:xfrm>
        </p:grpSpPr>
        <p:sp>
          <p:nvSpPr>
            <p:cNvPr id="105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110" name="Rectangle 109"/>
          <p:cNvSpPr/>
          <p:nvPr/>
        </p:nvSpPr>
        <p:spPr bwMode="auto">
          <a:xfrm>
            <a:off x="7772401" y="1430199"/>
            <a:ext cx="1371599" cy="825224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3" name="Rectangle 74"/>
          <p:cNvSpPr>
            <a:spLocks noGrp="1" noChangeArrowheads="1"/>
          </p:cNvSpPr>
          <p:nvPr>
            <p:ph type="title"/>
          </p:nvPr>
        </p:nvSpPr>
        <p:spPr>
          <a:xfrm>
            <a:off x="-990600" y="0"/>
            <a:ext cx="7772400" cy="1143000"/>
          </a:xfrm>
        </p:spPr>
        <p:txBody>
          <a:bodyPr/>
          <a:lstStyle/>
          <a:p>
            <a:r>
              <a:rPr lang="en-US" sz="3600" dirty="0"/>
              <a:t>The Pre-order Traversal</a:t>
            </a:r>
            <a:endParaRPr lang="en-US" sz="3600" dirty="0"/>
          </a:p>
        </p:txBody>
      </p:sp>
      <p:sp>
        <p:nvSpPr>
          <p:cNvPr id="78" name="Line 4"/>
          <p:cNvSpPr>
            <a:spLocks noChangeShapeType="1"/>
          </p:cNvSpPr>
          <p:nvPr/>
        </p:nvSpPr>
        <p:spPr bwMode="auto">
          <a:xfrm>
            <a:off x="341244" y="5943600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Line 4"/>
          <p:cNvSpPr>
            <a:spLocks noChangeShapeType="1"/>
          </p:cNvSpPr>
          <p:nvPr/>
        </p:nvSpPr>
        <p:spPr bwMode="auto">
          <a:xfrm>
            <a:off x="106988" y="6248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8" name="Group 127"/>
          <p:cNvGrpSpPr/>
          <p:nvPr/>
        </p:nvGrpSpPr>
        <p:grpSpPr>
          <a:xfrm>
            <a:off x="353017" y="1323518"/>
            <a:ext cx="1907326" cy="440121"/>
            <a:chOff x="-450429" y="1468055"/>
            <a:chExt cx="1907326" cy="440121"/>
          </a:xfrm>
        </p:grpSpPr>
        <p:sp>
          <p:nvSpPr>
            <p:cNvPr id="129" name="Text Box 59"/>
            <p:cNvSpPr txBox="1">
              <a:spLocks noChangeArrowheads="1"/>
            </p:cNvSpPr>
            <p:nvPr/>
          </p:nvSpPr>
          <p:spPr bwMode="auto">
            <a:xfrm>
              <a:off x="-450429" y="1468055"/>
              <a:ext cx="776206" cy="440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USC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  <p:sp>
          <p:nvSpPr>
            <p:cNvPr id="130" name="Text Box 72"/>
            <p:cNvSpPr txBox="1">
              <a:spLocks noChangeArrowheads="1"/>
            </p:cNvSpPr>
            <p:nvPr/>
          </p:nvSpPr>
          <p:spPr bwMode="auto">
            <a:xfrm>
              <a:off x="164556" y="1474305"/>
              <a:ext cx="129234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kids have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</p:grpSp>
      <p:sp>
        <p:nvSpPr>
          <p:cNvPr id="131" name="Text Box 85"/>
          <p:cNvSpPr txBox="1">
            <a:spLocks noChangeArrowheads="1"/>
          </p:cNvSpPr>
          <p:nvPr/>
        </p:nvSpPr>
        <p:spPr bwMode="auto">
          <a:xfrm>
            <a:off x="2137861" y="1324852"/>
            <a:ext cx="4539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no</a:t>
            </a:r>
            <a:endParaRPr lang="en-US" sz="2000" dirty="0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6" grpId="0" animBg="1"/>
      <p:bldP spid="8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6"/>
          <p:cNvGrpSpPr/>
          <p:nvPr/>
        </p:nvGrpSpPr>
        <p:grpSpPr bwMode="auto">
          <a:xfrm>
            <a:off x="5437188" y="155575"/>
            <a:ext cx="3722688" cy="2892425"/>
            <a:chOff x="3425" y="509"/>
            <a:chExt cx="2345" cy="1822"/>
          </a:xfrm>
        </p:grpSpPr>
        <p:grpSp>
          <p:nvGrpSpPr>
            <p:cNvPr id="104" name="Group 7"/>
            <p:cNvGrpSpPr/>
            <p:nvPr/>
          </p:nvGrpSpPr>
          <p:grpSpPr bwMode="auto">
            <a:xfrm>
              <a:off x="3425" y="672"/>
              <a:ext cx="2170" cy="1659"/>
              <a:chOff x="3362" y="693"/>
              <a:chExt cx="2170" cy="1659"/>
            </a:xfrm>
          </p:grpSpPr>
          <p:grpSp>
            <p:nvGrpSpPr>
              <p:cNvPr id="108" name="Group 8"/>
              <p:cNvGrpSpPr/>
              <p:nvPr/>
            </p:nvGrpSpPr>
            <p:grpSpPr bwMode="auto">
              <a:xfrm>
                <a:off x="3917" y="1327"/>
                <a:ext cx="499" cy="373"/>
                <a:chOff x="3511" y="3072"/>
                <a:chExt cx="729" cy="624"/>
              </a:xfrm>
            </p:grpSpPr>
            <p:sp>
              <p:nvSpPr>
                <p:cNvPr id="145" name="Rectangle 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" name="Rectangle 1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7" name="Rectangle 1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8" name="Rectangle 1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9" name="Group 13"/>
              <p:cNvGrpSpPr/>
              <p:nvPr/>
            </p:nvGrpSpPr>
            <p:grpSpPr bwMode="auto">
              <a:xfrm>
                <a:off x="4515" y="693"/>
                <a:ext cx="499" cy="373"/>
                <a:chOff x="3511" y="3072"/>
                <a:chExt cx="729" cy="624"/>
              </a:xfrm>
            </p:grpSpPr>
            <p:sp>
              <p:nvSpPr>
                <p:cNvPr id="141" name="Rectangle 14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2" name="Rectangle 15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3" name="Rectangle 16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4" name="Rectangle 17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0" name="Group 18"/>
              <p:cNvGrpSpPr/>
              <p:nvPr/>
            </p:nvGrpSpPr>
            <p:grpSpPr bwMode="auto">
              <a:xfrm>
                <a:off x="5002" y="1327"/>
                <a:ext cx="498" cy="373"/>
                <a:chOff x="3511" y="3072"/>
                <a:chExt cx="729" cy="624"/>
              </a:xfrm>
            </p:grpSpPr>
            <p:sp>
              <p:nvSpPr>
                <p:cNvPr id="137" name="Rectangle 1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" name="Rectangle 2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Rectangle 2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0" name="Rectangle 2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1" name="Line 23"/>
              <p:cNvSpPr>
                <a:spLocks noChangeShapeType="1"/>
              </p:cNvSpPr>
              <p:nvPr/>
            </p:nvSpPr>
            <p:spPr bwMode="auto">
              <a:xfrm flipH="1">
                <a:off x="4216" y="992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Line 24"/>
              <p:cNvSpPr>
                <a:spLocks noChangeShapeType="1"/>
              </p:cNvSpPr>
              <p:nvPr/>
            </p:nvSpPr>
            <p:spPr bwMode="auto">
              <a:xfrm>
                <a:off x="4883" y="991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Text Box 25"/>
              <p:cNvSpPr txBox="1">
                <a:spLocks noChangeArrowheads="1"/>
              </p:cNvSpPr>
              <p:nvPr/>
            </p:nvSpPr>
            <p:spPr bwMode="auto">
              <a:xfrm>
                <a:off x="4986" y="157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14" name="Text Box 26"/>
              <p:cNvSpPr txBox="1">
                <a:spLocks noChangeArrowheads="1"/>
              </p:cNvSpPr>
              <p:nvPr/>
            </p:nvSpPr>
            <p:spPr bwMode="auto">
              <a:xfrm>
                <a:off x="4379" y="704"/>
                <a:ext cx="6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"USC"</a:t>
                </a:r>
                <a:endParaRPr lang="en-US" sz="1800" dirty="0"/>
              </a:p>
            </p:txBody>
          </p:sp>
          <p:sp>
            <p:nvSpPr>
              <p:cNvPr id="115" name="Text Box 27"/>
              <p:cNvSpPr txBox="1">
                <a:spLocks noChangeArrowheads="1"/>
              </p:cNvSpPr>
              <p:nvPr/>
            </p:nvSpPr>
            <p:spPr bwMode="auto">
              <a:xfrm>
                <a:off x="3826" y="1341"/>
                <a:ext cx="6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"kids"</a:t>
                </a:r>
                <a:endParaRPr lang="en-US" sz="1800" dirty="0"/>
              </a:p>
            </p:txBody>
          </p:sp>
          <p:sp>
            <p:nvSpPr>
              <p:cNvPr id="116" name="Text Box 28"/>
              <p:cNvSpPr txBox="1">
                <a:spLocks noChangeArrowheads="1"/>
              </p:cNvSpPr>
              <p:nvPr/>
            </p:nvSpPr>
            <p:spPr bwMode="auto">
              <a:xfrm>
                <a:off x="4825" y="1338"/>
                <a:ext cx="6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"clue"</a:t>
                </a:r>
                <a:endParaRPr lang="en-US" sz="1800" dirty="0"/>
              </a:p>
            </p:txBody>
          </p:sp>
          <p:sp>
            <p:nvSpPr>
              <p:cNvPr id="117" name="Text Box 29"/>
              <p:cNvSpPr txBox="1">
                <a:spLocks noChangeArrowheads="1"/>
              </p:cNvSpPr>
              <p:nvPr/>
            </p:nvSpPr>
            <p:spPr bwMode="auto">
              <a:xfrm>
                <a:off x="5204" y="1561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18" name="Line 30"/>
              <p:cNvSpPr>
                <a:spLocks noChangeShapeType="1"/>
              </p:cNvSpPr>
              <p:nvPr/>
            </p:nvSpPr>
            <p:spPr bwMode="auto">
              <a:xfrm flipH="1">
                <a:off x="3698" y="1634"/>
                <a:ext cx="412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9" name="Group 31"/>
              <p:cNvGrpSpPr/>
              <p:nvPr/>
            </p:nvGrpSpPr>
            <p:grpSpPr bwMode="auto">
              <a:xfrm>
                <a:off x="3518" y="1960"/>
                <a:ext cx="499" cy="373"/>
                <a:chOff x="3511" y="3072"/>
                <a:chExt cx="729" cy="624"/>
              </a:xfrm>
            </p:grpSpPr>
            <p:sp>
              <p:nvSpPr>
                <p:cNvPr id="132" name="Rectangle 32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4" name="Rectangle 33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Rectangle 34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6" name="Rectangle 35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0" name="Text Box 36"/>
              <p:cNvSpPr txBox="1">
                <a:spLocks noChangeArrowheads="1"/>
              </p:cNvSpPr>
              <p:nvPr/>
            </p:nvSpPr>
            <p:spPr bwMode="auto">
              <a:xfrm>
                <a:off x="3362" y="1976"/>
                <a:ext cx="6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"have"</a:t>
                </a:r>
                <a:endParaRPr lang="en-US" sz="1800" dirty="0"/>
              </a:p>
            </p:txBody>
          </p:sp>
          <p:sp>
            <p:nvSpPr>
              <p:cNvPr id="121" name="Text Box 37"/>
              <p:cNvSpPr txBox="1">
                <a:spLocks noChangeArrowheads="1"/>
              </p:cNvSpPr>
              <p:nvPr/>
            </p:nvSpPr>
            <p:spPr bwMode="auto">
              <a:xfrm>
                <a:off x="3489" y="2183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2" name="Text Box 38"/>
              <p:cNvSpPr txBox="1">
                <a:spLocks noChangeArrowheads="1"/>
              </p:cNvSpPr>
              <p:nvPr/>
            </p:nvSpPr>
            <p:spPr bwMode="auto">
              <a:xfrm>
                <a:off x="3726" y="2192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grpSp>
            <p:nvGrpSpPr>
              <p:cNvPr id="123" name="Group 39"/>
              <p:cNvGrpSpPr/>
              <p:nvPr/>
            </p:nvGrpSpPr>
            <p:grpSpPr bwMode="auto">
              <a:xfrm>
                <a:off x="4414" y="1954"/>
                <a:ext cx="498" cy="373"/>
                <a:chOff x="3511" y="3072"/>
                <a:chExt cx="729" cy="624"/>
              </a:xfrm>
            </p:grpSpPr>
            <p:sp>
              <p:nvSpPr>
                <p:cNvPr id="128" name="Rectangle 40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9" name="Rectangle 41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" name="Rectangle 42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1" name="Rectangle 43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4" name="Line 44"/>
              <p:cNvSpPr>
                <a:spLocks noChangeShapeType="1"/>
              </p:cNvSpPr>
              <p:nvPr/>
            </p:nvSpPr>
            <p:spPr bwMode="auto">
              <a:xfrm>
                <a:off x="4295" y="1618"/>
                <a:ext cx="341" cy="335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Text Box 45"/>
              <p:cNvSpPr txBox="1">
                <a:spLocks noChangeArrowheads="1"/>
              </p:cNvSpPr>
              <p:nvPr/>
            </p:nvSpPr>
            <p:spPr bwMode="auto">
              <a:xfrm>
                <a:off x="4398" y="219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126" name="Text Box 46"/>
              <p:cNvSpPr txBox="1">
                <a:spLocks noChangeArrowheads="1"/>
              </p:cNvSpPr>
              <p:nvPr/>
            </p:nvSpPr>
            <p:spPr bwMode="auto">
              <a:xfrm>
                <a:off x="4297" y="1958"/>
                <a:ext cx="56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    "no"</a:t>
                </a:r>
                <a:endParaRPr lang="en-US" sz="1800" dirty="0"/>
              </a:p>
            </p:txBody>
          </p:sp>
          <p:sp>
            <p:nvSpPr>
              <p:cNvPr id="127" name="Text Box 47"/>
              <p:cNvSpPr txBox="1">
                <a:spLocks noChangeArrowheads="1"/>
              </p:cNvSpPr>
              <p:nvPr/>
            </p:nvSpPr>
            <p:spPr bwMode="auto">
              <a:xfrm>
                <a:off x="4616" y="218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105" name="Rectangle 48"/>
            <p:cNvSpPr>
              <a:spLocks noChangeArrowheads="1"/>
            </p:cNvSpPr>
            <p:nvPr/>
          </p:nvSpPr>
          <p:spPr bwMode="auto">
            <a:xfrm>
              <a:off x="5206" y="509"/>
              <a:ext cx="472" cy="14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49"/>
            <p:cNvSpPr txBox="1">
              <a:spLocks noChangeArrowheads="1"/>
            </p:cNvSpPr>
            <p:nvPr/>
          </p:nvSpPr>
          <p:spPr bwMode="auto">
            <a:xfrm>
              <a:off x="5270" y="60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root</a:t>
              </a:r>
              <a:endParaRPr lang="en-US"/>
            </a:p>
          </p:txBody>
        </p:sp>
        <p:sp>
          <p:nvSpPr>
            <p:cNvPr id="107" name="Line 50"/>
            <p:cNvSpPr>
              <a:spLocks noChangeShapeType="1"/>
            </p:cNvSpPr>
            <p:nvPr/>
          </p:nvSpPr>
          <p:spPr bwMode="auto">
            <a:xfrm flipH="1">
              <a:off x="5072" y="591"/>
              <a:ext cx="217" cy="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0135F-B13F-4A19-A982-047C9F045D04}" type="slidenum">
              <a:rPr lang="en-US"/>
            </a:fld>
            <a:endParaRPr lang="en-US"/>
          </a:p>
        </p:txBody>
      </p:sp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130175" y="411480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6754813" y="4435475"/>
            <a:ext cx="2317750" cy="222885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main()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Node *root;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…</a:t>
            </a:r>
            <a:endParaRPr lang="en-US" sz="2000" dirty="0"/>
          </a:p>
          <a:p>
            <a:endParaRPr lang="en-US" sz="1000" dirty="0"/>
          </a:p>
          <a:p>
            <a:r>
              <a:rPr lang="en-US" sz="2000" dirty="0"/>
              <a:t>   preorder(root);</a:t>
            </a:r>
            <a:endParaRPr lang="en-US" sz="2000" dirty="0"/>
          </a:p>
          <a:p>
            <a:r>
              <a:rPr lang="en-US" sz="2000" dirty="0"/>
              <a:t>}</a:t>
            </a:r>
            <a:endParaRPr lang="en-US" sz="2000" dirty="0"/>
          </a:p>
        </p:txBody>
      </p:sp>
      <p:grpSp>
        <p:nvGrpSpPr>
          <p:cNvPr id="599093" name="Group 53"/>
          <p:cNvGrpSpPr/>
          <p:nvPr/>
        </p:nvGrpSpPr>
        <p:grpSpPr bwMode="auto">
          <a:xfrm>
            <a:off x="6303963" y="345454"/>
            <a:ext cx="927100" cy="457200"/>
            <a:chOff x="1240" y="1132"/>
            <a:chExt cx="584" cy="288"/>
          </a:xfrm>
        </p:grpSpPr>
        <p:sp>
          <p:nvSpPr>
            <p:cNvPr id="599094" name="Line 54"/>
            <p:cNvSpPr>
              <a:spLocks noChangeShapeType="1"/>
            </p:cNvSpPr>
            <p:nvPr/>
          </p:nvSpPr>
          <p:spPr bwMode="auto">
            <a:xfrm>
              <a:off x="1632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9095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599098" name="Text Box 58"/>
          <p:cNvSpPr txBox="1">
            <a:spLocks noChangeArrowheads="1"/>
          </p:cNvSpPr>
          <p:nvPr/>
        </p:nvSpPr>
        <p:spPr bwMode="auto">
          <a:xfrm>
            <a:off x="228600" y="838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Output:</a:t>
            </a:r>
            <a:endParaRPr lang="en-US"/>
          </a:p>
        </p:txBody>
      </p:sp>
      <p:sp>
        <p:nvSpPr>
          <p:cNvPr id="133" name="Rectangle 74"/>
          <p:cNvSpPr>
            <a:spLocks noGrp="1" noChangeArrowheads="1"/>
          </p:cNvSpPr>
          <p:nvPr>
            <p:ph type="title"/>
          </p:nvPr>
        </p:nvSpPr>
        <p:spPr>
          <a:xfrm>
            <a:off x="-990600" y="0"/>
            <a:ext cx="7772400" cy="1143000"/>
          </a:xfrm>
        </p:spPr>
        <p:txBody>
          <a:bodyPr/>
          <a:lstStyle/>
          <a:p>
            <a:r>
              <a:rPr lang="en-US" sz="3600" dirty="0"/>
              <a:t>The Pre-order Traversal</a:t>
            </a:r>
            <a:endParaRPr lang="en-US" sz="3600" dirty="0"/>
          </a:p>
        </p:txBody>
      </p:sp>
      <p:sp>
        <p:nvSpPr>
          <p:cNvPr id="71" name="Line 4"/>
          <p:cNvSpPr>
            <a:spLocks noChangeShapeType="1"/>
          </p:cNvSpPr>
          <p:nvPr/>
        </p:nvSpPr>
        <p:spPr bwMode="auto">
          <a:xfrm>
            <a:off x="162339" y="5960166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Line 4"/>
          <p:cNvSpPr>
            <a:spLocks noChangeShapeType="1"/>
          </p:cNvSpPr>
          <p:nvPr/>
        </p:nvSpPr>
        <p:spPr bwMode="auto">
          <a:xfrm>
            <a:off x="168966" y="6248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Text Box 2"/>
          <p:cNvSpPr txBox="1">
            <a:spLocks noChangeArrowheads="1"/>
          </p:cNvSpPr>
          <p:nvPr/>
        </p:nvSpPr>
        <p:spPr bwMode="auto">
          <a:xfrm>
            <a:off x="358775" y="3879850"/>
            <a:ext cx="6744154" cy="261610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void preorder(Node *cur)</a:t>
            </a:r>
            <a:endParaRPr lang="en-US" sz="1800" dirty="0"/>
          </a:p>
          <a:p>
            <a:r>
              <a:rPr lang="en-US" sz="1800" dirty="0"/>
              <a:t>{</a:t>
            </a:r>
            <a:endParaRPr lang="en-US" sz="1800" dirty="0"/>
          </a:p>
          <a:p>
            <a:r>
              <a:rPr lang="en-US" sz="1800" dirty="0"/>
              <a:t>    if (cur == </a:t>
            </a:r>
            <a:r>
              <a:rPr lang="en-US" sz="1800" dirty="0" err="1"/>
              <a:t>nullptr</a:t>
            </a:r>
            <a:r>
              <a:rPr lang="en-US" sz="1800" dirty="0"/>
              <a:t>)	  // if empty, return…</a:t>
            </a:r>
            <a:endParaRPr lang="en-US" sz="1800" dirty="0"/>
          </a:p>
          <a:p>
            <a:r>
              <a:rPr lang="en-US" sz="1800" dirty="0"/>
              <a:t>         return;</a:t>
            </a:r>
            <a:endParaRPr lang="en-US" sz="1800" dirty="0"/>
          </a:p>
          <a:p>
            <a:endParaRPr lang="en-US" sz="1000" dirty="0"/>
          </a:p>
          <a:p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cur-&gt;value;        // </a:t>
            </a:r>
            <a:r>
              <a:rPr lang="en-US" sz="1800" dirty="0">
                <a:solidFill>
                  <a:schemeClr val="accent2"/>
                </a:solidFill>
              </a:rPr>
              <a:t>Process the </a:t>
            </a:r>
            <a:r>
              <a:rPr lang="en-US" sz="1800" dirty="0">
                <a:solidFill>
                  <a:srgbClr val="FF3300"/>
                </a:solidFill>
              </a:rPr>
              <a:t>current</a:t>
            </a:r>
            <a:r>
              <a:rPr lang="en-US" sz="1800" dirty="0">
                <a:solidFill>
                  <a:schemeClr val="accent2"/>
                </a:solidFill>
              </a:rPr>
              <a:t> node.</a:t>
            </a:r>
            <a:endParaRPr lang="en-US" sz="1800" dirty="0">
              <a:solidFill>
                <a:schemeClr val="accent2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preorder(cur-&gt;left);     // Process nodes in left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    preorder(cur-&gt;right);  // Process nodes in right sub-tree.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/>
              <a:t>}</a:t>
            </a:r>
            <a:endParaRPr lang="en-US" sz="1800" dirty="0"/>
          </a:p>
        </p:txBody>
      </p:sp>
      <p:cxnSp>
        <p:nvCxnSpPr>
          <p:cNvPr id="92" name="Straight Arrow Connector 91"/>
          <p:cNvCxnSpPr/>
          <p:nvPr/>
        </p:nvCxnSpPr>
        <p:spPr bwMode="auto">
          <a:xfrm>
            <a:off x="7824340" y="886115"/>
            <a:ext cx="596500" cy="537252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Line 4"/>
          <p:cNvSpPr>
            <a:spLocks noChangeShapeType="1"/>
          </p:cNvSpPr>
          <p:nvPr/>
        </p:nvSpPr>
        <p:spPr bwMode="auto">
          <a:xfrm>
            <a:off x="162339" y="406841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Rectangle 79"/>
          <p:cNvSpPr/>
          <p:nvPr/>
        </p:nvSpPr>
        <p:spPr bwMode="auto">
          <a:xfrm>
            <a:off x="6289261" y="-67296"/>
            <a:ext cx="2773363" cy="1490663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5486400" y="1255260"/>
            <a:ext cx="2455863" cy="1868940"/>
          </a:xfrm>
          <a:prstGeom prst="rect">
            <a:avLst/>
          </a:prstGeom>
          <a:solidFill>
            <a:srgbClr val="FFFFFF">
              <a:alpha val="83137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76" name="Group 53"/>
          <p:cNvGrpSpPr/>
          <p:nvPr/>
        </p:nvGrpSpPr>
        <p:grpSpPr bwMode="auto">
          <a:xfrm>
            <a:off x="7172739" y="1459880"/>
            <a:ext cx="871538" cy="457200"/>
            <a:chOff x="1240" y="1132"/>
            <a:chExt cx="549" cy="288"/>
          </a:xfrm>
        </p:grpSpPr>
        <p:sp>
          <p:nvSpPr>
            <p:cNvPr id="77" name="Line 54"/>
            <p:cNvSpPr>
              <a:spLocks noChangeShapeType="1"/>
            </p:cNvSpPr>
            <p:nvPr/>
          </p:nvSpPr>
          <p:spPr bwMode="auto">
            <a:xfrm>
              <a:off x="1597" y="1296"/>
              <a:ext cx="192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Text Box 55"/>
            <p:cNvSpPr txBox="1">
              <a:spLocks noChangeArrowheads="1"/>
            </p:cNvSpPr>
            <p:nvPr/>
          </p:nvSpPr>
          <p:spPr bwMode="auto">
            <a:xfrm>
              <a:off x="1240" y="1132"/>
              <a:ext cx="4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cur</a:t>
              </a:r>
              <a:endParaRPr lang="en-US" dirty="0"/>
            </a:p>
          </p:txBody>
        </p:sp>
      </p:grpSp>
      <p:sp>
        <p:nvSpPr>
          <p:cNvPr id="82" name="Line 4"/>
          <p:cNvSpPr>
            <a:spLocks noChangeShapeType="1"/>
          </p:cNvSpPr>
          <p:nvPr/>
        </p:nvSpPr>
        <p:spPr bwMode="auto">
          <a:xfrm>
            <a:off x="421447" y="460181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4"/>
          <p:cNvSpPr>
            <a:spLocks noChangeShapeType="1"/>
          </p:cNvSpPr>
          <p:nvPr/>
        </p:nvSpPr>
        <p:spPr bwMode="auto">
          <a:xfrm>
            <a:off x="421447" y="532406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85"/>
          <p:cNvSpPr txBox="1">
            <a:spLocks noChangeArrowheads="1"/>
          </p:cNvSpPr>
          <p:nvPr/>
        </p:nvSpPr>
        <p:spPr bwMode="auto">
          <a:xfrm>
            <a:off x="8109513" y="1416507"/>
            <a:ext cx="6607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clue</a:t>
            </a:r>
            <a:endParaRPr lang="en-US" sz="2000" dirty="0">
              <a:solidFill>
                <a:srgbClr val="6600CC"/>
              </a:solidFill>
            </a:endParaRPr>
          </a:p>
        </p:txBody>
      </p:sp>
      <p:sp>
        <p:nvSpPr>
          <p:cNvPr id="85" name="Line 4"/>
          <p:cNvSpPr>
            <a:spLocks noChangeShapeType="1"/>
          </p:cNvSpPr>
          <p:nvPr/>
        </p:nvSpPr>
        <p:spPr bwMode="auto">
          <a:xfrm>
            <a:off x="411508" y="57150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4"/>
          <p:cNvSpPr>
            <a:spLocks noChangeShapeType="1"/>
          </p:cNvSpPr>
          <p:nvPr/>
        </p:nvSpPr>
        <p:spPr bwMode="auto">
          <a:xfrm>
            <a:off x="421447" y="601317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4"/>
          <p:cNvSpPr>
            <a:spLocks noChangeShapeType="1"/>
          </p:cNvSpPr>
          <p:nvPr/>
        </p:nvSpPr>
        <p:spPr bwMode="auto">
          <a:xfrm>
            <a:off x="168966" y="63246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4"/>
          <p:cNvSpPr>
            <a:spLocks noChangeShapeType="1"/>
          </p:cNvSpPr>
          <p:nvPr/>
        </p:nvSpPr>
        <p:spPr bwMode="auto">
          <a:xfrm>
            <a:off x="-76200" y="6553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" name="Line 4"/>
          <p:cNvSpPr>
            <a:spLocks noChangeShapeType="1"/>
          </p:cNvSpPr>
          <p:nvPr/>
        </p:nvSpPr>
        <p:spPr bwMode="auto">
          <a:xfrm>
            <a:off x="6555954" y="648693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3" name="Straight Arrow Connector 92"/>
          <p:cNvCxnSpPr/>
          <p:nvPr/>
        </p:nvCxnSpPr>
        <p:spPr bwMode="auto">
          <a:xfrm flipH="1">
            <a:off x="7877764" y="1932176"/>
            <a:ext cx="434492" cy="47579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Straight Arrow Connector 96"/>
          <p:cNvCxnSpPr/>
          <p:nvPr/>
        </p:nvCxnSpPr>
        <p:spPr bwMode="auto">
          <a:xfrm>
            <a:off x="8584188" y="1903737"/>
            <a:ext cx="390041" cy="475796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0" name="Group 89"/>
          <p:cNvGrpSpPr/>
          <p:nvPr/>
        </p:nvGrpSpPr>
        <p:grpSpPr>
          <a:xfrm>
            <a:off x="353512" y="1324852"/>
            <a:ext cx="2238319" cy="440121"/>
            <a:chOff x="505417" y="1475918"/>
            <a:chExt cx="2238319" cy="440121"/>
          </a:xfrm>
        </p:grpSpPr>
        <p:grpSp>
          <p:nvGrpSpPr>
            <p:cNvPr id="99" name="Group 98"/>
            <p:cNvGrpSpPr/>
            <p:nvPr/>
          </p:nvGrpSpPr>
          <p:grpSpPr>
            <a:xfrm>
              <a:off x="505417" y="1475918"/>
              <a:ext cx="1907326" cy="440121"/>
              <a:chOff x="-450429" y="1468055"/>
              <a:chExt cx="1907326" cy="440121"/>
            </a:xfrm>
          </p:grpSpPr>
          <p:sp>
            <p:nvSpPr>
              <p:cNvPr id="101" name="Text Box 59"/>
              <p:cNvSpPr txBox="1">
                <a:spLocks noChangeArrowheads="1"/>
              </p:cNvSpPr>
              <p:nvPr/>
            </p:nvSpPr>
            <p:spPr bwMode="auto">
              <a:xfrm>
                <a:off x="-450429" y="1468055"/>
                <a:ext cx="776206" cy="4401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6600CC"/>
                    </a:solidFill>
                  </a:rPr>
                  <a:t>USC</a:t>
                </a:r>
                <a:endParaRPr lang="en-US" sz="2000" dirty="0">
                  <a:solidFill>
                    <a:srgbClr val="6600CC"/>
                  </a:solidFill>
                </a:endParaRPr>
              </a:p>
            </p:txBody>
          </p:sp>
          <p:sp>
            <p:nvSpPr>
              <p:cNvPr id="102" name="Text Box 72"/>
              <p:cNvSpPr txBox="1">
                <a:spLocks noChangeArrowheads="1"/>
              </p:cNvSpPr>
              <p:nvPr/>
            </p:nvSpPr>
            <p:spPr bwMode="auto">
              <a:xfrm>
                <a:off x="164556" y="1474305"/>
                <a:ext cx="129234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6600CC"/>
                    </a:solidFill>
                  </a:rPr>
                  <a:t>kids have</a:t>
                </a:r>
                <a:endParaRPr lang="en-US" sz="2000" dirty="0">
                  <a:solidFill>
                    <a:srgbClr val="6600CC"/>
                  </a:solidFill>
                </a:endParaRPr>
              </a:p>
            </p:txBody>
          </p:sp>
        </p:grpSp>
        <p:sp>
          <p:nvSpPr>
            <p:cNvPr id="100" name="Text Box 85"/>
            <p:cNvSpPr txBox="1">
              <a:spLocks noChangeArrowheads="1"/>
            </p:cNvSpPr>
            <p:nvPr/>
          </p:nvSpPr>
          <p:spPr bwMode="auto">
            <a:xfrm>
              <a:off x="2289766" y="1475918"/>
              <a:ext cx="45397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no</a:t>
              </a:r>
              <a:endParaRPr lang="en-US" sz="2000" dirty="0">
                <a:solidFill>
                  <a:srgbClr val="6600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-0.00232 L -0.61875 -0.0125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51" y="-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4" grpId="0" animBg="1"/>
      <p:bldP spid="74" grpId="1" animBg="1"/>
      <p:bldP spid="73" grpId="0" animBg="1"/>
      <p:bldP spid="73" grpId="1" animBg="1"/>
      <p:bldP spid="75" grpId="0" animBg="1"/>
      <p:bldP spid="75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/>
      <p:bldP spid="84" grpId="1"/>
      <p:bldP spid="85" grpId="0" animBg="1"/>
      <p:bldP spid="85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1" grpId="0" animBg="1"/>
      <p:bldP spid="9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FE1C-04F0-4163-A225-DA024641925D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6186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Practice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Maximum Depth of Binary Tree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769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Given a binary tree, find its maximum depth. The maximum depth is the number of nodes along the longest path from the root node down to the farthest leaf node.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8591" y="3679088"/>
            <a:ext cx="2899949" cy="2006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09800" y="5772090"/>
            <a:ext cx="5599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62626"/>
                </a:solidFill>
                <a:effectLst/>
              </a:rPr>
              <a:t>Input:</a:t>
            </a:r>
            <a:r>
              <a:rPr lang="en-US" sz="2000" dirty="0"/>
              <a:t> root = [3,9,20,null,null,15,7] </a:t>
            </a:r>
            <a:r>
              <a:rPr lang="en-US" sz="2000" b="1" dirty="0">
                <a:solidFill>
                  <a:srgbClr val="262626"/>
                </a:solidFill>
                <a:effectLst/>
              </a:rPr>
              <a:t>Output:</a:t>
            </a:r>
            <a:r>
              <a:rPr lang="en-US" sz="2000" dirty="0"/>
              <a:t> 3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371600" y="3352800"/>
            <a:ext cx="1463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  <a:r>
              <a:rPr lang="en-US" dirty="0"/>
              <a:t>: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FE1C-04F0-4163-A225-DA024641925D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627287"/>
            <a:ext cx="53057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#include &lt;iostream&gt;</a:t>
            </a:r>
            <a:endParaRPr lang="en-US" sz="1800" dirty="0"/>
          </a:p>
          <a:p>
            <a:r>
              <a:rPr lang="en-US" sz="1800" dirty="0"/>
              <a:t>using namespace std;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struct TreeNode {</a:t>
            </a:r>
            <a:endParaRPr lang="en-US" sz="1800" dirty="0"/>
          </a:p>
          <a:p>
            <a:r>
              <a:rPr lang="en-US" sz="1800" dirty="0"/>
              <a:t>    int val;</a:t>
            </a:r>
            <a:endParaRPr lang="en-US" sz="1800" dirty="0"/>
          </a:p>
          <a:p>
            <a:r>
              <a:rPr lang="en-US" sz="1800" dirty="0"/>
              <a:t>    TreeNode *left;</a:t>
            </a:r>
            <a:endParaRPr lang="en-US" sz="1800" dirty="0"/>
          </a:p>
          <a:p>
            <a:r>
              <a:rPr lang="en-US" sz="1800" dirty="0"/>
              <a:t>    TreeNode *right;</a:t>
            </a:r>
            <a:endParaRPr lang="en-US" sz="1800" dirty="0"/>
          </a:p>
          <a:p>
            <a:r>
              <a:rPr lang="en-US" sz="1800" dirty="0"/>
              <a:t>    TreeNode(int x) : val(x), left(nullptr), right(nullptr) {}</a:t>
            </a:r>
            <a:endParaRPr lang="en-US" sz="1800" dirty="0"/>
          </a:p>
          <a:p>
            <a:r>
              <a:rPr lang="en-US" sz="1800" dirty="0"/>
              <a:t>};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int maxDepth(TreeNode* root) {</a:t>
            </a:r>
            <a:endParaRPr lang="en-US" sz="1800" dirty="0"/>
          </a:p>
          <a:p>
            <a:r>
              <a:rPr lang="en-US" sz="1800" dirty="0"/>
              <a:t>    if (root == nullptr) return 0;</a:t>
            </a:r>
            <a:endParaRPr lang="en-US" sz="1800" dirty="0"/>
          </a:p>
          <a:p>
            <a:r>
              <a:rPr lang="en-US" sz="1800" dirty="0"/>
              <a:t>    int leftDepth = maxDepth(root-&gt;left);</a:t>
            </a:r>
            <a:endParaRPr lang="en-US" sz="1800" dirty="0"/>
          </a:p>
          <a:p>
            <a:r>
              <a:rPr lang="en-US" sz="1800" dirty="0"/>
              <a:t>    int rightDepth = maxDepth(root-&gt;right);</a:t>
            </a:r>
            <a:endParaRPr lang="en-US" sz="1800" dirty="0"/>
          </a:p>
          <a:p>
            <a:r>
              <a:rPr lang="en-US" sz="1800" dirty="0"/>
              <a:t>    return 1 + max(leftDepth, rightDepth);</a:t>
            </a:r>
            <a:endParaRPr lang="en-US" sz="1800" dirty="0"/>
          </a:p>
          <a:p>
            <a:r>
              <a:rPr lang="en-US" sz="1800" dirty="0"/>
              <a:t>}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105400" y="1942028"/>
            <a:ext cx="3810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int main() {</a:t>
            </a:r>
            <a:endParaRPr lang="en-US" sz="1800" dirty="0"/>
          </a:p>
          <a:p>
            <a:r>
              <a:rPr lang="en-US" sz="1800" dirty="0"/>
              <a:t>    TreeNode* root = new TreeNode(3);</a:t>
            </a:r>
            <a:endParaRPr lang="en-US" sz="1800" dirty="0"/>
          </a:p>
          <a:p>
            <a:r>
              <a:rPr lang="en-US" sz="1800" dirty="0"/>
              <a:t>    root-&gt;left = new TreeNode(9);</a:t>
            </a:r>
            <a:endParaRPr lang="en-US" sz="1800" dirty="0"/>
          </a:p>
          <a:p>
            <a:r>
              <a:rPr lang="en-US" sz="1800" dirty="0"/>
              <a:t>    root-&gt;right = new TreeNode(20);</a:t>
            </a:r>
            <a:endParaRPr lang="en-US" sz="1800" dirty="0"/>
          </a:p>
          <a:p>
            <a:r>
              <a:rPr lang="en-US" sz="1800" dirty="0"/>
              <a:t>    root-&gt;right-&gt;left = new TreeNode(15);</a:t>
            </a:r>
            <a:endParaRPr lang="en-US" sz="1800" dirty="0"/>
          </a:p>
          <a:p>
            <a:r>
              <a:rPr lang="en-US" sz="1800" dirty="0"/>
              <a:t>    root-&gt;right-&gt;right = new TreeNode(7);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    cout &lt;&lt; "Maximum Depth: " &lt;&lt; maxDepth(root) &lt;&lt; endl;</a:t>
            </a:r>
            <a:endParaRPr lang="en-US" sz="1800" dirty="0"/>
          </a:p>
          <a:p>
            <a:r>
              <a:rPr lang="en-US" sz="1800" dirty="0"/>
              <a:t>    return 0;</a:t>
            </a:r>
            <a:endParaRPr lang="en-US" sz="1800" dirty="0"/>
          </a:p>
          <a:p>
            <a:r>
              <a:rPr lang="en-US" sz="1800" dirty="0"/>
              <a:t>}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2209800" y="571053"/>
            <a:ext cx="318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of Practice</a:t>
            </a:r>
            <a:r>
              <a:rPr lang="en-US" altLang="zh-CN" dirty="0"/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FE1C-04F0-4163-A225-DA024641925D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7899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Practice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dirty="0"/>
              <a:t>Convert Sorted List to Binary Search Tree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3811" y="4191000"/>
            <a:ext cx="2846789" cy="220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371600"/>
            <a:ext cx="7239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Given the head of a singly linked list where elements are sorted in ascending order, convert it to a height-balanced binary search tree (BST). A height-balanced binary tree is defined as a binary tree in which the depth of the two subtrees of every node never differ by more than one.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47800" y="4054172"/>
            <a:ext cx="1463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57400" y="4953000"/>
            <a:ext cx="5305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62626"/>
                </a:solidFill>
                <a:effectLst/>
              </a:rPr>
              <a:t>Input:</a:t>
            </a:r>
            <a:r>
              <a:rPr lang="en-US" dirty="0"/>
              <a:t> head = [-10,-3,0,5,9] </a:t>
            </a:r>
            <a:r>
              <a:rPr lang="en-US" b="1" dirty="0">
                <a:solidFill>
                  <a:srgbClr val="262626"/>
                </a:solidFill>
                <a:effectLst/>
              </a:rPr>
              <a:t>Output:</a:t>
            </a:r>
            <a:r>
              <a:rPr lang="en-US" dirty="0"/>
              <a:t> [0,-3,9,-10,null,5]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FE1C-04F0-4163-A225-DA024641925D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2290"/>
            <a:ext cx="5305732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#include &lt;iostream&gt;</a:t>
            </a:r>
            <a:endParaRPr lang="en-US" sz="1100" dirty="0"/>
          </a:p>
          <a:p>
            <a:r>
              <a:rPr lang="en-US" sz="1100" dirty="0"/>
              <a:t>using namespace std;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struct ListNode {</a:t>
            </a:r>
            <a:endParaRPr lang="en-US" sz="1100" dirty="0"/>
          </a:p>
          <a:p>
            <a:r>
              <a:rPr lang="en-US" sz="1100" dirty="0"/>
              <a:t>    int val;</a:t>
            </a:r>
            <a:endParaRPr lang="en-US" sz="1100" dirty="0"/>
          </a:p>
          <a:p>
            <a:r>
              <a:rPr lang="en-US" sz="1100" dirty="0"/>
              <a:t>    ListNode *next;</a:t>
            </a:r>
            <a:endParaRPr lang="en-US" sz="1100" dirty="0"/>
          </a:p>
          <a:p>
            <a:r>
              <a:rPr lang="en-US" sz="1100" dirty="0"/>
              <a:t>    ListNode(int x) : val(x), next(nullptr) {}</a:t>
            </a:r>
            <a:endParaRPr lang="en-US" sz="1100" dirty="0"/>
          </a:p>
          <a:p>
            <a:r>
              <a:rPr lang="en-US" sz="1100" dirty="0"/>
              <a:t>};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struct TreeNode {</a:t>
            </a:r>
            <a:endParaRPr lang="en-US" sz="1100" dirty="0"/>
          </a:p>
          <a:p>
            <a:r>
              <a:rPr lang="en-US" sz="1100" dirty="0"/>
              <a:t>    int val;</a:t>
            </a:r>
            <a:endParaRPr lang="en-US" sz="1100" dirty="0"/>
          </a:p>
          <a:p>
            <a:r>
              <a:rPr lang="en-US" sz="1100" dirty="0"/>
              <a:t>    TreeNode *left;</a:t>
            </a:r>
            <a:endParaRPr lang="en-US" sz="1100" dirty="0"/>
          </a:p>
          <a:p>
            <a:r>
              <a:rPr lang="en-US" sz="1100" dirty="0"/>
              <a:t>    TreeNode *right;</a:t>
            </a:r>
            <a:endParaRPr lang="en-US" sz="1100" dirty="0"/>
          </a:p>
          <a:p>
            <a:r>
              <a:rPr lang="en-US" sz="1100" dirty="0"/>
              <a:t>    TreeNode(int x) : val(x), left(nullptr), right(nullptr) {}</a:t>
            </a:r>
            <a:endParaRPr lang="en-US" sz="1100" dirty="0"/>
          </a:p>
          <a:p>
            <a:r>
              <a:rPr lang="en-US" sz="1100" dirty="0"/>
              <a:t>};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ListNode* findMiddle(ListNode* head) {</a:t>
            </a:r>
            <a:endParaRPr lang="en-US" sz="1100" dirty="0"/>
          </a:p>
          <a:p>
            <a:r>
              <a:rPr lang="en-US" sz="1100" dirty="0"/>
              <a:t>    ListNode* slow = head;</a:t>
            </a:r>
            <a:endParaRPr lang="en-US" sz="1100" dirty="0"/>
          </a:p>
          <a:p>
            <a:r>
              <a:rPr lang="en-US" sz="1100" dirty="0"/>
              <a:t>    ListNode* fast = head;</a:t>
            </a:r>
            <a:endParaRPr lang="en-US" sz="1100" dirty="0"/>
          </a:p>
          <a:p>
            <a:r>
              <a:rPr lang="en-US" sz="1100" dirty="0"/>
              <a:t>    ListNode* prev = nullptr;</a:t>
            </a:r>
            <a:endParaRPr lang="en-US" sz="1100" dirty="0"/>
          </a:p>
          <a:p>
            <a:r>
              <a:rPr lang="en-US" sz="1100" dirty="0"/>
              <a:t>    while (fast &amp;&amp; fast-&gt;next) {</a:t>
            </a:r>
            <a:endParaRPr lang="en-US" sz="1100" dirty="0"/>
          </a:p>
          <a:p>
            <a:r>
              <a:rPr lang="en-US" sz="1100" dirty="0"/>
              <a:t>        prev = slow;</a:t>
            </a:r>
            <a:endParaRPr lang="en-US" sz="1100" dirty="0"/>
          </a:p>
          <a:p>
            <a:r>
              <a:rPr lang="en-US" sz="1100" dirty="0"/>
              <a:t>        slow = slow-&gt;next;</a:t>
            </a:r>
            <a:endParaRPr lang="en-US" sz="1100" dirty="0"/>
          </a:p>
          <a:p>
            <a:r>
              <a:rPr lang="en-US" sz="1100" dirty="0"/>
              <a:t>        fast = fast-&gt;next-&gt;next;</a:t>
            </a:r>
            <a:endParaRPr lang="en-US" sz="1100" dirty="0"/>
          </a:p>
          <a:p>
            <a:r>
              <a:rPr lang="en-US" sz="1100" dirty="0"/>
              <a:t>    }</a:t>
            </a:r>
            <a:endParaRPr lang="en-US" sz="1100" dirty="0"/>
          </a:p>
          <a:p>
            <a:r>
              <a:rPr lang="en-US" sz="1100" dirty="0"/>
              <a:t>    if (prev) {</a:t>
            </a:r>
            <a:endParaRPr lang="en-US" sz="1100" dirty="0"/>
          </a:p>
          <a:p>
            <a:r>
              <a:rPr lang="en-US" sz="1100" dirty="0"/>
              <a:t>        prev-&gt;next = nullptr;</a:t>
            </a:r>
            <a:endParaRPr lang="en-US" sz="1100" dirty="0"/>
          </a:p>
          <a:p>
            <a:r>
              <a:rPr lang="en-US" sz="1100" dirty="0"/>
              <a:t>    }</a:t>
            </a:r>
            <a:endParaRPr lang="en-US" sz="1100" dirty="0"/>
          </a:p>
          <a:p>
            <a:r>
              <a:rPr lang="en-US" sz="1100" dirty="0"/>
              <a:t>    return slow;</a:t>
            </a:r>
            <a:endParaRPr lang="en-US" sz="1100" dirty="0"/>
          </a:p>
          <a:p>
            <a:r>
              <a:rPr lang="en-US" sz="1100" dirty="0"/>
              <a:t>}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TreeNode* sortedListToBST(ListNode* head) {</a:t>
            </a:r>
            <a:endParaRPr lang="en-US" sz="1100" dirty="0"/>
          </a:p>
          <a:p>
            <a:r>
              <a:rPr lang="en-US" sz="1100" dirty="0"/>
              <a:t>    if (!head) return nullptr;</a:t>
            </a:r>
            <a:endParaRPr lang="en-US" sz="1100" dirty="0"/>
          </a:p>
          <a:p>
            <a:r>
              <a:rPr lang="en-US" sz="1100" dirty="0"/>
              <a:t>    ListNode* middle = findMiddle(head);</a:t>
            </a:r>
            <a:endParaRPr lang="en-US" sz="1100" dirty="0"/>
          </a:p>
          <a:p>
            <a:r>
              <a:rPr lang="en-US" sz="1100" dirty="0"/>
              <a:t>    TreeNode* root = new TreeNode(middle-&gt;val);</a:t>
            </a:r>
            <a:endParaRPr lang="en-US" sz="1100" dirty="0"/>
          </a:p>
          <a:p>
            <a:r>
              <a:rPr lang="en-US" sz="1100" dirty="0"/>
              <a:t>    if (head == middle) return root;</a:t>
            </a:r>
            <a:endParaRPr lang="en-US" sz="1100" dirty="0"/>
          </a:p>
          <a:p>
            <a:r>
              <a:rPr lang="en-US" sz="1100" dirty="0"/>
              <a:t>    root-&gt;left = sortedListToBST(head);</a:t>
            </a:r>
            <a:endParaRPr lang="en-US" sz="1100" dirty="0"/>
          </a:p>
          <a:p>
            <a:r>
              <a:rPr lang="en-US" sz="1100" dirty="0"/>
              <a:t>    root-&gt;right = sortedListToBST(middle-&gt;next);</a:t>
            </a:r>
            <a:endParaRPr lang="en-US" sz="1100" dirty="0"/>
          </a:p>
          <a:p>
            <a:r>
              <a:rPr lang="en-US" sz="1100" dirty="0"/>
              <a:t>    return root;</a:t>
            </a:r>
            <a:endParaRPr lang="en-US" sz="1100" dirty="0"/>
          </a:p>
          <a:p>
            <a:r>
              <a:rPr lang="en-US" sz="1100" dirty="0"/>
              <a:t>}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0" y="762000"/>
            <a:ext cx="3810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100" dirty="0"/>
          </a:p>
          <a:p>
            <a:r>
              <a:rPr lang="en-US" sz="1100" dirty="0"/>
              <a:t>void printTree(TreeNode* root) {</a:t>
            </a:r>
            <a:endParaRPr lang="en-US" sz="1100" dirty="0"/>
          </a:p>
          <a:p>
            <a:r>
              <a:rPr lang="en-US" sz="1100" dirty="0"/>
              <a:t>    if (!root) return;</a:t>
            </a:r>
            <a:endParaRPr lang="en-US" sz="1100" dirty="0"/>
          </a:p>
          <a:p>
            <a:r>
              <a:rPr lang="en-US" sz="1100" dirty="0"/>
              <a:t>    cout &lt;&lt; root-&gt;val &lt;&lt; " ";</a:t>
            </a:r>
            <a:endParaRPr lang="en-US" sz="1100" dirty="0"/>
          </a:p>
          <a:p>
            <a:r>
              <a:rPr lang="en-US" sz="1100" dirty="0"/>
              <a:t>    printTree(root-&gt;left);</a:t>
            </a:r>
            <a:endParaRPr lang="en-US" sz="1100" dirty="0"/>
          </a:p>
          <a:p>
            <a:r>
              <a:rPr lang="en-US" sz="1100" dirty="0"/>
              <a:t>    printTree(root-&gt;right);</a:t>
            </a:r>
            <a:endParaRPr lang="en-US" sz="1100" dirty="0"/>
          </a:p>
          <a:p>
            <a:r>
              <a:rPr lang="en-US" sz="1100" dirty="0"/>
              <a:t>}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int main() {</a:t>
            </a:r>
            <a:endParaRPr lang="en-US" sz="1100" dirty="0"/>
          </a:p>
          <a:p>
            <a:r>
              <a:rPr lang="en-US" sz="1100" dirty="0"/>
              <a:t>    ListNode* head = new ListNode(-10);</a:t>
            </a:r>
            <a:endParaRPr lang="en-US" sz="1100" dirty="0"/>
          </a:p>
          <a:p>
            <a:r>
              <a:rPr lang="en-US" sz="1100" dirty="0"/>
              <a:t>    head-&gt;next = new ListNode(-3);</a:t>
            </a:r>
            <a:endParaRPr lang="en-US" sz="1100" dirty="0"/>
          </a:p>
          <a:p>
            <a:r>
              <a:rPr lang="en-US" sz="1100" dirty="0"/>
              <a:t>    head-&gt;next-&gt;next = new ListNode(0);</a:t>
            </a:r>
            <a:endParaRPr lang="en-US" sz="1100" dirty="0"/>
          </a:p>
          <a:p>
            <a:r>
              <a:rPr lang="en-US" sz="1100" dirty="0"/>
              <a:t>    head-&gt;next-&gt;next-&gt;next = new ListNode(5);</a:t>
            </a:r>
            <a:endParaRPr lang="en-US" sz="1100" dirty="0"/>
          </a:p>
          <a:p>
            <a:r>
              <a:rPr lang="en-US" sz="1100" dirty="0"/>
              <a:t>    head-&gt;next-&gt;next-&gt;next-&gt;next = new ListNode(9);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   TreeNode* root = sortedListToBST(head);</a:t>
            </a:r>
            <a:endParaRPr lang="en-US" sz="1100" dirty="0"/>
          </a:p>
          <a:p>
            <a:r>
              <a:rPr lang="en-US" sz="1100" dirty="0"/>
              <a:t>    printTree(root);</a:t>
            </a:r>
            <a:endParaRPr lang="en-US" sz="1100" dirty="0"/>
          </a:p>
          <a:p>
            <a:r>
              <a:rPr lang="en-US" sz="1100" dirty="0"/>
              <a:t>    cout &lt;&lt; endl;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   // Clean up allocated nodes</a:t>
            </a:r>
            <a:endParaRPr lang="en-US" sz="1100" dirty="0"/>
          </a:p>
          <a:p>
            <a:r>
              <a:rPr lang="en-US" sz="1100" dirty="0"/>
              <a:t>    delete head-&gt;next-&gt;next-&gt;next-&gt;next;</a:t>
            </a:r>
            <a:endParaRPr lang="en-US" sz="1100" dirty="0"/>
          </a:p>
          <a:p>
            <a:r>
              <a:rPr lang="en-US" sz="1100" dirty="0"/>
              <a:t>    delete head-&gt;next-&gt;next-&gt;next;</a:t>
            </a:r>
            <a:endParaRPr lang="en-US" sz="1100" dirty="0"/>
          </a:p>
          <a:p>
            <a:r>
              <a:rPr lang="en-US" sz="1100" dirty="0"/>
              <a:t>    delete head-&gt;next-&gt;next;</a:t>
            </a:r>
            <a:endParaRPr lang="en-US" sz="1100" dirty="0"/>
          </a:p>
          <a:p>
            <a:r>
              <a:rPr lang="en-US" sz="1100" dirty="0"/>
              <a:t>    delete head-&gt;next;</a:t>
            </a:r>
            <a:endParaRPr lang="en-US" sz="1100" dirty="0"/>
          </a:p>
          <a:p>
            <a:r>
              <a:rPr lang="en-US" sz="1100" dirty="0"/>
              <a:t>    delete head;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   return 0;</a:t>
            </a:r>
            <a:endParaRPr lang="en-US" sz="1100" dirty="0"/>
          </a:p>
          <a:p>
            <a:r>
              <a:rPr lang="en-US" sz="1100" dirty="0"/>
              <a:t>}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2440760" y="300335"/>
            <a:ext cx="323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of Practice</a:t>
            </a:r>
            <a:r>
              <a:rPr lang="en-US" altLang="zh-CN" dirty="0"/>
              <a:t>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CCCC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2400" b="0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16202</Words>
  <Application>WPS Sheets</Application>
  <PresentationFormat>On-screen Show (4:3)</PresentationFormat>
  <Paragraphs>1444</Paragraphs>
  <Slides>28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SimSun</vt:lpstr>
      <vt:lpstr>Wingdings</vt:lpstr>
      <vt:lpstr>Comic Sans MS</vt:lpstr>
      <vt:lpstr>Times New Roman</vt:lpstr>
      <vt:lpstr>Microsoft YaHei</vt:lpstr>
      <vt:lpstr>汉仪旗黑</vt:lpstr>
      <vt:lpstr>Courier New</vt:lpstr>
      <vt:lpstr>Arial Unicode MS</vt:lpstr>
      <vt:lpstr>Consolas</vt:lpstr>
      <vt:lpstr>苹方-简</vt:lpstr>
      <vt:lpstr>Microsoft YaHei</vt:lpstr>
      <vt:lpstr>汉仪书宋二KW</vt:lpstr>
      <vt:lpstr>Default Design</vt:lpstr>
      <vt:lpstr>Data Structures and Algorithms</vt:lpstr>
      <vt:lpstr>Trees</vt:lpstr>
      <vt:lpstr>Trees</vt:lpstr>
      <vt:lpstr>Trees</vt:lpstr>
      <vt:lpstr>Trees</vt:lpstr>
      <vt:lpstr>Basic Tree Facts</vt:lpstr>
      <vt:lpstr>Tree Nodes Can Have Many Children</vt:lpstr>
      <vt:lpstr>Binary Trees</vt:lpstr>
      <vt:lpstr>Binary Tree Subtrees</vt:lpstr>
      <vt:lpstr>Binary Tree Subtrees</vt:lpstr>
      <vt:lpstr>Operations on Binary Trees</vt:lpstr>
      <vt:lpstr>A Simple Tree Example</vt:lpstr>
      <vt:lpstr>Binary Tree Traversals </vt:lpstr>
      <vt:lpstr>Pre-order, In-order and Post-order</vt:lpstr>
      <vt:lpstr>Pre-order, In-order and Post-order</vt:lpstr>
      <vt:lpstr>Pre-order, In-order and Post-order</vt:lpstr>
      <vt:lpstr>Pre-order, In-order and Post-order</vt:lpstr>
      <vt:lpstr>Pre-order, In-order and Post-order</vt:lpstr>
      <vt:lpstr>The Pre-order Traversal</vt:lpstr>
      <vt:lpstr>The Pre-order Traversal</vt:lpstr>
      <vt:lpstr>The Pre-order Traversal</vt:lpstr>
      <vt:lpstr>The Pre-order Traversal</vt:lpstr>
      <vt:lpstr>The Pre-order Traversal</vt:lpstr>
      <vt:lpstr>The Pre-order Traversal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</dc:title>
  <dc:creator>Preferred Customer</dc:creator>
  <cp:lastModifiedBy>秦浩</cp:lastModifiedBy>
  <cp:revision>4751</cp:revision>
  <dcterms:created xsi:type="dcterms:W3CDTF">2026-04-20T07:27:57Z</dcterms:created>
  <dcterms:modified xsi:type="dcterms:W3CDTF">2026-04-20T07:27:57Z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DAC192A72DF12DE87DD5E569FE33F763_42</vt:lpwstr>
  </property>
  <property fmtid="{D5CDD505-2E9C-101B-9397-08002B2CF9AE}" pid="3" name="KSOProductBuildVer">
    <vt:lpwstr>1033-12.1.25867.25867</vt:lpwstr>
  </property>
</Properties>
</file>