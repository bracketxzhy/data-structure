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517" r:id="rId2"/>
    <p:sldId id="404" r:id="rId3"/>
    <p:sldId id="414" r:id="rId4"/>
    <p:sldId id="714" r:id="rId5"/>
    <p:sldId id="393" r:id="rId6"/>
    <p:sldId id="426" r:id="rId7"/>
    <p:sldId id="358" r:id="rId8"/>
    <p:sldId id="365" r:id="rId9"/>
    <p:sldId id="384" r:id="rId10"/>
    <p:sldId id="373" r:id="rId11"/>
    <p:sldId id="438" r:id="rId12"/>
    <p:sldId id="375" r:id="rId13"/>
    <p:sldId id="376" r:id="rId14"/>
  </p:sldIdLst>
  <p:sldSz cx="9144000" cy="6858000" type="screen4x3"/>
  <p:notesSz cx="6858000" cy="9117013"/>
  <p:defaultTextStyle>
    <a:defPPr>
      <a:defRPr lang="en-US"/>
    </a:defPPr>
    <a:lvl1pPr algn="l" rtl="0" fontAlgn="base">
      <a:spcBef>
        <a:spcPct val="0"/>
      </a:spcBef>
      <a:spcAft>
        <a:spcPct val="0"/>
      </a:spcAft>
      <a:defRPr sz="2400" kern="1200">
        <a:solidFill>
          <a:schemeClr val="tx2"/>
        </a:solidFill>
        <a:latin typeface="Comic Sans MS" pitchFamily="66" charset="0"/>
        <a:ea typeface="+mn-ea"/>
        <a:cs typeface="Times New Roman" pitchFamily="18" charset="0"/>
      </a:defRPr>
    </a:lvl1pPr>
    <a:lvl2pPr marL="457200" algn="l" rtl="0" fontAlgn="base">
      <a:spcBef>
        <a:spcPct val="0"/>
      </a:spcBef>
      <a:spcAft>
        <a:spcPct val="0"/>
      </a:spcAft>
      <a:defRPr sz="2400" kern="1200">
        <a:solidFill>
          <a:schemeClr val="tx2"/>
        </a:solidFill>
        <a:latin typeface="Comic Sans MS" pitchFamily="66" charset="0"/>
        <a:ea typeface="+mn-ea"/>
        <a:cs typeface="Times New Roman" pitchFamily="18" charset="0"/>
      </a:defRPr>
    </a:lvl2pPr>
    <a:lvl3pPr marL="914400" algn="l" rtl="0" fontAlgn="base">
      <a:spcBef>
        <a:spcPct val="0"/>
      </a:spcBef>
      <a:spcAft>
        <a:spcPct val="0"/>
      </a:spcAft>
      <a:defRPr sz="2400" kern="1200">
        <a:solidFill>
          <a:schemeClr val="tx2"/>
        </a:solidFill>
        <a:latin typeface="Comic Sans MS" pitchFamily="66" charset="0"/>
        <a:ea typeface="+mn-ea"/>
        <a:cs typeface="Times New Roman" pitchFamily="18" charset="0"/>
      </a:defRPr>
    </a:lvl3pPr>
    <a:lvl4pPr marL="1371600" algn="l" rtl="0" fontAlgn="base">
      <a:spcBef>
        <a:spcPct val="0"/>
      </a:spcBef>
      <a:spcAft>
        <a:spcPct val="0"/>
      </a:spcAft>
      <a:defRPr sz="2400" kern="1200">
        <a:solidFill>
          <a:schemeClr val="tx2"/>
        </a:solidFill>
        <a:latin typeface="Comic Sans MS" pitchFamily="66" charset="0"/>
        <a:ea typeface="+mn-ea"/>
        <a:cs typeface="Times New Roman" pitchFamily="18" charset="0"/>
      </a:defRPr>
    </a:lvl4pPr>
    <a:lvl5pPr marL="1828800" algn="l" rtl="0" fontAlgn="base">
      <a:spcBef>
        <a:spcPct val="0"/>
      </a:spcBef>
      <a:spcAft>
        <a:spcPct val="0"/>
      </a:spcAft>
      <a:defRPr sz="2400" kern="1200">
        <a:solidFill>
          <a:schemeClr val="tx2"/>
        </a:solidFill>
        <a:latin typeface="Comic Sans MS" pitchFamily="66" charset="0"/>
        <a:ea typeface="+mn-ea"/>
        <a:cs typeface="Times New Roman" pitchFamily="18" charset="0"/>
      </a:defRPr>
    </a:lvl5pPr>
    <a:lvl6pPr marL="2286000" algn="l" defTabSz="914400" rtl="0" eaLnBrk="1" latinLnBrk="0" hangingPunct="1">
      <a:defRPr sz="2400" kern="1200">
        <a:solidFill>
          <a:schemeClr val="tx2"/>
        </a:solidFill>
        <a:latin typeface="Comic Sans MS" pitchFamily="66" charset="0"/>
        <a:ea typeface="+mn-ea"/>
        <a:cs typeface="Times New Roman" pitchFamily="18" charset="0"/>
      </a:defRPr>
    </a:lvl6pPr>
    <a:lvl7pPr marL="2743200" algn="l" defTabSz="914400" rtl="0" eaLnBrk="1" latinLnBrk="0" hangingPunct="1">
      <a:defRPr sz="2400" kern="1200">
        <a:solidFill>
          <a:schemeClr val="tx2"/>
        </a:solidFill>
        <a:latin typeface="Comic Sans MS" pitchFamily="66" charset="0"/>
        <a:ea typeface="+mn-ea"/>
        <a:cs typeface="Times New Roman" pitchFamily="18" charset="0"/>
      </a:defRPr>
    </a:lvl7pPr>
    <a:lvl8pPr marL="3200400" algn="l" defTabSz="914400" rtl="0" eaLnBrk="1" latinLnBrk="0" hangingPunct="1">
      <a:defRPr sz="2400" kern="1200">
        <a:solidFill>
          <a:schemeClr val="tx2"/>
        </a:solidFill>
        <a:latin typeface="Comic Sans MS" pitchFamily="66" charset="0"/>
        <a:ea typeface="+mn-ea"/>
        <a:cs typeface="Times New Roman" pitchFamily="18" charset="0"/>
      </a:defRPr>
    </a:lvl8pPr>
    <a:lvl9pPr marL="3657600" algn="l" defTabSz="914400" rtl="0" eaLnBrk="1" latinLnBrk="0" hangingPunct="1">
      <a:defRPr sz="2400" kern="1200">
        <a:solidFill>
          <a:schemeClr val="tx2"/>
        </a:solidFill>
        <a:latin typeface="Comic Sans MS" pitchFamily="66" charset="0"/>
        <a:ea typeface="+mn-ea"/>
        <a:cs typeface="Times New Roman" pitchFamily="18"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365D1"/>
    <a:srgbClr val="FFE1E1"/>
    <a:srgbClr val="FF3300"/>
    <a:srgbClr val="C5E8FF"/>
    <a:srgbClr val="FFFFFF"/>
    <a:srgbClr val="51B6FF"/>
    <a:srgbClr val="0000CC"/>
    <a:srgbClr val="FFFFE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61"/>
    <p:restoredTop sz="78367" autoAdjust="0"/>
  </p:normalViewPr>
  <p:slideViewPr>
    <p:cSldViewPr>
      <p:cViewPr varScale="1">
        <p:scale>
          <a:sx n="99" d="100"/>
          <a:sy n="99" d="100"/>
        </p:scale>
        <p:origin x="2424" y="176"/>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_rels/viewProps.xml.rels><?xml version="1.0" encoding="UTF-8" standalone="yes"?>
<Relationships xmlns="http://schemas.openxmlformats.org/package/2006/relationships"><Relationship Id="rId1"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4866" name="Rectangle 2"/>
          <p:cNvSpPr>
            <a:spLocks noGrp="1" noChangeArrowheads="1"/>
          </p:cNvSpPr>
          <p:nvPr>
            <p:ph type="hdr" sz="quarter"/>
          </p:nvPr>
        </p:nvSpPr>
        <p:spPr bwMode="auto">
          <a:xfrm>
            <a:off x="0" y="0"/>
            <a:ext cx="29718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164867" name="Rectangle 3"/>
          <p:cNvSpPr>
            <a:spLocks noGrp="1" noChangeArrowheads="1"/>
          </p:cNvSpPr>
          <p:nvPr>
            <p:ph type="dt" sz="quarter" idx="1"/>
          </p:nvPr>
        </p:nvSpPr>
        <p:spPr bwMode="auto">
          <a:xfrm>
            <a:off x="3886200" y="0"/>
            <a:ext cx="29718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164868" name="Rectangle 4"/>
          <p:cNvSpPr>
            <a:spLocks noGrp="1" noChangeArrowheads="1"/>
          </p:cNvSpPr>
          <p:nvPr>
            <p:ph type="ftr" sz="quarter" idx="2"/>
          </p:nvPr>
        </p:nvSpPr>
        <p:spPr bwMode="auto">
          <a:xfrm>
            <a:off x="0" y="8661400"/>
            <a:ext cx="29718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164869" name="Rectangle 5"/>
          <p:cNvSpPr>
            <a:spLocks noGrp="1" noChangeArrowheads="1"/>
          </p:cNvSpPr>
          <p:nvPr>
            <p:ph type="sldNum" sz="quarter" idx="3"/>
          </p:nvPr>
        </p:nvSpPr>
        <p:spPr bwMode="auto">
          <a:xfrm>
            <a:off x="3886200" y="8661400"/>
            <a:ext cx="29718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6B6D5B41-8E85-481A-8533-3F28ECCAA327}" type="slidenum">
              <a:rPr lang="en-US"/>
              <a:pPr/>
              <a:t>‹#›</a:t>
            </a:fld>
            <a:endParaRPr lang="en-US"/>
          </a:p>
        </p:txBody>
      </p:sp>
    </p:spTree>
    <p:extLst>
      <p:ext uri="{BB962C8B-B14F-4D97-AF65-F5344CB8AC3E}">
        <p14:creationId xmlns:p14="http://schemas.microsoft.com/office/powerpoint/2010/main" val="15137113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9106" name="Rectangle 2"/>
          <p:cNvSpPr>
            <a:spLocks noGrp="1" noChangeArrowheads="1"/>
          </p:cNvSpPr>
          <p:nvPr>
            <p:ph type="hdr" sz="quarter"/>
          </p:nvPr>
        </p:nvSpPr>
        <p:spPr bwMode="auto">
          <a:xfrm>
            <a:off x="0" y="0"/>
            <a:ext cx="29718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solidFill>
                  <a:schemeClr val="tx1"/>
                </a:solidFill>
                <a:latin typeface="Times New Roman" pitchFamily="18" charset="0"/>
              </a:defRPr>
            </a:lvl1pPr>
          </a:lstStyle>
          <a:p>
            <a:endParaRPr lang="en-US"/>
          </a:p>
        </p:txBody>
      </p:sp>
      <p:sp>
        <p:nvSpPr>
          <p:cNvPr id="559107" name="Rectangle 3"/>
          <p:cNvSpPr>
            <a:spLocks noGrp="1" noChangeArrowheads="1"/>
          </p:cNvSpPr>
          <p:nvPr>
            <p:ph type="dt" idx="1"/>
          </p:nvPr>
        </p:nvSpPr>
        <p:spPr bwMode="auto">
          <a:xfrm>
            <a:off x="3884613" y="0"/>
            <a:ext cx="29718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tx1"/>
                </a:solidFill>
                <a:latin typeface="Times New Roman" pitchFamily="18" charset="0"/>
              </a:defRPr>
            </a:lvl1pPr>
          </a:lstStyle>
          <a:p>
            <a:endParaRPr lang="en-US"/>
          </a:p>
        </p:txBody>
      </p:sp>
      <p:sp>
        <p:nvSpPr>
          <p:cNvPr id="559108" name="Rectangle 4"/>
          <p:cNvSpPr>
            <a:spLocks noGrp="1" noRot="1" noChangeAspect="1" noChangeArrowheads="1" noTextEdit="1"/>
          </p:cNvSpPr>
          <p:nvPr>
            <p:ph type="sldImg" idx="2"/>
          </p:nvPr>
        </p:nvSpPr>
        <p:spPr bwMode="auto">
          <a:xfrm>
            <a:off x="1150938" y="684213"/>
            <a:ext cx="4556125" cy="3417887"/>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59109" name="Rectangle 5"/>
          <p:cNvSpPr>
            <a:spLocks noGrp="1" noChangeArrowheads="1"/>
          </p:cNvSpPr>
          <p:nvPr>
            <p:ph type="body" sz="quarter" idx="3"/>
          </p:nvPr>
        </p:nvSpPr>
        <p:spPr bwMode="auto">
          <a:xfrm>
            <a:off x="685800" y="4330700"/>
            <a:ext cx="5486400" cy="410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59110" name="Rectangle 6"/>
          <p:cNvSpPr>
            <a:spLocks noGrp="1" noChangeArrowheads="1"/>
          </p:cNvSpPr>
          <p:nvPr>
            <p:ph type="ftr" sz="quarter" idx="4"/>
          </p:nvPr>
        </p:nvSpPr>
        <p:spPr bwMode="auto">
          <a:xfrm>
            <a:off x="0" y="8659813"/>
            <a:ext cx="2971800"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solidFill>
                  <a:schemeClr val="tx1"/>
                </a:solidFill>
                <a:latin typeface="Times New Roman" pitchFamily="18" charset="0"/>
              </a:defRPr>
            </a:lvl1pPr>
          </a:lstStyle>
          <a:p>
            <a:endParaRPr lang="en-US"/>
          </a:p>
        </p:txBody>
      </p:sp>
      <p:sp>
        <p:nvSpPr>
          <p:cNvPr id="559111" name="Rectangle 7"/>
          <p:cNvSpPr>
            <a:spLocks noGrp="1" noChangeArrowheads="1"/>
          </p:cNvSpPr>
          <p:nvPr>
            <p:ph type="sldNum" sz="quarter" idx="5"/>
          </p:nvPr>
        </p:nvSpPr>
        <p:spPr bwMode="auto">
          <a:xfrm>
            <a:off x="3884613" y="8659813"/>
            <a:ext cx="2971800"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solidFill>
                  <a:schemeClr val="tx1"/>
                </a:solidFill>
                <a:latin typeface="Times New Roman" pitchFamily="18" charset="0"/>
              </a:defRPr>
            </a:lvl1pPr>
          </a:lstStyle>
          <a:p>
            <a:fld id="{8AA6DDE6-1BD0-4385-A973-4006CD564F9E}" type="slidenum">
              <a:rPr lang="en-US"/>
              <a:pPr/>
              <a:t>‹#›</a:t>
            </a:fld>
            <a:endParaRPr lang="en-US"/>
          </a:p>
        </p:txBody>
      </p:sp>
    </p:spTree>
    <p:extLst>
      <p:ext uri="{BB962C8B-B14F-4D97-AF65-F5344CB8AC3E}">
        <p14:creationId xmlns:p14="http://schemas.microsoft.com/office/powerpoint/2010/main" val="396812764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Times New Roman" pitchFamily="18" charset="0"/>
      </a:defRPr>
    </a:lvl1pPr>
    <a:lvl2pPr marL="457200" algn="l" rtl="0" fontAlgn="base">
      <a:spcBef>
        <a:spcPct val="30000"/>
      </a:spcBef>
      <a:spcAft>
        <a:spcPct val="0"/>
      </a:spcAft>
      <a:defRPr sz="1200" kern="1200">
        <a:solidFill>
          <a:schemeClr val="tx1"/>
        </a:solidFill>
        <a:latin typeface="Times New Roman" pitchFamily="18" charset="0"/>
        <a:ea typeface="+mn-ea"/>
        <a:cs typeface="Times New Roman" pitchFamily="18" charset="0"/>
      </a:defRPr>
    </a:lvl2pPr>
    <a:lvl3pPr marL="914400" algn="l" rtl="0" fontAlgn="base">
      <a:spcBef>
        <a:spcPct val="30000"/>
      </a:spcBef>
      <a:spcAft>
        <a:spcPct val="0"/>
      </a:spcAft>
      <a:defRPr sz="1200" kern="1200">
        <a:solidFill>
          <a:schemeClr val="tx1"/>
        </a:solidFill>
        <a:latin typeface="Times New Roman" pitchFamily="18" charset="0"/>
        <a:ea typeface="+mn-ea"/>
        <a:cs typeface="Times New Roman" pitchFamily="18" charset="0"/>
      </a:defRPr>
    </a:lvl3pPr>
    <a:lvl4pPr marL="1371600" algn="l" rtl="0" fontAlgn="base">
      <a:spcBef>
        <a:spcPct val="30000"/>
      </a:spcBef>
      <a:spcAft>
        <a:spcPct val="0"/>
      </a:spcAft>
      <a:defRPr sz="1200" kern="1200">
        <a:solidFill>
          <a:schemeClr val="tx1"/>
        </a:solidFill>
        <a:latin typeface="Times New Roman" pitchFamily="18" charset="0"/>
        <a:ea typeface="+mn-ea"/>
        <a:cs typeface="Times New Roman" pitchFamily="18" charset="0"/>
      </a:defRPr>
    </a:lvl4pPr>
    <a:lvl5pPr marL="1828800" algn="l" rtl="0" fontAlgn="base">
      <a:spcBef>
        <a:spcPct val="30000"/>
      </a:spcBef>
      <a:spcAft>
        <a:spcPct val="0"/>
      </a:spcAft>
      <a:defRPr sz="1200" kern="1200">
        <a:solidFill>
          <a:schemeClr val="tx1"/>
        </a:solidFill>
        <a:latin typeface="Times New Roman" pitchFamily="18" charset="0"/>
        <a:ea typeface="+mn-ea"/>
        <a:cs typeface="Times New Roman"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fld id="{E6BBE8BA-262D-4A32-AC42-0F7A2A138515}" type="slidenum">
              <a:rPr lang="en-US" sz="1200" smtClean="0">
                <a:latin typeface="Times New Roman" pitchFamily="18" charset="0"/>
              </a:rPr>
              <a:pPr eaLnBrk="1" hangingPunct="1"/>
              <a:t>1</a:t>
            </a:fld>
            <a:endParaRPr lang="en-US" sz="1200">
              <a:latin typeface="Times New Roman" pitchFamily="18"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dirty="0"/>
          </a:p>
        </p:txBody>
      </p:sp>
    </p:spTree>
    <p:extLst>
      <p:ext uri="{BB962C8B-B14F-4D97-AF65-F5344CB8AC3E}">
        <p14:creationId xmlns:p14="http://schemas.microsoft.com/office/powerpoint/2010/main" val="1153933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C3D020-A617-446F-A795-29EEE576EA86}" type="slidenum">
              <a:rPr lang="en-US"/>
              <a:pPr/>
              <a:t>2</a:t>
            </a:fld>
            <a:endParaRPr lang="en-US"/>
          </a:p>
        </p:txBody>
      </p:sp>
      <p:sp>
        <p:nvSpPr>
          <p:cNvPr id="611330" name="Rectangle 2"/>
          <p:cNvSpPr>
            <a:spLocks noGrp="1" noRot="1" noChangeAspect="1" noChangeArrowheads="1" noTextEdit="1"/>
          </p:cNvSpPr>
          <p:nvPr>
            <p:ph type="sldImg"/>
          </p:nvPr>
        </p:nvSpPr>
        <p:spPr>
          <a:ln/>
        </p:spPr>
      </p:sp>
      <p:sp>
        <p:nvSpPr>
          <p:cNvPr id="6113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1267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6EB973-879F-4136-B6A1-7575EE86D0CB}" type="slidenum">
              <a:rPr lang="en-US"/>
              <a:pPr/>
              <a:t>3</a:t>
            </a:fld>
            <a:endParaRPr lang="en-US"/>
          </a:p>
        </p:txBody>
      </p:sp>
      <p:sp>
        <p:nvSpPr>
          <p:cNvPr id="633858" name="Rectangle 2"/>
          <p:cNvSpPr>
            <a:spLocks noGrp="1" noRot="1" noChangeAspect="1" noChangeArrowheads="1" noTextEdit="1"/>
          </p:cNvSpPr>
          <p:nvPr>
            <p:ph type="sldImg"/>
          </p:nvPr>
        </p:nvSpPr>
        <p:spPr>
          <a:ln/>
        </p:spPr>
      </p:sp>
      <p:sp>
        <p:nvSpPr>
          <p:cNvPr id="6338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33865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76122A-DB2F-4B0B-BE97-DA45627E7CE3}" type="slidenum">
              <a:rPr lang="en-US"/>
              <a:pPr/>
              <a:t>4</a:t>
            </a:fld>
            <a:endParaRPr lang="en-US"/>
          </a:p>
        </p:txBody>
      </p:sp>
      <p:sp>
        <p:nvSpPr>
          <p:cNvPr id="631810" name="Rectangle 2"/>
          <p:cNvSpPr>
            <a:spLocks noGrp="1" noRot="1" noChangeAspect="1" noChangeArrowheads="1" noTextEdit="1"/>
          </p:cNvSpPr>
          <p:nvPr>
            <p:ph type="sldImg"/>
          </p:nvPr>
        </p:nvSpPr>
        <p:spPr>
          <a:ln/>
        </p:spPr>
      </p:sp>
      <p:sp>
        <p:nvSpPr>
          <p:cNvPr id="6318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772582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434342-CD56-42C1-B895-DF7627C2D873}" type="slidenum">
              <a:rPr lang="en-US"/>
              <a:pPr/>
              <a:t>5</a:t>
            </a:fld>
            <a:endParaRPr lang="en-US"/>
          </a:p>
        </p:txBody>
      </p:sp>
      <p:sp>
        <p:nvSpPr>
          <p:cNvPr id="585730" name="Rectangle 2"/>
          <p:cNvSpPr>
            <a:spLocks noGrp="1" noRot="1" noChangeAspect="1" noChangeArrowheads="1" noTextEdit="1"/>
          </p:cNvSpPr>
          <p:nvPr>
            <p:ph type="sldImg"/>
          </p:nvPr>
        </p:nvSpPr>
        <p:spPr>
          <a:ln/>
        </p:spPr>
      </p:sp>
      <p:sp>
        <p:nvSpPr>
          <p:cNvPr id="585731" name="Rectangle 3"/>
          <p:cNvSpPr>
            <a:spLocks noGrp="1" noChangeArrowheads="1"/>
          </p:cNvSpPr>
          <p:nvPr>
            <p:ph type="body" idx="1"/>
          </p:nvPr>
        </p:nvSpPr>
        <p:spPr/>
        <p:txBody>
          <a:bodyPr/>
          <a:lstStyle/>
          <a:p>
            <a:r>
              <a:rPr lang="en-US" dirty="0"/>
              <a:t>Yes –</a:t>
            </a:r>
            <a:r>
              <a:rPr lang="en-US" baseline="0" dirty="0"/>
              <a:t> selection sort can be adopted to work with linked lists because it operates on successive items, which are easy to access in linked lists (not randomly selected items somewhere in the middle)</a:t>
            </a:r>
          </a:p>
          <a:p>
            <a:r>
              <a:rPr lang="en-US" baseline="0" dirty="0"/>
              <a:t>No! Selection sort is NOT a stable sort</a:t>
            </a:r>
            <a:endParaRPr lang="en-US" dirty="0"/>
          </a:p>
        </p:txBody>
      </p:sp>
    </p:spTree>
    <p:extLst>
      <p:ext uri="{BB962C8B-B14F-4D97-AF65-F5344CB8AC3E}">
        <p14:creationId xmlns:p14="http://schemas.microsoft.com/office/powerpoint/2010/main" val="8555260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8DA23AF3-06D3-4592-8887-4AB24D5E4D93}" type="slidenum">
              <a:rPr lang="en-US"/>
              <a:pPr/>
              <a:t>6</a:t>
            </a:fld>
            <a:endParaRPr lang="en-US"/>
          </a:p>
        </p:txBody>
      </p:sp>
      <p:sp>
        <p:nvSpPr>
          <p:cNvPr id="634882" name="Rectangle 2"/>
          <p:cNvSpPr>
            <a:spLocks noGrp="1" noRot="1" noChangeAspect="1" noChangeArrowheads="1" noTextEdit="1"/>
          </p:cNvSpPr>
          <p:nvPr>
            <p:ph type="sldImg"/>
          </p:nvPr>
        </p:nvSpPr>
        <p:spPr>
          <a:ln/>
        </p:spPr>
      </p:sp>
      <p:sp>
        <p:nvSpPr>
          <p:cNvPr id="6348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B11ACC63-01DD-40E6-83D9-B4D36C983F9F}" type="slidenum">
              <a:rPr lang="en-US"/>
              <a:pPr/>
              <a:t>7</a:t>
            </a:fld>
            <a:endParaRPr lang="en-US"/>
          </a:p>
        </p:txBody>
      </p:sp>
      <p:sp>
        <p:nvSpPr>
          <p:cNvPr id="565250" name="Rectangle 2"/>
          <p:cNvSpPr>
            <a:spLocks noGrp="1" noRot="1" noChangeAspect="1" noChangeArrowheads="1" noTextEdit="1"/>
          </p:cNvSpPr>
          <p:nvPr>
            <p:ph type="sldImg"/>
          </p:nvPr>
        </p:nvSpPr>
        <p:spPr>
          <a:ln/>
        </p:spPr>
      </p:sp>
      <p:sp>
        <p:nvSpPr>
          <p:cNvPr id="5652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F51D809D-E1F2-4338-834A-10D152C1B27C}" type="slidenum">
              <a:rPr lang="en-US"/>
              <a:pPr/>
              <a:t>8</a:t>
            </a:fld>
            <a:endParaRPr lang="en-US"/>
          </a:p>
        </p:txBody>
      </p:sp>
      <p:sp>
        <p:nvSpPr>
          <p:cNvPr id="570370" name="Rectangle 2"/>
          <p:cNvSpPr>
            <a:spLocks noGrp="1" noRot="1" noChangeAspect="1" noChangeArrowheads="1" noTextEdit="1"/>
          </p:cNvSpPr>
          <p:nvPr>
            <p:ph type="sldImg"/>
          </p:nvPr>
        </p:nvSpPr>
        <p:spPr>
          <a:ln/>
        </p:spPr>
      </p:sp>
      <p:sp>
        <p:nvSpPr>
          <p:cNvPr id="5703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74A6FA5C-C70D-481E-99FE-ACB79033AC45}" type="slidenum">
              <a:rPr lang="en-US"/>
              <a:pPr/>
              <a:t>9</a:t>
            </a:fld>
            <a:endParaRPr lang="en-US"/>
          </a:p>
        </p:txBody>
      </p:sp>
      <p:sp>
        <p:nvSpPr>
          <p:cNvPr id="571394" name="Rectangle 2"/>
          <p:cNvSpPr>
            <a:spLocks noGrp="1" noRot="1" noChangeAspect="1" noChangeArrowheads="1" noTextEdit="1"/>
          </p:cNvSpPr>
          <p:nvPr>
            <p:ph type="sldImg"/>
          </p:nvPr>
        </p:nvSpPr>
        <p:spPr>
          <a:ln/>
        </p:spPr>
      </p:sp>
      <p:sp>
        <p:nvSpPr>
          <p:cNvPr id="5713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DA2F1C4B-A94E-4DDC-B9ED-0B17BA7E80D4}" type="slidenum">
              <a:rPr lang="en-US"/>
              <a:pPr/>
              <a:t>10</a:t>
            </a:fld>
            <a:endParaRPr lang="en-US"/>
          </a:p>
        </p:txBody>
      </p:sp>
      <p:sp>
        <p:nvSpPr>
          <p:cNvPr id="572418" name="Rectangle 2"/>
          <p:cNvSpPr>
            <a:spLocks noGrp="1" noRot="1" noChangeAspect="1" noChangeArrowheads="1" noTextEdit="1"/>
          </p:cNvSpPr>
          <p:nvPr>
            <p:ph type="sldImg"/>
          </p:nvPr>
        </p:nvSpPr>
        <p:spPr>
          <a:ln/>
        </p:spPr>
      </p:sp>
      <p:sp>
        <p:nvSpPr>
          <p:cNvPr id="5724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5D31E02E-9478-4B06-9787-070270BD8541}" type="slidenum">
              <a:rPr lang="en-US"/>
              <a:pPr/>
              <a:t>11</a:t>
            </a:fld>
            <a:endParaRPr lang="en-US"/>
          </a:p>
        </p:txBody>
      </p:sp>
      <p:sp>
        <p:nvSpPr>
          <p:cNvPr id="662530" name="Rectangle 2"/>
          <p:cNvSpPr>
            <a:spLocks noGrp="1" noRot="1" noChangeAspect="1" noChangeArrowheads="1" noTextEdit="1"/>
          </p:cNvSpPr>
          <p:nvPr>
            <p:ph type="sldImg"/>
          </p:nvPr>
        </p:nvSpPr>
        <p:spPr>
          <a:ln/>
        </p:spPr>
      </p:sp>
      <p:sp>
        <p:nvSpPr>
          <p:cNvPr id="6625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8CAC5F40-CDA9-4100-B0DD-869E1C087FC4}" type="slidenum">
              <a:rPr lang="en-US"/>
              <a:pPr/>
              <a:t>12</a:t>
            </a:fld>
            <a:endParaRPr lang="en-US"/>
          </a:p>
        </p:txBody>
      </p:sp>
      <p:sp>
        <p:nvSpPr>
          <p:cNvPr id="574466" name="Rectangle 2"/>
          <p:cNvSpPr>
            <a:spLocks noGrp="1" noRot="1" noChangeAspect="1" noChangeArrowheads="1" noTextEdit="1"/>
          </p:cNvSpPr>
          <p:nvPr>
            <p:ph type="sldImg"/>
          </p:nvPr>
        </p:nvSpPr>
        <p:spPr>
          <a:ln/>
        </p:spPr>
      </p:sp>
      <p:sp>
        <p:nvSpPr>
          <p:cNvPr id="5744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3059797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B1519306-F9DC-4C15-AF5E-3D1EFAE6CF74}" type="slidenum">
              <a:rPr lang="en-US"/>
              <a:pPr/>
              <a:t>13</a:t>
            </a:fld>
            <a:endParaRPr lang="en-US"/>
          </a:p>
        </p:txBody>
      </p:sp>
      <p:sp>
        <p:nvSpPr>
          <p:cNvPr id="575490" name="Rectangle 2"/>
          <p:cNvSpPr>
            <a:spLocks noGrp="1" noRot="1" noChangeAspect="1" noChangeArrowheads="1" noTextEdit="1"/>
          </p:cNvSpPr>
          <p:nvPr>
            <p:ph type="sldImg"/>
          </p:nvPr>
        </p:nvSpPr>
        <p:spPr>
          <a:ln/>
        </p:spPr>
      </p:sp>
      <p:sp>
        <p:nvSpPr>
          <p:cNvPr id="575491" name="Rectangle 3"/>
          <p:cNvSpPr>
            <a:spLocks noGrp="1" noChangeArrowheads="1"/>
          </p:cNvSpPr>
          <p:nvPr>
            <p:ph type="body" idx="1"/>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75D5FF4-D5CD-4420-9072-7651AB455E7A}" type="slidenum">
              <a:rPr lang="en-US"/>
              <a:pPr/>
              <a:t>‹#›</a:t>
            </a:fld>
            <a:endParaRPr lang="en-US"/>
          </a:p>
        </p:txBody>
      </p:sp>
    </p:spTree>
    <p:extLst>
      <p:ext uri="{BB962C8B-B14F-4D97-AF65-F5344CB8AC3E}">
        <p14:creationId xmlns:p14="http://schemas.microsoft.com/office/powerpoint/2010/main" val="2572668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787C09DC-742E-4E7A-8CF1-B3E21A3A6B83}" type="slidenum">
              <a:rPr lang="en-US"/>
              <a:pPr/>
              <a:t>‹#›</a:t>
            </a:fld>
            <a:endParaRPr lang="en-US"/>
          </a:p>
        </p:txBody>
      </p:sp>
    </p:spTree>
    <p:extLst>
      <p:ext uri="{BB962C8B-B14F-4D97-AF65-F5344CB8AC3E}">
        <p14:creationId xmlns:p14="http://schemas.microsoft.com/office/powerpoint/2010/main" val="3805841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C45E4F8-3147-4960-A341-9694A91B0DF6}" type="slidenum">
              <a:rPr lang="en-US"/>
              <a:pPr/>
              <a:t>‹#›</a:t>
            </a:fld>
            <a:endParaRPr lang="en-US"/>
          </a:p>
        </p:txBody>
      </p:sp>
    </p:spTree>
    <p:extLst>
      <p:ext uri="{BB962C8B-B14F-4D97-AF65-F5344CB8AC3E}">
        <p14:creationId xmlns:p14="http://schemas.microsoft.com/office/powerpoint/2010/main" val="649614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DDCCD293-B9E8-4664-9592-517D2480E68B}" type="slidenum">
              <a:rPr lang="en-US"/>
              <a:pPr/>
              <a:t>‹#›</a:t>
            </a:fld>
            <a:endParaRPr lang="en-US"/>
          </a:p>
        </p:txBody>
      </p:sp>
    </p:spTree>
    <p:extLst>
      <p:ext uri="{BB962C8B-B14F-4D97-AF65-F5344CB8AC3E}">
        <p14:creationId xmlns:p14="http://schemas.microsoft.com/office/powerpoint/2010/main" val="3109318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9556C397-CAA6-4F17-9492-82BDC246E741}" type="slidenum">
              <a:rPr lang="en-US"/>
              <a:pPr/>
              <a:t>‹#›</a:t>
            </a:fld>
            <a:endParaRPr lang="en-US"/>
          </a:p>
        </p:txBody>
      </p:sp>
    </p:spTree>
    <p:extLst>
      <p:ext uri="{BB962C8B-B14F-4D97-AF65-F5344CB8AC3E}">
        <p14:creationId xmlns:p14="http://schemas.microsoft.com/office/powerpoint/2010/main" val="3645078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48BAFE1C-04F0-4163-A225-DA024641925D}" type="slidenum">
              <a:rPr lang="en-US"/>
              <a:pPr/>
              <a:t>‹#›</a:t>
            </a:fld>
            <a:endParaRPr lang="en-US"/>
          </a:p>
        </p:txBody>
      </p:sp>
    </p:spTree>
    <p:extLst>
      <p:ext uri="{BB962C8B-B14F-4D97-AF65-F5344CB8AC3E}">
        <p14:creationId xmlns:p14="http://schemas.microsoft.com/office/powerpoint/2010/main" val="705009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E4071D6B-E442-458E-9A66-9106647CC764}" type="slidenum">
              <a:rPr lang="en-US"/>
              <a:pPr/>
              <a:t>‹#›</a:t>
            </a:fld>
            <a:endParaRPr lang="en-US"/>
          </a:p>
        </p:txBody>
      </p:sp>
    </p:spTree>
    <p:extLst>
      <p:ext uri="{BB962C8B-B14F-4D97-AF65-F5344CB8AC3E}">
        <p14:creationId xmlns:p14="http://schemas.microsoft.com/office/powerpoint/2010/main" val="3404965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C03D56E0-E596-4E1F-B0A2-24128AB9A5EB}" type="slidenum">
              <a:rPr lang="en-US"/>
              <a:pPr/>
              <a:t>‹#›</a:t>
            </a:fld>
            <a:endParaRPr lang="en-US"/>
          </a:p>
        </p:txBody>
      </p:sp>
    </p:spTree>
    <p:extLst>
      <p:ext uri="{BB962C8B-B14F-4D97-AF65-F5344CB8AC3E}">
        <p14:creationId xmlns:p14="http://schemas.microsoft.com/office/powerpoint/2010/main" val="2341396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D711540F-05AA-4AD7-AE28-F2E185779C2D}" type="slidenum">
              <a:rPr lang="en-US"/>
              <a:pPr/>
              <a:t>‹#›</a:t>
            </a:fld>
            <a:endParaRPr lang="en-US"/>
          </a:p>
        </p:txBody>
      </p:sp>
    </p:spTree>
    <p:extLst>
      <p:ext uri="{BB962C8B-B14F-4D97-AF65-F5344CB8AC3E}">
        <p14:creationId xmlns:p14="http://schemas.microsoft.com/office/powerpoint/2010/main" val="3671656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E4C72581-6B42-4B1C-B4C2-9EF2186DDF97}" type="slidenum">
              <a:rPr lang="en-US"/>
              <a:pPr/>
              <a:t>‹#›</a:t>
            </a:fld>
            <a:endParaRPr lang="en-US"/>
          </a:p>
        </p:txBody>
      </p:sp>
    </p:spTree>
    <p:extLst>
      <p:ext uri="{BB962C8B-B14F-4D97-AF65-F5344CB8AC3E}">
        <p14:creationId xmlns:p14="http://schemas.microsoft.com/office/powerpoint/2010/main" val="1396174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76200"/>
            <a:ext cx="1943100"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76200"/>
            <a:ext cx="5676900"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18E9AA0-B782-4519-9523-4CF4DDC932BD}" type="slidenum">
              <a:rPr lang="en-US"/>
              <a:pPr/>
              <a:t>‹#›</a:t>
            </a:fld>
            <a:endParaRPr lang="en-US"/>
          </a:p>
        </p:txBody>
      </p:sp>
    </p:spTree>
    <p:extLst>
      <p:ext uri="{BB962C8B-B14F-4D97-AF65-F5344CB8AC3E}">
        <p14:creationId xmlns:p14="http://schemas.microsoft.com/office/powerpoint/2010/main" val="7930615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76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981200"/>
            <a:ext cx="3810000" cy="4114800"/>
          </a:xfrm>
        </p:spPr>
        <p:txBody>
          <a:bodyPr/>
          <a:lstStyle/>
          <a:p>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1466850" y="-19050"/>
            <a:ext cx="1905000" cy="457200"/>
          </a:xfrm>
        </p:spPr>
        <p:txBody>
          <a:bodyPr/>
          <a:lstStyle>
            <a:lvl1pPr>
              <a:defRPr/>
            </a:lvl1pPr>
          </a:lstStyle>
          <a:p>
            <a:fld id="{60CD07B2-C92E-4CEF-98D7-F6359A715B96}" type="slidenum">
              <a:rPr lang="en-US"/>
              <a:pPr/>
              <a:t>‹#›</a:t>
            </a:fld>
            <a:endParaRPr lang="en-US"/>
          </a:p>
        </p:txBody>
      </p:sp>
    </p:spTree>
    <p:extLst>
      <p:ext uri="{BB962C8B-B14F-4D97-AF65-F5344CB8AC3E}">
        <p14:creationId xmlns:p14="http://schemas.microsoft.com/office/powerpoint/2010/main" val="3981430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tx1"/>
                </a:solidFill>
                <a:latin typeface="Times New Roman" pitchFamily="18" charset="0"/>
              </a:defRPr>
            </a:lvl1pPr>
          </a:lstStyle>
          <a:p>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tx1"/>
                </a:solidFill>
                <a:latin typeface="Times New Roman" pitchFamily="18" charset="0"/>
              </a:defRPr>
            </a:lvl1pPr>
          </a:lstStyle>
          <a:p>
            <a:endParaRPr lang="en-US"/>
          </a:p>
        </p:txBody>
      </p:sp>
      <p:sp>
        <p:nvSpPr>
          <p:cNvPr id="1030" name="Rectangle 6"/>
          <p:cNvSpPr>
            <a:spLocks noGrp="1" noChangeArrowheads="1"/>
          </p:cNvSpPr>
          <p:nvPr>
            <p:ph type="sldNum" sz="quarter" idx="4"/>
          </p:nvPr>
        </p:nvSpPr>
        <p:spPr bwMode="auto">
          <a:xfrm>
            <a:off x="-1466850" y="-190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chemeClr val="tx1"/>
                </a:solidFill>
                <a:latin typeface="Times New Roman" pitchFamily="18" charset="0"/>
              </a:defRPr>
            </a:lvl1pPr>
          </a:lstStyle>
          <a:p>
            <a:fld id="{5DC31973-900B-431F-8A88-36781E96EC9D}"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Comic Sans MS" pitchFamily="66" charset="0"/>
          <a:cs typeface="Times New Roman" pitchFamily="18" charset="0"/>
        </a:defRPr>
      </a:lvl2pPr>
      <a:lvl3pPr algn="ctr" rtl="0" fontAlgn="base">
        <a:spcBef>
          <a:spcPct val="0"/>
        </a:spcBef>
        <a:spcAft>
          <a:spcPct val="0"/>
        </a:spcAft>
        <a:defRPr sz="4400">
          <a:solidFill>
            <a:schemeClr val="tx2"/>
          </a:solidFill>
          <a:latin typeface="Comic Sans MS" pitchFamily="66" charset="0"/>
          <a:cs typeface="Times New Roman" pitchFamily="18" charset="0"/>
        </a:defRPr>
      </a:lvl3pPr>
      <a:lvl4pPr algn="ctr" rtl="0" fontAlgn="base">
        <a:spcBef>
          <a:spcPct val="0"/>
        </a:spcBef>
        <a:spcAft>
          <a:spcPct val="0"/>
        </a:spcAft>
        <a:defRPr sz="4400">
          <a:solidFill>
            <a:schemeClr val="tx2"/>
          </a:solidFill>
          <a:latin typeface="Comic Sans MS" pitchFamily="66" charset="0"/>
          <a:cs typeface="Times New Roman" pitchFamily="18" charset="0"/>
        </a:defRPr>
      </a:lvl4pPr>
      <a:lvl5pPr algn="ctr" rtl="0" fontAlgn="base">
        <a:spcBef>
          <a:spcPct val="0"/>
        </a:spcBef>
        <a:spcAft>
          <a:spcPct val="0"/>
        </a:spcAft>
        <a:defRPr sz="4400">
          <a:solidFill>
            <a:schemeClr val="tx2"/>
          </a:solidFill>
          <a:latin typeface="Comic Sans MS" pitchFamily="66" charset="0"/>
          <a:cs typeface="Times New Roman" pitchFamily="18" charset="0"/>
        </a:defRPr>
      </a:lvl5pPr>
      <a:lvl6pPr marL="457200" algn="ctr" rtl="0" fontAlgn="base">
        <a:spcBef>
          <a:spcPct val="0"/>
        </a:spcBef>
        <a:spcAft>
          <a:spcPct val="0"/>
        </a:spcAft>
        <a:defRPr sz="4400">
          <a:solidFill>
            <a:schemeClr val="tx2"/>
          </a:solidFill>
          <a:latin typeface="Comic Sans MS" pitchFamily="66" charset="0"/>
          <a:cs typeface="Times New Roman" pitchFamily="18" charset="0"/>
        </a:defRPr>
      </a:lvl6pPr>
      <a:lvl7pPr marL="914400" algn="ctr" rtl="0" fontAlgn="base">
        <a:spcBef>
          <a:spcPct val="0"/>
        </a:spcBef>
        <a:spcAft>
          <a:spcPct val="0"/>
        </a:spcAft>
        <a:defRPr sz="4400">
          <a:solidFill>
            <a:schemeClr val="tx2"/>
          </a:solidFill>
          <a:latin typeface="Comic Sans MS" pitchFamily="66" charset="0"/>
          <a:cs typeface="Times New Roman" pitchFamily="18" charset="0"/>
        </a:defRPr>
      </a:lvl7pPr>
      <a:lvl8pPr marL="1371600" algn="ctr" rtl="0" fontAlgn="base">
        <a:spcBef>
          <a:spcPct val="0"/>
        </a:spcBef>
        <a:spcAft>
          <a:spcPct val="0"/>
        </a:spcAft>
        <a:defRPr sz="4400">
          <a:solidFill>
            <a:schemeClr val="tx2"/>
          </a:solidFill>
          <a:latin typeface="Comic Sans MS" pitchFamily="66" charset="0"/>
          <a:cs typeface="Times New Roman" pitchFamily="18" charset="0"/>
        </a:defRPr>
      </a:lvl8pPr>
      <a:lvl9pPr marL="1828800" algn="ctr" rtl="0" fontAlgn="base">
        <a:spcBef>
          <a:spcPct val="0"/>
        </a:spcBef>
        <a:spcAft>
          <a:spcPct val="0"/>
        </a:spcAft>
        <a:defRPr sz="4400">
          <a:solidFill>
            <a:schemeClr val="tx2"/>
          </a:solidFill>
          <a:latin typeface="Comic Sans MS" pitchFamily="66" charset="0"/>
          <a:cs typeface="Times New Roman" pitchFamily="18"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cs typeface="+mn-cs"/>
        </a:defRPr>
      </a:lvl2pPr>
      <a:lvl3pPr marL="1143000" indent="-228600" algn="l" rtl="0" fontAlgn="base">
        <a:spcBef>
          <a:spcPct val="20000"/>
        </a:spcBef>
        <a:spcAft>
          <a:spcPct val="0"/>
        </a:spcAft>
        <a:buChar char="•"/>
        <a:defRPr sz="2400">
          <a:solidFill>
            <a:schemeClr val="tx1"/>
          </a:solidFill>
          <a:latin typeface="+mn-lt"/>
          <a:cs typeface="+mn-cs"/>
        </a:defRPr>
      </a:lvl3pPr>
      <a:lvl4pPr marL="1600200" indent="-228600" algn="l" rtl="0" fontAlgn="base">
        <a:spcBef>
          <a:spcPct val="20000"/>
        </a:spcBef>
        <a:spcAft>
          <a:spcPct val="0"/>
        </a:spcAft>
        <a:buChar char="–"/>
        <a:defRPr sz="2000">
          <a:solidFill>
            <a:schemeClr val="tx1"/>
          </a:solidFill>
          <a:latin typeface="+mn-lt"/>
          <a:cs typeface="+mn-cs"/>
        </a:defRPr>
      </a:lvl4pPr>
      <a:lvl5pPr marL="2057400" indent="-228600" algn="l" rtl="0" fontAlgn="base">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8.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10.png"/><Relationship Id="rId7"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1.jpeg"/><Relationship Id="rId5" Type="http://schemas.openxmlformats.org/officeDocument/2006/relationships/image" Target="../media/image1.png"/><Relationship Id="rId10" Type="http://schemas.openxmlformats.org/officeDocument/2006/relationships/image" Target="../media/image15.jpeg"/><Relationship Id="rId4" Type="http://schemas.openxmlformats.org/officeDocument/2006/relationships/image" Target="../media/image3.png"/><Relationship Id="rId9"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Text Box 13"/>
          <p:cNvSpPr txBox="1">
            <a:spLocks noChangeArrowheads="1"/>
          </p:cNvSpPr>
          <p:nvPr/>
        </p:nvSpPr>
        <p:spPr bwMode="auto">
          <a:xfrm>
            <a:off x="1080600" y="3304267"/>
            <a:ext cx="5913798" cy="19389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dirty="0"/>
              <a:t>Instructor: </a:t>
            </a:r>
            <a:r>
              <a:rPr lang="en-US" dirty="0">
                <a:solidFill>
                  <a:srgbClr val="800000"/>
                </a:solidFill>
              </a:rPr>
              <a:t>Dr. Hao Qin</a:t>
            </a:r>
            <a:r>
              <a:rPr lang="zh-CN" altLang="en-US" dirty="0">
                <a:solidFill>
                  <a:srgbClr val="800000"/>
                </a:solidFill>
                <a:latin typeface="微软雅黑" panose="020B0503020204020204" pitchFamily="34" charset="-122"/>
                <a:ea typeface="微软雅黑" panose="020B0503020204020204" pitchFamily="34" charset="-122"/>
              </a:rPr>
              <a:t>（秦浩）</a:t>
            </a:r>
            <a:endParaRPr lang="en-US" i="1" dirty="0">
              <a:solidFill>
                <a:srgbClr val="6600FF"/>
              </a:solidFill>
              <a:latin typeface="微软雅黑" panose="020B0503020204020204" pitchFamily="34" charset="-122"/>
              <a:ea typeface="微软雅黑" panose="020B0503020204020204" pitchFamily="34" charset="-122"/>
            </a:endParaRPr>
          </a:p>
          <a:p>
            <a:pPr eaLnBrk="1" hangingPunct="1"/>
            <a:endParaRPr lang="en-US" dirty="0"/>
          </a:p>
          <a:p>
            <a:pPr eaLnBrk="1" hangingPunct="1"/>
            <a:r>
              <a:rPr lang="en-US" dirty="0"/>
              <a:t>E-mail: </a:t>
            </a:r>
            <a:r>
              <a:rPr lang="en-US" dirty="0" err="1">
                <a:solidFill>
                  <a:srgbClr val="800000"/>
                </a:solidFill>
              </a:rPr>
              <a:t>hao.qin@scupi.cn</a:t>
            </a:r>
            <a:endParaRPr lang="en-US" dirty="0">
              <a:solidFill>
                <a:srgbClr val="800000"/>
              </a:solidFill>
            </a:endParaRPr>
          </a:p>
          <a:p>
            <a:pPr eaLnBrk="1" hangingPunct="1"/>
            <a:endParaRPr lang="en-US" dirty="0"/>
          </a:p>
          <a:p>
            <a:pPr eaLnBrk="1" hangingPunct="1"/>
            <a:r>
              <a:rPr lang="en-US" dirty="0"/>
              <a:t>My Office:     </a:t>
            </a:r>
            <a:r>
              <a:rPr lang="en-US">
                <a:solidFill>
                  <a:srgbClr val="800000"/>
                </a:solidFill>
              </a:rPr>
              <a:t>Room </a:t>
            </a:r>
            <a:r>
              <a:rPr lang="en-US" altLang="zh-CN">
                <a:solidFill>
                  <a:srgbClr val="800000"/>
                </a:solidFill>
              </a:rPr>
              <a:t>514</a:t>
            </a:r>
            <a:r>
              <a:rPr lang="en-US">
                <a:solidFill>
                  <a:srgbClr val="800000"/>
                </a:solidFill>
              </a:rPr>
              <a:t>, </a:t>
            </a:r>
            <a:r>
              <a:rPr lang="en-US" dirty="0">
                <a:solidFill>
                  <a:srgbClr val="800000"/>
                </a:solidFill>
              </a:rPr>
              <a:t>SCUPI (North)</a:t>
            </a:r>
            <a:endParaRPr lang="en-US" dirty="0"/>
          </a:p>
        </p:txBody>
      </p:sp>
      <p:sp>
        <p:nvSpPr>
          <p:cNvPr id="9" name="Title 1">
            <a:extLst>
              <a:ext uri="{FF2B5EF4-FFF2-40B4-BE49-F238E27FC236}">
                <a16:creationId xmlns:a16="http://schemas.microsoft.com/office/drawing/2014/main" id="{BDED1478-84E3-6316-01CA-703D212BD917}"/>
              </a:ext>
            </a:extLst>
          </p:cNvPr>
          <p:cNvSpPr>
            <a:spLocks noGrp="1"/>
          </p:cNvSpPr>
          <p:nvPr>
            <p:ph type="title"/>
          </p:nvPr>
        </p:nvSpPr>
        <p:spPr>
          <a:xfrm>
            <a:off x="685800" y="887240"/>
            <a:ext cx="7772400" cy="1143000"/>
          </a:xfrm>
        </p:spPr>
        <p:txBody>
          <a:bodyPr/>
          <a:lstStyle/>
          <a:p>
            <a:r>
              <a:rPr lang="en-US" dirty="0"/>
              <a:t>Data Structures and Algorithms</a:t>
            </a:r>
          </a:p>
        </p:txBody>
      </p:sp>
    </p:spTree>
    <p:extLst>
      <p:ext uri="{BB962C8B-B14F-4D97-AF65-F5344CB8AC3E}">
        <p14:creationId xmlns:p14="http://schemas.microsoft.com/office/powerpoint/2010/main" val="1090904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lide Number Placeholder 5"/>
          <p:cNvSpPr>
            <a:spLocks noGrp="1"/>
          </p:cNvSpPr>
          <p:nvPr>
            <p:ph type="sldNum" sz="quarter" idx="12"/>
          </p:nvPr>
        </p:nvSpPr>
        <p:spPr/>
        <p:txBody>
          <a:bodyPr/>
          <a:lstStyle/>
          <a:p>
            <a:fld id="{39BD08AC-745B-4A8F-84F0-6FD8FACA052D}" type="slidenum">
              <a:rPr lang="en-US"/>
              <a:pPr/>
              <a:t>2</a:t>
            </a:fld>
            <a:endParaRPr lang="en-US"/>
          </a:p>
        </p:txBody>
      </p:sp>
      <p:sp>
        <p:nvSpPr>
          <p:cNvPr id="610306" name="Rectangle 2"/>
          <p:cNvSpPr>
            <a:spLocks noGrp="1" noChangeArrowheads="1"/>
          </p:cNvSpPr>
          <p:nvPr>
            <p:ph type="title"/>
          </p:nvPr>
        </p:nvSpPr>
        <p:spPr>
          <a:xfrm>
            <a:off x="685800" y="-167641"/>
            <a:ext cx="7772400" cy="1143000"/>
          </a:xfrm>
        </p:spPr>
        <p:txBody>
          <a:bodyPr/>
          <a:lstStyle/>
          <a:p>
            <a:r>
              <a:rPr lang="en-US">
                <a:solidFill>
                  <a:schemeClr val="accent2"/>
                </a:solidFill>
              </a:rPr>
              <a:t>Sorting!</a:t>
            </a:r>
          </a:p>
        </p:txBody>
      </p:sp>
      <p:sp>
        <p:nvSpPr>
          <p:cNvPr id="610515" name="Text Box 211"/>
          <p:cNvSpPr txBox="1">
            <a:spLocks noChangeArrowheads="1"/>
          </p:cNvSpPr>
          <p:nvPr/>
        </p:nvSpPr>
        <p:spPr bwMode="auto">
          <a:xfrm>
            <a:off x="187233" y="886096"/>
            <a:ext cx="8618630" cy="83099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sz="2400" dirty="0"/>
              <a:t>Sorting is the process of ordering a bunch of </a:t>
            </a:r>
            <a:r>
              <a:rPr lang="en-US" sz="2400" dirty="0">
                <a:solidFill>
                  <a:srgbClr val="6600FF"/>
                </a:solidFill>
              </a:rPr>
              <a:t>items</a:t>
            </a:r>
            <a:r>
              <a:rPr lang="en-US" sz="2400" dirty="0"/>
              <a:t> based on one or more </a:t>
            </a:r>
            <a:r>
              <a:rPr lang="en-US" sz="2400" dirty="0">
                <a:solidFill>
                  <a:srgbClr val="6600FF"/>
                </a:solidFill>
              </a:rPr>
              <a:t>rules, </a:t>
            </a:r>
            <a:r>
              <a:rPr lang="en-US" sz="2400" dirty="0">
                <a:solidFill>
                  <a:schemeClr val="tx1"/>
                </a:solidFill>
              </a:rPr>
              <a:t>subject to one or more</a:t>
            </a:r>
            <a:r>
              <a:rPr lang="en-US" sz="2400" dirty="0">
                <a:solidFill>
                  <a:srgbClr val="6600FF"/>
                </a:solidFill>
              </a:rPr>
              <a:t> constraints</a:t>
            </a:r>
            <a:r>
              <a:rPr lang="en-US" sz="2400" dirty="0"/>
              <a:t>…</a:t>
            </a:r>
          </a:p>
        </p:txBody>
      </p:sp>
      <p:pic>
        <p:nvPicPr>
          <p:cNvPr id="610533" name="Picture 22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5375" y="3962400"/>
            <a:ext cx="496887" cy="1885950"/>
          </a:xfrm>
          <a:prstGeom prst="rect">
            <a:avLst/>
          </a:prstGeom>
          <a:noFill/>
          <a:extLst>
            <a:ext uri="{909E8E84-426E-40DD-AFC4-6F175D3DCCD1}">
              <a14:hiddenFill xmlns:a14="http://schemas.microsoft.com/office/drawing/2010/main">
                <a:solidFill>
                  <a:srgbClr val="FFFFFF"/>
                </a:solidFill>
              </a14:hiddenFill>
            </a:ext>
          </a:extLst>
        </p:spPr>
      </p:pic>
      <p:pic>
        <p:nvPicPr>
          <p:cNvPr id="610554" name="Picture 250"/>
          <p:cNvPicPr>
            <a:picLocks noChangeAspect="1" noChangeArrowheads="1"/>
          </p:cNvPicPr>
          <p:nvPr/>
        </p:nvPicPr>
        <p:blipFill>
          <a:blip r:embed="rId4" cstate="print">
            <a:extLst>
              <a:ext uri="{28A0092B-C50C-407E-A947-70E740481C1C}">
                <a14:useLocalDpi xmlns:a14="http://schemas.microsoft.com/office/drawing/2010/main" val="0"/>
              </a:ext>
            </a:extLst>
          </a:blip>
          <a:srcRect l="1735" t="2284" r="73265"/>
          <a:stretch>
            <a:fillRect/>
          </a:stretch>
        </p:blipFill>
        <p:spPr bwMode="auto">
          <a:xfrm>
            <a:off x="-5637213" y="2209800"/>
            <a:ext cx="509588" cy="3633788"/>
          </a:xfrm>
          <a:prstGeom prst="rect">
            <a:avLst/>
          </a:prstGeom>
          <a:noFill/>
          <a:extLst>
            <a:ext uri="{909E8E84-426E-40DD-AFC4-6F175D3DCCD1}">
              <a14:hiddenFill xmlns:a14="http://schemas.microsoft.com/office/drawing/2010/main">
                <a:solidFill>
                  <a:srgbClr val="FFFFFF"/>
                </a:solidFill>
              </a14:hiddenFill>
            </a:ext>
          </a:extLst>
        </p:spPr>
      </p:pic>
      <p:sp>
        <p:nvSpPr>
          <p:cNvPr id="610555" name="Text Box 251"/>
          <p:cNvSpPr txBox="1">
            <a:spLocks noChangeArrowheads="1"/>
          </p:cNvSpPr>
          <p:nvPr/>
        </p:nvSpPr>
        <p:spPr bwMode="auto">
          <a:xfrm>
            <a:off x="381000" y="2362200"/>
            <a:ext cx="4953000" cy="4572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endParaRPr lang="en-US" sz="2400"/>
          </a:p>
        </p:txBody>
      </p:sp>
      <p:sp>
        <p:nvSpPr>
          <p:cNvPr id="610556" name="Text Box 252"/>
          <p:cNvSpPr txBox="1">
            <a:spLocks noChangeArrowheads="1"/>
          </p:cNvSpPr>
          <p:nvPr/>
        </p:nvSpPr>
        <p:spPr bwMode="auto">
          <a:xfrm>
            <a:off x="280852" y="3725088"/>
            <a:ext cx="5029200" cy="169277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400" dirty="0">
                <a:solidFill>
                  <a:srgbClr val="6600FF"/>
                </a:solidFill>
              </a:rPr>
              <a:t>Rules – how do we order them?</a:t>
            </a:r>
          </a:p>
          <a:p>
            <a:pPr>
              <a:buFontTx/>
              <a:buChar char="•"/>
            </a:pPr>
            <a:r>
              <a:rPr lang="en-US" sz="2000" dirty="0"/>
              <a:t> Ascending     vs. Descending     order</a:t>
            </a:r>
          </a:p>
          <a:p>
            <a:pPr>
              <a:buFontTx/>
              <a:buChar char="•"/>
            </a:pPr>
            <a:r>
              <a:rPr lang="en-US" sz="2000" dirty="0"/>
              <a:t> Based on Circle radius? Student GPA?</a:t>
            </a:r>
          </a:p>
          <a:p>
            <a:pPr>
              <a:buFontTx/>
              <a:buChar char="•"/>
            </a:pPr>
            <a:r>
              <a:rPr lang="en-US" sz="2000" dirty="0"/>
              <a:t> Based on multiple criteria, e.g.:  </a:t>
            </a:r>
            <a:br>
              <a:rPr lang="en-US" sz="2000" dirty="0"/>
            </a:br>
            <a:r>
              <a:rPr lang="en-US" sz="2000" dirty="0"/>
              <a:t>      by last name, then first name</a:t>
            </a:r>
          </a:p>
        </p:txBody>
      </p:sp>
      <p:sp>
        <p:nvSpPr>
          <p:cNvPr id="610562" name="Text Box 258"/>
          <p:cNvSpPr txBox="1">
            <a:spLocks noChangeArrowheads="1"/>
          </p:cNvSpPr>
          <p:nvPr/>
        </p:nvSpPr>
        <p:spPr bwMode="auto">
          <a:xfrm>
            <a:off x="280852" y="1865806"/>
            <a:ext cx="4724400" cy="1754326"/>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400" dirty="0">
                <a:solidFill>
                  <a:srgbClr val="6600FF"/>
                </a:solidFill>
              </a:rPr>
              <a:t>Items – what are we sorting, and how many are there?</a:t>
            </a:r>
            <a:r>
              <a:rPr lang="en-US" sz="2400" dirty="0"/>
              <a:t> </a:t>
            </a:r>
          </a:p>
          <a:p>
            <a:pPr>
              <a:buFontTx/>
              <a:buChar char="•"/>
            </a:pPr>
            <a:r>
              <a:rPr lang="en-US" sz="2000" dirty="0"/>
              <a:t> Strings, numbers, student records, </a:t>
            </a:r>
            <a:br>
              <a:rPr lang="en-US" sz="2000" dirty="0"/>
            </a:br>
            <a:r>
              <a:rPr lang="en-US" sz="2000" dirty="0"/>
              <a:t>   C++ objects (e.g., Circles, Robots)</a:t>
            </a:r>
          </a:p>
          <a:p>
            <a:pPr>
              <a:buFontTx/>
              <a:buChar char="•"/>
            </a:pPr>
            <a:r>
              <a:rPr lang="en-US" sz="2000" dirty="0"/>
              <a:t> Thousands, millions or trillions?</a:t>
            </a:r>
          </a:p>
        </p:txBody>
      </p:sp>
      <p:sp>
        <p:nvSpPr>
          <p:cNvPr id="34" name="Text Box 252"/>
          <p:cNvSpPr txBox="1">
            <a:spLocks noChangeArrowheads="1"/>
          </p:cNvSpPr>
          <p:nvPr/>
        </p:nvSpPr>
        <p:spPr bwMode="auto">
          <a:xfrm>
            <a:off x="280852" y="5501884"/>
            <a:ext cx="5029200" cy="107721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400" dirty="0">
                <a:solidFill>
                  <a:srgbClr val="6600FF"/>
                </a:solidFill>
              </a:rPr>
              <a:t>Constraints?</a:t>
            </a:r>
          </a:p>
          <a:p>
            <a:pPr>
              <a:buFontTx/>
              <a:buChar char="•"/>
            </a:pPr>
            <a:r>
              <a:rPr lang="en-US" sz="2000" dirty="0"/>
              <a:t> Are the items in RAM or on disk?</a:t>
            </a:r>
          </a:p>
          <a:p>
            <a:pPr>
              <a:buFontTx/>
              <a:buChar char="•"/>
            </a:pPr>
            <a:r>
              <a:rPr lang="en-US" sz="2000" dirty="0"/>
              <a:t> Is the data in an array or a linked list?</a:t>
            </a:r>
          </a:p>
        </p:txBody>
      </p:sp>
      <p:cxnSp>
        <p:nvCxnSpPr>
          <p:cNvPr id="4" name="Straight Arrow Connector 3"/>
          <p:cNvCxnSpPr/>
          <p:nvPr/>
        </p:nvCxnSpPr>
        <p:spPr bwMode="auto">
          <a:xfrm flipV="1">
            <a:off x="1798537" y="4131549"/>
            <a:ext cx="285917" cy="264843"/>
          </a:xfrm>
          <a:prstGeom prst="straightConnector1">
            <a:avLst/>
          </a:prstGeom>
          <a:solidFill>
            <a:srgbClr val="CCFFFF"/>
          </a:solidFill>
          <a:ln w="3810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Arrow Connector 24"/>
          <p:cNvCxnSpPr/>
          <p:nvPr/>
        </p:nvCxnSpPr>
        <p:spPr bwMode="auto">
          <a:xfrm>
            <a:off x="3863491" y="4113881"/>
            <a:ext cx="261703" cy="306638"/>
          </a:xfrm>
          <a:prstGeom prst="straightConnector1">
            <a:avLst/>
          </a:prstGeom>
          <a:solidFill>
            <a:srgbClr val="CCFFFF"/>
          </a:solidFill>
          <a:ln w="3810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294402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p:txBody>
          <a:bodyPr/>
          <a:lstStyle/>
          <a:p>
            <a:fld id="{F67D817E-9E47-4643-BD17-715823064190}" type="slidenum">
              <a:rPr lang="en-US"/>
              <a:pPr/>
              <a:t>3</a:t>
            </a:fld>
            <a:endParaRPr lang="en-US"/>
          </a:p>
        </p:txBody>
      </p:sp>
      <p:sp>
        <p:nvSpPr>
          <p:cNvPr id="632834" name="Rectangle 2"/>
          <p:cNvSpPr>
            <a:spLocks noGrp="1" noChangeArrowheads="1"/>
          </p:cNvSpPr>
          <p:nvPr>
            <p:ph type="title"/>
          </p:nvPr>
        </p:nvSpPr>
        <p:spPr>
          <a:xfrm>
            <a:off x="724277" y="276501"/>
            <a:ext cx="7695446" cy="1143000"/>
          </a:xfrm>
        </p:spPr>
        <p:txBody>
          <a:bodyPr/>
          <a:lstStyle/>
          <a:p>
            <a:r>
              <a:rPr lang="en-US" sz="4800" dirty="0"/>
              <a:t>2 Rules of Sorting</a:t>
            </a:r>
          </a:p>
        </p:txBody>
      </p:sp>
      <p:sp>
        <p:nvSpPr>
          <p:cNvPr id="632850" name="Text Box 18"/>
          <p:cNvSpPr txBox="1">
            <a:spLocks noChangeArrowheads="1"/>
          </p:cNvSpPr>
          <p:nvPr/>
        </p:nvSpPr>
        <p:spPr bwMode="auto">
          <a:xfrm>
            <a:off x="511175" y="2553803"/>
            <a:ext cx="8305799" cy="156966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sz="4000" dirty="0">
                <a:solidFill>
                  <a:srgbClr val="6600CC"/>
                </a:solidFill>
              </a:rPr>
              <a:t>Rule #1:</a:t>
            </a:r>
          </a:p>
          <a:p>
            <a:pPr algn="ctr"/>
            <a:r>
              <a:rPr lang="en-US" sz="2800" dirty="0">
                <a:solidFill>
                  <a:schemeClr val="tx1"/>
                </a:solidFill>
              </a:rPr>
              <a:t>Don’t choose a sorting algorithm until you understand the requirements of your problem.</a:t>
            </a:r>
            <a:endParaRPr lang="en-US" sz="2800" dirty="0">
              <a:solidFill>
                <a:srgbClr val="C00000"/>
              </a:solidFill>
            </a:endParaRPr>
          </a:p>
        </p:txBody>
      </p:sp>
      <p:sp>
        <p:nvSpPr>
          <p:cNvPr id="12" name="Text Box 18"/>
          <p:cNvSpPr txBox="1">
            <a:spLocks noChangeArrowheads="1"/>
          </p:cNvSpPr>
          <p:nvPr/>
        </p:nvSpPr>
        <p:spPr bwMode="auto">
          <a:xfrm>
            <a:off x="511175" y="4495806"/>
            <a:ext cx="8305799" cy="156966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sz="4000" dirty="0">
                <a:solidFill>
                  <a:srgbClr val="6600CC"/>
                </a:solidFill>
              </a:rPr>
              <a:t>Rule #2:</a:t>
            </a:r>
          </a:p>
          <a:p>
            <a:pPr algn="ctr"/>
            <a:r>
              <a:rPr lang="en-US" sz="2800" dirty="0">
                <a:solidFill>
                  <a:schemeClr val="tx1"/>
                </a:solidFill>
              </a:rPr>
              <a:t>Always choose the simplest sorting algorithm possible that meets your requirements.</a:t>
            </a:r>
            <a:endParaRPr lang="en-US" sz="2800" dirty="0">
              <a:solidFill>
                <a:srgbClr val="C00000"/>
              </a:solidFill>
            </a:endParaRPr>
          </a:p>
        </p:txBody>
      </p:sp>
    </p:spTree>
    <p:extLst>
      <p:ext uri="{BB962C8B-B14F-4D97-AF65-F5344CB8AC3E}">
        <p14:creationId xmlns:p14="http://schemas.microsoft.com/office/powerpoint/2010/main" val="3420404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5"/>
          <p:cNvSpPr>
            <a:spLocks noGrp="1"/>
          </p:cNvSpPr>
          <p:nvPr>
            <p:ph type="sldNum" sz="quarter" idx="12"/>
          </p:nvPr>
        </p:nvSpPr>
        <p:spPr/>
        <p:txBody>
          <a:bodyPr/>
          <a:lstStyle/>
          <a:p>
            <a:fld id="{42726F2B-7F58-4293-A72B-EEFDA43EFF6D}" type="slidenum">
              <a:rPr lang="en-US"/>
              <a:pPr/>
              <a:t>4</a:t>
            </a:fld>
            <a:endParaRPr lang="en-US"/>
          </a:p>
        </p:txBody>
      </p:sp>
      <p:sp>
        <p:nvSpPr>
          <p:cNvPr id="630786" name="Rectangle 2"/>
          <p:cNvSpPr>
            <a:spLocks noGrp="1" noChangeArrowheads="1"/>
          </p:cNvSpPr>
          <p:nvPr>
            <p:ph type="title"/>
          </p:nvPr>
        </p:nvSpPr>
        <p:spPr>
          <a:xfrm>
            <a:off x="381000" y="-76200"/>
            <a:ext cx="8262938" cy="1143000"/>
          </a:xfrm>
        </p:spPr>
        <p:txBody>
          <a:bodyPr/>
          <a:lstStyle/>
          <a:p>
            <a:r>
              <a:rPr lang="en-US" sz="3800"/>
              <a:t>Selection Sort – Better or Worse?</a:t>
            </a:r>
          </a:p>
        </p:txBody>
      </p:sp>
      <p:sp>
        <p:nvSpPr>
          <p:cNvPr id="630789" name="Text Box 5"/>
          <p:cNvSpPr txBox="1">
            <a:spLocks noChangeArrowheads="1"/>
          </p:cNvSpPr>
          <p:nvPr/>
        </p:nvSpPr>
        <p:spPr bwMode="auto">
          <a:xfrm>
            <a:off x="533400" y="990600"/>
            <a:ext cx="7772400" cy="82232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400">
                <a:solidFill>
                  <a:schemeClr val="tx1"/>
                </a:solidFill>
              </a:rPr>
              <a:t>Are there any kinds of input data where Selection Sort is either </a:t>
            </a:r>
            <a:r>
              <a:rPr lang="en-US" sz="2400">
                <a:solidFill>
                  <a:schemeClr val="accent2"/>
                </a:solidFill>
              </a:rPr>
              <a:t>more</a:t>
            </a:r>
            <a:r>
              <a:rPr lang="en-US" sz="2400">
                <a:solidFill>
                  <a:schemeClr val="tx1"/>
                </a:solidFill>
              </a:rPr>
              <a:t> or </a:t>
            </a:r>
            <a:r>
              <a:rPr lang="en-US" sz="2400">
                <a:solidFill>
                  <a:schemeClr val="accent2"/>
                </a:solidFill>
              </a:rPr>
              <a:t>less efficient</a:t>
            </a:r>
            <a:r>
              <a:rPr lang="en-US" sz="2400">
                <a:solidFill>
                  <a:schemeClr val="tx1"/>
                </a:solidFill>
              </a:rPr>
              <a:t>?</a:t>
            </a:r>
          </a:p>
        </p:txBody>
      </p:sp>
      <p:sp>
        <p:nvSpPr>
          <p:cNvPr id="630790" name="Text Box 6"/>
          <p:cNvSpPr txBox="1">
            <a:spLocks noChangeArrowheads="1"/>
          </p:cNvSpPr>
          <p:nvPr/>
        </p:nvSpPr>
        <p:spPr bwMode="auto">
          <a:xfrm>
            <a:off x="381000" y="1981200"/>
            <a:ext cx="4572000" cy="118745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400">
                <a:solidFill>
                  <a:schemeClr val="tx1"/>
                </a:solidFill>
              </a:rPr>
              <a:t>For example, what if all of the books are </a:t>
            </a:r>
            <a:r>
              <a:rPr lang="en-US" sz="2400">
                <a:solidFill>
                  <a:schemeClr val="accent2"/>
                </a:solidFill>
              </a:rPr>
              <a:t>mostly in order</a:t>
            </a:r>
            <a:r>
              <a:rPr lang="en-US" sz="2400">
                <a:solidFill>
                  <a:schemeClr val="tx1"/>
                </a:solidFill>
              </a:rPr>
              <a:t> before our sort starts?</a:t>
            </a:r>
          </a:p>
        </p:txBody>
      </p:sp>
      <p:grpSp>
        <p:nvGrpSpPr>
          <p:cNvPr id="630802" name="Group 18"/>
          <p:cNvGrpSpPr>
            <a:grpSpLocks/>
          </p:cNvGrpSpPr>
          <p:nvPr/>
        </p:nvGrpSpPr>
        <p:grpSpPr bwMode="auto">
          <a:xfrm>
            <a:off x="5562600" y="2057400"/>
            <a:ext cx="5105400" cy="3349625"/>
            <a:chOff x="3264" y="2258"/>
            <a:chExt cx="3216" cy="2110"/>
          </a:xfrm>
        </p:grpSpPr>
        <p:pic>
          <p:nvPicPr>
            <p:cNvPr id="630791"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64" y="2258"/>
              <a:ext cx="3216" cy="211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30792" name="Group 8"/>
            <p:cNvGrpSpPr>
              <a:grpSpLocks/>
            </p:cNvGrpSpPr>
            <p:nvPr/>
          </p:nvGrpSpPr>
          <p:grpSpPr bwMode="auto">
            <a:xfrm>
              <a:off x="3385" y="2452"/>
              <a:ext cx="2917" cy="1843"/>
              <a:chOff x="912" y="814"/>
              <a:chExt cx="3483" cy="2264"/>
            </a:xfrm>
          </p:grpSpPr>
          <p:sp>
            <p:nvSpPr>
              <p:cNvPr id="630793" name="Rectangle 9"/>
              <p:cNvSpPr>
                <a:spLocks noChangeArrowheads="1"/>
              </p:cNvSpPr>
              <p:nvPr/>
            </p:nvSpPr>
            <p:spPr bwMode="auto">
              <a:xfrm>
                <a:off x="929" y="864"/>
                <a:ext cx="3464" cy="2214"/>
              </a:xfrm>
              <a:prstGeom prst="rect">
                <a:avLst/>
              </a:prstGeom>
              <a:solidFill>
                <a:srgbClr val="1F1F1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0794" name="Line 10"/>
              <p:cNvSpPr>
                <a:spLocks noChangeShapeType="1"/>
              </p:cNvSpPr>
              <p:nvPr/>
            </p:nvSpPr>
            <p:spPr bwMode="auto">
              <a:xfrm>
                <a:off x="912" y="864"/>
                <a:ext cx="16" cy="150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0795" name="Line 11"/>
              <p:cNvSpPr>
                <a:spLocks noChangeShapeType="1"/>
              </p:cNvSpPr>
              <p:nvPr/>
            </p:nvSpPr>
            <p:spPr bwMode="auto">
              <a:xfrm flipH="1">
                <a:off x="4386" y="814"/>
                <a:ext cx="9" cy="1508"/>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pic>
          <p:nvPicPr>
            <p:cNvPr id="630796"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r="17955"/>
            <a:stretch>
              <a:fillRect/>
            </a:stretch>
          </p:blipFill>
          <p:spPr bwMode="auto">
            <a:xfrm>
              <a:off x="4299" y="2813"/>
              <a:ext cx="353" cy="1489"/>
            </a:xfrm>
            <a:prstGeom prst="rect">
              <a:avLst/>
            </a:prstGeom>
            <a:noFill/>
            <a:extLst>
              <a:ext uri="{909E8E84-426E-40DD-AFC4-6F175D3DCCD1}">
                <a14:hiddenFill xmlns:a14="http://schemas.microsoft.com/office/drawing/2010/main">
                  <a:solidFill>
                    <a:srgbClr val="FFFFFF"/>
                  </a:solidFill>
                </a14:hiddenFill>
              </a:ext>
            </a:extLst>
          </p:spPr>
        </p:pic>
        <p:pic>
          <p:nvPicPr>
            <p:cNvPr id="630797" name="Picture 13"/>
            <p:cNvPicPr>
              <a:picLocks noChangeAspect="1" noChangeArrowheads="1"/>
            </p:cNvPicPr>
            <p:nvPr/>
          </p:nvPicPr>
          <p:blipFill>
            <a:blip r:embed="rId5" cstate="print">
              <a:extLst>
                <a:ext uri="{28A0092B-C50C-407E-A947-70E740481C1C}">
                  <a14:useLocalDpi xmlns:a14="http://schemas.microsoft.com/office/drawing/2010/main" val="0"/>
                </a:ext>
              </a:extLst>
            </a:blip>
            <a:srcRect l="2806" t="2338" r="63844"/>
            <a:stretch>
              <a:fillRect/>
            </a:stretch>
          </p:blipFill>
          <p:spPr bwMode="auto">
            <a:xfrm>
              <a:off x="4956" y="2682"/>
              <a:ext cx="404" cy="1604"/>
            </a:xfrm>
            <a:prstGeom prst="rect">
              <a:avLst/>
            </a:prstGeom>
            <a:noFill/>
            <a:extLst>
              <a:ext uri="{909E8E84-426E-40DD-AFC4-6F175D3DCCD1}">
                <a14:hiddenFill xmlns:a14="http://schemas.microsoft.com/office/drawing/2010/main">
                  <a:solidFill>
                    <a:srgbClr val="FFFFFF"/>
                  </a:solidFill>
                </a14:hiddenFill>
              </a:ext>
            </a:extLst>
          </p:spPr>
        </p:pic>
        <p:pic>
          <p:nvPicPr>
            <p:cNvPr id="630798" name="Picture 1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671" y="2449"/>
              <a:ext cx="276" cy="1837"/>
            </a:xfrm>
            <a:prstGeom prst="rect">
              <a:avLst/>
            </a:prstGeom>
            <a:noFill/>
            <a:extLst>
              <a:ext uri="{909E8E84-426E-40DD-AFC4-6F175D3DCCD1}">
                <a14:hiddenFill xmlns:a14="http://schemas.microsoft.com/office/drawing/2010/main">
                  <a:solidFill>
                    <a:srgbClr val="FFFFFF"/>
                  </a:solidFill>
                </a14:hiddenFill>
              </a:ext>
            </a:extLst>
          </p:spPr>
        </p:pic>
        <p:pic>
          <p:nvPicPr>
            <p:cNvPr id="630799" name="Picture 15"/>
            <p:cNvPicPr>
              <a:picLocks noChangeAspect="1" noChangeArrowheads="1"/>
            </p:cNvPicPr>
            <p:nvPr/>
          </p:nvPicPr>
          <p:blipFill>
            <a:blip r:embed="rId7" cstate="print">
              <a:extLst>
                <a:ext uri="{28A0092B-C50C-407E-A947-70E740481C1C}">
                  <a14:useLocalDpi xmlns:a14="http://schemas.microsoft.com/office/drawing/2010/main" val="0"/>
                </a:ext>
              </a:extLst>
            </a:blip>
            <a:srcRect r="2388" b="1042"/>
            <a:stretch>
              <a:fillRect/>
            </a:stretch>
          </p:blipFill>
          <p:spPr bwMode="auto">
            <a:xfrm>
              <a:off x="3456" y="3452"/>
              <a:ext cx="230" cy="820"/>
            </a:xfrm>
            <a:prstGeom prst="rect">
              <a:avLst/>
            </a:prstGeom>
            <a:noFill/>
            <a:extLst>
              <a:ext uri="{909E8E84-426E-40DD-AFC4-6F175D3DCCD1}">
                <a14:hiddenFill xmlns:a14="http://schemas.microsoft.com/office/drawing/2010/main">
                  <a:solidFill>
                    <a:srgbClr val="FFFFFF"/>
                  </a:solidFill>
                </a14:hiddenFill>
              </a:ext>
            </a:extLst>
          </p:spPr>
        </p:pic>
        <p:pic>
          <p:nvPicPr>
            <p:cNvPr id="630800" name="Picture 16"/>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708" y="3335"/>
              <a:ext cx="262" cy="967"/>
            </a:xfrm>
            <a:prstGeom prst="rect">
              <a:avLst/>
            </a:prstGeom>
            <a:noFill/>
            <a:extLst>
              <a:ext uri="{909E8E84-426E-40DD-AFC4-6F175D3DCCD1}">
                <a14:hiddenFill xmlns:a14="http://schemas.microsoft.com/office/drawing/2010/main">
                  <a:solidFill>
                    <a:srgbClr val="FFFFFF"/>
                  </a:solidFill>
                </a14:hiddenFill>
              </a:ext>
            </a:extLst>
          </p:spPr>
        </p:pic>
        <p:pic>
          <p:nvPicPr>
            <p:cNvPr id="630801" name="Picture 17"/>
            <p:cNvPicPr>
              <a:picLocks noChangeAspect="1" noChangeArrowheads="1"/>
            </p:cNvPicPr>
            <p:nvPr/>
          </p:nvPicPr>
          <p:blipFill>
            <a:blip r:embed="rId9" cstate="print">
              <a:extLst>
                <a:ext uri="{28A0092B-C50C-407E-A947-70E740481C1C}">
                  <a14:useLocalDpi xmlns:a14="http://schemas.microsoft.com/office/drawing/2010/main" val="0"/>
                </a:ext>
              </a:extLst>
            </a:blip>
            <a:srcRect l="710"/>
            <a:stretch>
              <a:fillRect/>
            </a:stretch>
          </p:blipFill>
          <p:spPr bwMode="auto">
            <a:xfrm>
              <a:off x="3957" y="3032"/>
              <a:ext cx="322" cy="1279"/>
            </a:xfrm>
            <a:prstGeom prst="rect">
              <a:avLst/>
            </a:prstGeom>
            <a:noFill/>
            <a:extLst>
              <a:ext uri="{909E8E84-426E-40DD-AFC4-6F175D3DCCD1}">
                <a14:hiddenFill xmlns:a14="http://schemas.microsoft.com/office/drawing/2010/main">
                  <a:solidFill>
                    <a:srgbClr val="FFFFFF"/>
                  </a:solidFill>
                </a14:hiddenFill>
              </a:ext>
            </a:extLst>
          </p:spPr>
        </p:pic>
      </p:grpSp>
      <p:sp>
        <p:nvSpPr>
          <p:cNvPr id="630804" name="Text Box 20"/>
          <p:cNvSpPr txBox="1">
            <a:spLocks noChangeArrowheads="1"/>
          </p:cNvSpPr>
          <p:nvPr/>
        </p:nvSpPr>
        <p:spPr bwMode="auto">
          <a:xfrm>
            <a:off x="5562600" y="5562600"/>
            <a:ext cx="3581400" cy="118745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400">
                <a:solidFill>
                  <a:schemeClr val="tx1"/>
                </a:solidFill>
              </a:rPr>
              <a:t>No! Selection sort takes just as many steps either way!</a:t>
            </a:r>
          </a:p>
        </p:txBody>
      </p:sp>
      <p:sp>
        <p:nvSpPr>
          <p:cNvPr id="630805" name="Text Box 21"/>
          <p:cNvSpPr txBox="1">
            <a:spLocks noChangeArrowheads="1"/>
          </p:cNvSpPr>
          <p:nvPr/>
        </p:nvSpPr>
        <p:spPr bwMode="auto">
          <a:xfrm>
            <a:off x="152400" y="3429000"/>
            <a:ext cx="5257800" cy="3295650"/>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000" b="1">
                <a:solidFill>
                  <a:schemeClr val="tx1"/>
                </a:solidFill>
                <a:latin typeface="Courier New" pitchFamily="49" charset="0"/>
                <a:cs typeface="Courier New" pitchFamily="49" charset="0"/>
              </a:rPr>
              <a:t>void selectSort(shelf of N books) </a:t>
            </a:r>
            <a:endParaRPr lang="en-US" sz="2000">
              <a:solidFill>
                <a:schemeClr val="tx1"/>
              </a:solidFill>
              <a:latin typeface="Courier New" pitchFamily="49" charset="0"/>
              <a:cs typeface="Courier New" pitchFamily="49" charset="0"/>
            </a:endParaRPr>
          </a:p>
          <a:p>
            <a:r>
              <a:rPr lang="en-US" sz="2000" b="1">
                <a:solidFill>
                  <a:schemeClr val="tx1"/>
                </a:solidFill>
                <a:latin typeface="Courier New" pitchFamily="49" charset="0"/>
                <a:cs typeface="Courier New" pitchFamily="49" charset="0"/>
              </a:rPr>
              <a:t>{ </a:t>
            </a:r>
            <a:endParaRPr lang="en-US" sz="2000">
              <a:solidFill>
                <a:schemeClr val="tx1"/>
              </a:solidFill>
              <a:latin typeface="Courier New" pitchFamily="49" charset="0"/>
              <a:cs typeface="Courier New" pitchFamily="49" charset="0"/>
            </a:endParaRPr>
          </a:p>
          <a:p>
            <a:r>
              <a:rPr lang="en-US" sz="2000" b="1">
                <a:solidFill>
                  <a:schemeClr val="tx1"/>
                </a:solidFill>
                <a:latin typeface="Courier New" pitchFamily="49" charset="0"/>
                <a:cs typeface="Courier New" pitchFamily="49" charset="0"/>
              </a:rPr>
              <a:t>  for i = 1 to N</a:t>
            </a:r>
            <a:endParaRPr lang="en-US" sz="2000">
              <a:solidFill>
                <a:schemeClr val="tx1"/>
              </a:solidFill>
              <a:latin typeface="Courier New" pitchFamily="49" charset="0"/>
              <a:cs typeface="Courier New" pitchFamily="49" charset="0"/>
            </a:endParaRPr>
          </a:p>
          <a:p>
            <a:r>
              <a:rPr lang="en-US" sz="2000" b="1">
                <a:solidFill>
                  <a:schemeClr val="tx1"/>
                </a:solidFill>
                <a:latin typeface="Courier New" pitchFamily="49" charset="0"/>
                <a:cs typeface="Courier New" pitchFamily="49" charset="0"/>
              </a:rPr>
              <a:t>  { </a:t>
            </a:r>
          </a:p>
          <a:p>
            <a:r>
              <a:rPr lang="en-US" sz="2000" b="1">
                <a:solidFill>
                  <a:schemeClr val="tx1"/>
                </a:solidFill>
                <a:latin typeface="Courier New" pitchFamily="49" charset="0"/>
                <a:cs typeface="Courier New" pitchFamily="49" charset="0"/>
              </a:rPr>
              <a:t>     find the smallest book </a:t>
            </a:r>
            <a:br>
              <a:rPr lang="en-US" sz="2000" b="1">
                <a:solidFill>
                  <a:schemeClr val="tx1"/>
                </a:solidFill>
                <a:latin typeface="Courier New" pitchFamily="49" charset="0"/>
                <a:cs typeface="Courier New" pitchFamily="49" charset="0"/>
              </a:rPr>
            </a:br>
            <a:r>
              <a:rPr lang="en-US" sz="2000" b="1">
                <a:solidFill>
                  <a:schemeClr val="tx1"/>
                </a:solidFill>
                <a:latin typeface="Courier New" pitchFamily="49" charset="0"/>
                <a:cs typeface="Courier New" pitchFamily="49" charset="0"/>
              </a:rPr>
              <a:t>       between slots i and N</a:t>
            </a:r>
          </a:p>
          <a:p>
            <a:r>
              <a:rPr lang="en-US" sz="1000" b="1">
                <a:solidFill>
                  <a:schemeClr val="tx1"/>
                </a:solidFill>
                <a:latin typeface="Courier New" pitchFamily="49" charset="0"/>
                <a:cs typeface="Courier New" pitchFamily="49" charset="0"/>
              </a:rPr>
              <a:t> </a:t>
            </a:r>
            <a:br>
              <a:rPr lang="en-US" sz="1000" b="1">
                <a:solidFill>
                  <a:schemeClr val="tx1"/>
                </a:solidFill>
                <a:latin typeface="Courier New" pitchFamily="49" charset="0"/>
                <a:cs typeface="Courier New" pitchFamily="49" charset="0"/>
              </a:rPr>
            </a:br>
            <a:r>
              <a:rPr lang="en-US" sz="2000" b="1">
                <a:solidFill>
                  <a:schemeClr val="tx1"/>
                </a:solidFill>
                <a:latin typeface="Courier New" pitchFamily="49" charset="0"/>
                <a:cs typeface="Courier New" pitchFamily="49" charset="0"/>
              </a:rPr>
              <a:t>     swap this smallest book </a:t>
            </a:r>
            <a:br>
              <a:rPr lang="en-US" sz="2000" b="1">
                <a:solidFill>
                  <a:schemeClr val="tx1"/>
                </a:solidFill>
                <a:latin typeface="Courier New" pitchFamily="49" charset="0"/>
                <a:cs typeface="Courier New" pitchFamily="49" charset="0"/>
              </a:rPr>
            </a:br>
            <a:r>
              <a:rPr lang="en-US" sz="2000" b="1">
                <a:solidFill>
                  <a:schemeClr val="tx1"/>
                </a:solidFill>
                <a:latin typeface="Courier New" pitchFamily="49" charset="0"/>
                <a:cs typeface="Courier New" pitchFamily="49" charset="0"/>
              </a:rPr>
              <a:t>       with book i; </a:t>
            </a:r>
            <a:endParaRPr lang="en-US" sz="2000">
              <a:solidFill>
                <a:schemeClr val="tx1"/>
              </a:solidFill>
              <a:latin typeface="Courier New" pitchFamily="49" charset="0"/>
              <a:cs typeface="Courier New" pitchFamily="49" charset="0"/>
            </a:endParaRPr>
          </a:p>
          <a:p>
            <a:r>
              <a:rPr lang="en-US" sz="2000" b="1">
                <a:solidFill>
                  <a:schemeClr val="tx1"/>
                </a:solidFill>
                <a:latin typeface="Courier New" pitchFamily="49" charset="0"/>
                <a:cs typeface="Courier New" pitchFamily="49" charset="0"/>
              </a:rPr>
              <a:t>  } </a:t>
            </a:r>
            <a:endParaRPr lang="en-US" sz="2000">
              <a:solidFill>
                <a:schemeClr val="tx1"/>
              </a:solidFill>
              <a:latin typeface="Courier New" pitchFamily="49" charset="0"/>
              <a:cs typeface="Courier New" pitchFamily="49" charset="0"/>
            </a:endParaRPr>
          </a:p>
          <a:p>
            <a:r>
              <a:rPr lang="en-US" sz="2000" b="1">
                <a:solidFill>
                  <a:schemeClr val="tx1"/>
                </a:solidFill>
                <a:latin typeface="Courier New" pitchFamily="49" charset="0"/>
                <a:cs typeface="Courier New" pitchFamily="49" charset="0"/>
              </a:rPr>
              <a:t>} </a:t>
            </a:r>
            <a:endParaRPr lang="en-US" sz="2000">
              <a:latin typeface="Courier New" pitchFamily="49" charset="0"/>
            </a:endParaRPr>
          </a:p>
        </p:txBody>
      </p:sp>
    </p:spTree>
    <p:extLst>
      <p:ext uri="{BB962C8B-B14F-4D97-AF65-F5344CB8AC3E}">
        <p14:creationId xmlns:p14="http://schemas.microsoft.com/office/powerpoint/2010/main" val="1754868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4"/>
          <p:cNvSpPr>
            <a:spLocks noGrp="1"/>
          </p:cNvSpPr>
          <p:nvPr>
            <p:ph type="sldNum" sz="quarter" idx="12"/>
          </p:nvPr>
        </p:nvSpPr>
        <p:spPr/>
        <p:txBody>
          <a:bodyPr/>
          <a:lstStyle/>
          <a:p>
            <a:fld id="{492B0ED4-EEB9-46EA-AC32-7B9714F9924A}" type="slidenum">
              <a:rPr lang="en-US"/>
              <a:pPr/>
              <a:t>5</a:t>
            </a:fld>
            <a:endParaRPr lang="en-US"/>
          </a:p>
        </p:txBody>
      </p:sp>
      <p:sp>
        <p:nvSpPr>
          <p:cNvPr id="584706" name="Rectangle 2"/>
          <p:cNvSpPr>
            <a:spLocks noGrp="1" noChangeArrowheads="1"/>
          </p:cNvSpPr>
          <p:nvPr>
            <p:ph type="title"/>
          </p:nvPr>
        </p:nvSpPr>
        <p:spPr>
          <a:xfrm>
            <a:off x="685800" y="-228600"/>
            <a:ext cx="7772400" cy="1143000"/>
          </a:xfrm>
        </p:spPr>
        <p:txBody>
          <a:bodyPr/>
          <a:lstStyle/>
          <a:p>
            <a:r>
              <a:rPr lang="en-US"/>
              <a:t>The Selection Sort</a:t>
            </a:r>
          </a:p>
        </p:txBody>
      </p:sp>
      <p:sp>
        <p:nvSpPr>
          <p:cNvPr id="584707" name="Text Box 3"/>
          <p:cNvSpPr txBox="1">
            <a:spLocks noChangeArrowheads="1"/>
          </p:cNvSpPr>
          <p:nvPr/>
        </p:nvSpPr>
        <p:spPr bwMode="auto">
          <a:xfrm>
            <a:off x="2362200" y="914400"/>
            <a:ext cx="4384675" cy="118745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400">
                <a:solidFill>
                  <a:schemeClr val="accent2"/>
                </a:solidFill>
                <a:cs typeface="Courier New" pitchFamily="49" charset="0"/>
              </a:rPr>
              <a:t>And here’s the C++ source code to sort a bunch of numbers…</a:t>
            </a:r>
            <a:endParaRPr lang="en-US" sz="2400">
              <a:solidFill>
                <a:schemeClr val="tx1"/>
              </a:solidFill>
              <a:cs typeface="Courier New" pitchFamily="49" charset="0"/>
            </a:endParaRPr>
          </a:p>
        </p:txBody>
      </p:sp>
      <p:sp>
        <p:nvSpPr>
          <p:cNvPr id="584708" name="Text Box 4"/>
          <p:cNvSpPr txBox="1">
            <a:spLocks noChangeArrowheads="1"/>
          </p:cNvSpPr>
          <p:nvPr/>
        </p:nvSpPr>
        <p:spPr bwMode="auto">
          <a:xfrm>
            <a:off x="76200" y="2498725"/>
            <a:ext cx="5521325" cy="4057650"/>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000" b="1">
                <a:solidFill>
                  <a:schemeClr val="tx1"/>
                </a:solidFill>
                <a:latin typeface="Courier New" pitchFamily="49" charset="0"/>
                <a:cs typeface="Courier New" pitchFamily="49" charset="0"/>
              </a:rPr>
              <a:t>void selectionSort(int A[], int n) </a:t>
            </a:r>
            <a:endParaRPr lang="en-US" sz="2000">
              <a:solidFill>
                <a:schemeClr val="tx1"/>
              </a:solidFill>
              <a:latin typeface="Courier New" pitchFamily="49" charset="0"/>
              <a:cs typeface="Courier New" pitchFamily="49" charset="0"/>
            </a:endParaRPr>
          </a:p>
          <a:p>
            <a:r>
              <a:rPr lang="en-US" sz="2000" b="1">
                <a:solidFill>
                  <a:schemeClr val="tx1"/>
                </a:solidFill>
                <a:latin typeface="Courier New" pitchFamily="49" charset="0"/>
                <a:cs typeface="Courier New" pitchFamily="49" charset="0"/>
              </a:rPr>
              <a:t>{ </a:t>
            </a:r>
            <a:endParaRPr lang="en-US" sz="2000">
              <a:solidFill>
                <a:schemeClr val="tx1"/>
              </a:solidFill>
              <a:latin typeface="Courier New" pitchFamily="49" charset="0"/>
              <a:cs typeface="Courier New" pitchFamily="49" charset="0"/>
            </a:endParaRPr>
          </a:p>
          <a:p>
            <a:r>
              <a:rPr lang="en-US" sz="2000" b="1">
                <a:solidFill>
                  <a:schemeClr val="tx1"/>
                </a:solidFill>
                <a:latin typeface="Courier New" pitchFamily="49" charset="0"/>
                <a:cs typeface="Courier New" pitchFamily="49" charset="0"/>
              </a:rPr>
              <a:t>  for (int i = 0; i &lt; n; i++) </a:t>
            </a:r>
            <a:endParaRPr lang="en-US" sz="2000">
              <a:solidFill>
                <a:schemeClr val="tx1"/>
              </a:solidFill>
              <a:latin typeface="Courier New" pitchFamily="49" charset="0"/>
              <a:cs typeface="Courier New" pitchFamily="49" charset="0"/>
            </a:endParaRPr>
          </a:p>
          <a:p>
            <a:r>
              <a:rPr lang="en-US" sz="2000" b="1">
                <a:solidFill>
                  <a:schemeClr val="tx1"/>
                </a:solidFill>
                <a:latin typeface="Courier New" pitchFamily="49" charset="0"/>
                <a:cs typeface="Courier New" pitchFamily="49" charset="0"/>
              </a:rPr>
              <a:t>  { </a:t>
            </a:r>
            <a:endParaRPr lang="en-US" sz="2000">
              <a:solidFill>
                <a:schemeClr val="tx1"/>
              </a:solidFill>
              <a:latin typeface="Courier New" pitchFamily="49" charset="0"/>
              <a:cs typeface="Courier New" pitchFamily="49" charset="0"/>
            </a:endParaRPr>
          </a:p>
          <a:p>
            <a:r>
              <a:rPr lang="en-US" sz="2000" b="1">
                <a:solidFill>
                  <a:schemeClr val="tx1"/>
                </a:solidFill>
                <a:latin typeface="Courier New" pitchFamily="49" charset="0"/>
                <a:cs typeface="Courier New" pitchFamily="49" charset="0"/>
              </a:rPr>
              <a:t>    int minIndex = i;</a:t>
            </a:r>
            <a:endParaRPr lang="en-US" sz="2000">
              <a:solidFill>
                <a:schemeClr val="tx1"/>
              </a:solidFill>
              <a:latin typeface="Courier New" pitchFamily="49" charset="0"/>
              <a:cs typeface="Courier New" pitchFamily="49" charset="0"/>
            </a:endParaRPr>
          </a:p>
          <a:p>
            <a:r>
              <a:rPr lang="en-US" sz="2000" b="1">
                <a:solidFill>
                  <a:schemeClr val="tx1"/>
                </a:solidFill>
                <a:latin typeface="Courier New" pitchFamily="49" charset="0"/>
                <a:cs typeface="Courier New" pitchFamily="49" charset="0"/>
              </a:rPr>
              <a:t>    for (int j = i+1; j &lt; n; j++) </a:t>
            </a:r>
            <a:endParaRPr lang="en-US" sz="2000">
              <a:solidFill>
                <a:schemeClr val="tx1"/>
              </a:solidFill>
              <a:latin typeface="Courier New" pitchFamily="49" charset="0"/>
              <a:cs typeface="Courier New" pitchFamily="49" charset="0"/>
            </a:endParaRPr>
          </a:p>
          <a:p>
            <a:r>
              <a:rPr lang="en-US" sz="2000" b="1">
                <a:solidFill>
                  <a:schemeClr val="tx1"/>
                </a:solidFill>
                <a:latin typeface="Courier New" pitchFamily="49" charset="0"/>
                <a:cs typeface="Courier New" pitchFamily="49" charset="0"/>
              </a:rPr>
              <a:t>    { </a:t>
            </a:r>
            <a:endParaRPr lang="en-US" sz="2000">
              <a:solidFill>
                <a:schemeClr val="tx1"/>
              </a:solidFill>
              <a:latin typeface="Courier New" pitchFamily="49" charset="0"/>
              <a:cs typeface="Courier New" pitchFamily="49" charset="0"/>
            </a:endParaRPr>
          </a:p>
          <a:p>
            <a:r>
              <a:rPr lang="en-US" sz="2000" b="1">
                <a:solidFill>
                  <a:schemeClr val="tx1"/>
                </a:solidFill>
                <a:latin typeface="Courier New" pitchFamily="49" charset="0"/>
                <a:cs typeface="Courier New" pitchFamily="49" charset="0"/>
              </a:rPr>
              <a:t>      if (A[j] &lt; A[minIndex]) </a:t>
            </a:r>
            <a:endParaRPr lang="en-US" sz="2000">
              <a:solidFill>
                <a:schemeClr val="tx1"/>
              </a:solidFill>
              <a:latin typeface="Courier New" pitchFamily="49" charset="0"/>
              <a:cs typeface="Courier New" pitchFamily="49" charset="0"/>
            </a:endParaRPr>
          </a:p>
          <a:p>
            <a:r>
              <a:rPr lang="en-US" sz="2000" b="1">
                <a:solidFill>
                  <a:schemeClr val="tx1"/>
                </a:solidFill>
                <a:latin typeface="Courier New" pitchFamily="49" charset="0"/>
                <a:cs typeface="Courier New" pitchFamily="49" charset="0"/>
              </a:rPr>
              <a:t>        minIndex = j; </a:t>
            </a:r>
            <a:endParaRPr lang="en-US" sz="2000">
              <a:solidFill>
                <a:schemeClr val="tx1"/>
              </a:solidFill>
              <a:latin typeface="Courier New" pitchFamily="49" charset="0"/>
              <a:cs typeface="Courier New" pitchFamily="49" charset="0"/>
            </a:endParaRPr>
          </a:p>
          <a:p>
            <a:r>
              <a:rPr lang="en-US" sz="2000" b="1">
                <a:solidFill>
                  <a:schemeClr val="tx1"/>
                </a:solidFill>
                <a:latin typeface="Courier New" pitchFamily="49" charset="0"/>
                <a:cs typeface="Courier New" pitchFamily="49" charset="0"/>
              </a:rPr>
              <a:t>    } </a:t>
            </a:r>
            <a:endParaRPr lang="en-US" sz="2000">
              <a:solidFill>
                <a:schemeClr val="tx1"/>
              </a:solidFill>
              <a:latin typeface="Courier New" pitchFamily="49" charset="0"/>
              <a:cs typeface="Courier New" pitchFamily="49" charset="0"/>
            </a:endParaRPr>
          </a:p>
          <a:p>
            <a:r>
              <a:rPr lang="en-US" sz="2000" b="1">
                <a:solidFill>
                  <a:schemeClr val="tx1"/>
                </a:solidFill>
                <a:latin typeface="Courier New" pitchFamily="49" charset="0"/>
                <a:cs typeface="Courier New" pitchFamily="49" charset="0"/>
              </a:rPr>
              <a:t>    swap(A[i], A[minIndex]); </a:t>
            </a:r>
            <a:endParaRPr lang="en-US" sz="2000">
              <a:solidFill>
                <a:schemeClr val="tx1"/>
              </a:solidFill>
              <a:latin typeface="Courier New" pitchFamily="49" charset="0"/>
              <a:cs typeface="Courier New" pitchFamily="49" charset="0"/>
            </a:endParaRPr>
          </a:p>
          <a:p>
            <a:r>
              <a:rPr lang="en-US" sz="2000" b="1">
                <a:solidFill>
                  <a:schemeClr val="tx1"/>
                </a:solidFill>
                <a:latin typeface="Courier New" pitchFamily="49" charset="0"/>
                <a:cs typeface="Courier New" pitchFamily="49" charset="0"/>
              </a:rPr>
              <a:t>  } </a:t>
            </a:r>
            <a:endParaRPr lang="en-US" sz="2000">
              <a:solidFill>
                <a:schemeClr val="tx1"/>
              </a:solidFill>
              <a:latin typeface="Courier New" pitchFamily="49" charset="0"/>
              <a:cs typeface="Courier New" pitchFamily="49" charset="0"/>
            </a:endParaRPr>
          </a:p>
          <a:p>
            <a:r>
              <a:rPr lang="en-US" sz="2000" b="1">
                <a:solidFill>
                  <a:schemeClr val="tx1"/>
                </a:solidFill>
                <a:latin typeface="Courier New" pitchFamily="49" charset="0"/>
                <a:cs typeface="Courier New" pitchFamily="49" charset="0"/>
              </a:rPr>
              <a:t>} </a:t>
            </a:r>
            <a:endParaRPr lang="en-US" sz="2000">
              <a:latin typeface="Courier New" pitchFamily="49" charset="0"/>
            </a:endParaRPr>
          </a:p>
        </p:txBody>
      </p:sp>
      <p:grpSp>
        <p:nvGrpSpPr>
          <p:cNvPr id="584709" name="Group 5"/>
          <p:cNvGrpSpPr>
            <a:grpSpLocks/>
          </p:cNvGrpSpPr>
          <p:nvPr/>
        </p:nvGrpSpPr>
        <p:grpSpPr bwMode="auto">
          <a:xfrm>
            <a:off x="5138738" y="3870325"/>
            <a:ext cx="3929062" cy="1463675"/>
            <a:chOff x="3257" y="2438"/>
            <a:chExt cx="2647" cy="922"/>
          </a:xfrm>
        </p:grpSpPr>
        <p:sp>
          <p:nvSpPr>
            <p:cNvPr id="584710" name="Text Box 6"/>
            <p:cNvSpPr txBox="1">
              <a:spLocks noChangeArrowheads="1"/>
            </p:cNvSpPr>
            <p:nvPr/>
          </p:nvSpPr>
          <p:spPr bwMode="auto">
            <a:xfrm>
              <a:off x="3257" y="2438"/>
              <a:ext cx="2023" cy="92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9000">
                  <a:solidFill>
                    <a:srgbClr val="A50021"/>
                  </a:solidFill>
                </a:rPr>
                <a:t>}</a:t>
              </a:r>
              <a:r>
                <a:rPr lang="en-US" sz="4000">
                  <a:solidFill>
                    <a:srgbClr val="A50021"/>
                  </a:solidFill>
                </a:rPr>
                <a:t> </a:t>
              </a:r>
            </a:p>
          </p:txBody>
        </p:sp>
        <p:sp>
          <p:nvSpPr>
            <p:cNvPr id="584711" name="Text Box 7"/>
            <p:cNvSpPr txBox="1">
              <a:spLocks noChangeArrowheads="1"/>
            </p:cNvSpPr>
            <p:nvPr/>
          </p:nvSpPr>
          <p:spPr bwMode="auto">
            <a:xfrm>
              <a:off x="3736" y="2573"/>
              <a:ext cx="2168" cy="634"/>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000" dirty="0">
                  <a:solidFill>
                    <a:srgbClr val="A50021"/>
                  </a:solidFill>
                </a:rPr>
                <a:t>Locate the smallest item in the array between the </a:t>
              </a:r>
              <a:r>
                <a:rPr lang="en-US" sz="2000" dirty="0" err="1">
                  <a:solidFill>
                    <a:srgbClr val="6600CC"/>
                  </a:solidFill>
                </a:rPr>
                <a:t>i</a:t>
              </a:r>
              <a:r>
                <a:rPr lang="en-US" sz="2000" b="1" baseline="30000" dirty="0" err="1">
                  <a:solidFill>
                    <a:srgbClr val="6600CC"/>
                  </a:solidFill>
                </a:rPr>
                <a:t>th</a:t>
              </a:r>
              <a:r>
                <a:rPr lang="en-US" sz="2000" dirty="0">
                  <a:solidFill>
                    <a:srgbClr val="A50021"/>
                  </a:solidFill>
                </a:rPr>
                <a:t> </a:t>
              </a:r>
              <a:r>
                <a:rPr lang="en-US" sz="2000" dirty="0">
                  <a:solidFill>
                    <a:srgbClr val="6600FF"/>
                  </a:solidFill>
                </a:rPr>
                <a:t>slot</a:t>
              </a:r>
              <a:r>
                <a:rPr lang="en-US" sz="2000" dirty="0">
                  <a:solidFill>
                    <a:srgbClr val="A50021"/>
                  </a:solidFill>
                </a:rPr>
                <a:t> and </a:t>
              </a:r>
              <a:r>
                <a:rPr lang="en-US" sz="2000" dirty="0">
                  <a:solidFill>
                    <a:srgbClr val="6600FF"/>
                  </a:solidFill>
                </a:rPr>
                <a:t>slot n-1</a:t>
              </a:r>
              <a:r>
                <a:rPr lang="en-US" sz="2000" dirty="0">
                  <a:solidFill>
                    <a:srgbClr val="A50021"/>
                  </a:solidFill>
                </a:rPr>
                <a:t>.</a:t>
              </a:r>
            </a:p>
          </p:txBody>
        </p:sp>
        <p:sp>
          <p:nvSpPr>
            <p:cNvPr id="584712" name="Rectangle 8"/>
            <p:cNvSpPr>
              <a:spLocks noChangeArrowheads="1"/>
            </p:cNvSpPr>
            <p:nvPr/>
          </p:nvSpPr>
          <p:spPr bwMode="auto">
            <a:xfrm>
              <a:off x="3546" y="2694"/>
              <a:ext cx="266" cy="44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4000">
                  <a:solidFill>
                    <a:srgbClr val="A50021"/>
                  </a:solidFill>
                </a:rPr>
                <a:t>-</a:t>
              </a:r>
            </a:p>
          </p:txBody>
        </p:sp>
      </p:grpSp>
      <p:grpSp>
        <p:nvGrpSpPr>
          <p:cNvPr id="584713" name="Group 9"/>
          <p:cNvGrpSpPr>
            <a:grpSpLocks/>
          </p:cNvGrpSpPr>
          <p:nvPr/>
        </p:nvGrpSpPr>
        <p:grpSpPr bwMode="auto">
          <a:xfrm>
            <a:off x="4648200" y="5410200"/>
            <a:ext cx="4403725" cy="776288"/>
            <a:chOff x="2928" y="3408"/>
            <a:chExt cx="2688" cy="489"/>
          </a:xfrm>
        </p:grpSpPr>
        <p:sp>
          <p:nvSpPr>
            <p:cNvPr id="584714" name="Text Box 10"/>
            <p:cNvSpPr txBox="1">
              <a:spLocks noChangeArrowheads="1"/>
            </p:cNvSpPr>
            <p:nvPr/>
          </p:nvSpPr>
          <p:spPr bwMode="auto">
            <a:xfrm>
              <a:off x="2928" y="3408"/>
              <a:ext cx="2099" cy="44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4000">
                  <a:solidFill>
                    <a:srgbClr val="A50021"/>
                  </a:solidFill>
                </a:rPr>
                <a:t>}- </a:t>
              </a:r>
            </a:p>
          </p:txBody>
        </p:sp>
        <p:sp>
          <p:nvSpPr>
            <p:cNvPr id="584715" name="Text Box 11"/>
            <p:cNvSpPr txBox="1">
              <a:spLocks noChangeArrowheads="1"/>
            </p:cNvSpPr>
            <p:nvPr/>
          </p:nvSpPr>
          <p:spPr bwMode="auto">
            <a:xfrm>
              <a:off x="3279" y="3417"/>
              <a:ext cx="2337" cy="48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200">
                  <a:solidFill>
                    <a:srgbClr val="A50021"/>
                  </a:solidFill>
                </a:rPr>
                <a:t>Swap the smallest item found with slot </a:t>
              </a:r>
              <a:r>
                <a:rPr lang="en-US" sz="2200">
                  <a:solidFill>
                    <a:srgbClr val="6600CC"/>
                  </a:solidFill>
                </a:rPr>
                <a:t>A[i]</a:t>
              </a:r>
              <a:r>
                <a:rPr lang="en-US" sz="2200">
                  <a:solidFill>
                    <a:srgbClr val="A50021"/>
                  </a:solidFill>
                </a:rPr>
                <a:t>.</a:t>
              </a:r>
            </a:p>
          </p:txBody>
        </p:sp>
      </p:grpSp>
      <p:grpSp>
        <p:nvGrpSpPr>
          <p:cNvPr id="584716" name="Group 12"/>
          <p:cNvGrpSpPr>
            <a:grpSpLocks/>
          </p:cNvGrpSpPr>
          <p:nvPr/>
        </p:nvGrpSpPr>
        <p:grpSpPr bwMode="auto">
          <a:xfrm>
            <a:off x="4648200" y="3048000"/>
            <a:ext cx="4267200" cy="776288"/>
            <a:chOff x="2928" y="3408"/>
            <a:chExt cx="2688" cy="489"/>
          </a:xfrm>
        </p:grpSpPr>
        <p:sp>
          <p:nvSpPr>
            <p:cNvPr id="584717" name="Text Box 13"/>
            <p:cNvSpPr txBox="1">
              <a:spLocks noChangeArrowheads="1"/>
            </p:cNvSpPr>
            <p:nvPr/>
          </p:nvSpPr>
          <p:spPr bwMode="auto">
            <a:xfrm>
              <a:off x="2928" y="3408"/>
              <a:ext cx="2099" cy="44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4000">
                  <a:solidFill>
                    <a:srgbClr val="A50021"/>
                  </a:solidFill>
                </a:rPr>
                <a:t>}- </a:t>
              </a:r>
            </a:p>
          </p:txBody>
        </p:sp>
        <p:sp>
          <p:nvSpPr>
            <p:cNvPr id="584718" name="Text Box 14"/>
            <p:cNvSpPr txBox="1">
              <a:spLocks noChangeArrowheads="1"/>
            </p:cNvSpPr>
            <p:nvPr/>
          </p:nvSpPr>
          <p:spPr bwMode="auto">
            <a:xfrm>
              <a:off x="3279" y="3417"/>
              <a:ext cx="2337" cy="48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200" dirty="0">
                  <a:solidFill>
                    <a:srgbClr val="A50021"/>
                  </a:solidFill>
                </a:rPr>
                <a:t>For each of the </a:t>
              </a:r>
              <a:r>
                <a:rPr lang="en-US" sz="2200" dirty="0">
                  <a:solidFill>
                    <a:schemeClr val="accent2"/>
                  </a:solidFill>
                </a:rPr>
                <a:t>n</a:t>
              </a:r>
              <a:r>
                <a:rPr lang="en-US" sz="2200" dirty="0">
                  <a:solidFill>
                    <a:srgbClr val="A50021"/>
                  </a:solidFill>
                </a:rPr>
                <a:t> array elements…</a:t>
              </a:r>
            </a:p>
          </p:txBody>
        </p:sp>
      </p:grpSp>
    </p:spTree>
    <p:extLst>
      <p:ext uri="{BB962C8B-B14F-4D97-AF65-F5344CB8AC3E}">
        <p14:creationId xmlns:p14="http://schemas.microsoft.com/office/powerpoint/2010/main" val="1758150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Slide Number Placeholder 4"/>
          <p:cNvSpPr>
            <a:spLocks noGrp="1"/>
          </p:cNvSpPr>
          <p:nvPr>
            <p:ph type="sldNum" sz="quarter" idx="12"/>
          </p:nvPr>
        </p:nvSpPr>
        <p:spPr/>
        <p:txBody>
          <a:bodyPr/>
          <a:lstStyle/>
          <a:p>
            <a:fld id="{14CDFD3D-764E-4BAC-9394-7CE9B4AE0776}" type="slidenum">
              <a:rPr lang="en-US"/>
              <a:pPr/>
              <a:t>6</a:t>
            </a:fld>
            <a:endParaRPr lang="en-US"/>
          </a:p>
        </p:txBody>
      </p:sp>
      <p:sp>
        <p:nvSpPr>
          <p:cNvPr id="633858" name="Rectangle 2"/>
          <p:cNvSpPr>
            <a:spLocks noGrp="1" noChangeArrowheads="1"/>
          </p:cNvSpPr>
          <p:nvPr>
            <p:ph type="title"/>
          </p:nvPr>
        </p:nvSpPr>
        <p:spPr>
          <a:noFill/>
          <a:ln/>
        </p:spPr>
        <p:txBody>
          <a:bodyPr/>
          <a:lstStyle/>
          <a:p>
            <a:r>
              <a:rPr lang="en-US"/>
              <a:t>The Quicksort Algorithm</a:t>
            </a:r>
          </a:p>
        </p:txBody>
      </p:sp>
      <p:sp>
        <p:nvSpPr>
          <p:cNvPr id="633859" name="Text Box 3"/>
          <p:cNvSpPr txBox="1">
            <a:spLocks noChangeArrowheads="1"/>
          </p:cNvSpPr>
          <p:nvPr/>
        </p:nvSpPr>
        <p:spPr bwMode="auto">
          <a:xfrm>
            <a:off x="593725" y="1616075"/>
            <a:ext cx="8067675" cy="82232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itchFamily="18" charset="0"/>
                <a:cs typeface="Times New Roman" pitchFamily="18" charset="0"/>
              </a:defRPr>
            </a:lvl1pPr>
            <a:lvl2pPr marL="914400" indent="-457200">
              <a:defRPr sz="2400">
                <a:solidFill>
                  <a:schemeClr val="tx1"/>
                </a:solidFill>
                <a:latin typeface="Times New Roman" pitchFamily="18" charset="0"/>
                <a:cs typeface="Times New Roman" pitchFamily="18" charset="0"/>
              </a:defRPr>
            </a:lvl2pPr>
            <a:lvl3pPr marL="1371600" indent="-457200">
              <a:defRPr sz="2400">
                <a:solidFill>
                  <a:schemeClr val="tx1"/>
                </a:solidFill>
                <a:latin typeface="Times New Roman" pitchFamily="18" charset="0"/>
                <a:cs typeface="Times New Roman" pitchFamily="18" charset="0"/>
              </a:defRPr>
            </a:lvl3pPr>
            <a:lvl4pPr marL="1828800" indent="-457200">
              <a:defRPr sz="2400">
                <a:solidFill>
                  <a:schemeClr val="tx1"/>
                </a:solidFill>
                <a:latin typeface="Times New Roman" pitchFamily="18" charset="0"/>
                <a:cs typeface="Times New Roman" pitchFamily="18" charset="0"/>
              </a:defRPr>
            </a:lvl4pPr>
            <a:lvl5pPr marL="2286000" indent="-457200">
              <a:defRPr sz="2400">
                <a:solidFill>
                  <a:schemeClr val="tx1"/>
                </a:solidFill>
                <a:latin typeface="Times New Roman" pitchFamily="18" charset="0"/>
                <a:cs typeface="Times New Roman" pitchFamily="18" charset="0"/>
              </a:defRPr>
            </a:lvl5pPr>
            <a:lvl6pPr marL="2743200" indent="-457200" fontAlgn="base">
              <a:spcBef>
                <a:spcPct val="0"/>
              </a:spcBef>
              <a:spcAft>
                <a:spcPct val="0"/>
              </a:spcAft>
              <a:defRPr sz="2400">
                <a:solidFill>
                  <a:schemeClr val="tx1"/>
                </a:solidFill>
                <a:latin typeface="Times New Roman" pitchFamily="18" charset="0"/>
                <a:cs typeface="Times New Roman" pitchFamily="18" charset="0"/>
              </a:defRPr>
            </a:lvl6pPr>
            <a:lvl7pPr marL="3200400" indent="-457200" fontAlgn="base">
              <a:spcBef>
                <a:spcPct val="0"/>
              </a:spcBef>
              <a:spcAft>
                <a:spcPct val="0"/>
              </a:spcAft>
              <a:defRPr sz="2400">
                <a:solidFill>
                  <a:schemeClr val="tx1"/>
                </a:solidFill>
                <a:latin typeface="Times New Roman" pitchFamily="18" charset="0"/>
                <a:cs typeface="Times New Roman" pitchFamily="18" charset="0"/>
              </a:defRPr>
            </a:lvl7pPr>
            <a:lvl8pPr marL="3657600" indent="-457200" fontAlgn="base">
              <a:spcBef>
                <a:spcPct val="0"/>
              </a:spcBef>
              <a:spcAft>
                <a:spcPct val="0"/>
              </a:spcAft>
              <a:defRPr sz="2400">
                <a:solidFill>
                  <a:schemeClr val="tx1"/>
                </a:solidFill>
                <a:latin typeface="Times New Roman" pitchFamily="18" charset="0"/>
                <a:cs typeface="Times New Roman" pitchFamily="18" charset="0"/>
              </a:defRPr>
            </a:lvl8pPr>
            <a:lvl9pPr marL="4114800" indent="-457200" fontAlgn="base">
              <a:spcBef>
                <a:spcPct val="0"/>
              </a:spcBef>
              <a:spcAft>
                <a:spcPct val="0"/>
              </a:spcAft>
              <a:defRPr sz="2400">
                <a:solidFill>
                  <a:schemeClr val="tx1"/>
                </a:solidFill>
                <a:latin typeface="Times New Roman" pitchFamily="18" charset="0"/>
                <a:cs typeface="Times New Roman" pitchFamily="18" charset="0"/>
              </a:defRPr>
            </a:lvl9pPr>
          </a:lstStyle>
          <a:p>
            <a:pPr>
              <a:buFontTx/>
              <a:buAutoNum type="arabicPeriod" startAt="2"/>
            </a:pPr>
            <a:r>
              <a:rPr lang="en-US">
                <a:solidFill>
                  <a:schemeClr val="tx2"/>
                </a:solidFill>
                <a:latin typeface="Comic Sans MS" pitchFamily="66" charset="0"/>
              </a:rPr>
              <a:t>Select an arbitrary element </a:t>
            </a:r>
            <a:r>
              <a:rPr lang="en-US">
                <a:solidFill>
                  <a:srgbClr val="FF3300"/>
                </a:solidFill>
                <a:latin typeface="Comic Sans MS" pitchFamily="66" charset="0"/>
              </a:rPr>
              <a:t>P</a:t>
            </a:r>
            <a:r>
              <a:rPr lang="en-US">
                <a:solidFill>
                  <a:schemeClr val="tx2"/>
                </a:solidFill>
                <a:latin typeface="Comic Sans MS" pitchFamily="66" charset="0"/>
              </a:rPr>
              <a:t> from the array (typically the </a:t>
            </a:r>
            <a:r>
              <a:rPr lang="en-US">
                <a:solidFill>
                  <a:srgbClr val="6600CC"/>
                </a:solidFill>
                <a:latin typeface="Comic Sans MS" pitchFamily="66" charset="0"/>
              </a:rPr>
              <a:t>first element</a:t>
            </a:r>
            <a:r>
              <a:rPr lang="en-US">
                <a:solidFill>
                  <a:schemeClr val="tx2"/>
                </a:solidFill>
                <a:latin typeface="Comic Sans MS" pitchFamily="66" charset="0"/>
              </a:rPr>
              <a:t> in the array).</a:t>
            </a:r>
          </a:p>
        </p:txBody>
      </p:sp>
      <p:sp>
        <p:nvSpPr>
          <p:cNvPr id="633860" name="Text Box 4"/>
          <p:cNvSpPr txBox="1">
            <a:spLocks noChangeArrowheads="1"/>
          </p:cNvSpPr>
          <p:nvPr/>
        </p:nvSpPr>
        <p:spPr bwMode="auto">
          <a:xfrm>
            <a:off x="609600" y="914400"/>
            <a:ext cx="8067675" cy="4572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itchFamily="18" charset="0"/>
                <a:cs typeface="Times New Roman" pitchFamily="18" charset="0"/>
              </a:defRPr>
            </a:lvl1pPr>
            <a:lvl2pPr marL="914400" indent="-457200">
              <a:defRPr sz="2400">
                <a:solidFill>
                  <a:schemeClr val="tx1"/>
                </a:solidFill>
                <a:latin typeface="Times New Roman" pitchFamily="18" charset="0"/>
                <a:cs typeface="Times New Roman" pitchFamily="18" charset="0"/>
              </a:defRPr>
            </a:lvl2pPr>
            <a:lvl3pPr marL="1371600" indent="-457200">
              <a:defRPr sz="2400">
                <a:solidFill>
                  <a:schemeClr val="tx1"/>
                </a:solidFill>
                <a:latin typeface="Times New Roman" pitchFamily="18" charset="0"/>
                <a:cs typeface="Times New Roman" pitchFamily="18" charset="0"/>
              </a:defRPr>
            </a:lvl3pPr>
            <a:lvl4pPr marL="1828800" indent="-457200">
              <a:defRPr sz="2400">
                <a:solidFill>
                  <a:schemeClr val="tx1"/>
                </a:solidFill>
                <a:latin typeface="Times New Roman" pitchFamily="18" charset="0"/>
                <a:cs typeface="Times New Roman" pitchFamily="18" charset="0"/>
              </a:defRPr>
            </a:lvl4pPr>
            <a:lvl5pPr marL="2286000" indent="-457200">
              <a:defRPr sz="2400">
                <a:solidFill>
                  <a:schemeClr val="tx1"/>
                </a:solidFill>
                <a:latin typeface="Times New Roman" pitchFamily="18" charset="0"/>
                <a:cs typeface="Times New Roman" pitchFamily="18" charset="0"/>
              </a:defRPr>
            </a:lvl5pPr>
            <a:lvl6pPr marL="2743200" indent="-457200" fontAlgn="base">
              <a:spcBef>
                <a:spcPct val="0"/>
              </a:spcBef>
              <a:spcAft>
                <a:spcPct val="0"/>
              </a:spcAft>
              <a:defRPr sz="2400">
                <a:solidFill>
                  <a:schemeClr val="tx1"/>
                </a:solidFill>
                <a:latin typeface="Times New Roman" pitchFamily="18" charset="0"/>
                <a:cs typeface="Times New Roman" pitchFamily="18" charset="0"/>
              </a:defRPr>
            </a:lvl6pPr>
            <a:lvl7pPr marL="3200400" indent="-457200" fontAlgn="base">
              <a:spcBef>
                <a:spcPct val="0"/>
              </a:spcBef>
              <a:spcAft>
                <a:spcPct val="0"/>
              </a:spcAft>
              <a:defRPr sz="2400">
                <a:solidFill>
                  <a:schemeClr val="tx1"/>
                </a:solidFill>
                <a:latin typeface="Times New Roman" pitchFamily="18" charset="0"/>
                <a:cs typeface="Times New Roman" pitchFamily="18" charset="0"/>
              </a:defRPr>
            </a:lvl7pPr>
            <a:lvl8pPr marL="3657600" indent="-457200" fontAlgn="base">
              <a:spcBef>
                <a:spcPct val="0"/>
              </a:spcBef>
              <a:spcAft>
                <a:spcPct val="0"/>
              </a:spcAft>
              <a:defRPr sz="2400">
                <a:solidFill>
                  <a:schemeClr val="tx1"/>
                </a:solidFill>
                <a:latin typeface="Times New Roman" pitchFamily="18" charset="0"/>
                <a:cs typeface="Times New Roman" pitchFamily="18" charset="0"/>
              </a:defRPr>
            </a:lvl8pPr>
            <a:lvl9pPr marL="4114800" indent="-457200" fontAlgn="base">
              <a:spcBef>
                <a:spcPct val="0"/>
              </a:spcBef>
              <a:spcAft>
                <a:spcPct val="0"/>
              </a:spcAft>
              <a:defRPr sz="2400">
                <a:solidFill>
                  <a:schemeClr val="tx1"/>
                </a:solidFill>
                <a:latin typeface="Times New Roman" pitchFamily="18" charset="0"/>
                <a:cs typeface="Times New Roman" pitchFamily="18" charset="0"/>
              </a:defRPr>
            </a:lvl9pPr>
          </a:lstStyle>
          <a:p>
            <a:pPr>
              <a:buFontTx/>
              <a:buAutoNum type="arabicPeriod"/>
            </a:pPr>
            <a:r>
              <a:rPr lang="en-US">
                <a:solidFill>
                  <a:schemeClr val="tx2"/>
                </a:solidFill>
                <a:latin typeface="Comic Sans MS" pitchFamily="66" charset="0"/>
              </a:rPr>
              <a:t>If the array contains only 0 or 1 element, </a:t>
            </a:r>
            <a:r>
              <a:rPr lang="en-US">
                <a:solidFill>
                  <a:schemeClr val="accent2"/>
                </a:solidFill>
                <a:latin typeface="Comic Sans MS" pitchFamily="66" charset="0"/>
              </a:rPr>
              <a:t>return</a:t>
            </a:r>
            <a:r>
              <a:rPr lang="en-US">
                <a:solidFill>
                  <a:schemeClr val="tx2"/>
                </a:solidFill>
                <a:latin typeface="Comic Sans MS" pitchFamily="66" charset="0"/>
              </a:rPr>
              <a:t>.</a:t>
            </a:r>
          </a:p>
        </p:txBody>
      </p:sp>
      <p:grpSp>
        <p:nvGrpSpPr>
          <p:cNvPr id="633861" name="Group 5"/>
          <p:cNvGrpSpPr>
            <a:grpSpLocks/>
          </p:cNvGrpSpPr>
          <p:nvPr/>
        </p:nvGrpSpPr>
        <p:grpSpPr bwMode="auto">
          <a:xfrm>
            <a:off x="2819400" y="5257800"/>
            <a:ext cx="3260725" cy="604838"/>
            <a:chOff x="1584" y="579"/>
            <a:chExt cx="2054" cy="381"/>
          </a:xfrm>
        </p:grpSpPr>
        <p:sp>
          <p:nvSpPr>
            <p:cNvPr id="633862" name="Rectangle 6"/>
            <p:cNvSpPr>
              <a:spLocks noChangeArrowheads="1"/>
            </p:cNvSpPr>
            <p:nvPr/>
          </p:nvSpPr>
          <p:spPr bwMode="auto">
            <a:xfrm flipH="1">
              <a:off x="1584" y="57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chemeClr val="tx1"/>
                  </a:solidFill>
                </a:rPr>
                <a:t>30</a:t>
              </a:r>
            </a:p>
          </p:txBody>
        </p:sp>
        <p:sp>
          <p:nvSpPr>
            <p:cNvPr id="633863" name="Rectangle 7"/>
            <p:cNvSpPr>
              <a:spLocks noChangeArrowheads="1"/>
            </p:cNvSpPr>
            <p:nvPr/>
          </p:nvSpPr>
          <p:spPr bwMode="auto">
            <a:xfrm flipH="1">
              <a:off x="1872" y="57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a:t>
              </a:r>
            </a:p>
          </p:txBody>
        </p:sp>
        <p:sp>
          <p:nvSpPr>
            <p:cNvPr id="633864" name="Rectangle 8"/>
            <p:cNvSpPr>
              <a:spLocks noChangeArrowheads="1"/>
            </p:cNvSpPr>
            <p:nvPr/>
          </p:nvSpPr>
          <p:spPr bwMode="auto">
            <a:xfrm flipH="1">
              <a:off x="2160" y="57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77</a:t>
              </a:r>
            </a:p>
          </p:txBody>
        </p:sp>
        <p:sp>
          <p:nvSpPr>
            <p:cNvPr id="633865" name="Rectangle 9"/>
            <p:cNvSpPr>
              <a:spLocks noChangeArrowheads="1"/>
            </p:cNvSpPr>
            <p:nvPr/>
          </p:nvSpPr>
          <p:spPr bwMode="auto">
            <a:xfrm flipH="1">
              <a:off x="2448" y="57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13</a:t>
              </a:r>
            </a:p>
          </p:txBody>
        </p:sp>
        <p:sp>
          <p:nvSpPr>
            <p:cNvPr id="633866" name="Rectangle 10"/>
            <p:cNvSpPr>
              <a:spLocks noChangeArrowheads="1"/>
            </p:cNvSpPr>
            <p:nvPr/>
          </p:nvSpPr>
          <p:spPr bwMode="auto">
            <a:xfrm flipH="1">
              <a:off x="2736" y="57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69</a:t>
              </a:r>
            </a:p>
          </p:txBody>
        </p:sp>
        <p:sp>
          <p:nvSpPr>
            <p:cNvPr id="633867" name="Rectangle 11"/>
            <p:cNvSpPr>
              <a:spLocks noChangeArrowheads="1"/>
            </p:cNvSpPr>
            <p:nvPr/>
          </p:nvSpPr>
          <p:spPr bwMode="auto">
            <a:xfrm flipH="1">
              <a:off x="3024" y="57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633868" name="Rectangle 12"/>
            <p:cNvSpPr>
              <a:spLocks noChangeArrowheads="1"/>
            </p:cNvSpPr>
            <p:nvPr/>
          </p:nvSpPr>
          <p:spPr bwMode="auto">
            <a:xfrm flipH="1">
              <a:off x="3312" y="57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21</a:t>
              </a:r>
            </a:p>
          </p:txBody>
        </p:sp>
      </p:grpSp>
      <p:grpSp>
        <p:nvGrpSpPr>
          <p:cNvPr id="633869" name="Group 13"/>
          <p:cNvGrpSpPr>
            <a:grpSpLocks/>
          </p:cNvGrpSpPr>
          <p:nvPr/>
        </p:nvGrpSpPr>
        <p:grpSpPr bwMode="auto">
          <a:xfrm>
            <a:off x="115888" y="2622550"/>
            <a:ext cx="8853487" cy="1187450"/>
            <a:chOff x="39" y="2027"/>
            <a:chExt cx="5577" cy="748"/>
          </a:xfrm>
        </p:grpSpPr>
        <p:sp>
          <p:nvSpPr>
            <p:cNvPr id="633870" name="Rectangle 14"/>
            <p:cNvSpPr>
              <a:spLocks noChangeArrowheads="1"/>
            </p:cNvSpPr>
            <p:nvPr/>
          </p:nvSpPr>
          <p:spPr bwMode="auto">
            <a:xfrm>
              <a:off x="336" y="2027"/>
              <a:ext cx="5280" cy="74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spcBef>
                  <a:spcPct val="50000"/>
                </a:spcBef>
                <a:buFontTx/>
                <a:buAutoNum type="arabicPeriod" startAt="3"/>
              </a:pPr>
              <a:r>
                <a:rPr lang="en-US"/>
                <a:t>Move all elements that are </a:t>
              </a:r>
              <a:r>
                <a:rPr lang="en-US">
                  <a:solidFill>
                    <a:schemeClr val="accent2"/>
                  </a:solidFill>
                </a:rPr>
                <a:t>less than or equal</a:t>
              </a:r>
              <a:r>
                <a:rPr lang="en-US"/>
                <a:t> to </a:t>
              </a:r>
              <a:r>
                <a:rPr lang="en-US">
                  <a:solidFill>
                    <a:schemeClr val="accent2"/>
                  </a:solidFill>
                </a:rPr>
                <a:t>P</a:t>
              </a:r>
              <a:r>
                <a:rPr lang="en-US"/>
                <a:t> to the </a:t>
              </a:r>
              <a:r>
                <a:rPr lang="en-US">
                  <a:solidFill>
                    <a:schemeClr val="accent2"/>
                  </a:solidFill>
                </a:rPr>
                <a:t>left of the array</a:t>
              </a:r>
              <a:r>
                <a:rPr lang="en-US"/>
                <a:t> and all elements </a:t>
              </a:r>
              <a:r>
                <a:rPr lang="en-US">
                  <a:solidFill>
                    <a:schemeClr val="accent2"/>
                  </a:solidFill>
                </a:rPr>
                <a:t>greater than P</a:t>
              </a:r>
              <a:r>
                <a:rPr lang="en-US"/>
                <a:t> to the </a:t>
              </a:r>
              <a:r>
                <a:rPr lang="en-US">
                  <a:solidFill>
                    <a:schemeClr val="accent2"/>
                  </a:solidFill>
                </a:rPr>
                <a:t>right </a:t>
              </a:r>
              <a:r>
                <a:rPr lang="en-US">
                  <a:solidFill>
                    <a:schemeClr val="tx1"/>
                  </a:solidFill>
                </a:rPr>
                <a:t>(this is called </a:t>
              </a:r>
              <a:r>
                <a:rPr lang="en-US">
                  <a:solidFill>
                    <a:srgbClr val="A50021"/>
                  </a:solidFill>
                </a:rPr>
                <a:t>partitioning</a:t>
              </a:r>
              <a:r>
                <a:rPr lang="en-US">
                  <a:solidFill>
                    <a:schemeClr val="tx1"/>
                  </a:solidFill>
                </a:rPr>
                <a:t>)</a:t>
              </a:r>
              <a:r>
                <a:rPr lang="en-US"/>
                <a:t>.</a:t>
              </a:r>
            </a:p>
          </p:txBody>
        </p:sp>
        <p:sp>
          <p:nvSpPr>
            <p:cNvPr id="633871" name="Text Box 15"/>
            <p:cNvSpPr txBox="1">
              <a:spLocks noChangeArrowheads="1"/>
            </p:cNvSpPr>
            <p:nvPr/>
          </p:nvSpPr>
          <p:spPr bwMode="auto">
            <a:xfrm rot="16200000">
              <a:off x="-154" y="2245"/>
              <a:ext cx="674" cy="28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rgbClr val="FF3300"/>
                  </a:solidFill>
                </a:rPr>
                <a:t>Divide</a:t>
              </a:r>
            </a:p>
          </p:txBody>
        </p:sp>
      </p:grpSp>
      <p:grpSp>
        <p:nvGrpSpPr>
          <p:cNvPr id="633872" name="Group 16"/>
          <p:cNvGrpSpPr>
            <a:grpSpLocks/>
          </p:cNvGrpSpPr>
          <p:nvPr/>
        </p:nvGrpSpPr>
        <p:grpSpPr bwMode="auto">
          <a:xfrm>
            <a:off x="22225" y="3862388"/>
            <a:ext cx="8915400" cy="1319212"/>
            <a:chOff x="48" y="3153"/>
            <a:chExt cx="5616" cy="831"/>
          </a:xfrm>
        </p:grpSpPr>
        <p:sp>
          <p:nvSpPr>
            <p:cNvPr id="633873" name="Rectangle 17"/>
            <p:cNvSpPr>
              <a:spLocks noChangeArrowheads="1"/>
            </p:cNvSpPr>
            <p:nvPr/>
          </p:nvSpPr>
          <p:spPr bwMode="auto">
            <a:xfrm>
              <a:off x="384" y="3284"/>
              <a:ext cx="5280" cy="51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spcBef>
                  <a:spcPct val="50000"/>
                </a:spcBef>
              </a:pPr>
              <a:r>
                <a:rPr lang="en-US"/>
                <a:t>4. Recursively repeat this process on the left sub-array and then the right sub-array.</a:t>
              </a:r>
            </a:p>
          </p:txBody>
        </p:sp>
        <p:sp>
          <p:nvSpPr>
            <p:cNvPr id="633874" name="Text Box 18"/>
            <p:cNvSpPr txBox="1">
              <a:spLocks noChangeArrowheads="1"/>
            </p:cNvSpPr>
            <p:nvPr/>
          </p:nvSpPr>
          <p:spPr bwMode="auto">
            <a:xfrm rot="16200000">
              <a:off x="-224" y="3425"/>
              <a:ext cx="831" cy="28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rgbClr val="FF3300"/>
                  </a:solidFill>
                </a:rPr>
                <a:t>Conquer</a:t>
              </a:r>
            </a:p>
          </p:txBody>
        </p:sp>
      </p:grpSp>
      <p:grpSp>
        <p:nvGrpSpPr>
          <p:cNvPr id="633875" name="Group 19"/>
          <p:cNvGrpSpPr>
            <a:grpSpLocks/>
          </p:cNvGrpSpPr>
          <p:nvPr/>
        </p:nvGrpSpPr>
        <p:grpSpPr bwMode="auto">
          <a:xfrm>
            <a:off x="2819400" y="5257800"/>
            <a:ext cx="3260725" cy="604838"/>
            <a:chOff x="1584" y="579"/>
            <a:chExt cx="2054" cy="381"/>
          </a:xfrm>
        </p:grpSpPr>
        <p:sp>
          <p:nvSpPr>
            <p:cNvPr id="633876" name="Rectangle 20"/>
            <p:cNvSpPr>
              <a:spLocks noChangeArrowheads="1"/>
            </p:cNvSpPr>
            <p:nvPr/>
          </p:nvSpPr>
          <p:spPr bwMode="auto">
            <a:xfrm flipH="1">
              <a:off x="1584" y="57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rgbClr val="FF3300"/>
                  </a:solidFill>
                </a:rPr>
                <a:t>30</a:t>
              </a:r>
            </a:p>
          </p:txBody>
        </p:sp>
        <p:sp>
          <p:nvSpPr>
            <p:cNvPr id="633877" name="Rectangle 21"/>
            <p:cNvSpPr>
              <a:spLocks noChangeArrowheads="1"/>
            </p:cNvSpPr>
            <p:nvPr/>
          </p:nvSpPr>
          <p:spPr bwMode="auto">
            <a:xfrm flipH="1">
              <a:off x="1872" y="57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a:t>
              </a:r>
            </a:p>
          </p:txBody>
        </p:sp>
        <p:sp>
          <p:nvSpPr>
            <p:cNvPr id="633878" name="Rectangle 22"/>
            <p:cNvSpPr>
              <a:spLocks noChangeArrowheads="1"/>
            </p:cNvSpPr>
            <p:nvPr/>
          </p:nvSpPr>
          <p:spPr bwMode="auto">
            <a:xfrm flipH="1">
              <a:off x="2160" y="57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77</a:t>
              </a:r>
            </a:p>
          </p:txBody>
        </p:sp>
        <p:sp>
          <p:nvSpPr>
            <p:cNvPr id="633879" name="Rectangle 23"/>
            <p:cNvSpPr>
              <a:spLocks noChangeArrowheads="1"/>
            </p:cNvSpPr>
            <p:nvPr/>
          </p:nvSpPr>
          <p:spPr bwMode="auto">
            <a:xfrm flipH="1">
              <a:off x="2448" y="57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13</a:t>
              </a:r>
            </a:p>
          </p:txBody>
        </p:sp>
        <p:sp>
          <p:nvSpPr>
            <p:cNvPr id="633880" name="Rectangle 24"/>
            <p:cNvSpPr>
              <a:spLocks noChangeArrowheads="1"/>
            </p:cNvSpPr>
            <p:nvPr/>
          </p:nvSpPr>
          <p:spPr bwMode="auto">
            <a:xfrm flipH="1">
              <a:off x="2736" y="57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69</a:t>
              </a:r>
            </a:p>
          </p:txBody>
        </p:sp>
        <p:sp>
          <p:nvSpPr>
            <p:cNvPr id="633881" name="Rectangle 25"/>
            <p:cNvSpPr>
              <a:spLocks noChangeArrowheads="1"/>
            </p:cNvSpPr>
            <p:nvPr/>
          </p:nvSpPr>
          <p:spPr bwMode="auto">
            <a:xfrm flipH="1">
              <a:off x="3024" y="57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633882" name="Rectangle 26"/>
            <p:cNvSpPr>
              <a:spLocks noChangeArrowheads="1"/>
            </p:cNvSpPr>
            <p:nvPr/>
          </p:nvSpPr>
          <p:spPr bwMode="auto">
            <a:xfrm flipH="1">
              <a:off x="3312" y="57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21</a:t>
              </a:r>
            </a:p>
          </p:txBody>
        </p:sp>
      </p:grpSp>
      <p:grpSp>
        <p:nvGrpSpPr>
          <p:cNvPr id="633883" name="Group 27"/>
          <p:cNvGrpSpPr>
            <a:grpSpLocks/>
          </p:cNvGrpSpPr>
          <p:nvPr/>
        </p:nvGrpSpPr>
        <p:grpSpPr bwMode="auto">
          <a:xfrm>
            <a:off x="2819400" y="5262563"/>
            <a:ext cx="3260725" cy="604837"/>
            <a:chOff x="1584" y="579"/>
            <a:chExt cx="2054" cy="381"/>
          </a:xfrm>
        </p:grpSpPr>
        <p:sp>
          <p:nvSpPr>
            <p:cNvPr id="633884" name="Rectangle 28"/>
            <p:cNvSpPr>
              <a:spLocks noChangeArrowheads="1"/>
            </p:cNvSpPr>
            <p:nvPr/>
          </p:nvSpPr>
          <p:spPr bwMode="auto">
            <a:xfrm flipH="1">
              <a:off x="1584" y="57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chemeClr val="tx1"/>
                  </a:solidFill>
                </a:rPr>
                <a:t>13</a:t>
              </a:r>
            </a:p>
          </p:txBody>
        </p:sp>
        <p:sp>
          <p:nvSpPr>
            <p:cNvPr id="633885" name="Rectangle 29"/>
            <p:cNvSpPr>
              <a:spLocks noChangeArrowheads="1"/>
            </p:cNvSpPr>
            <p:nvPr/>
          </p:nvSpPr>
          <p:spPr bwMode="auto">
            <a:xfrm flipH="1">
              <a:off x="1872" y="57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a:t>
              </a:r>
            </a:p>
          </p:txBody>
        </p:sp>
        <p:sp>
          <p:nvSpPr>
            <p:cNvPr id="633886" name="Rectangle 30"/>
            <p:cNvSpPr>
              <a:spLocks noChangeArrowheads="1"/>
            </p:cNvSpPr>
            <p:nvPr/>
          </p:nvSpPr>
          <p:spPr bwMode="auto">
            <a:xfrm flipH="1">
              <a:off x="2160" y="57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21</a:t>
              </a:r>
            </a:p>
          </p:txBody>
        </p:sp>
        <p:sp>
          <p:nvSpPr>
            <p:cNvPr id="633887" name="Rectangle 31"/>
            <p:cNvSpPr>
              <a:spLocks noChangeArrowheads="1"/>
            </p:cNvSpPr>
            <p:nvPr/>
          </p:nvSpPr>
          <p:spPr bwMode="auto">
            <a:xfrm flipH="1">
              <a:off x="2448" y="57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rgbClr val="FF3300"/>
                  </a:solidFill>
                </a:rPr>
                <a:t>30</a:t>
              </a:r>
            </a:p>
          </p:txBody>
        </p:sp>
        <p:sp>
          <p:nvSpPr>
            <p:cNvPr id="633888" name="Rectangle 32"/>
            <p:cNvSpPr>
              <a:spLocks noChangeArrowheads="1"/>
            </p:cNvSpPr>
            <p:nvPr/>
          </p:nvSpPr>
          <p:spPr bwMode="auto">
            <a:xfrm flipH="1">
              <a:off x="2736" y="57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69</a:t>
              </a:r>
            </a:p>
          </p:txBody>
        </p:sp>
        <p:sp>
          <p:nvSpPr>
            <p:cNvPr id="633889" name="Rectangle 33"/>
            <p:cNvSpPr>
              <a:spLocks noChangeArrowheads="1"/>
            </p:cNvSpPr>
            <p:nvPr/>
          </p:nvSpPr>
          <p:spPr bwMode="auto">
            <a:xfrm flipH="1">
              <a:off x="3024" y="57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633890" name="Rectangle 34"/>
            <p:cNvSpPr>
              <a:spLocks noChangeArrowheads="1"/>
            </p:cNvSpPr>
            <p:nvPr/>
          </p:nvSpPr>
          <p:spPr bwMode="auto">
            <a:xfrm flipH="1">
              <a:off x="3312" y="57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77</a:t>
              </a:r>
            </a:p>
          </p:txBody>
        </p:sp>
      </p:grpSp>
      <p:sp>
        <p:nvSpPr>
          <p:cNvPr id="633891" name="Rectangle 35"/>
          <p:cNvSpPr>
            <a:spLocks noChangeArrowheads="1"/>
          </p:cNvSpPr>
          <p:nvPr/>
        </p:nvSpPr>
        <p:spPr bwMode="auto">
          <a:xfrm>
            <a:off x="4202113" y="5181600"/>
            <a:ext cx="2057400" cy="762000"/>
          </a:xfrm>
          <a:prstGeom prst="rect">
            <a:avLst/>
          </a:prstGeom>
          <a:solidFill>
            <a:schemeClr val="bg1">
              <a:alpha val="50000"/>
            </a:schemeClr>
          </a:solid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3892" name="Rectangle 36"/>
          <p:cNvSpPr>
            <a:spLocks noChangeArrowheads="1"/>
          </p:cNvSpPr>
          <p:nvPr/>
        </p:nvSpPr>
        <p:spPr bwMode="auto">
          <a:xfrm>
            <a:off x="2568575" y="5181600"/>
            <a:ext cx="2057400" cy="762000"/>
          </a:xfrm>
          <a:prstGeom prst="rect">
            <a:avLst/>
          </a:prstGeom>
          <a:solidFill>
            <a:schemeClr val="bg1">
              <a:alpha val="50000"/>
            </a:schemeClr>
          </a:solid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lide Number Placeholder 4"/>
          <p:cNvSpPr>
            <a:spLocks noGrp="1"/>
          </p:cNvSpPr>
          <p:nvPr>
            <p:ph type="sldNum" sz="quarter" idx="12"/>
          </p:nvPr>
        </p:nvSpPr>
        <p:spPr/>
        <p:txBody>
          <a:bodyPr/>
          <a:lstStyle/>
          <a:p>
            <a:fld id="{C28CE28E-4702-46DB-A257-F86CE4723A7D}" type="slidenum">
              <a:rPr lang="en-US"/>
              <a:pPr/>
              <a:t>7</a:t>
            </a:fld>
            <a:endParaRPr lang="en-US"/>
          </a:p>
        </p:txBody>
      </p:sp>
      <p:sp>
        <p:nvSpPr>
          <p:cNvPr id="490567" name="Text Box 71"/>
          <p:cNvSpPr txBox="1">
            <a:spLocks noChangeArrowheads="1"/>
          </p:cNvSpPr>
          <p:nvPr/>
        </p:nvSpPr>
        <p:spPr bwMode="auto">
          <a:xfrm>
            <a:off x="5892800" y="1219200"/>
            <a:ext cx="431800" cy="57943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a:solidFill>
                  <a:srgbClr val="6600CC"/>
                </a:solidFill>
              </a:rPr>
              <a:t>0</a:t>
            </a:r>
          </a:p>
        </p:txBody>
      </p:sp>
      <p:sp>
        <p:nvSpPr>
          <p:cNvPr id="490568" name="Text Box 72"/>
          <p:cNvSpPr txBox="1">
            <a:spLocks noChangeArrowheads="1"/>
          </p:cNvSpPr>
          <p:nvPr/>
        </p:nvSpPr>
        <p:spPr bwMode="auto">
          <a:xfrm>
            <a:off x="7239000" y="1219200"/>
            <a:ext cx="431800" cy="57943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a:solidFill>
                  <a:srgbClr val="6600CC"/>
                </a:solidFill>
              </a:rPr>
              <a:t>7</a:t>
            </a:r>
          </a:p>
        </p:txBody>
      </p:sp>
      <p:sp>
        <p:nvSpPr>
          <p:cNvPr id="490498" name="Rectangle 2"/>
          <p:cNvSpPr>
            <a:spLocks noGrp="1" noChangeArrowheads="1"/>
          </p:cNvSpPr>
          <p:nvPr>
            <p:ph type="title"/>
          </p:nvPr>
        </p:nvSpPr>
        <p:spPr>
          <a:xfrm>
            <a:off x="685800" y="-228600"/>
            <a:ext cx="7772400" cy="1143000"/>
          </a:xfrm>
          <a:noFill/>
          <a:ln/>
        </p:spPr>
        <p:txBody>
          <a:bodyPr/>
          <a:lstStyle/>
          <a:p>
            <a:r>
              <a:rPr lang="en-US"/>
              <a:t>D&amp;C Sorts: Quicksort</a:t>
            </a:r>
          </a:p>
        </p:txBody>
      </p:sp>
      <p:sp>
        <p:nvSpPr>
          <p:cNvPr id="490499" name="Text Box 3"/>
          <p:cNvSpPr txBox="1">
            <a:spLocks noChangeArrowheads="1"/>
          </p:cNvSpPr>
          <p:nvPr/>
        </p:nvSpPr>
        <p:spPr bwMode="auto">
          <a:xfrm>
            <a:off x="1447800" y="762000"/>
            <a:ext cx="6496050" cy="4572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And here’s an actual Quicksort C++ function:</a:t>
            </a:r>
          </a:p>
        </p:txBody>
      </p:sp>
      <p:sp>
        <p:nvSpPr>
          <p:cNvPr id="490500" name="Text Box 4"/>
          <p:cNvSpPr txBox="1">
            <a:spLocks noChangeArrowheads="1"/>
          </p:cNvSpPr>
          <p:nvPr/>
        </p:nvSpPr>
        <p:spPr bwMode="auto">
          <a:xfrm>
            <a:off x="1176338" y="1755775"/>
            <a:ext cx="7265987" cy="3425825"/>
          </a:xfrm>
          <a:prstGeom prst="rect">
            <a:avLst/>
          </a:prstGeom>
          <a:solidFill>
            <a:srgbClr val="CCFFCC"/>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900" b="1">
                <a:latin typeface="Courier New" pitchFamily="49" charset="0"/>
                <a:cs typeface="Courier New" pitchFamily="49" charset="0"/>
              </a:rPr>
              <a:t>void QuickSort(int Array[],int First,int Last)</a:t>
            </a:r>
          </a:p>
          <a:p>
            <a:r>
              <a:rPr lang="en-US" sz="1900" b="1">
                <a:latin typeface="Courier New" pitchFamily="49" charset="0"/>
                <a:cs typeface="Courier New" pitchFamily="49" charset="0"/>
              </a:rPr>
              <a:t>{</a:t>
            </a:r>
          </a:p>
          <a:p>
            <a:r>
              <a:rPr lang="en-US" sz="1900" b="1">
                <a:latin typeface="Courier New" pitchFamily="49" charset="0"/>
                <a:cs typeface="Courier New" pitchFamily="49" charset="0"/>
              </a:rPr>
              <a:t>  if (Last – First &gt;= 1 )</a:t>
            </a:r>
          </a:p>
          <a:p>
            <a:r>
              <a:rPr lang="en-US" sz="1900" b="1">
                <a:latin typeface="Courier New" pitchFamily="49" charset="0"/>
                <a:cs typeface="Courier New" pitchFamily="49" charset="0"/>
              </a:rPr>
              <a:t>  {</a:t>
            </a:r>
          </a:p>
          <a:p>
            <a:r>
              <a:rPr lang="en-US" sz="1900" b="1">
                <a:latin typeface="Courier New" pitchFamily="49" charset="0"/>
                <a:cs typeface="Courier New" pitchFamily="49" charset="0"/>
              </a:rPr>
              <a:t>    int PivotIndex;</a:t>
            </a:r>
          </a:p>
          <a:p>
            <a:endParaRPr lang="en-US" sz="1900" b="1">
              <a:latin typeface="Courier New" pitchFamily="49" charset="0"/>
              <a:cs typeface="Courier New" pitchFamily="49" charset="0"/>
            </a:endParaRPr>
          </a:p>
          <a:p>
            <a:endParaRPr lang="en-US" sz="1000" b="1">
              <a:latin typeface="Courier New" pitchFamily="49" charset="0"/>
              <a:cs typeface="Courier New" pitchFamily="49" charset="0"/>
            </a:endParaRPr>
          </a:p>
          <a:p>
            <a:r>
              <a:rPr lang="en-US" sz="1900" b="1">
                <a:latin typeface="Courier New" pitchFamily="49" charset="0"/>
                <a:cs typeface="Courier New" pitchFamily="49" charset="0"/>
              </a:rPr>
              <a:t>    PivotIndex = </a:t>
            </a:r>
            <a:r>
              <a:rPr lang="en-US" sz="1900" b="1">
                <a:solidFill>
                  <a:srgbClr val="FF3300"/>
                </a:solidFill>
                <a:latin typeface="Courier New" pitchFamily="49" charset="0"/>
                <a:cs typeface="Courier New" pitchFamily="49" charset="0"/>
              </a:rPr>
              <a:t>Partition</a:t>
            </a:r>
            <a:r>
              <a:rPr lang="en-US" sz="1900" b="1">
                <a:latin typeface="Courier New" pitchFamily="49" charset="0"/>
                <a:cs typeface="Courier New" pitchFamily="49" charset="0"/>
              </a:rPr>
              <a:t>(Array,First,Last);  </a:t>
            </a:r>
          </a:p>
          <a:p>
            <a:r>
              <a:rPr lang="en-US" sz="1900" b="1">
                <a:latin typeface="Courier New" pitchFamily="49" charset="0"/>
                <a:cs typeface="Courier New" pitchFamily="49" charset="0"/>
              </a:rPr>
              <a:t>    </a:t>
            </a:r>
            <a:r>
              <a:rPr lang="en-US" sz="1900" b="1">
                <a:solidFill>
                  <a:srgbClr val="FF3300"/>
                </a:solidFill>
                <a:latin typeface="Courier New" pitchFamily="49" charset="0"/>
                <a:cs typeface="Courier New" pitchFamily="49" charset="0"/>
              </a:rPr>
              <a:t>QuickSort</a:t>
            </a:r>
            <a:r>
              <a:rPr lang="en-US" sz="1900" b="1">
                <a:latin typeface="Courier New" pitchFamily="49" charset="0"/>
                <a:cs typeface="Courier New" pitchFamily="49" charset="0"/>
              </a:rPr>
              <a:t>(Array,First,PivotIndex-1); // left </a:t>
            </a:r>
          </a:p>
          <a:p>
            <a:r>
              <a:rPr lang="en-US" sz="1900" b="1">
                <a:latin typeface="Courier New" pitchFamily="49" charset="0"/>
                <a:cs typeface="Courier New" pitchFamily="49" charset="0"/>
              </a:rPr>
              <a:t>    </a:t>
            </a:r>
            <a:r>
              <a:rPr lang="en-US" sz="1900" b="1">
                <a:solidFill>
                  <a:srgbClr val="FF3300"/>
                </a:solidFill>
                <a:latin typeface="Courier New" pitchFamily="49" charset="0"/>
                <a:cs typeface="Courier New" pitchFamily="49" charset="0"/>
              </a:rPr>
              <a:t>QuickSort</a:t>
            </a:r>
            <a:r>
              <a:rPr lang="en-US" sz="1900" b="1">
                <a:latin typeface="Courier New" pitchFamily="49" charset="0"/>
                <a:cs typeface="Courier New" pitchFamily="49" charset="0"/>
              </a:rPr>
              <a:t>(Array,PivotIndex+1,Last);  // right</a:t>
            </a:r>
          </a:p>
          <a:p>
            <a:r>
              <a:rPr lang="en-US" sz="1900" b="1">
                <a:latin typeface="Courier New" pitchFamily="49" charset="0"/>
                <a:cs typeface="Courier New" pitchFamily="49" charset="0"/>
              </a:rPr>
              <a:t>  }</a:t>
            </a:r>
          </a:p>
          <a:p>
            <a:r>
              <a:rPr lang="en-US" sz="1900" b="1">
                <a:latin typeface="Courier New" pitchFamily="49" charset="0"/>
              </a:rPr>
              <a:t>}</a:t>
            </a:r>
          </a:p>
        </p:txBody>
      </p:sp>
      <p:grpSp>
        <p:nvGrpSpPr>
          <p:cNvPr id="490515" name="Group 19"/>
          <p:cNvGrpSpPr>
            <a:grpSpLocks/>
          </p:cNvGrpSpPr>
          <p:nvPr/>
        </p:nvGrpSpPr>
        <p:grpSpPr bwMode="auto">
          <a:xfrm>
            <a:off x="2655888" y="5435600"/>
            <a:ext cx="3783012" cy="1041400"/>
            <a:chOff x="3264" y="672"/>
            <a:chExt cx="2383" cy="656"/>
          </a:xfrm>
        </p:grpSpPr>
        <p:sp>
          <p:nvSpPr>
            <p:cNvPr id="490516" name="Rectangle 20"/>
            <p:cNvSpPr>
              <a:spLocks noChangeArrowheads="1"/>
            </p:cNvSpPr>
            <p:nvPr/>
          </p:nvSpPr>
          <p:spPr bwMode="auto">
            <a:xfrm flipH="1">
              <a:off x="3264"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chemeClr val="tx1"/>
                  </a:solidFill>
                </a:rPr>
                <a:t>30</a:t>
              </a:r>
            </a:p>
          </p:txBody>
        </p:sp>
        <p:sp>
          <p:nvSpPr>
            <p:cNvPr id="490517" name="Rectangle 21"/>
            <p:cNvSpPr>
              <a:spLocks noChangeArrowheads="1"/>
            </p:cNvSpPr>
            <p:nvPr/>
          </p:nvSpPr>
          <p:spPr bwMode="auto">
            <a:xfrm flipH="1">
              <a:off x="3552"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a:t>
              </a:r>
            </a:p>
          </p:txBody>
        </p:sp>
        <p:sp>
          <p:nvSpPr>
            <p:cNvPr id="490518" name="Rectangle 22"/>
            <p:cNvSpPr>
              <a:spLocks noChangeArrowheads="1"/>
            </p:cNvSpPr>
            <p:nvPr/>
          </p:nvSpPr>
          <p:spPr bwMode="auto">
            <a:xfrm flipH="1">
              <a:off x="3840"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77</a:t>
              </a:r>
            </a:p>
          </p:txBody>
        </p:sp>
        <p:sp>
          <p:nvSpPr>
            <p:cNvPr id="490519" name="Rectangle 23"/>
            <p:cNvSpPr>
              <a:spLocks noChangeArrowheads="1"/>
            </p:cNvSpPr>
            <p:nvPr/>
          </p:nvSpPr>
          <p:spPr bwMode="auto">
            <a:xfrm flipH="1">
              <a:off x="4128"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13</a:t>
              </a:r>
            </a:p>
          </p:txBody>
        </p:sp>
        <p:sp>
          <p:nvSpPr>
            <p:cNvPr id="490520" name="Rectangle 24"/>
            <p:cNvSpPr>
              <a:spLocks noChangeArrowheads="1"/>
            </p:cNvSpPr>
            <p:nvPr/>
          </p:nvSpPr>
          <p:spPr bwMode="auto">
            <a:xfrm flipH="1">
              <a:off x="4416"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69</a:t>
              </a:r>
            </a:p>
          </p:txBody>
        </p:sp>
        <p:sp>
          <p:nvSpPr>
            <p:cNvPr id="490521" name="Rectangle 25"/>
            <p:cNvSpPr>
              <a:spLocks noChangeArrowheads="1"/>
            </p:cNvSpPr>
            <p:nvPr/>
          </p:nvSpPr>
          <p:spPr bwMode="auto">
            <a:xfrm flipH="1">
              <a:off x="4704"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490522" name="Rectangle 26"/>
            <p:cNvSpPr>
              <a:spLocks noChangeArrowheads="1"/>
            </p:cNvSpPr>
            <p:nvPr/>
          </p:nvSpPr>
          <p:spPr bwMode="auto">
            <a:xfrm flipH="1">
              <a:off x="4992"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21</a:t>
              </a:r>
            </a:p>
          </p:txBody>
        </p:sp>
        <p:sp>
          <p:nvSpPr>
            <p:cNvPr id="490523" name="Text Box 27"/>
            <p:cNvSpPr txBox="1">
              <a:spLocks noChangeArrowheads="1"/>
            </p:cNvSpPr>
            <p:nvPr/>
          </p:nvSpPr>
          <p:spPr bwMode="auto">
            <a:xfrm>
              <a:off x="3340" y="1059"/>
              <a:ext cx="2216" cy="269"/>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200"/>
                <a:t>0   1    2   3   4    5    6   7</a:t>
              </a:r>
            </a:p>
          </p:txBody>
        </p:sp>
        <p:sp>
          <p:nvSpPr>
            <p:cNvPr id="490524" name="Rectangle 28"/>
            <p:cNvSpPr>
              <a:spLocks noChangeArrowheads="1"/>
            </p:cNvSpPr>
            <p:nvPr/>
          </p:nvSpPr>
          <p:spPr bwMode="auto">
            <a:xfrm flipH="1">
              <a:off x="5321"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46</a:t>
              </a:r>
            </a:p>
          </p:txBody>
        </p:sp>
      </p:grpSp>
      <p:grpSp>
        <p:nvGrpSpPr>
          <p:cNvPr id="490525" name="Group 29"/>
          <p:cNvGrpSpPr>
            <a:grpSpLocks/>
          </p:cNvGrpSpPr>
          <p:nvPr/>
        </p:nvGrpSpPr>
        <p:grpSpPr bwMode="auto">
          <a:xfrm>
            <a:off x="2655888" y="5435600"/>
            <a:ext cx="3783012" cy="1041400"/>
            <a:chOff x="3264" y="672"/>
            <a:chExt cx="2383" cy="656"/>
          </a:xfrm>
        </p:grpSpPr>
        <p:sp>
          <p:nvSpPr>
            <p:cNvPr id="490526" name="Rectangle 30"/>
            <p:cNvSpPr>
              <a:spLocks noChangeArrowheads="1"/>
            </p:cNvSpPr>
            <p:nvPr/>
          </p:nvSpPr>
          <p:spPr bwMode="auto">
            <a:xfrm flipH="1">
              <a:off x="3264"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rgbClr val="FF3300"/>
                  </a:solidFill>
                </a:rPr>
                <a:t>30</a:t>
              </a:r>
            </a:p>
          </p:txBody>
        </p:sp>
        <p:sp>
          <p:nvSpPr>
            <p:cNvPr id="490527" name="Rectangle 31"/>
            <p:cNvSpPr>
              <a:spLocks noChangeArrowheads="1"/>
            </p:cNvSpPr>
            <p:nvPr/>
          </p:nvSpPr>
          <p:spPr bwMode="auto">
            <a:xfrm flipH="1">
              <a:off x="3552"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a:t>
              </a:r>
            </a:p>
          </p:txBody>
        </p:sp>
        <p:sp>
          <p:nvSpPr>
            <p:cNvPr id="490528" name="Rectangle 32"/>
            <p:cNvSpPr>
              <a:spLocks noChangeArrowheads="1"/>
            </p:cNvSpPr>
            <p:nvPr/>
          </p:nvSpPr>
          <p:spPr bwMode="auto">
            <a:xfrm flipH="1">
              <a:off x="3840"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77</a:t>
              </a:r>
            </a:p>
          </p:txBody>
        </p:sp>
        <p:sp>
          <p:nvSpPr>
            <p:cNvPr id="490529" name="Rectangle 33"/>
            <p:cNvSpPr>
              <a:spLocks noChangeArrowheads="1"/>
            </p:cNvSpPr>
            <p:nvPr/>
          </p:nvSpPr>
          <p:spPr bwMode="auto">
            <a:xfrm flipH="1">
              <a:off x="4128"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13</a:t>
              </a:r>
            </a:p>
          </p:txBody>
        </p:sp>
        <p:sp>
          <p:nvSpPr>
            <p:cNvPr id="490530" name="Rectangle 34"/>
            <p:cNvSpPr>
              <a:spLocks noChangeArrowheads="1"/>
            </p:cNvSpPr>
            <p:nvPr/>
          </p:nvSpPr>
          <p:spPr bwMode="auto">
            <a:xfrm flipH="1">
              <a:off x="4416"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69</a:t>
              </a:r>
            </a:p>
          </p:txBody>
        </p:sp>
        <p:sp>
          <p:nvSpPr>
            <p:cNvPr id="490531" name="Rectangle 35"/>
            <p:cNvSpPr>
              <a:spLocks noChangeArrowheads="1"/>
            </p:cNvSpPr>
            <p:nvPr/>
          </p:nvSpPr>
          <p:spPr bwMode="auto">
            <a:xfrm flipH="1">
              <a:off x="4704"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490532" name="Rectangle 36"/>
            <p:cNvSpPr>
              <a:spLocks noChangeArrowheads="1"/>
            </p:cNvSpPr>
            <p:nvPr/>
          </p:nvSpPr>
          <p:spPr bwMode="auto">
            <a:xfrm flipH="1">
              <a:off x="4992"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21</a:t>
              </a:r>
            </a:p>
          </p:txBody>
        </p:sp>
        <p:sp>
          <p:nvSpPr>
            <p:cNvPr id="490533" name="Text Box 37"/>
            <p:cNvSpPr txBox="1">
              <a:spLocks noChangeArrowheads="1"/>
            </p:cNvSpPr>
            <p:nvPr/>
          </p:nvSpPr>
          <p:spPr bwMode="auto">
            <a:xfrm>
              <a:off x="3340" y="1059"/>
              <a:ext cx="2216" cy="269"/>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200"/>
                <a:t>0   1    2   3   4    5    6   7</a:t>
              </a:r>
            </a:p>
          </p:txBody>
        </p:sp>
        <p:sp>
          <p:nvSpPr>
            <p:cNvPr id="490534" name="Rectangle 38"/>
            <p:cNvSpPr>
              <a:spLocks noChangeArrowheads="1"/>
            </p:cNvSpPr>
            <p:nvPr/>
          </p:nvSpPr>
          <p:spPr bwMode="auto">
            <a:xfrm flipH="1">
              <a:off x="5321"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46</a:t>
              </a:r>
            </a:p>
          </p:txBody>
        </p:sp>
      </p:grpSp>
      <p:grpSp>
        <p:nvGrpSpPr>
          <p:cNvPr id="490535" name="Group 39"/>
          <p:cNvGrpSpPr>
            <a:grpSpLocks/>
          </p:cNvGrpSpPr>
          <p:nvPr/>
        </p:nvGrpSpPr>
        <p:grpSpPr bwMode="auto">
          <a:xfrm>
            <a:off x="2655888" y="5435600"/>
            <a:ext cx="3783012" cy="1041400"/>
            <a:chOff x="3264" y="672"/>
            <a:chExt cx="2383" cy="656"/>
          </a:xfrm>
        </p:grpSpPr>
        <p:sp>
          <p:nvSpPr>
            <p:cNvPr id="490536" name="Rectangle 40"/>
            <p:cNvSpPr>
              <a:spLocks noChangeArrowheads="1"/>
            </p:cNvSpPr>
            <p:nvPr/>
          </p:nvSpPr>
          <p:spPr bwMode="auto">
            <a:xfrm flipH="1">
              <a:off x="3264"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chemeClr val="tx1"/>
                  </a:solidFill>
                </a:rPr>
                <a:t>13</a:t>
              </a:r>
            </a:p>
          </p:txBody>
        </p:sp>
        <p:sp>
          <p:nvSpPr>
            <p:cNvPr id="490537" name="Rectangle 41"/>
            <p:cNvSpPr>
              <a:spLocks noChangeArrowheads="1"/>
            </p:cNvSpPr>
            <p:nvPr/>
          </p:nvSpPr>
          <p:spPr bwMode="auto">
            <a:xfrm flipH="1">
              <a:off x="3552"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a:t>
              </a:r>
            </a:p>
          </p:txBody>
        </p:sp>
        <p:sp>
          <p:nvSpPr>
            <p:cNvPr id="490538" name="Rectangle 42"/>
            <p:cNvSpPr>
              <a:spLocks noChangeArrowheads="1"/>
            </p:cNvSpPr>
            <p:nvPr/>
          </p:nvSpPr>
          <p:spPr bwMode="auto">
            <a:xfrm flipH="1">
              <a:off x="3840"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21</a:t>
              </a:r>
            </a:p>
          </p:txBody>
        </p:sp>
        <p:sp>
          <p:nvSpPr>
            <p:cNvPr id="490539" name="Rectangle 43"/>
            <p:cNvSpPr>
              <a:spLocks noChangeArrowheads="1"/>
            </p:cNvSpPr>
            <p:nvPr/>
          </p:nvSpPr>
          <p:spPr bwMode="auto">
            <a:xfrm flipH="1">
              <a:off x="4128"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rgbClr val="FF3300"/>
                  </a:solidFill>
                </a:rPr>
                <a:t>30</a:t>
              </a:r>
            </a:p>
          </p:txBody>
        </p:sp>
        <p:sp>
          <p:nvSpPr>
            <p:cNvPr id="490540" name="Rectangle 44"/>
            <p:cNvSpPr>
              <a:spLocks noChangeArrowheads="1"/>
            </p:cNvSpPr>
            <p:nvPr/>
          </p:nvSpPr>
          <p:spPr bwMode="auto">
            <a:xfrm flipH="1">
              <a:off x="4416"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69</a:t>
              </a:r>
            </a:p>
          </p:txBody>
        </p:sp>
        <p:sp>
          <p:nvSpPr>
            <p:cNvPr id="490541" name="Rectangle 45"/>
            <p:cNvSpPr>
              <a:spLocks noChangeArrowheads="1"/>
            </p:cNvSpPr>
            <p:nvPr/>
          </p:nvSpPr>
          <p:spPr bwMode="auto">
            <a:xfrm flipH="1">
              <a:off x="4704"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490542" name="Rectangle 46"/>
            <p:cNvSpPr>
              <a:spLocks noChangeArrowheads="1"/>
            </p:cNvSpPr>
            <p:nvPr/>
          </p:nvSpPr>
          <p:spPr bwMode="auto">
            <a:xfrm flipH="1">
              <a:off x="4992"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77</a:t>
              </a:r>
            </a:p>
          </p:txBody>
        </p:sp>
        <p:sp>
          <p:nvSpPr>
            <p:cNvPr id="490543" name="Text Box 47"/>
            <p:cNvSpPr txBox="1">
              <a:spLocks noChangeArrowheads="1"/>
            </p:cNvSpPr>
            <p:nvPr/>
          </p:nvSpPr>
          <p:spPr bwMode="auto">
            <a:xfrm>
              <a:off x="3340" y="1059"/>
              <a:ext cx="2216" cy="269"/>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200"/>
                <a:t>0   1    2   3   4    5    6   7</a:t>
              </a:r>
            </a:p>
          </p:txBody>
        </p:sp>
        <p:sp>
          <p:nvSpPr>
            <p:cNvPr id="490544" name="Rectangle 48"/>
            <p:cNvSpPr>
              <a:spLocks noChangeArrowheads="1"/>
            </p:cNvSpPr>
            <p:nvPr/>
          </p:nvSpPr>
          <p:spPr bwMode="auto">
            <a:xfrm flipH="1">
              <a:off x="5321" y="67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46</a:t>
              </a:r>
            </a:p>
          </p:txBody>
        </p:sp>
      </p:grpSp>
      <p:sp>
        <p:nvSpPr>
          <p:cNvPr id="490569" name="Rectangle 73"/>
          <p:cNvSpPr>
            <a:spLocks noChangeArrowheads="1"/>
          </p:cNvSpPr>
          <p:nvPr/>
        </p:nvSpPr>
        <p:spPr bwMode="auto">
          <a:xfrm>
            <a:off x="4025900" y="5310188"/>
            <a:ext cx="3289300" cy="1243012"/>
          </a:xfrm>
          <a:prstGeom prst="rect">
            <a:avLst/>
          </a:prstGeom>
          <a:solidFill>
            <a:schemeClr val="bg1">
              <a:alpha val="85001"/>
            </a:schemeClr>
          </a:solidFill>
          <a:ln>
            <a:noFill/>
          </a:ln>
          <a:effectLst/>
          <a:extLs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0570" name="Rectangle 74"/>
          <p:cNvSpPr>
            <a:spLocks noChangeArrowheads="1"/>
          </p:cNvSpPr>
          <p:nvPr/>
        </p:nvSpPr>
        <p:spPr bwMode="auto">
          <a:xfrm>
            <a:off x="1190625" y="5297488"/>
            <a:ext cx="3289300" cy="1203325"/>
          </a:xfrm>
          <a:prstGeom prst="rect">
            <a:avLst/>
          </a:prstGeom>
          <a:solidFill>
            <a:schemeClr val="bg1">
              <a:alpha val="85001"/>
            </a:schemeClr>
          </a:solidFill>
          <a:ln>
            <a:noFill/>
          </a:ln>
          <a:effectLst/>
          <a:extLs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0571" name="Text Box 75"/>
          <p:cNvSpPr txBox="1">
            <a:spLocks noChangeArrowheads="1"/>
          </p:cNvSpPr>
          <p:nvPr/>
        </p:nvSpPr>
        <p:spPr bwMode="auto">
          <a:xfrm>
            <a:off x="2070100" y="3230563"/>
            <a:ext cx="431800" cy="57943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a:solidFill>
                  <a:srgbClr val="6600CC"/>
                </a:solidFill>
              </a:rPr>
              <a:t>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90515"/>
                                        </p:tgtEl>
                                        <p:attrNameLst>
                                          <p:attrName>style.visibility</p:attrName>
                                        </p:attrNameLst>
                                      </p:cBhvr>
                                      <p:to>
                                        <p:strVal val="visible"/>
                                      </p:to>
                                    </p:set>
                                    <p:animEffect transition="in" filter="fade">
                                      <p:cBhvr>
                                        <p:cTn id="7" dur="2000"/>
                                        <p:tgtEl>
                                          <p:spTgt spid="4905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90567"/>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90568"/>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499"/>
                                          </p:stCondLst>
                                        </p:cTn>
                                        <p:tgtEl>
                                          <p:spTgt spid="490525"/>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490535"/>
                                        </p:tgtEl>
                                        <p:attrNameLst>
                                          <p:attrName>style.visibility</p:attrName>
                                        </p:attrNameLst>
                                      </p:cBhvr>
                                      <p:to>
                                        <p:strVal val="visible"/>
                                      </p:to>
                                    </p:set>
                                    <p:animEffect transition="in" filter="wipe(left)">
                                      <p:cBhvr>
                                        <p:cTn id="24" dur="500"/>
                                        <p:tgtEl>
                                          <p:spTgt spid="49053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90571"/>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90569"/>
                                        </p:tgtEl>
                                        <p:attrNameLst>
                                          <p:attrName>style.visibility</p:attrName>
                                        </p:attrNameLst>
                                      </p:cBhvr>
                                      <p:to>
                                        <p:strVal val="visible"/>
                                      </p:to>
                                    </p:set>
                                    <p:animEffect transition="in" filter="fade">
                                      <p:cBhvr>
                                        <p:cTn id="33" dur="500"/>
                                        <p:tgtEl>
                                          <p:spTgt spid="49056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0" presetClass="exit" presetSubtype="0" fill="hold" grpId="1" nodeType="clickEffect">
                                  <p:stCondLst>
                                    <p:cond delay="0"/>
                                  </p:stCondLst>
                                  <p:childTnLst>
                                    <p:animEffect transition="out" filter="fade">
                                      <p:cBhvr>
                                        <p:cTn id="37" dur="500"/>
                                        <p:tgtEl>
                                          <p:spTgt spid="490569"/>
                                        </p:tgtEl>
                                      </p:cBhvr>
                                    </p:animEffect>
                                    <p:set>
                                      <p:cBhvr>
                                        <p:cTn id="38" dur="1" fill="hold">
                                          <p:stCondLst>
                                            <p:cond delay="499"/>
                                          </p:stCondLst>
                                        </p:cTn>
                                        <p:tgtEl>
                                          <p:spTgt spid="490569"/>
                                        </p:tgtEl>
                                        <p:attrNameLst>
                                          <p:attrName>style.visibility</p:attrName>
                                        </p:attrNameLst>
                                      </p:cBhvr>
                                      <p:to>
                                        <p:strVal val="hidden"/>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90570"/>
                                        </p:tgtEl>
                                        <p:attrNameLst>
                                          <p:attrName>style.visibility</p:attrName>
                                        </p:attrNameLst>
                                      </p:cBhvr>
                                      <p:to>
                                        <p:strVal val="visible"/>
                                      </p:to>
                                    </p:set>
                                    <p:animEffect transition="in" filter="fade">
                                      <p:cBhvr>
                                        <p:cTn id="43" dur="500"/>
                                        <p:tgtEl>
                                          <p:spTgt spid="490570"/>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0" presetClass="exit" presetSubtype="0" fill="hold" grpId="1" nodeType="clickEffect">
                                  <p:stCondLst>
                                    <p:cond delay="0"/>
                                  </p:stCondLst>
                                  <p:childTnLst>
                                    <p:animEffect transition="out" filter="fade">
                                      <p:cBhvr>
                                        <p:cTn id="47" dur="500"/>
                                        <p:tgtEl>
                                          <p:spTgt spid="490570"/>
                                        </p:tgtEl>
                                      </p:cBhvr>
                                    </p:animEffect>
                                    <p:set>
                                      <p:cBhvr>
                                        <p:cTn id="48" dur="1" fill="hold">
                                          <p:stCondLst>
                                            <p:cond delay="499"/>
                                          </p:stCondLst>
                                        </p:cTn>
                                        <p:tgtEl>
                                          <p:spTgt spid="49057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567" grpId="0"/>
      <p:bldP spid="490568" grpId="0"/>
      <p:bldP spid="490569" grpId="0" animBg="1"/>
      <p:bldP spid="490569" grpId="1" animBg="1"/>
      <p:bldP spid="490570" grpId="0" animBg="1"/>
      <p:bldP spid="490570" grpId="1" animBg="1"/>
      <p:bldP spid="49057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Slide Number Placeholder 3"/>
          <p:cNvSpPr>
            <a:spLocks noGrp="1"/>
          </p:cNvSpPr>
          <p:nvPr>
            <p:ph type="sldNum" sz="quarter" idx="12"/>
          </p:nvPr>
        </p:nvSpPr>
        <p:spPr/>
        <p:txBody>
          <a:bodyPr/>
          <a:lstStyle/>
          <a:p>
            <a:fld id="{39E40C61-B556-499A-B06B-426B686A5D66}" type="slidenum">
              <a:rPr lang="en-US"/>
              <a:pPr/>
              <a:t>8</a:t>
            </a:fld>
            <a:endParaRPr lang="en-US"/>
          </a:p>
        </p:txBody>
      </p:sp>
      <p:sp>
        <p:nvSpPr>
          <p:cNvPr id="503810" name="Text Box 2"/>
          <p:cNvSpPr txBox="1">
            <a:spLocks noChangeArrowheads="1"/>
          </p:cNvSpPr>
          <p:nvPr/>
        </p:nvSpPr>
        <p:spPr bwMode="auto">
          <a:xfrm>
            <a:off x="304800" y="2058988"/>
            <a:ext cx="6045200" cy="4752975"/>
          </a:xfrm>
          <a:prstGeom prst="rect">
            <a:avLst/>
          </a:prstGeom>
          <a:solidFill>
            <a:srgbClr val="CCFFCC"/>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700" b="1" dirty="0" err="1">
                <a:latin typeface="Courier New" pitchFamily="49" charset="0"/>
                <a:cs typeface="Courier New" pitchFamily="49" charset="0"/>
              </a:rPr>
              <a:t>int</a:t>
            </a:r>
            <a:r>
              <a:rPr lang="en-US" sz="1700" b="1" dirty="0">
                <a:latin typeface="Courier New" pitchFamily="49" charset="0"/>
                <a:cs typeface="Courier New" pitchFamily="49" charset="0"/>
              </a:rPr>
              <a:t> Partition(</a:t>
            </a:r>
            <a:r>
              <a:rPr lang="en-US" sz="1700" b="1" dirty="0" err="1">
                <a:latin typeface="Courier New" pitchFamily="49" charset="0"/>
                <a:cs typeface="Courier New" pitchFamily="49" charset="0"/>
              </a:rPr>
              <a:t>int</a:t>
            </a:r>
            <a:r>
              <a:rPr lang="en-US" sz="1700" b="1" dirty="0">
                <a:latin typeface="Courier New" pitchFamily="49" charset="0"/>
                <a:cs typeface="Courier New" pitchFamily="49" charset="0"/>
              </a:rPr>
              <a:t> a[], </a:t>
            </a:r>
            <a:r>
              <a:rPr lang="en-US" sz="1700" b="1" dirty="0" err="1">
                <a:latin typeface="Courier New" pitchFamily="49" charset="0"/>
                <a:cs typeface="Courier New" pitchFamily="49" charset="0"/>
              </a:rPr>
              <a:t>int</a:t>
            </a:r>
            <a:r>
              <a:rPr lang="en-US" sz="1700" b="1" dirty="0">
                <a:latin typeface="Courier New" pitchFamily="49" charset="0"/>
                <a:cs typeface="Courier New" pitchFamily="49" charset="0"/>
              </a:rPr>
              <a:t> low, </a:t>
            </a:r>
            <a:r>
              <a:rPr lang="en-US" sz="1700" b="1" dirty="0" err="1">
                <a:latin typeface="Courier New" pitchFamily="49" charset="0"/>
                <a:cs typeface="Courier New" pitchFamily="49" charset="0"/>
              </a:rPr>
              <a:t>int</a:t>
            </a:r>
            <a:r>
              <a:rPr lang="en-US" sz="1700" b="1" dirty="0">
                <a:latin typeface="Courier New" pitchFamily="49" charset="0"/>
                <a:cs typeface="Courier New" pitchFamily="49" charset="0"/>
              </a:rPr>
              <a:t> high)</a:t>
            </a:r>
          </a:p>
          <a:p>
            <a:r>
              <a:rPr lang="en-US" sz="1700" b="1" dirty="0">
                <a:latin typeface="Courier New" pitchFamily="49" charset="0"/>
                <a:cs typeface="Courier New" pitchFamily="49" charset="0"/>
              </a:rPr>
              <a:t>{</a:t>
            </a:r>
          </a:p>
          <a:p>
            <a:r>
              <a:rPr lang="en-US" sz="1700" b="1" dirty="0">
                <a:latin typeface="Courier New" pitchFamily="49" charset="0"/>
                <a:cs typeface="Courier New" pitchFamily="49" charset="0"/>
              </a:rPr>
              <a:t>  </a:t>
            </a:r>
            <a:r>
              <a:rPr lang="en-US" sz="1700" b="1" dirty="0" err="1">
                <a:latin typeface="Courier New" pitchFamily="49" charset="0"/>
                <a:cs typeface="Courier New" pitchFamily="49" charset="0"/>
              </a:rPr>
              <a:t>int</a:t>
            </a:r>
            <a:r>
              <a:rPr lang="en-US" sz="1700" b="1" dirty="0">
                <a:latin typeface="Courier New" pitchFamily="49" charset="0"/>
                <a:cs typeface="Courier New" pitchFamily="49" charset="0"/>
              </a:rPr>
              <a:t> pi = low;</a:t>
            </a:r>
          </a:p>
          <a:p>
            <a:r>
              <a:rPr lang="en-US" sz="1700" b="1" dirty="0">
                <a:latin typeface="Courier New" pitchFamily="49" charset="0"/>
                <a:cs typeface="Courier New" pitchFamily="49" charset="0"/>
              </a:rPr>
              <a:t>  </a:t>
            </a:r>
            <a:r>
              <a:rPr lang="en-US" sz="1700" b="1" dirty="0" err="1">
                <a:latin typeface="Courier New" pitchFamily="49" charset="0"/>
                <a:cs typeface="Courier New" pitchFamily="49" charset="0"/>
              </a:rPr>
              <a:t>int</a:t>
            </a:r>
            <a:r>
              <a:rPr lang="en-US" sz="1700" b="1" dirty="0">
                <a:latin typeface="Courier New" pitchFamily="49" charset="0"/>
                <a:cs typeface="Courier New" pitchFamily="49" charset="0"/>
              </a:rPr>
              <a:t> pivot = a[low];  </a:t>
            </a:r>
          </a:p>
          <a:p>
            <a:r>
              <a:rPr lang="en-US" sz="1700" b="1" dirty="0">
                <a:latin typeface="Courier New" pitchFamily="49" charset="0"/>
                <a:cs typeface="Courier New" pitchFamily="49" charset="0"/>
              </a:rPr>
              <a:t>  do</a:t>
            </a:r>
          </a:p>
          <a:p>
            <a:r>
              <a:rPr lang="en-US" sz="1700" b="1" dirty="0">
                <a:latin typeface="Courier New" pitchFamily="49" charset="0"/>
                <a:cs typeface="Courier New" pitchFamily="49" charset="0"/>
              </a:rPr>
              <a:t>  {</a:t>
            </a:r>
          </a:p>
          <a:p>
            <a:r>
              <a:rPr lang="en-US" sz="1700" b="1" dirty="0">
                <a:latin typeface="Courier New" pitchFamily="49" charset="0"/>
                <a:cs typeface="Courier New" pitchFamily="49" charset="0"/>
              </a:rPr>
              <a:t>     while ( low &lt;= high &amp;&amp; a[low] &lt;= pivot )</a:t>
            </a:r>
          </a:p>
          <a:p>
            <a:r>
              <a:rPr lang="en-US" sz="1700" b="1" dirty="0">
                <a:latin typeface="Courier New" pitchFamily="49" charset="0"/>
                <a:cs typeface="Courier New" pitchFamily="49" charset="0"/>
              </a:rPr>
              <a:t>        low++;</a:t>
            </a:r>
          </a:p>
          <a:p>
            <a:r>
              <a:rPr lang="en-US" sz="1700" b="1" dirty="0">
                <a:latin typeface="Courier New" pitchFamily="49" charset="0"/>
                <a:cs typeface="Courier New" pitchFamily="49" charset="0"/>
              </a:rPr>
              <a:t>     while ( a[high] &gt; pivot )</a:t>
            </a:r>
          </a:p>
          <a:p>
            <a:r>
              <a:rPr lang="en-US" sz="1700" b="1" dirty="0">
                <a:latin typeface="Courier New" pitchFamily="49" charset="0"/>
                <a:cs typeface="Courier New" pitchFamily="49" charset="0"/>
              </a:rPr>
              <a:t>        high--;</a:t>
            </a:r>
          </a:p>
          <a:p>
            <a:r>
              <a:rPr lang="en-US" sz="1700" b="1" dirty="0">
                <a:latin typeface="Courier New" pitchFamily="49" charset="0"/>
                <a:cs typeface="Courier New" pitchFamily="49" charset="0"/>
              </a:rPr>
              <a:t>     if ( low &lt; high )</a:t>
            </a:r>
          </a:p>
          <a:p>
            <a:r>
              <a:rPr lang="en-US" sz="1700" b="1" dirty="0">
                <a:latin typeface="Courier New" pitchFamily="49" charset="0"/>
                <a:cs typeface="Courier New" pitchFamily="49" charset="0"/>
              </a:rPr>
              <a:t>        swap(a[low], a[high]);</a:t>
            </a:r>
          </a:p>
          <a:p>
            <a:r>
              <a:rPr lang="en-US" sz="1700" b="1" dirty="0">
                <a:latin typeface="Courier New" pitchFamily="49" charset="0"/>
                <a:cs typeface="Courier New" pitchFamily="49" charset="0"/>
              </a:rPr>
              <a:t>  }</a:t>
            </a:r>
          </a:p>
          <a:p>
            <a:r>
              <a:rPr lang="en-US" sz="1700" b="1" dirty="0">
                <a:latin typeface="Courier New" pitchFamily="49" charset="0"/>
                <a:cs typeface="Courier New" pitchFamily="49" charset="0"/>
              </a:rPr>
              <a:t>  while ( low &lt; high );</a:t>
            </a:r>
          </a:p>
          <a:p>
            <a:r>
              <a:rPr lang="en-US" sz="1700" b="1" dirty="0">
                <a:latin typeface="Courier New" pitchFamily="49" charset="0"/>
                <a:cs typeface="Courier New" pitchFamily="49" charset="0"/>
              </a:rPr>
              <a:t>  swap(a[pi], a[high]);</a:t>
            </a:r>
          </a:p>
          <a:p>
            <a:r>
              <a:rPr lang="en-US" sz="1700" b="1" dirty="0">
                <a:latin typeface="Courier New" pitchFamily="49" charset="0"/>
                <a:cs typeface="Courier New" pitchFamily="49" charset="0"/>
              </a:rPr>
              <a:t>  pi = high;</a:t>
            </a:r>
          </a:p>
          <a:p>
            <a:r>
              <a:rPr lang="en-US" sz="1700" b="1" dirty="0">
                <a:latin typeface="Courier New" pitchFamily="49" charset="0"/>
                <a:cs typeface="Courier New" pitchFamily="49" charset="0"/>
              </a:rPr>
              <a:t>  return(pi); </a:t>
            </a:r>
          </a:p>
          <a:p>
            <a:r>
              <a:rPr lang="en-US" sz="1700" b="1" dirty="0">
                <a:latin typeface="Courier New" pitchFamily="49" charset="0"/>
                <a:cs typeface="Courier New" pitchFamily="49" charset="0"/>
              </a:rPr>
              <a:t>}</a:t>
            </a:r>
          </a:p>
        </p:txBody>
      </p:sp>
      <p:sp>
        <p:nvSpPr>
          <p:cNvPr id="503811" name="Rectangle 3"/>
          <p:cNvSpPr>
            <a:spLocks noChangeArrowheads="1"/>
          </p:cNvSpPr>
          <p:nvPr/>
        </p:nvSpPr>
        <p:spPr bwMode="auto">
          <a:xfrm>
            <a:off x="685800" y="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4400"/>
              <a:t>The QS Partition Function</a:t>
            </a:r>
          </a:p>
        </p:txBody>
      </p:sp>
      <p:grpSp>
        <p:nvGrpSpPr>
          <p:cNvPr id="503812" name="Group 4"/>
          <p:cNvGrpSpPr>
            <a:grpSpLocks/>
          </p:cNvGrpSpPr>
          <p:nvPr/>
        </p:nvGrpSpPr>
        <p:grpSpPr bwMode="auto">
          <a:xfrm>
            <a:off x="3505200" y="6019800"/>
            <a:ext cx="5486400" cy="533400"/>
            <a:chOff x="1296" y="1296"/>
            <a:chExt cx="3456" cy="336"/>
          </a:xfrm>
        </p:grpSpPr>
        <p:sp>
          <p:nvSpPr>
            <p:cNvPr id="503813" name="Rectangle 5"/>
            <p:cNvSpPr>
              <a:spLocks noChangeArrowheads="1"/>
            </p:cNvSpPr>
            <p:nvPr/>
          </p:nvSpPr>
          <p:spPr bwMode="auto">
            <a:xfrm>
              <a:off x="1296" y="1296"/>
              <a:ext cx="288" cy="336"/>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chemeClr val="tx1"/>
                  </a:solidFill>
                </a:rPr>
                <a:t>30</a:t>
              </a:r>
            </a:p>
          </p:txBody>
        </p:sp>
        <p:sp>
          <p:nvSpPr>
            <p:cNvPr id="503814" name="Rectangle 6"/>
            <p:cNvSpPr>
              <a:spLocks noChangeArrowheads="1"/>
            </p:cNvSpPr>
            <p:nvPr/>
          </p:nvSpPr>
          <p:spPr bwMode="auto">
            <a:xfrm>
              <a:off x="1584" y="1296"/>
              <a:ext cx="288" cy="336"/>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a:t>
              </a:r>
            </a:p>
          </p:txBody>
        </p:sp>
        <p:sp>
          <p:nvSpPr>
            <p:cNvPr id="503815" name="Rectangle 7"/>
            <p:cNvSpPr>
              <a:spLocks noChangeArrowheads="1"/>
            </p:cNvSpPr>
            <p:nvPr/>
          </p:nvSpPr>
          <p:spPr bwMode="auto">
            <a:xfrm>
              <a:off x="1872" y="1296"/>
              <a:ext cx="288" cy="336"/>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77</a:t>
              </a:r>
            </a:p>
          </p:txBody>
        </p:sp>
        <p:sp>
          <p:nvSpPr>
            <p:cNvPr id="503816" name="Rectangle 8"/>
            <p:cNvSpPr>
              <a:spLocks noChangeArrowheads="1"/>
            </p:cNvSpPr>
            <p:nvPr/>
          </p:nvSpPr>
          <p:spPr bwMode="auto">
            <a:xfrm>
              <a:off x="2160" y="1296"/>
              <a:ext cx="288" cy="336"/>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13</a:t>
              </a:r>
            </a:p>
          </p:txBody>
        </p:sp>
        <p:sp>
          <p:nvSpPr>
            <p:cNvPr id="503817" name="Rectangle 9"/>
            <p:cNvSpPr>
              <a:spLocks noChangeArrowheads="1"/>
            </p:cNvSpPr>
            <p:nvPr/>
          </p:nvSpPr>
          <p:spPr bwMode="auto">
            <a:xfrm>
              <a:off x="2448" y="1296"/>
              <a:ext cx="288" cy="336"/>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99</a:t>
              </a:r>
            </a:p>
          </p:txBody>
        </p:sp>
        <p:sp>
          <p:nvSpPr>
            <p:cNvPr id="503818" name="Rectangle 10"/>
            <p:cNvSpPr>
              <a:spLocks noChangeArrowheads="1"/>
            </p:cNvSpPr>
            <p:nvPr/>
          </p:nvSpPr>
          <p:spPr bwMode="auto">
            <a:xfrm>
              <a:off x="2736" y="1296"/>
              <a:ext cx="288" cy="336"/>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52</a:t>
              </a:r>
            </a:p>
          </p:txBody>
        </p:sp>
        <p:sp>
          <p:nvSpPr>
            <p:cNvPr id="503819" name="Rectangle 11"/>
            <p:cNvSpPr>
              <a:spLocks noChangeArrowheads="1"/>
            </p:cNvSpPr>
            <p:nvPr/>
          </p:nvSpPr>
          <p:spPr bwMode="auto">
            <a:xfrm>
              <a:off x="3024" y="1296"/>
              <a:ext cx="288" cy="336"/>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503820" name="Rectangle 12"/>
            <p:cNvSpPr>
              <a:spLocks noChangeArrowheads="1"/>
            </p:cNvSpPr>
            <p:nvPr/>
          </p:nvSpPr>
          <p:spPr bwMode="auto">
            <a:xfrm>
              <a:off x="3312" y="1296"/>
              <a:ext cx="288" cy="336"/>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a:t>
              </a:r>
            </a:p>
          </p:txBody>
        </p:sp>
        <p:sp>
          <p:nvSpPr>
            <p:cNvPr id="503821" name="Rectangle 13"/>
            <p:cNvSpPr>
              <a:spLocks noChangeArrowheads="1"/>
            </p:cNvSpPr>
            <p:nvPr/>
          </p:nvSpPr>
          <p:spPr bwMode="auto">
            <a:xfrm>
              <a:off x="3600" y="1296"/>
              <a:ext cx="288" cy="336"/>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12</a:t>
              </a:r>
            </a:p>
          </p:txBody>
        </p:sp>
        <p:sp>
          <p:nvSpPr>
            <p:cNvPr id="503822" name="Rectangle 14"/>
            <p:cNvSpPr>
              <a:spLocks noChangeArrowheads="1"/>
            </p:cNvSpPr>
            <p:nvPr/>
          </p:nvSpPr>
          <p:spPr bwMode="auto">
            <a:xfrm>
              <a:off x="3888" y="1296"/>
              <a:ext cx="288" cy="336"/>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35</a:t>
              </a:r>
            </a:p>
          </p:txBody>
        </p:sp>
        <p:sp>
          <p:nvSpPr>
            <p:cNvPr id="503823" name="Rectangle 15"/>
            <p:cNvSpPr>
              <a:spLocks noChangeArrowheads="1"/>
            </p:cNvSpPr>
            <p:nvPr/>
          </p:nvSpPr>
          <p:spPr bwMode="auto">
            <a:xfrm>
              <a:off x="4176" y="1296"/>
              <a:ext cx="288" cy="336"/>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47</a:t>
              </a:r>
            </a:p>
          </p:txBody>
        </p:sp>
        <p:sp>
          <p:nvSpPr>
            <p:cNvPr id="503824" name="Rectangle 16"/>
            <p:cNvSpPr>
              <a:spLocks noChangeArrowheads="1"/>
            </p:cNvSpPr>
            <p:nvPr/>
          </p:nvSpPr>
          <p:spPr bwMode="auto">
            <a:xfrm>
              <a:off x="4464" y="1296"/>
              <a:ext cx="288" cy="336"/>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56</a:t>
              </a:r>
            </a:p>
          </p:txBody>
        </p:sp>
      </p:grpSp>
      <p:sp>
        <p:nvSpPr>
          <p:cNvPr id="503825" name="Text Box 17"/>
          <p:cNvSpPr txBox="1">
            <a:spLocks noChangeArrowheads="1"/>
          </p:cNvSpPr>
          <p:nvPr/>
        </p:nvSpPr>
        <p:spPr bwMode="auto">
          <a:xfrm>
            <a:off x="669925" y="914400"/>
            <a:ext cx="7918450" cy="1107996"/>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200" dirty="0"/>
              <a:t>The </a:t>
            </a:r>
            <a:r>
              <a:rPr lang="en-US" sz="2200" dirty="0">
                <a:solidFill>
                  <a:srgbClr val="FF3300"/>
                </a:solidFill>
              </a:rPr>
              <a:t>Partition</a:t>
            </a:r>
            <a:r>
              <a:rPr lang="en-US" sz="2200" dirty="0"/>
              <a:t> function uses the first item as the pivot value and moves </a:t>
            </a:r>
            <a:r>
              <a:rPr lang="en-US" sz="2200" dirty="0">
                <a:solidFill>
                  <a:srgbClr val="FF0000"/>
                </a:solidFill>
              </a:rPr>
              <a:t>less-than-or-equal items </a:t>
            </a:r>
            <a:r>
              <a:rPr lang="en-US" sz="2200" dirty="0"/>
              <a:t>to the </a:t>
            </a:r>
            <a:r>
              <a:rPr lang="en-US" sz="2200" dirty="0">
                <a:solidFill>
                  <a:srgbClr val="FF0000"/>
                </a:solidFill>
              </a:rPr>
              <a:t>left</a:t>
            </a:r>
            <a:r>
              <a:rPr lang="en-US" sz="2200" dirty="0"/>
              <a:t> and </a:t>
            </a:r>
            <a:r>
              <a:rPr lang="en-US" sz="2200" dirty="0">
                <a:solidFill>
                  <a:srgbClr val="0000CC"/>
                </a:solidFill>
              </a:rPr>
              <a:t>larger ones </a:t>
            </a:r>
            <a:r>
              <a:rPr lang="en-US" sz="2200" dirty="0"/>
              <a:t>to the </a:t>
            </a:r>
            <a:r>
              <a:rPr lang="en-US" sz="2200" dirty="0">
                <a:solidFill>
                  <a:srgbClr val="0000CC"/>
                </a:solidFill>
              </a:rPr>
              <a:t>right</a:t>
            </a:r>
            <a:r>
              <a:rPr lang="en-US" sz="2200" dirty="0"/>
              <a:t>. </a:t>
            </a:r>
          </a:p>
        </p:txBody>
      </p:sp>
      <p:sp>
        <p:nvSpPr>
          <p:cNvPr id="503826" name="Text Box 18"/>
          <p:cNvSpPr txBox="1">
            <a:spLocks noChangeArrowheads="1"/>
          </p:cNvSpPr>
          <p:nvPr/>
        </p:nvSpPr>
        <p:spPr bwMode="auto">
          <a:xfrm>
            <a:off x="3300413" y="2682875"/>
            <a:ext cx="5237162" cy="4572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rgbClr val="A50021"/>
                </a:solidFill>
              </a:rPr>
              <a:t>} – </a:t>
            </a:r>
            <a:r>
              <a:rPr lang="en-US" sz="2000">
                <a:solidFill>
                  <a:srgbClr val="A50021"/>
                </a:solidFill>
              </a:rPr>
              <a:t>Select the first item as our pivot value</a:t>
            </a:r>
          </a:p>
        </p:txBody>
      </p:sp>
      <p:sp>
        <p:nvSpPr>
          <p:cNvPr id="503827" name="Rectangle 19"/>
          <p:cNvSpPr>
            <a:spLocks noChangeArrowheads="1"/>
          </p:cNvSpPr>
          <p:nvPr/>
        </p:nvSpPr>
        <p:spPr bwMode="auto">
          <a:xfrm>
            <a:off x="3505200" y="6019800"/>
            <a:ext cx="457200" cy="533400"/>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rgbClr val="FF3300"/>
                </a:solidFill>
              </a:rPr>
              <a:t>30</a:t>
            </a:r>
          </a:p>
        </p:txBody>
      </p:sp>
      <p:grpSp>
        <p:nvGrpSpPr>
          <p:cNvPr id="503832" name="Group 24"/>
          <p:cNvGrpSpPr>
            <a:grpSpLocks/>
          </p:cNvGrpSpPr>
          <p:nvPr/>
        </p:nvGrpSpPr>
        <p:grpSpPr bwMode="auto">
          <a:xfrm>
            <a:off x="8434388" y="5334000"/>
            <a:ext cx="631825" cy="671513"/>
            <a:chOff x="5307" y="1056"/>
            <a:chExt cx="398" cy="423"/>
          </a:xfrm>
        </p:grpSpPr>
        <p:sp>
          <p:nvSpPr>
            <p:cNvPr id="503833" name="Line 25"/>
            <p:cNvSpPr>
              <a:spLocks noChangeShapeType="1"/>
            </p:cNvSpPr>
            <p:nvPr/>
          </p:nvSpPr>
          <p:spPr bwMode="auto">
            <a:xfrm>
              <a:off x="5492" y="1239"/>
              <a:ext cx="0"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834" name="Text Box 26"/>
            <p:cNvSpPr txBox="1">
              <a:spLocks noChangeArrowheads="1"/>
            </p:cNvSpPr>
            <p:nvPr/>
          </p:nvSpPr>
          <p:spPr bwMode="auto">
            <a:xfrm>
              <a:off x="5307" y="1056"/>
              <a:ext cx="398" cy="23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high</a:t>
              </a:r>
            </a:p>
          </p:txBody>
        </p:sp>
      </p:grpSp>
      <p:grpSp>
        <p:nvGrpSpPr>
          <p:cNvPr id="503836" name="Group 28"/>
          <p:cNvGrpSpPr>
            <a:grpSpLocks/>
          </p:cNvGrpSpPr>
          <p:nvPr/>
        </p:nvGrpSpPr>
        <p:grpSpPr bwMode="auto">
          <a:xfrm>
            <a:off x="3467100" y="5299075"/>
            <a:ext cx="592138" cy="671513"/>
            <a:chOff x="5307" y="1056"/>
            <a:chExt cx="373" cy="423"/>
          </a:xfrm>
        </p:grpSpPr>
        <p:sp>
          <p:nvSpPr>
            <p:cNvPr id="503837" name="Line 29"/>
            <p:cNvSpPr>
              <a:spLocks noChangeShapeType="1"/>
            </p:cNvSpPr>
            <p:nvPr/>
          </p:nvSpPr>
          <p:spPr bwMode="auto">
            <a:xfrm>
              <a:off x="5492" y="1239"/>
              <a:ext cx="0"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838" name="Text Box 30"/>
            <p:cNvSpPr txBox="1">
              <a:spLocks noChangeArrowheads="1"/>
            </p:cNvSpPr>
            <p:nvPr/>
          </p:nvSpPr>
          <p:spPr bwMode="auto">
            <a:xfrm>
              <a:off x="5307" y="1056"/>
              <a:ext cx="373" cy="23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 low</a:t>
              </a:r>
            </a:p>
          </p:txBody>
        </p:sp>
      </p:grpSp>
      <p:grpSp>
        <p:nvGrpSpPr>
          <p:cNvPr id="503843" name="Group 35"/>
          <p:cNvGrpSpPr>
            <a:grpSpLocks/>
          </p:cNvGrpSpPr>
          <p:nvPr/>
        </p:nvGrpSpPr>
        <p:grpSpPr bwMode="auto">
          <a:xfrm>
            <a:off x="3581400" y="5313363"/>
            <a:ext cx="885825" cy="671512"/>
            <a:chOff x="2256" y="3347"/>
            <a:chExt cx="558" cy="423"/>
          </a:xfrm>
        </p:grpSpPr>
        <p:grpSp>
          <p:nvGrpSpPr>
            <p:cNvPr id="503839" name="Group 31"/>
            <p:cNvGrpSpPr>
              <a:grpSpLocks/>
            </p:cNvGrpSpPr>
            <p:nvPr/>
          </p:nvGrpSpPr>
          <p:grpSpPr bwMode="auto">
            <a:xfrm>
              <a:off x="2441" y="3347"/>
              <a:ext cx="373" cy="423"/>
              <a:chOff x="5307" y="1056"/>
              <a:chExt cx="373" cy="423"/>
            </a:xfrm>
          </p:grpSpPr>
          <p:sp>
            <p:nvSpPr>
              <p:cNvPr id="503840" name="Line 32"/>
              <p:cNvSpPr>
                <a:spLocks noChangeShapeType="1"/>
              </p:cNvSpPr>
              <p:nvPr/>
            </p:nvSpPr>
            <p:spPr bwMode="auto">
              <a:xfrm>
                <a:off x="5492" y="1239"/>
                <a:ext cx="0"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841" name="Text Box 33"/>
              <p:cNvSpPr txBox="1">
                <a:spLocks noChangeArrowheads="1"/>
              </p:cNvSpPr>
              <p:nvPr/>
            </p:nvSpPr>
            <p:spPr bwMode="auto">
              <a:xfrm>
                <a:off x="5307" y="1056"/>
                <a:ext cx="373" cy="23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 low</a:t>
                </a:r>
              </a:p>
            </p:txBody>
          </p:sp>
        </p:grpSp>
        <p:sp>
          <p:nvSpPr>
            <p:cNvPr id="503842" name="Rectangle 34"/>
            <p:cNvSpPr>
              <a:spLocks noChangeArrowheads="1"/>
            </p:cNvSpPr>
            <p:nvPr/>
          </p:nvSpPr>
          <p:spPr bwMode="auto">
            <a:xfrm>
              <a:off x="2256" y="3360"/>
              <a:ext cx="242" cy="410"/>
            </a:xfrm>
            <a:prstGeom prst="rect">
              <a:avLst/>
            </a:prstGeom>
            <a:solidFill>
              <a:srgbClr val="CCFFCC"/>
            </a:solidFill>
            <a:ln w="3175">
              <a:solidFill>
                <a:srgbClr val="CC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03844" name="Group 36"/>
          <p:cNvGrpSpPr>
            <a:grpSpLocks/>
          </p:cNvGrpSpPr>
          <p:nvPr/>
        </p:nvGrpSpPr>
        <p:grpSpPr bwMode="auto">
          <a:xfrm>
            <a:off x="4038600" y="5334000"/>
            <a:ext cx="885825" cy="671513"/>
            <a:chOff x="2256" y="3347"/>
            <a:chExt cx="558" cy="423"/>
          </a:xfrm>
        </p:grpSpPr>
        <p:grpSp>
          <p:nvGrpSpPr>
            <p:cNvPr id="503845" name="Group 37"/>
            <p:cNvGrpSpPr>
              <a:grpSpLocks/>
            </p:cNvGrpSpPr>
            <p:nvPr/>
          </p:nvGrpSpPr>
          <p:grpSpPr bwMode="auto">
            <a:xfrm>
              <a:off x="2441" y="3347"/>
              <a:ext cx="373" cy="423"/>
              <a:chOff x="5307" y="1056"/>
              <a:chExt cx="373" cy="423"/>
            </a:xfrm>
          </p:grpSpPr>
          <p:sp>
            <p:nvSpPr>
              <p:cNvPr id="503846" name="Line 38"/>
              <p:cNvSpPr>
                <a:spLocks noChangeShapeType="1"/>
              </p:cNvSpPr>
              <p:nvPr/>
            </p:nvSpPr>
            <p:spPr bwMode="auto">
              <a:xfrm>
                <a:off x="5492" y="1239"/>
                <a:ext cx="0"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847" name="Text Box 39"/>
              <p:cNvSpPr txBox="1">
                <a:spLocks noChangeArrowheads="1"/>
              </p:cNvSpPr>
              <p:nvPr/>
            </p:nvSpPr>
            <p:spPr bwMode="auto">
              <a:xfrm>
                <a:off x="5307" y="1056"/>
                <a:ext cx="373" cy="23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 low</a:t>
                </a:r>
              </a:p>
            </p:txBody>
          </p:sp>
        </p:grpSp>
        <p:sp>
          <p:nvSpPr>
            <p:cNvPr id="503848" name="Rectangle 40"/>
            <p:cNvSpPr>
              <a:spLocks noChangeArrowheads="1"/>
            </p:cNvSpPr>
            <p:nvPr/>
          </p:nvSpPr>
          <p:spPr bwMode="auto">
            <a:xfrm>
              <a:off x="2256" y="3360"/>
              <a:ext cx="242" cy="410"/>
            </a:xfrm>
            <a:prstGeom prst="rect">
              <a:avLst/>
            </a:prstGeom>
            <a:solidFill>
              <a:srgbClr val="CCFFCC"/>
            </a:solidFill>
            <a:ln w="3175">
              <a:solidFill>
                <a:srgbClr val="CC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03853" name="Group 45"/>
          <p:cNvGrpSpPr>
            <a:grpSpLocks/>
          </p:cNvGrpSpPr>
          <p:nvPr/>
        </p:nvGrpSpPr>
        <p:grpSpPr bwMode="auto">
          <a:xfrm>
            <a:off x="3276600" y="2525713"/>
            <a:ext cx="5716588" cy="1758950"/>
            <a:chOff x="2064" y="1680"/>
            <a:chExt cx="3601" cy="1108"/>
          </a:xfrm>
        </p:grpSpPr>
        <p:grpSp>
          <p:nvGrpSpPr>
            <p:cNvPr id="503830" name="Group 22"/>
            <p:cNvGrpSpPr>
              <a:grpSpLocks/>
            </p:cNvGrpSpPr>
            <p:nvPr/>
          </p:nvGrpSpPr>
          <p:grpSpPr bwMode="auto">
            <a:xfrm>
              <a:off x="3950" y="2256"/>
              <a:ext cx="1696" cy="532"/>
              <a:chOff x="3950" y="2256"/>
              <a:chExt cx="1696" cy="532"/>
            </a:xfrm>
          </p:grpSpPr>
          <p:sp>
            <p:nvSpPr>
              <p:cNvPr id="503828" name="Text Box 20"/>
              <p:cNvSpPr txBox="1">
                <a:spLocks noChangeArrowheads="1"/>
              </p:cNvSpPr>
              <p:nvPr/>
            </p:nvSpPr>
            <p:spPr bwMode="auto">
              <a:xfrm>
                <a:off x="4032" y="2256"/>
                <a:ext cx="1614" cy="51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rgbClr val="A50021"/>
                    </a:solidFill>
                  </a:rPr>
                  <a:t>     </a:t>
                </a:r>
                <a:r>
                  <a:rPr lang="en-US" sz="2000">
                    <a:solidFill>
                      <a:srgbClr val="A50021"/>
                    </a:solidFill>
                  </a:rPr>
                  <a:t>Find first value</a:t>
                </a:r>
              </a:p>
              <a:p>
                <a:r>
                  <a:rPr lang="en-US">
                    <a:solidFill>
                      <a:srgbClr val="A50021"/>
                    </a:solidFill>
                  </a:rPr>
                  <a:t> </a:t>
                </a:r>
                <a:r>
                  <a:rPr lang="en-US" sz="2000">
                    <a:solidFill>
                      <a:srgbClr val="A50021"/>
                    </a:solidFill>
                  </a:rPr>
                  <a:t>     &gt; than the pivot.</a:t>
                </a:r>
              </a:p>
            </p:txBody>
          </p:sp>
          <p:sp>
            <p:nvSpPr>
              <p:cNvPr id="503829" name="Text Box 21"/>
              <p:cNvSpPr txBox="1">
                <a:spLocks noChangeArrowheads="1"/>
              </p:cNvSpPr>
              <p:nvPr/>
            </p:nvSpPr>
            <p:spPr bwMode="auto">
              <a:xfrm>
                <a:off x="3950" y="2346"/>
                <a:ext cx="366" cy="44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4000">
                    <a:solidFill>
                      <a:srgbClr val="A50021"/>
                    </a:solidFill>
                  </a:rPr>
                  <a:t>}-</a:t>
                </a:r>
              </a:p>
            </p:txBody>
          </p:sp>
        </p:grpSp>
        <p:grpSp>
          <p:nvGrpSpPr>
            <p:cNvPr id="503851" name="Group 43"/>
            <p:cNvGrpSpPr>
              <a:grpSpLocks/>
            </p:cNvGrpSpPr>
            <p:nvPr/>
          </p:nvGrpSpPr>
          <p:grpSpPr bwMode="auto">
            <a:xfrm>
              <a:off x="2064" y="1680"/>
              <a:ext cx="3601" cy="392"/>
              <a:chOff x="2064" y="1680"/>
              <a:chExt cx="3601" cy="392"/>
            </a:xfrm>
          </p:grpSpPr>
          <p:sp>
            <p:nvSpPr>
              <p:cNvPr id="503849" name="Rectangle 41"/>
              <p:cNvSpPr>
                <a:spLocks noChangeArrowheads="1"/>
              </p:cNvSpPr>
              <p:nvPr/>
            </p:nvSpPr>
            <p:spPr bwMode="auto">
              <a:xfrm>
                <a:off x="2064" y="1680"/>
                <a:ext cx="1916" cy="392"/>
              </a:xfrm>
              <a:prstGeom prst="rect">
                <a:avLst/>
              </a:prstGeom>
              <a:solidFill>
                <a:srgbClr val="CCFFCC"/>
              </a:solidFill>
              <a:ln w="3175">
                <a:solidFill>
                  <a:srgbClr val="CC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850" name="Rectangle 42"/>
              <p:cNvSpPr>
                <a:spLocks noChangeArrowheads="1"/>
              </p:cNvSpPr>
              <p:nvPr/>
            </p:nvSpPr>
            <p:spPr bwMode="auto">
              <a:xfrm>
                <a:off x="4026" y="1680"/>
                <a:ext cx="1639" cy="392"/>
              </a:xfrm>
              <a:prstGeom prst="rect">
                <a:avLst/>
              </a:prstGeom>
              <a:solidFill>
                <a:schemeClr val="bg1"/>
              </a:solid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503878" name="Group 70"/>
          <p:cNvGrpSpPr>
            <a:grpSpLocks/>
          </p:cNvGrpSpPr>
          <p:nvPr/>
        </p:nvGrpSpPr>
        <p:grpSpPr bwMode="auto">
          <a:xfrm>
            <a:off x="4340225" y="3419475"/>
            <a:ext cx="4637088" cy="1370013"/>
            <a:chOff x="2734" y="2154"/>
            <a:chExt cx="2921" cy="863"/>
          </a:xfrm>
        </p:grpSpPr>
        <p:sp>
          <p:nvSpPr>
            <p:cNvPr id="503861" name="Rectangle 53"/>
            <p:cNvSpPr>
              <a:spLocks noChangeArrowheads="1"/>
            </p:cNvSpPr>
            <p:nvPr/>
          </p:nvSpPr>
          <p:spPr bwMode="auto">
            <a:xfrm>
              <a:off x="4010" y="2154"/>
              <a:ext cx="1645" cy="502"/>
            </a:xfrm>
            <a:prstGeom prst="rect">
              <a:avLst/>
            </a:prstGeom>
            <a:solidFill>
              <a:schemeClr val="bg1"/>
            </a:solid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03855" name="Group 47"/>
            <p:cNvGrpSpPr>
              <a:grpSpLocks/>
            </p:cNvGrpSpPr>
            <p:nvPr/>
          </p:nvGrpSpPr>
          <p:grpSpPr bwMode="auto">
            <a:xfrm>
              <a:off x="2734" y="2485"/>
              <a:ext cx="1778" cy="532"/>
              <a:chOff x="3950" y="2256"/>
              <a:chExt cx="1778" cy="532"/>
            </a:xfrm>
          </p:grpSpPr>
          <p:sp>
            <p:nvSpPr>
              <p:cNvPr id="503856" name="Text Box 48"/>
              <p:cNvSpPr txBox="1">
                <a:spLocks noChangeArrowheads="1"/>
              </p:cNvSpPr>
              <p:nvPr/>
            </p:nvSpPr>
            <p:spPr bwMode="auto">
              <a:xfrm>
                <a:off x="4032" y="2256"/>
                <a:ext cx="1696" cy="51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rgbClr val="A50021"/>
                    </a:solidFill>
                  </a:rPr>
                  <a:t>       </a:t>
                </a:r>
                <a:r>
                  <a:rPr lang="en-US" sz="2000">
                    <a:solidFill>
                      <a:srgbClr val="A50021"/>
                    </a:solidFill>
                  </a:rPr>
                  <a:t>Find first value</a:t>
                </a:r>
              </a:p>
              <a:p>
                <a:r>
                  <a:rPr lang="en-US">
                    <a:solidFill>
                      <a:srgbClr val="A50021"/>
                    </a:solidFill>
                  </a:rPr>
                  <a:t> </a:t>
                </a:r>
                <a:r>
                  <a:rPr lang="en-US" sz="2000">
                    <a:solidFill>
                      <a:srgbClr val="A50021"/>
                    </a:solidFill>
                  </a:rPr>
                  <a:t>     &lt;= than the pivot.</a:t>
                </a:r>
              </a:p>
            </p:txBody>
          </p:sp>
          <p:sp>
            <p:nvSpPr>
              <p:cNvPr id="503857" name="Text Box 49"/>
              <p:cNvSpPr txBox="1">
                <a:spLocks noChangeArrowheads="1"/>
              </p:cNvSpPr>
              <p:nvPr/>
            </p:nvSpPr>
            <p:spPr bwMode="auto">
              <a:xfrm>
                <a:off x="3950" y="2346"/>
                <a:ext cx="366" cy="44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4000">
                    <a:solidFill>
                      <a:srgbClr val="A50021"/>
                    </a:solidFill>
                  </a:rPr>
                  <a:t>}-</a:t>
                </a:r>
              </a:p>
            </p:txBody>
          </p:sp>
        </p:grpSp>
      </p:grpSp>
      <p:grpSp>
        <p:nvGrpSpPr>
          <p:cNvPr id="503867" name="Group 59"/>
          <p:cNvGrpSpPr>
            <a:grpSpLocks/>
          </p:cNvGrpSpPr>
          <p:nvPr/>
        </p:nvGrpSpPr>
        <p:grpSpPr bwMode="auto">
          <a:xfrm>
            <a:off x="7924800" y="5308600"/>
            <a:ext cx="1136650" cy="696913"/>
            <a:chOff x="4992" y="3344"/>
            <a:chExt cx="716" cy="439"/>
          </a:xfrm>
        </p:grpSpPr>
        <p:grpSp>
          <p:nvGrpSpPr>
            <p:cNvPr id="503863" name="Group 55"/>
            <p:cNvGrpSpPr>
              <a:grpSpLocks/>
            </p:cNvGrpSpPr>
            <p:nvPr/>
          </p:nvGrpSpPr>
          <p:grpSpPr bwMode="auto">
            <a:xfrm>
              <a:off x="4992" y="3360"/>
              <a:ext cx="398" cy="423"/>
              <a:chOff x="5307" y="1056"/>
              <a:chExt cx="398" cy="423"/>
            </a:xfrm>
          </p:grpSpPr>
          <p:sp>
            <p:nvSpPr>
              <p:cNvPr id="503864" name="Line 56"/>
              <p:cNvSpPr>
                <a:spLocks noChangeShapeType="1"/>
              </p:cNvSpPr>
              <p:nvPr/>
            </p:nvSpPr>
            <p:spPr bwMode="auto">
              <a:xfrm>
                <a:off x="5492" y="1239"/>
                <a:ext cx="0"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865" name="Text Box 57"/>
              <p:cNvSpPr txBox="1">
                <a:spLocks noChangeArrowheads="1"/>
              </p:cNvSpPr>
              <p:nvPr/>
            </p:nvSpPr>
            <p:spPr bwMode="auto">
              <a:xfrm>
                <a:off x="5307" y="1056"/>
                <a:ext cx="398" cy="23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high</a:t>
                </a:r>
              </a:p>
            </p:txBody>
          </p:sp>
        </p:grpSp>
        <p:sp>
          <p:nvSpPr>
            <p:cNvPr id="503866" name="Rectangle 58"/>
            <p:cNvSpPr>
              <a:spLocks noChangeArrowheads="1"/>
            </p:cNvSpPr>
            <p:nvPr/>
          </p:nvSpPr>
          <p:spPr bwMode="auto">
            <a:xfrm>
              <a:off x="5326" y="3344"/>
              <a:ext cx="382" cy="426"/>
            </a:xfrm>
            <a:prstGeom prst="rect">
              <a:avLst/>
            </a:prstGeom>
            <a:solidFill>
              <a:schemeClr val="bg1"/>
            </a:solid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03868" name="Group 60"/>
          <p:cNvGrpSpPr>
            <a:grpSpLocks/>
          </p:cNvGrpSpPr>
          <p:nvPr/>
        </p:nvGrpSpPr>
        <p:grpSpPr bwMode="auto">
          <a:xfrm>
            <a:off x="7502525" y="5311775"/>
            <a:ext cx="1136650" cy="696913"/>
            <a:chOff x="4992" y="3344"/>
            <a:chExt cx="716" cy="439"/>
          </a:xfrm>
        </p:grpSpPr>
        <p:grpSp>
          <p:nvGrpSpPr>
            <p:cNvPr id="503869" name="Group 61"/>
            <p:cNvGrpSpPr>
              <a:grpSpLocks/>
            </p:cNvGrpSpPr>
            <p:nvPr/>
          </p:nvGrpSpPr>
          <p:grpSpPr bwMode="auto">
            <a:xfrm>
              <a:off x="4992" y="3360"/>
              <a:ext cx="398" cy="423"/>
              <a:chOff x="5307" y="1056"/>
              <a:chExt cx="398" cy="423"/>
            </a:xfrm>
          </p:grpSpPr>
          <p:sp>
            <p:nvSpPr>
              <p:cNvPr id="503870" name="Line 62"/>
              <p:cNvSpPr>
                <a:spLocks noChangeShapeType="1"/>
              </p:cNvSpPr>
              <p:nvPr/>
            </p:nvSpPr>
            <p:spPr bwMode="auto">
              <a:xfrm>
                <a:off x="5492" y="1239"/>
                <a:ext cx="0"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871" name="Text Box 63"/>
              <p:cNvSpPr txBox="1">
                <a:spLocks noChangeArrowheads="1"/>
              </p:cNvSpPr>
              <p:nvPr/>
            </p:nvSpPr>
            <p:spPr bwMode="auto">
              <a:xfrm>
                <a:off x="5307" y="1056"/>
                <a:ext cx="398" cy="23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high</a:t>
                </a:r>
              </a:p>
            </p:txBody>
          </p:sp>
        </p:grpSp>
        <p:sp>
          <p:nvSpPr>
            <p:cNvPr id="503872" name="Rectangle 64"/>
            <p:cNvSpPr>
              <a:spLocks noChangeArrowheads="1"/>
            </p:cNvSpPr>
            <p:nvPr/>
          </p:nvSpPr>
          <p:spPr bwMode="auto">
            <a:xfrm>
              <a:off x="5326" y="3344"/>
              <a:ext cx="382" cy="426"/>
            </a:xfrm>
            <a:prstGeom prst="rect">
              <a:avLst/>
            </a:prstGeom>
            <a:solidFill>
              <a:schemeClr val="bg1"/>
            </a:solid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03873" name="Group 65"/>
          <p:cNvGrpSpPr>
            <a:grpSpLocks/>
          </p:cNvGrpSpPr>
          <p:nvPr/>
        </p:nvGrpSpPr>
        <p:grpSpPr bwMode="auto">
          <a:xfrm>
            <a:off x="7065963" y="5311775"/>
            <a:ext cx="1136650" cy="696913"/>
            <a:chOff x="4992" y="3344"/>
            <a:chExt cx="716" cy="439"/>
          </a:xfrm>
        </p:grpSpPr>
        <p:grpSp>
          <p:nvGrpSpPr>
            <p:cNvPr id="503874" name="Group 66"/>
            <p:cNvGrpSpPr>
              <a:grpSpLocks/>
            </p:cNvGrpSpPr>
            <p:nvPr/>
          </p:nvGrpSpPr>
          <p:grpSpPr bwMode="auto">
            <a:xfrm>
              <a:off x="4992" y="3360"/>
              <a:ext cx="398" cy="423"/>
              <a:chOff x="5307" y="1056"/>
              <a:chExt cx="398" cy="423"/>
            </a:xfrm>
          </p:grpSpPr>
          <p:sp>
            <p:nvSpPr>
              <p:cNvPr id="503875" name="Line 67"/>
              <p:cNvSpPr>
                <a:spLocks noChangeShapeType="1"/>
              </p:cNvSpPr>
              <p:nvPr/>
            </p:nvSpPr>
            <p:spPr bwMode="auto">
              <a:xfrm>
                <a:off x="5492" y="1239"/>
                <a:ext cx="0"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876" name="Text Box 68"/>
              <p:cNvSpPr txBox="1">
                <a:spLocks noChangeArrowheads="1"/>
              </p:cNvSpPr>
              <p:nvPr/>
            </p:nvSpPr>
            <p:spPr bwMode="auto">
              <a:xfrm>
                <a:off x="5307" y="1056"/>
                <a:ext cx="398" cy="23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high</a:t>
                </a:r>
              </a:p>
            </p:txBody>
          </p:sp>
        </p:grpSp>
        <p:sp>
          <p:nvSpPr>
            <p:cNvPr id="503877" name="Rectangle 69"/>
            <p:cNvSpPr>
              <a:spLocks noChangeArrowheads="1"/>
            </p:cNvSpPr>
            <p:nvPr/>
          </p:nvSpPr>
          <p:spPr bwMode="auto">
            <a:xfrm>
              <a:off x="5326" y="3344"/>
              <a:ext cx="382" cy="426"/>
            </a:xfrm>
            <a:prstGeom prst="rect">
              <a:avLst/>
            </a:prstGeom>
            <a:solidFill>
              <a:schemeClr val="bg1"/>
            </a:solid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03890" name="Group 82"/>
          <p:cNvGrpSpPr>
            <a:grpSpLocks/>
          </p:cNvGrpSpPr>
          <p:nvPr/>
        </p:nvGrpSpPr>
        <p:grpSpPr bwMode="auto">
          <a:xfrm>
            <a:off x="4410075" y="3962400"/>
            <a:ext cx="4810125" cy="1338263"/>
            <a:chOff x="2778" y="2496"/>
            <a:chExt cx="3030" cy="843"/>
          </a:xfrm>
        </p:grpSpPr>
        <p:sp>
          <p:nvSpPr>
            <p:cNvPr id="503879" name="Text Box 71"/>
            <p:cNvSpPr txBox="1">
              <a:spLocks noChangeArrowheads="1"/>
            </p:cNvSpPr>
            <p:nvPr/>
          </p:nvSpPr>
          <p:spPr bwMode="auto">
            <a:xfrm>
              <a:off x="2974" y="3051"/>
              <a:ext cx="2834" cy="28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rgbClr val="A50021"/>
                  </a:solidFill>
                </a:rPr>
                <a:t>} – </a:t>
              </a:r>
              <a:r>
                <a:rPr lang="en-US" sz="2000">
                  <a:solidFill>
                    <a:srgbClr val="A50021"/>
                  </a:solidFill>
                </a:rPr>
                <a:t>Swap the larger with the smaller</a:t>
              </a:r>
            </a:p>
          </p:txBody>
        </p:sp>
        <p:sp>
          <p:nvSpPr>
            <p:cNvPr id="503881" name="Rectangle 73"/>
            <p:cNvSpPr>
              <a:spLocks noChangeArrowheads="1"/>
            </p:cNvSpPr>
            <p:nvPr/>
          </p:nvSpPr>
          <p:spPr bwMode="auto">
            <a:xfrm>
              <a:off x="2778" y="2496"/>
              <a:ext cx="1203" cy="571"/>
            </a:xfrm>
            <a:prstGeom prst="rect">
              <a:avLst/>
            </a:prstGeom>
            <a:solidFill>
              <a:srgbClr val="CCFFCC"/>
            </a:solidFill>
            <a:ln w="3175">
              <a:solidFill>
                <a:srgbClr val="CC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882" name="Rectangle 74"/>
            <p:cNvSpPr>
              <a:spLocks noChangeArrowheads="1"/>
            </p:cNvSpPr>
            <p:nvPr/>
          </p:nvSpPr>
          <p:spPr bwMode="auto">
            <a:xfrm>
              <a:off x="4011" y="2525"/>
              <a:ext cx="1203" cy="571"/>
            </a:xfrm>
            <a:prstGeom prst="rect">
              <a:avLst/>
            </a:prstGeom>
            <a:solidFill>
              <a:schemeClr val="bg1"/>
            </a:solid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03889" name="Group 81"/>
          <p:cNvGrpSpPr>
            <a:grpSpLocks/>
          </p:cNvGrpSpPr>
          <p:nvPr/>
        </p:nvGrpSpPr>
        <p:grpSpPr bwMode="auto">
          <a:xfrm>
            <a:off x="4419600" y="6019800"/>
            <a:ext cx="3200400" cy="533400"/>
            <a:chOff x="2784" y="3792"/>
            <a:chExt cx="2016" cy="336"/>
          </a:xfrm>
        </p:grpSpPr>
        <p:sp>
          <p:nvSpPr>
            <p:cNvPr id="503885" name="Rectangle 77"/>
            <p:cNvSpPr>
              <a:spLocks noChangeArrowheads="1"/>
            </p:cNvSpPr>
            <p:nvPr/>
          </p:nvSpPr>
          <p:spPr bwMode="auto">
            <a:xfrm>
              <a:off x="2784" y="3792"/>
              <a:ext cx="288" cy="336"/>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chemeClr val="accent2"/>
                  </a:solidFill>
                </a:rPr>
                <a:t>12</a:t>
              </a:r>
            </a:p>
          </p:txBody>
        </p:sp>
        <p:sp>
          <p:nvSpPr>
            <p:cNvPr id="503886" name="Rectangle 78"/>
            <p:cNvSpPr>
              <a:spLocks noChangeArrowheads="1"/>
            </p:cNvSpPr>
            <p:nvPr/>
          </p:nvSpPr>
          <p:spPr bwMode="auto">
            <a:xfrm>
              <a:off x="4512" y="3792"/>
              <a:ext cx="288" cy="336"/>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chemeClr val="accent2"/>
                  </a:solidFill>
                </a:rPr>
                <a:t>77</a:t>
              </a:r>
            </a:p>
          </p:txBody>
        </p:sp>
      </p:grpSp>
      <p:grpSp>
        <p:nvGrpSpPr>
          <p:cNvPr id="503903" name="Group 95"/>
          <p:cNvGrpSpPr>
            <a:grpSpLocks/>
          </p:cNvGrpSpPr>
          <p:nvPr/>
        </p:nvGrpSpPr>
        <p:grpSpPr bwMode="auto">
          <a:xfrm>
            <a:off x="4648200" y="3440113"/>
            <a:ext cx="4470400" cy="1927225"/>
            <a:chOff x="2928" y="2167"/>
            <a:chExt cx="2816" cy="1214"/>
          </a:xfrm>
        </p:grpSpPr>
        <p:grpSp>
          <p:nvGrpSpPr>
            <p:cNvPr id="503898" name="Group 90"/>
            <p:cNvGrpSpPr>
              <a:grpSpLocks/>
            </p:cNvGrpSpPr>
            <p:nvPr/>
          </p:nvGrpSpPr>
          <p:grpSpPr bwMode="auto">
            <a:xfrm>
              <a:off x="3968" y="2167"/>
              <a:ext cx="1696" cy="532"/>
              <a:chOff x="3950" y="2256"/>
              <a:chExt cx="1696" cy="532"/>
            </a:xfrm>
          </p:grpSpPr>
          <p:sp>
            <p:nvSpPr>
              <p:cNvPr id="503899" name="Text Box 91"/>
              <p:cNvSpPr txBox="1">
                <a:spLocks noChangeArrowheads="1"/>
              </p:cNvSpPr>
              <p:nvPr/>
            </p:nvSpPr>
            <p:spPr bwMode="auto">
              <a:xfrm>
                <a:off x="4032" y="2256"/>
                <a:ext cx="1614" cy="51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rgbClr val="A50021"/>
                    </a:solidFill>
                  </a:rPr>
                  <a:t>     </a:t>
                </a:r>
                <a:r>
                  <a:rPr lang="en-US" sz="2000">
                    <a:solidFill>
                      <a:srgbClr val="A50021"/>
                    </a:solidFill>
                  </a:rPr>
                  <a:t>Find next value</a:t>
                </a:r>
              </a:p>
              <a:p>
                <a:r>
                  <a:rPr lang="en-US">
                    <a:solidFill>
                      <a:srgbClr val="A50021"/>
                    </a:solidFill>
                  </a:rPr>
                  <a:t> </a:t>
                </a:r>
                <a:r>
                  <a:rPr lang="en-US" sz="2000">
                    <a:solidFill>
                      <a:srgbClr val="A50021"/>
                    </a:solidFill>
                  </a:rPr>
                  <a:t>     &gt; than the pivot.</a:t>
                </a:r>
              </a:p>
            </p:txBody>
          </p:sp>
          <p:sp>
            <p:nvSpPr>
              <p:cNvPr id="503900" name="Text Box 92"/>
              <p:cNvSpPr txBox="1">
                <a:spLocks noChangeArrowheads="1"/>
              </p:cNvSpPr>
              <p:nvPr/>
            </p:nvSpPr>
            <p:spPr bwMode="auto">
              <a:xfrm>
                <a:off x="3950" y="2346"/>
                <a:ext cx="366" cy="44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4000">
                    <a:solidFill>
                      <a:srgbClr val="A50021"/>
                    </a:solidFill>
                  </a:rPr>
                  <a:t>}-</a:t>
                </a:r>
              </a:p>
            </p:txBody>
          </p:sp>
        </p:grpSp>
        <p:sp>
          <p:nvSpPr>
            <p:cNvPr id="503901" name="Rectangle 93"/>
            <p:cNvSpPr>
              <a:spLocks noChangeArrowheads="1"/>
            </p:cNvSpPr>
            <p:nvPr/>
          </p:nvSpPr>
          <p:spPr bwMode="auto">
            <a:xfrm>
              <a:off x="2928" y="3024"/>
              <a:ext cx="1044" cy="320"/>
            </a:xfrm>
            <a:prstGeom prst="rect">
              <a:avLst/>
            </a:prstGeom>
            <a:solidFill>
              <a:srgbClr val="CCFFCC"/>
            </a:solidFill>
            <a:ln w="3175">
              <a:solidFill>
                <a:srgbClr val="CC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902" name="Rectangle 94"/>
            <p:cNvSpPr>
              <a:spLocks noChangeArrowheads="1"/>
            </p:cNvSpPr>
            <p:nvPr/>
          </p:nvSpPr>
          <p:spPr bwMode="auto">
            <a:xfrm>
              <a:off x="4034" y="3061"/>
              <a:ext cx="1710" cy="320"/>
            </a:xfrm>
            <a:prstGeom prst="rect">
              <a:avLst/>
            </a:prstGeom>
            <a:solidFill>
              <a:schemeClr val="bg1"/>
            </a:solid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03904" name="Group 96"/>
          <p:cNvGrpSpPr>
            <a:grpSpLocks/>
          </p:cNvGrpSpPr>
          <p:nvPr/>
        </p:nvGrpSpPr>
        <p:grpSpPr bwMode="auto">
          <a:xfrm>
            <a:off x="4503738" y="5334000"/>
            <a:ext cx="885825" cy="671513"/>
            <a:chOff x="2256" y="3347"/>
            <a:chExt cx="558" cy="423"/>
          </a:xfrm>
        </p:grpSpPr>
        <p:grpSp>
          <p:nvGrpSpPr>
            <p:cNvPr id="503905" name="Group 97"/>
            <p:cNvGrpSpPr>
              <a:grpSpLocks/>
            </p:cNvGrpSpPr>
            <p:nvPr/>
          </p:nvGrpSpPr>
          <p:grpSpPr bwMode="auto">
            <a:xfrm>
              <a:off x="2441" y="3347"/>
              <a:ext cx="373" cy="423"/>
              <a:chOff x="5307" y="1056"/>
              <a:chExt cx="373" cy="423"/>
            </a:xfrm>
          </p:grpSpPr>
          <p:sp>
            <p:nvSpPr>
              <p:cNvPr id="503906" name="Line 98"/>
              <p:cNvSpPr>
                <a:spLocks noChangeShapeType="1"/>
              </p:cNvSpPr>
              <p:nvPr/>
            </p:nvSpPr>
            <p:spPr bwMode="auto">
              <a:xfrm>
                <a:off x="5492" y="1239"/>
                <a:ext cx="0"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907" name="Text Box 99"/>
              <p:cNvSpPr txBox="1">
                <a:spLocks noChangeArrowheads="1"/>
              </p:cNvSpPr>
              <p:nvPr/>
            </p:nvSpPr>
            <p:spPr bwMode="auto">
              <a:xfrm>
                <a:off x="5307" y="1056"/>
                <a:ext cx="373" cy="23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 low</a:t>
                </a:r>
              </a:p>
            </p:txBody>
          </p:sp>
        </p:grpSp>
        <p:sp>
          <p:nvSpPr>
            <p:cNvPr id="503908" name="Rectangle 100"/>
            <p:cNvSpPr>
              <a:spLocks noChangeArrowheads="1"/>
            </p:cNvSpPr>
            <p:nvPr/>
          </p:nvSpPr>
          <p:spPr bwMode="auto">
            <a:xfrm>
              <a:off x="2256" y="3360"/>
              <a:ext cx="242" cy="410"/>
            </a:xfrm>
            <a:prstGeom prst="rect">
              <a:avLst/>
            </a:prstGeom>
            <a:solidFill>
              <a:srgbClr val="CCFFCC"/>
            </a:solidFill>
            <a:ln w="3175">
              <a:solidFill>
                <a:srgbClr val="CC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03909" name="Group 101"/>
          <p:cNvGrpSpPr>
            <a:grpSpLocks/>
          </p:cNvGrpSpPr>
          <p:nvPr/>
        </p:nvGrpSpPr>
        <p:grpSpPr bwMode="auto">
          <a:xfrm>
            <a:off x="4953000" y="5322888"/>
            <a:ext cx="885825" cy="671512"/>
            <a:chOff x="2256" y="3347"/>
            <a:chExt cx="558" cy="423"/>
          </a:xfrm>
        </p:grpSpPr>
        <p:grpSp>
          <p:nvGrpSpPr>
            <p:cNvPr id="503910" name="Group 102"/>
            <p:cNvGrpSpPr>
              <a:grpSpLocks/>
            </p:cNvGrpSpPr>
            <p:nvPr/>
          </p:nvGrpSpPr>
          <p:grpSpPr bwMode="auto">
            <a:xfrm>
              <a:off x="2441" y="3347"/>
              <a:ext cx="373" cy="423"/>
              <a:chOff x="5307" y="1056"/>
              <a:chExt cx="373" cy="423"/>
            </a:xfrm>
          </p:grpSpPr>
          <p:sp>
            <p:nvSpPr>
              <p:cNvPr id="503911" name="Line 103"/>
              <p:cNvSpPr>
                <a:spLocks noChangeShapeType="1"/>
              </p:cNvSpPr>
              <p:nvPr/>
            </p:nvSpPr>
            <p:spPr bwMode="auto">
              <a:xfrm>
                <a:off x="5492" y="1239"/>
                <a:ext cx="0"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912" name="Text Box 104"/>
              <p:cNvSpPr txBox="1">
                <a:spLocks noChangeArrowheads="1"/>
              </p:cNvSpPr>
              <p:nvPr/>
            </p:nvSpPr>
            <p:spPr bwMode="auto">
              <a:xfrm>
                <a:off x="5307" y="1056"/>
                <a:ext cx="373" cy="23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 low</a:t>
                </a:r>
              </a:p>
            </p:txBody>
          </p:sp>
        </p:grpSp>
        <p:sp>
          <p:nvSpPr>
            <p:cNvPr id="503913" name="Rectangle 105"/>
            <p:cNvSpPr>
              <a:spLocks noChangeArrowheads="1"/>
            </p:cNvSpPr>
            <p:nvPr/>
          </p:nvSpPr>
          <p:spPr bwMode="auto">
            <a:xfrm>
              <a:off x="2256" y="3360"/>
              <a:ext cx="242" cy="410"/>
            </a:xfrm>
            <a:prstGeom prst="rect">
              <a:avLst/>
            </a:prstGeom>
            <a:solidFill>
              <a:srgbClr val="CCFFCC"/>
            </a:solidFill>
            <a:ln w="3175">
              <a:solidFill>
                <a:srgbClr val="CC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03914" name="Group 106"/>
          <p:cNvGrpSpPr>
            <a:grpSpLocks/>
          </p:cNvGrpSpPr>
          <p:nvPr/>
        </p:nvGrpSpPr>
        <p:grpSpPr bwMode="auto">
          <a:xfrm>
            <a:off x="4343400" y="3419475"/>
            <a:ext cx="4637088" cy="1370013"/>
            <a:chOff x="2734" y="2154"/>
            <a:chExt cx="2921" cy="863"/>
          </a:xfrm>
        </p:grpSpPr>
        <p:sp>
          <p:nvSpPr>
            <p:cNvPr id="503915" name="Rectangle 107"/>
            <p:cNvSpPr>
              <a:spLocks noChangeArrowheads="1"/>
            </p:cNvSpPr>
            <p:nvPr/>
          </p:nvSpPr>
          <p:spPr bwMode="auto">
            <a:xfrm>
              <a:off x="4010" y="2154"/>
              <a:ext cx="1645" cy="502"/>
            </a:xfrm>
            <a:prstGeom prst="rect">
              <a:avLst/>
            </a:prstGeom>
            <a:solidFill>
              <a:schemeClr val="bg1"/>
            </a:solid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03916" name="Group 108"/>
            <p:cNvGrpSpPr>
              <a:grpSpLocks/>
            </p:cNvGrpSpPr>
            <p:nvPr/>
          </p:nvGrpSpPr>
          <p:grpSpPr bwMode="auto">
            <a:xfrm>
              <a:off x="2734" y="2485"/>
              <a:ext cx="1778" cy="532"/>
              <a:chOff x="3950" y="2256"/>
              <a:chExt cx="1778" cy="532"/>
            </a:xfrm>
          </p:grpSpPr>
          <p:sp>
            <p:nvSpPr>
              <p:cNvPr id="503917" name="Text Box 109"/>
              <p:cNvSpPr txBox="1">
                <a:spLocks noChangeArrowheads="1"/>
              </p:cNvSpPr>
              <p:nvPr/>
            </p:nvSpPr>
            <p:spPr bwMode="auto">
              <a:xfrm>
                <a:off x="4032" y="2256"/>
                <a:ext cx="1696" cy="51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rgbClr val="A50021"/>
                    </a:solidFill>
                  </a:rPr>
                  <a:t>       </a:t>
                </a:r>
                <a:r>
                  <a:rPr lang="en-US" sz="2000">
                    <a:solidFill>
                      <a:srgbClr val="A50021"/>
                    </a:solidFill>
                  </a:rPr>
                  <a:t>Find next value</a:t>
                </a:r>
              </a:p>
              <a:p>
                <a:r>
                  <a:rPr lang="en-US">
                    <a:solidFill>
                      <a:srgbClr val="A50021"/>
                    </a:solidFill>
                  </a:rPr>
                  <a:t> </a:t>
                </a:r>
                <a:r>
                  <a:rPr lang="en-US" sz="2000">
                    <a:solidFill>
                      <a:srgbClr val="A50021"/>
                    </a:solidFill>
                  </a:rPr>
                  <a:t>     &lt;= than the pivot.</a:t>
                </a:r>
              </a:p>
            </p:txBody>
          </p:sp>
          <p:sp>
            <p:nvSpPr>
              <p:cNvPr id="503918" name="Text Box 110"/>
              <p:cNvSpPr txBox="1">
                <a:spLocks noChangeArrowheads="1"/>
              </p:cNvSpPr>
              <p:nvPr/>
            </p:nvSpPr>
            <p:spPr bwMode="auto">
              <a:xfrm>
                <a:off x="3950" y="2346"/>
                <a:ext cx="366" cy="44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4000">
                    <a:solidFill>
                      <a:srgbClr val="A50021"/>
                    </a:solidFill>
                  </a:rPr>
                  <a:t>}-</a:t>
                </a:r>
              </a:p>
            </p:txBody>
          </p:sp>
        </p:grpSp>
      </p:grpSp>
      <p:grpSp>
        <p:nvGrpSpPr>
          <p:cNvPr id="503919" name="Group 111"/>
          <p:cNvGrpSpPr>
            <a:grpSpLocks/>
          </p:cNvGrpSpPr>
          <p:nvPr/>
        </p:nvGrpSpPr>
        <p:grpSpPr bwMode="auto">
          <a:xfrm>
            <a:off x="6627813" y="5322888"/>
            <a:ext cx="1136650" cy="696912"/>
            <a:chOff x="4992" y="3344"/>
            <a:chExt cx="716" cy="439"/>
          </a:xfrm>
        </p:grpSpPr>
        <p:grpSp>
          <p:nvGrpSpPr>
            <p:cNvPr id="503920" name="Group 112"/>
            <p:cNvGrpSpPr>
              <a:grpSpLocks/>
            </p:cNvGrpSpPr>
            <p:nvPr/>
          </p:nvGrpSpPr>
          <p:grpSpPr bwMode="auto">
            <a:xfrm>
              <a:off x="4992" y="3360"/>
              <a:ext cx="398" cy="423"/>
              <a:chOff x="5307" y="1056"/>
              <a:chExt cx="398" cy="423"/>
            </a:xfrm>
          </p:grpSpPr>
          <p:sp>
            <p:nvSpPr>
              <p:cNvPr id="503921" name="Line 113"/>
              <p:cNvSpPr>
                <a:spLocks noChangeShapeType="1"/>
              </p:cNvSpPr>
              <p:nvPr/>
            </p:nvSpPr>
            <p:spPr bwMode="auto">
              <a:xfrm>
                <a:off x="5492" y="1239"/>
                <a:ext cx="0"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922" name="Text Box 114"/>
              <p:cNvSpPr txBox="1">
                <a:spLocks noChangeArrowheads="1"/>
              </p:cNvSpPr>
              <p:nvPr/>
            </p:nvSpPr>
            <p:spPr bwMode="auto">
              <a:xfrm>
                <a:off x="5307" y="1056"/>
                <a:ext cx="398" cy="23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high</a:t>
                </a:r>
              </a:p>
            </p:txBody>
          </p:sp>
        </p:grpSp>
        <p:sp>
          <p:nvSpPr>
            <p:cNvPr id="503923" name="Rectangle 115"/>
            <p:cNvSpPr>
              <a:spLocks noChangeArrowheads="1"/>
            </p:cNvSpPr>
            <p:nvPr/>
          </p:nvSpPr>
          <p:spPr bwMode="auto">
            <a:xfrm>
              <a:off x="5326" y="3344"/>
              <a:ext cx="382" cy="426"/>
            </a:xfrm>
            <a:prstGeom prst="rect">
              <a:avLst/>
            </a:prstGeom>
            <a:solidFill>
              <a:schemeClr val="bg1"/>
            </a:solid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03924" name="Group 116"/>
          <p:cNvGrpSpPr>
            <a:grpSpLocks/>
          </p:cNvGrpSpPr>
          <p:nvPr/>
        </p:nvGrpSpPr>
        <p:grpSpPr bwMode="auto">
          <a:xfrm>
            <a:off x="4433888" y="3962400"/>
            <a:ext cx="4810125" cy="1338263"/>
            <a:chOff x="2778" y="2496"/>
            <a:chExt cx="3030" cy="843"/>
          </a:xfrm>
        </p:grpSpPr>
        <p:sp>
          <p:nvSpPr>
            <p:cNvPr id="503925" name="Text Box 117"/>
            <p:cNvSpPr txBox="1">
              <a:spLocks noChangeArrowheads="1"/>
            </p:cNvSpPr>
            <p:nvPr/>
          </p:nvSpPr>
          <p:spPr bwMode="auto">
            <a:xfrm>
              <a:off x="2974" y="3051"/>
              <a:ext cx="2834" cy="28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rgbClr val="A50021"/>
                  </a:solidFill>
                </a:rPr>
                <a:t>} – </a:t>
              </a:r>
              <a:r>
                <a:rPr lang="en-US" sz="2000">
                  <a:solidFill>
                    <a:srgbClr val="A50021"/>
                  </a:solidFill>
                </a:rPr>
                <a:t>Swap the larger with the smaller</a:t>
              </a:r>
            </a:p>
          </p:txBody>
        </p:sp>
        <p:sp>
          <p:nvSpPr>
            <p:cNvPr id="503926" name="Rectangle 118"/>
            <p:cNvSpPr>
              <a:spLocks noChangeArrowheads="1"/>
            </p:cNvSpPr>
            <p:nvPr/>
          </p:nvSpPr>
          <p:spPr bwMode="auto">
            <a:xfrm>
              <a:off x="2778" y="2496"/>
              <a:ext cx="1203" cy="571"/>
            </a:xfrm>
            <a:prstGeom prst="rect">
              <a:avLst/>
            </a:prstGeom>
            <a:solidFill>
              <a:srgbClr val="CCFFCC"/>
            </a:solidFill>
            <a:ln w="3175">
              <a:solidFill>
                <a:srgbClr val="CC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927" name="Rectangle 119"/>
            <p:cNvSpPr>
              <a:spLocks noChangeArrowheads="1"/>
            </p:cNvSpPr>
            <p:nvPr/>
          </p:nvSpPr>
          <p:spPr bwMode="auto">
            <a:xfrm>
              <a:off x="4011" y="2525"/>
              <a:ext cx="1203" cy="571"/>
            </a:xfrm>
            <a:prstGeom prst="rect">
              <a:avLst/>
            </a:prstGeom>
            <a:solidFill>
              <a:schemeClr val="bg1"/>
            </a:solid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03930" name="Group 122"/>
          <p:cNvGrpSpPr>
            <a:grpSpLocks/>
          </p:cNvGrpSpPr>
          <p:nvPr/>
        </p:nvGrpSpPr>
        <p:grpSpPr bwMode="auto">
          <a:xfrm>
            <a:off x="5334000" y="6019800"/>
            <a:ext cx="1828800" cy="533400"/>
            <a:chOff x="3360" y="3792"/>
            <a:chExt cx="1152" cy="336"/>
          </a:xfrm>
        </p:grpSpPr>
        <p:sp>
          <p:nvSpPr>
            <p:cNvPr id="503928" name="Rectangle 120"/>
            <p:cNvSpPr>
              <a:spLocks noChangeArrowheads="1"/>
            </p:cNvSpPr>
            <p:nvPr/>
          </p:nvSpPr>
          <p:spPr bwMode="auto">
            <a:xfrm>
              <a:off x="3360" y="3792"/>
              <a:ext cx="288" cy="336"/>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chemeClr val="accent2"/>
                  </a:solidFill>
                </a:rPr>
                <a:t>4</a:t>
              </a:r>
            </a:p>
          </p:txBody>
        </p:sp>
        <p:sp>
          <p:nvSpPr>
            <p:cNvPr id="503929" name="Rectangle 121"/>
            <p:cNvSpPr>
              <a:spLocks noChangeArrowheads="1"/>
            </p:cNvSpPr>
            <p:nvPr/>
          </p:nvSpPr>
          <p:spPr bwMode="auto">
            <a:xfrm>
              <a:off x="4224" y="3792"/>
              <a:ext cx="288" cy="336"/>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chemeClr val="accent2"/>
                  </a:solidFill>
                </a:rPr>
                <a:t>99</a:t>
              </a:r>
            </a:p>
          </p:txBody>
        </p:sp>
      </p:grpSp>
      <p:grpSp>
        <p:nvGrpSpPr>
          <p:cNvPr id="503931" name="Group 123"/>
          <p:cNvGrpSpPr>
            <a:grpSpLocks/>
          </p:cNvGrpSpPr>
          <p:nvPr/>
        </p:nvGrpSpPr>
        <p:grpSpPr bwMode="auto">
          <a:xfrm>
            <a:off x="4670425" y="3429000"/>
            <a:ext cx="4470400" cy="1927225"/>
            <a:chOff x="2928" y="2167"/>
            <a:chExt cx="2816" cy="1214"/>
          </a:xfrm>
        </p:grpSpPr>
        <p:grpSp>
          <p:nvGrpSpPr>
            <p:cNvPr id="503932" name="Group 124"/>
            <p:cNvGrpSpPr>
              <a:grpSpLocks/>
            </p:cNvGrpSpPr>
            <p:nvPr/>
          </p:nvGrpSpPr>
          <p:grpSpPr bwMode="auto">
            <a:xfrm>
              <a:off x="3968" y="2167"/>
              <a:ext cx="1696" cy="532"/>
              <a:chOff x="3950" y="2256"/>
              <a:chExt cx="1696" cy="532"/>
            </a:xfrm>
          </p:grpSpPr>
          <p:sp>
            <p:nvSpPr>
              <p:cNvPr id="503933" name="Text Box 125"/>
              <p:cNvSpPr txBox="1">
                <a:spLocks noChangeArrowheads="1"/>
              </p:cNvSpPr>
              <p:nvPr/>
            </p:nvSpPr>
            <p:spPr bwMode="auto">
              <a:xfrm>
                <a:off x="4032" y="2256"/>
                <a:ext cx="1614" cy="51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rgbClr val="A50021"/>
                    </a:solidFill>
                  </a:rPr>
                  <a:t>     </a:t>
                </a:r>
                <a:r>
                  <a:rPr lang="en-US" sz="2000">
                    <a:solidFill>
                      <a:srgbClr val="A50021"/>
                    </a:solidFill>
                  </a:rPr>
                  <a:t>Find next value</a:t>
                </a:r>
              </a:p>
              <a:p>
                <a:r>
                  <a:rPr lang="en-US">
                    <a:solidFill>
                      <a:srgbClr val="A50021"/>
                    </a:solidFill>
                  </a:rPr>
                  <a:t> </a:t>
                </a:r>
                <a:r>
                  <a:rPr lang="en-US" sz="2000">
                    <a:solidFill>
                      <a:srgbClr val="A50021"/>
                    </a:solidFill>
                  </a:rPr>
                  <a:t>     &gt; than the pivot.</a:t>
                </a:r>
              </a:p>
            </p:txBody>
          </p:sp>
          <p:sp>
            <p:nvSpPr>
              <p:cNvPr id="503934" name="Text Box 126"/>
              <p:cNvSpPr txBox="1">
                <a:spLocks noChangeArrowheads="1"/>
              </p:cNvSpPr>
              <p:nvPr/>
            </p:nvSpPr>
            <p:spPr bwMode="auto">
              <a:xfrm>
                <a:off x="3950" y="2346"/>
                <a:ext cx="366" cy="44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4000">
                    <a:solidFill>
                      <a:srgbClr val="A50021"/>
                    </a:solidFill>
                  </a:rPr>
                  <a:t>}-</a:t>
                </a:r>
              </a:p>
            </p:txBody>
          </p:sp>
        </p:grpSp>
        <p:sp>
          <p:nvSpPr>
            <p:cNvPr id="503935" name="Rectangle 127"/>
            <p:cNvSpPr>
              <a:spLocks noChangeArrowheads="1"/>
            </p:cNvSpPr>
            <p:nvPr/>
          </p:nvSpPr>
          <p:spPr bwMode="auto">
            <a:xfrm>
              <a:off x="2928" y="3024"/>
              <a:ext cx="1044" cy="320"/>
            </a:xfrm>
            <a:prstGeom prst="rect">
              <a:avLst/>
            </a:prstGeom>
            <a:solidFill>
              <a:srgbClr val="CCFFCC"/>
            </a:solidFill>
            <a:ln w="3175">
              <a:solidFill>
                <a:srgbClr val="CC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936" name="Rectangle 128"/>
            <p:cNvSpPr>
              <a:spLocks noChangeArrowheads="1"/>
            </p:cNvSpPr>
            <p:nvPr/>
          </p:nvSpPr>
          <p:spPr bwMode="auto">
            <a:xfrm>
              <a:off x="4034" y="3061"/>
              <a:ext cx="1710" cy="320"/>
            </a:xfrm>
            <a:prstGeom prst="rect">
              <a:avLst/>
            </a:prstGeom>
            <a:solidFill>
              <a:schemeClr val="bg1"/>
            </a:solid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03937" name="Group 129"/>
          <p:cNvGrpSpPr>
            <a:grpSpLocks/>
          </p:cNvGrpSpPr>
          <p:nvPr/>
        </p:nvGrpSpPr>
        <p:grpSpPr bwMode="auto">
          <a:xfrm>
            <a:off x="5384800" y="5334000"/>
            <a:ext cx="885825" cy="671513"/>
            <a:chOff x="2256" y="3347"/>
            <a:chExt cx="558" cy="423"/>
          </a:xfrm>
        </p:grpSpPr>
        <p:grpSp>
          <p:nvGrpSpPr>
            <p:cNvPr id="503938" name="Group 130"/>
            <p:cNvGrpSpPr>
              <a:grpSpLocks/>
            </p:cNvGrpSpPr>
            <p:nvPr/>
          </p:nvGrpSpPr>
          <p:grpSpPr bwMode="auto">
            <a:xfrm>
              <a:off x="2441" y="3347"/>
              <a:ext cx="373" cy="423"/>
              <a:chOff x="5307" y="1056"/>
              <a:chExt cx="373" cy="423"/>
            </a:xfrm>
          </p:grpSpPr>
          <p:sp>
            <p:nvSpPr>
              <p:cNvPr id="503939" name="Line 131"/>
              <p:cNvSpPr>
                <a:spLocks noChangeShapeType="1"/>
              </p:cNvSpPr>
              <p:nvPr/>
            </p:nvSpPr>
            <p:spPr bwMode="auto">
              <a:xfrm>
                <a:off x="5492" y="1239"/>
                <a:ext cx="0"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940" name="Text Box 132"/>
              <p:cNvSpPr txBox="1">
                <a:spLocks noChangeArrowheads="1"/>
              </p:cNvSpPr>
              <p:nvPr/>
            </p:nvSpPr>
            <p:spPr bwMode="auto">
              <a:xfrm>
                <a:off x="5307" y="1056"/>
                <a:ext cx="373" cy="23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 low</a:t>
                </a:r>
              </a:p>
            </p:txBody>
          </p:sp>
        </p:grpSp>
        <p:sp>
          <p:nvSpPr>
            <p:cNvPr id="503941" name="Rectangle 133"/>
            <p:cNvSpPr>
              <a:spLocks noChangeArrowheads="1"/>
            </p:cNvSpPr>
            <p:nvPr/>
          </p:nvSpPr>
          <p:spPr bwMode="auto">
            <a:xfrm>
              <a:off x="2256" y="3360"/>
              <a:ext cx="242" cy="410"/>
            </a:xfrm>
            <a:prstGeom prst="rect">
              <a:avLst/>
            </a:prstGeom>
            <a:solidFill>
              <a:srgbClr val="CCFFCC"/>
            </a:solidFill>
            <a:ln w="3175">
              <a:solidFill>
                <a:srgbClr val="CC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03942" name="Group 134"/>
          <p:cNvGrpSpPr>
            <a:grpSpLocks/>
          </p:cNvGrpSpPr>
          <p:nvPr/>
        </p:nvGrpSpPr>
        <p:grpSpPr bwMode="auto">
          <a:xfrm>
            <a:off x="4375150" y="3419475"/>
            <a:ext cx="4637088" cy="1370013"/>
            <a:chOff x="2734" y="2154"/>
            <a:chExt cx="2921" cy="863"/>
          </a:xfrm>
        </p:grpSpPr>
        <p:sp>
          <p:nvSpPr>
            <p:cNvPr id="503943" name="Rectangle 135"/>
            <p:cNvSpPr>
              <a:spLocks noChangeArrowheads="1"/>
            </p:cNvSpPr>
            <p:nvPr/>
          </p:nvSpPr>
          <p:spPr bwMode="auto">
            <a:xfrm>
              <a:off x="4010" y="2154"/>
              <a:ext cx="1645" cy="502"/>
            </a:xfrm>
            <a:prstGeom prst="rect">
              <a:avLst/>
            </a:prstGeom>
            <a:solidFill>
              <a:schemeClr val="bg1"/>
            </a:solid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03944" name="Group 136"/>
            <p:cNvGrpSpPr>
              <a:grpSpLocks/>
            </p:cNvGrpSpPr>
            <p:nvPr/>
          </p:nvGrpSpPr>
          <p:grpSpPr bwMode="auto">
            <a:xfrm>
              <a:off x="2734" y="2485"/>
              <a:ext cx="1778" cy="532"/>
              <a:chOff x="3950" y="2256"/>
              <a:chExt cx="1778" cy="532"/>
            </a:xfrm>
          </p:grpSpPr>
          <p:sp>
            <p:nvSpPr>
              <p:cNvPr id="503945" name="Text Box 137"/>
              <p:cNvSpPr txBox="1">
                <a:spLocks noChangeArrowheads="1"/>
              </p:cNvSpPr>
              <p:nvPr/>
            </p:nvSpPr>
            <p:spPr bwMode="auto">
              <a:xfrm>
                <a:off x="4032" y="2256"/>
                <a:ext cx="1696" cy="51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rgbClr val="A50021"/>
                    </a:solidFill>
                  </a:rPr>
                  <a:t>       </a:t>
                </a:r>
                <a:r>
                  <a:rPr lang="en-US" sz="2000">
                    <a:solidFill>
                      <a:srgbClr val="A50021"/>
                    </a:solidFill>
                  </a:rPr>
                  <a:t>Find next value</a:t>
                </a:r>
              </a:p>
              <a:p>
                <a:r>
                  <a:rPr lang="en-US">
                    <a:solidFill>
                      <a:srgbClr val="A50021"/>
                    </a:solidFill>
                  </a:rPr>
                  <a:t> </a:t>
                </a:r>
                <a:r>
                  <a:rPr lang="en-US" sz="2000">
                    <a:solidFill>
                      <a:srgbClr val="A50021"/>
                    </a:solidFill>
                  </a:rPr>
                  <a:t>     &lt;= than the pivot.</a:t>
                </a:r>
              </a:p>
            </p:txBody>
          </p:sp>
          <p:sp>
            <p:nvSpPr>
              <p:cNvPr id="503946" name="Text Box 138"/>
              <p:cNvSpPr txBox="1">
                <a:spLocks noChangeArrowheads="1"/>
              </p:cNvSpPr>
              <p:nvPr/>
            </p:nvSpPr>
            <p:spPr bwMode="auto">
              <a:xfrm>
                <a:off x="3950" y="2346"/>
                <a:ext cx="366" cy="44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4000">
                    <a:solidFill>
                      <a:srgbClr val="A50021"/>
                    </a:solidFill>
                  </a:rPr>
                  <a:t>}-</a:t>
                </a:r>
              </a:p>
            </p:txBody>
          </p:sp>
        </p:grpSp>
      </p:grpSp>
      <p:grpSp>
        <p:nvGrpSpPr>
          <p:cNvPr id="503947" name="Group 139"/>
          <p:cNvGrpSpPr>
            <a:grpSpLocks/>
          </p:cNvGrpSpPr>
          <p:nvPr/>
        </p:nvGrpSpPr>
        <p:grpSpPr bwMode="auto">
          <a:xfrm>
            <a:off x="6157913" y="5332413"/>
            <a:ext cx="1136650" cy="696912"/>
            <a:chOff x="4992" y="3344"/>
            <a:chExt cx="716" cy="439"/>
          </a:xfrm>
        </p:grpSpPr>
        <p:grpSp>
          <p:nvGrpSpPr>
            <p:cNvPr id="503948" name="Group 140"/>
            <p:cNvGrpSpPr>
              <a:grpSpLocks/>
            </p:cNvGrpSpPr>
            <p:nvPr/>
          </p:nvGrpSpPr>
          <p:grpSpPr bwMode="auto">
            <a:xfrm>
              <a:off x="4992" y="3360"/>
              <a:ext cx="398" cy="423"/>
              <a:chOff x="5307" y="1056"/>
              <a:chExt cx="398" cy="423"/>
            </a:xfrm>
          </p:grpSpPr>
          <p:sp>
            <p:nvSpPr>
              <p:cNvPr id="503949" name="Line 141"/>
              <p:cNvSpPr>
                <a:spLocks noChangeShapeType="1"/>
              </p:cNvSpPr>
              <p:nvPr/>
            </p:nvSpPr>
            <p:spPr bwMode="auto">
              <a:xfrm>
                <a:off x="5492" y="1239"/>
                <a:ext cx="0"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950" name="Text Box 142"/>
              <p:cNvSpPr txBox="1">
                <a:spLocks noChangeArrowheads="1"/>
              </p:cNvSpPr>
              <p:nvPr/>
            </p:nvSpPr>
            <p:spPr bwMode="auto">
              <a:xfrm>
                <a:off x="5307" y="1056"/>
                <a:ext cx="398" cy="23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high</a:t>
                </a:r>
              </a:p>
            </p:txBody>
          </p:sp>
        </p:grpSp>
        <p:sp>
          <p:nvSpPr>
            <p:cNvPr id="503951" name="Rectangle 143"/>
            <p:cNvSpPr>
              <a:spLocks noChangeArrowheads="1"/>
            </p:cNvSpPr>
            <p:nvPr/>
          </p:nvSpPr>
          <p:spPr bwMode="auto">
            <a:xfrm>
              <a:off x="5326" y="3344"/>
              <a:ext cx="382" cy="426"/>
            </a:xfrm>
            <a:prstGeom prst="rect">
              <a:avLst/>
            </a:prstGeom>
            <a:solidFill>
              <a:schemeClr val="bg1"/>
            </a:solid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03962" name="Group 154"/>
          <p:cNvGrpSpPr>
            <a:grpSpLocks/>
          </p:cNvGrpSpPr>
          <p:nvPr/>
        </p:nvGrpSpPr>
        <p:grpSpPr bwMode="auto">
          <a:xfrm>
            <a:off x="5681663" y="4762500"/>
            <a:ext cx="1063625" cy="1246188"/>
            <a:chOff x="3579" y="3000"/>
            <a:chExt cx="670" cy="785"/>
          </a:xfrm>
        </p:grpSpPr>
        <p:grpSp>
          <p:nvGrpSpPr>
            <p:cNvPr id="503957" name="Group 149"/>
            <p:cNvGrpSpPr>
              <a:grpSpLocks/>
            </p:cNvGrpSpPr>
            <p:nvPr/>
          </p:nvGrpSpPr>
          <p:grpSpPr bwMode="auto">
            <a:xfrm>
              <a:off x="3579" y="3000"/>
              <a:ext cx="398" cy="423"/>
              <a:chOff x="5307" y="1056"/>
              <a:chExt cx="398" cy="423"/>
            </a:xfrm>
          </p:grpSpPr>
          <p:sp>
            <p:nvSpPr>
              <p:cNvPr id="503958" name="Line 150"/>
              <p:cNvSpPr>
                <a:spLocks noChangeShapeType="1"/>
              </p:cNvSpPr>
              <p:nvPr/>
            </p:nvSpPr>
            <p:spPr bwMode="auto">
              <a:xfrm>
                <a:off x="5492" y="1239"/>
                <a:ext cx="0"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959" name="Text Box 151"/>
              <p:cNvSpPr txBox="1">
                <a:spLocks noChangeArrowheads="1"/>
              </p:cNvSpPr>
              <p:nvPr/>
            </p:nvSpPr>
            <p:spPr bwMode="auto">
              <a:xfrm>
                <a:off x="5307" y="1056"/>
                <a:ext cx="398" cy="23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high</a:t>
                </a:r>
              </a:p>
            </p:txBody>
          </p:sp>
        </p:grpSp>
        <p:sp>
          <p:nvSpPr>
            <p:cNvPr id="503960" name="Rectangle 152"/>
            <p:cNvSpPr>
              <a:spLocks noChangeArrowheads="1"/>
            </p:cNvSpPr>
            <p:nvPr/>
          </p:nvSpPr>
          <p:spPr bwMode="auto">
            <a:xfrm>
              <a:off x="4010" y="3374"/>
              <a:ext cx="239" cy="411"/>
            </a:xfrm>
            <a:prstGeom prst="rect">
              <a:avLst/>
            </a:prstGeom>
            <a:solidFill>
              <a:schemeClr val="bg1"/>
            </a:solid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961" name="Rectangle 153"/>
            <p:cNvSpPr>
              <a:spLocks noChangeArrowheads="1"/>
            </p:cNvSpPr>
            <p:nvPr/>
          </p:nvSpPr>
          <p:spPr bwMode="auto">
            <a:xfrm>
              <a:off x="3889" y="3313"/>
              <a:ext cx="105" cy="411"/>
            </a:xfrm>
            <a:prstGeom prst="rect">
              <a:avLst/>
            </a:prstGeom>
            <a:solidFill>
              <a:srgbClr val="CCFFCC"/>
            </a:solidFill>
            <a:ln w="3175">
              <a:solidFill>
                <a:srgbClr val="CC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03968" name="Group 160"/>
          <p:cNvGrpSpPr>
            <a:grpSpLocks/>
          </p:cNvGrpSpPr>
          <p:nvPr/>
        </p:nvGrpSpPr>
        <p:grpSpPr bwMode="auto">
          <a:xfrm>
            <a:off x="5270500" y="4746625"/>
            <a:ext cx="998538" cy="1282700"/>
            <a:chOff x="3320" y="2990"/>
            <a:chExt cx="629" cy="808"/>
          </a:xfrm>
        </p:grpSpPr>
        <p:sp>
          <p:nvSpPr>
            <p:cNvPr id="503967" name="Rectangle 159"/>
            <p:cNvSpPr>
              <a:spLocks noChangeArrowheads="1"/>
            </p:cNvSpPr>
            <p:nvPr/>
          </p:nvSpPr>
          <p:spPr bwMode="auto">
            <a:xfrm>
              <a:off x="3634" y="2990"/>
              <a:ext cx="315" cy="426"/>
            </a:xfrm>
            <a:prstGeom prst="rect">
              <a:avLst/>
            </a:prstGeom>
            <a:solidFill>
              <a:srgbClr val="CCFFCC"/>
            </a:solidFill>
            <a:ln w="3175">
              <a:solidFill>
                <a:srgbClr val="CC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03964" name="Group 156"/>
            <p:cNvGrpSpPr>
              <a:grpSpLocks/>
            </p:cNvGrpSpPr>
            <p:nvPr/>
          </p:nvGrpSpPr>
          <p:grpSpPr bwMode="auto">
            <a:xfrm>
              <a:off x="3320" y="3375"/>
              <a:ext cx="398" cy="423"/>
              <a:chOff x="5307" y="1056"/>
              <a:chExt cx="398" cy="423"/>
            </a:xfrm>
          </p:grpSpPr>
          <p:sp>
            <p:nvSpPr>
              <p:cNvPr id="503965" name="Line 157"/>
              <p:cNvSpPr>
                <a:spLocks noChangeShapeType="1"/>
              </p:cNvSpPr>
              <p:nvPr/>
            </p:nvSpPr>
            <p:spPr bwMode="auto">
              <a:xfrm>
                <a:off x="5492" y="1239"/>
                <a:ext cx="0"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966" name="Text Box 158"/>
              <p:cNvSpPr txBox="1">
                <a:spLocks noChangeArrowheads="1"/>
              </p:cNvSpPr>
              <p:nvPr/>
            </p:nvSpPr>
            <p:spPr bwMode="auto">
              <a:xfrm>
                <a:off x="5307" y="1056"/>
                <a:ext cx="398" cy="23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high</a:t>
                </a:r>
              </a:p>
            </p:txBody>
          </p:sp>
        </p:grpSp>
      </p:grpSp>
      <p:grpSp>
        <p:nvGrpSpPr>
          <p:cNvPr id="503973" name="Group 165"/>
          <p:cNvGrpSpPr>
            <a:grpSpLocks/>
          </p:cNvGrpSpPr>
          <p:nvPr/>
        </p:nvGrpSpPr>
        <p:grpSpPr bwMode="auto">
          <a:xfrm>
            <a:off x="3687763" y="3962400"/>
            <a:ext cx="4635500" cy="1851025"/>
            <a:chOff x="2323" y="2496"/>
            <a:chExt cx="2920" cy="1166"/>
          </a:xfrm>
        </p:grpSpPr>
        <p:sp>
          <p:nvSpPr>
            <p:cNvPr id="503969" name="Text Box 161"/>
            <p:cNvSpPr txBox="1">
              <a:spLocks noChangeArrowheads="1"/>
            </p:cNvSpPr>
            <p:nvPr/>
          </p:nvSpPr>
          <p:spPr bwMode="auto">
            <a:xfrm>
              <a:off x="2323" y="3374"/>
              <a:ext cx="735" cy="28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rgbClr val="A50021"/>
                  </a:solidFill>
                </a:rPr>
                <a:t>} – </a:t>
              </a:r>
              <a:r>
                <a:rPr lang="en-US" sz="2000">
                  <a:solidFill>
                    <a:srgbClr val="A50021"/>
                  </a:solidFill>
                </a:rPr>
                <a:t>done</a:t>
              </a:r>
            </a:p>
          </p:txBody>
        </p:sp>
        <p:sp>
          <p:nvSpPr>
            <p:cNvPr id="503971" name="Rectangle 163"/>
            <p:cNvSpPr>
              <a:spLocks noChangeArrowheads="1"/>
            </p:cNvSpPr>
            <p:nvPr/>
          </p:nvSpPr>
          <p:spPr bwMode="auto">
            <a:xfrm>
              <a:off x="2784" y="2496"/>
              <a:ext cx="1211" cy="616"/>
            </a:xfrm>
            <a:prstGeom prst="rect">
              <a:avLst/>
            </a:prstGeom>
            <a:solidFill>
              <a:srgbClr val="CCFFCC"/>
            </a:solidFill>
            <a:ln w="3175">
              <a:solidFill>
                <a:srgbClr val="CC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972" name="Rectangle 164"/>
            <p:cNvSpPr>
              <a:spLocks noChangeArrowheads="1"/>
            </p:cNvSpPr>
            <p:nvPr/>
          </p:nvSpPr>
          <p:spPr bwMode="auto">
            <a:xfrm>
              <a:off x="4032" y="2525"/>
              <a:ext cx="1211" cy="616"/>
            </a:xfrm>
            <a:prstGeom prst="rect">
              <a:avLst/>
            </a:prstGeom>
            <a:solidFill>
              <a:schemeClr val="bg1"/>
            </a:solid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03980" name="Group 172"/>
          <p:cNvGrpSpPr>
            <a:grpSpLocks/>
          </p:cNvGrpSpPr>
          <p:nvPr/>
        </p:nvGrpSpPr>
        <p:grpSpPr bwMode="auto">
          <a:xfrm>
            <a:off x="3411538" y="4725988"/>
            <a:ext cx="5581650" cy="1370012"/>
            <a:chOff x="2149" y="2977"/>
            <a:chExt cx="3516" cy="863"/>
          </a:xfrm>
        </p:grpSpPr>
        <p:sp>
          <p:nvSpPr>
            <p:cNvPr id="503979" name="Rectangle 171"/>
            <p:cNvSpPr>
              <a:spLocks noChangeArrowheads="1"/>
            </p:cNvSpPr>
            <p:nvPr/>
          </p:nvSpPr>
          <p:spPr bwMode="auto">
            <a:xfrm>
              <a:off x="2304" y="3312"/>
              <a:ext cx="768" cy="384"/>
            </a:xfrm>
            <a:prstGeom prst="rect">
              <a:avLst/>
            </a:prstGeom>
            <a:solidFill>
              <a:srgbClr val="CCFFCC"/>
            </a:solidFill>
            <a:ln w="3175">
              <a:solidFill>
                <a:srgbClr val="CC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03978" name="Group 170"/>
            <p:cNvGrpSpPr>
              <a:grpSpLocks/>
            </p:cNvGrpSpPr>
            <p:nvPr/>
          </p:nvGrpSpPr>
          <p:grpSpPr bwMode="auto">
            <a:xfrm>
              <a:off x="2149" y="2977"/>
              <a:ext cx="3516" cy="863"/>
              <a:chOff x="2149" y="2977"/>
              <a:chExt cx="3516" cy="863"/>
            </a:xfrm>
          </p:grpSpPr>
          <p:sp>
            <p:nvSpPr>
              <p:cNvPr id="503970" name="Text Box 162"/>
              <p:cNvSpPr txBox="1">
                <a:spLocks noChangeArrowheads="1"/>
              </p:cNvSpPr>
              <p:nvPr/>
            </p:nvSpPr>
            <p:spPr bwMode="auto">
              <a:xfrm>
                <a:off x="2149" y="3552"/>
                <a:ext cx="385" cy="28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rgbClr val="A50021"/>
                    </a:solidFill>
                  </a:rPr>
                  <a:t>} – </a:t>
                </a:r>
                <a:endParaRPr lang="en-US" sz="2000">
                  <a:solidFill>
                    <a:srgbClr val="A50021"/>
                  </a:solidFill>
                </a:endParaRPr>
              </a:p>
            </p:txBody>
          </p:sp>
          <p:sp>
            <p:nvSpPr>
              <p:cNvPr id="503974" name="Line 166"/>
              <p:cNvSpPr>
                <a:spLocks noChangeShapeType="1"/>
              </p:cNvSpPr>
              <p:nvPr/>
            </p:nvSpPr>
            <p:spPr bwMode="auto">
              <a:xfrm>
                <a:off x="2400" y="3703"/>
                <a:ext cx="480" cy="0"/>
              </a:xfrm>
              <a:prstGeom prst="line">
                <a:avLst/>
              </a:prstGeom>
              <a:noFill/>
              <a:ln w="4445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975" name="Line 167"/>
              <p:cNvSpPr>
                <a:spLocks noChangeShapeType="1"/>
              </p:cNvSpPr>
              <p:nvPr/>
            </p:nvSpPr>
            <p:spPr bwMode="auto">
              <a:xfrm flipV="1">
                <a:off x="2870" y="3102"/>
                <a:ext cx="690" cy="599"/>
              </a:xfrm>
              <a:prstGeom prst="line">
                <a:avLst/>
              </a:prstGeom>
              <a:noFill/>
              <a:ln w="4445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976" name="Line 168"/>
              <p:cNvSpPr>
                <a:spLocks noChangeShapeType="1"/>
              </p:cNvSpPr>
              <p:nvPr/>
            </p:nvSpPr>
            <p:spPr bwMode="auto">
              <a:xfrm flipV="1">
                <a:off x="3551" y="3108"/>
                <a:ext cx="292" cy="1"/>
              </a:xfrm>
              <a:prstGeom prst="line">
                <a:avLst/>
              </a:prstGeom>
              <a:noFill/>
              <a:ln w="4445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977" name="Rectangle 169"/>
              <p:cNvSpPr>
                <a:spLocks noChangeArrowheads="1"/>
              </p:cNvSpPr>
              <p:nvPr/>
            </p:nvSpPr>
            <p:spPr bwMode="auto">
              <a:xfrm>
                <a:off x="3896" y="2977"/>
                <a:ext cx="1769" cy="44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000">
                    <a:solidFill>
                      <a:srgbClr val="A50021"/>
                    </a:solidFill>
                  </a:rPr>
                  <a:t>  Swap pivot to proper</a:t>
                </a:r>
              </a:p>
              <a:p>
                <a:r>
                  <a:rPr lang="en-US" sz="2000">
                    <a:solidFill>
                      <a:srgbClr val="A50021"/>
                    </a:solidFill>
                  </a:rPr>
                  <a:t>   position in array</a:t>
                </a:r>
              </a:p>
            </p:txBody>
          </p:sp>
        </p:grpSp>
      </p:grpSp>
      <p:grpSp>
        <p:nvGrpSpPr>
          <p:cNvPr id="503983" name="Group 175"/>
          <p:cNvGrpSpPr>
            <a:grpSpLocks/>
          </p:cNvGrpSpPr>
          <p:nvPr/>
        </p:nvGrpSpPr>
        <p:grpSpPr bwMode="auto">
          <a:xfrm>
            <a:off x="3505200" y="6019800"/>
            <a:ext cx="2286000" cy="533400"/>
            <a:chOff x="2208" y="3792"/>
            <a:chExt cx="1440" cy="336"/>
          </a:xfrm>
        </p:grpSpPr>
        <p:sp>
          <p:nvSpPr>
            <p:cNvPr id="503981" name="Rectangle 173"/>
            <p:cNvSpPr>
              <a:spLocks noChangeArrowheads="1"/>
            </p:cNvSpPr>
            <p:nvPr/>
          </p:nvSpPr>
          <p:spPr bwMode="auto">
            <a:xfrm>
              <a:off x="3360" y="3792"/>
              <a:ext cx="288" cy="336"/>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rgbClr val="FF3300"/>
                  </a:solidFill>
                </a:rPr>
                <a:t>30</a:t>
              </a:r>
            </a:p>
          </p:txBody>
        </p:sp>
        <p:sp>
          <p:nvSpPr>
            <p:cNvPr id="503982" name="Rectangle 174"/>
            <p:cNvSpPr>
              <a:spLocks noChangeArrowheads="1"/>
            </p:cNvSpPr>
            <p:nvPr/>
          </p:nvSpPr>
          <p:spPr bwMode="auto">
            <a:xfrm>
              <a:off x="2208" y="3792"/>
              <a:ext cx="288" cy="336"/>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chemeClr val="accent2"/>
                  </a:solidFill>
                </a:rPr>
                <a:t>4</a:t>
              </a:r>
            </a:p>
          </p:txBody>
        </p:sp>
      </p:grpSp>
      <p:sp>
        <p:nvSpPr>
          <p:cNvPr id="503985" name="Text Box 177"/>
          <p:cNvSpPr txBox="1">
            <a:spLocks noChangeArrowheads="1"/>
          </p:cNvSpPr>
          <p:nvPr/>
        </p:nvSpPr>
        <p:spPr bwMode="auto">
          <a:xfrm>
            <a:off x="3598863" y="6543675"/>
            <a:ext cx="5407025"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0    1     2     3     </a:t>
            </a:r>
            <a:r>
              <a:rPr lang="en-US" sz="1800">
                <a:solidFill>
                  <a:srgbClr val="FF3300"/>
                </a:solidFill>
              </a:rPr>
              <a:t>4 </a:t>
            </a:r>
            <a:r>
              <a:rPr lang="en-US" sz="1800"/>
              <a:t>    5    6    7     8     9    10   11 </a:t>
            </a:r>
          </a:p>
        </p:txBody>
      </p:sp>
      <p:grpSp>
        <p:nvGrpSpPr>
          <p:cNvPr id="503992" name="Group 184"/>
          <p:cNvGrpSpPr>
            <a:grpSpLocks/>
          </p:cNvGrpSpPr>
          <p:nvPr/>
        </p:nvGrpSpPr>
        <p:grpSpPr bwMode="auto">
          <a:xfrm>
            <a:off x="3429000" y="2001838"/>
            <a:ext cx="5653088" cy="4006850"/>
            <a:chOff x="2160" y="1261"/>
            <a:chExt cx="3561" cy="2524"/>
          </a:xfrm>
        </p:grpSpPr>
        <p:sp>
          <p:nvSpPr>
            <p:cNvPr id="503984" name="Text Box 176"/>
            <p:cNvSpPr txBox="1">
              <a:spLocks noChangeArrowheads="1"/>
            </p:cNvSpPr>
            <p:nvPr/>
          </p:nvSpPr>
          <p:spPr bwMode="auto">
            <a:xfrm>
              <a:off x="4025" y="1261"/>
              <a:ext cx="1696" cy="11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200" dirty="0"/>
                <a:t>And finally, return the pivot’s index in the array (</a:t>
              </a:r>
              <a:r>
                <a:rPr lang="en-US" sz="2200" dirty="0">
                  <a:solidFill>
                    <a:srgbClr val="FF3300"/>
                  </a:solidFill>
                </a:rPr>
                <a:t>4</a:t>
              </a:r>
              <a:r>
                <a:rPr lang="en-US" sz="2200" dirty="0"/>
                <a:t>) to the </a:t>
              </a:r>
              <a:r>
                <a:rPr lang="en-US" sz="2200" dirty="0" err="1"/>
                <a:t>QuickSort</a:t>
              </a:r>
              <a:r>
                <a:rPr lang="en-US" sz="2200" dirty="0"/>
                <a:t> function.</a:t>
              </a:r>
            </a:p>
          </p:txBody>
        </p:sp>
        <p:grpSp>
          <p:nvGrpSpPr>
            <p:cNvPr id="503991" name="Group 183"/>
            <p:cNvGrpSpPr>
              <a:grpSpLocks/>
            </p:cNvGrpSpPr>
            <p:nvPr/>
          </p:nvGrpSpPr>
          <p:grpSpPr bwMode="auto">
            <a:xfrm>
              <a:off x="2160" y="2814"/>
              <a:ext cx="3456" cy="971"/>
              <a:chOff x="2160" y="2814"/>
              <a:chExt cx="3456" cy="971"/>
            </a:xfrm>
          </p:grpSpPr>
          <p:sp>
            <p:nvSpPr>
              <p:cNvPr id="503986" name="Rectangle 178"/>
              <p:cNvSpPr>
                <a:spLocks noChangeArrowheads="1"/>
              </p:cNvSpPr>
              <p:nvPr/>
            </p:nvSpPr>
            <p:spPr bwMode="auto">
              <a:xfrm>
                <a:off x="4032" y="2976"/>
                <a:ext cx="1584" cy="480"/>
              </a:xfrm>
              <a:prstGeom prst="rect">
                <a:avLst/>
              </a:prstGeom>
              <a:solidFill>
                <a:schemeClr val="bg1"/>
              </a:solid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987" name="Rectangle 179"/>
              <p:cNvSpPr>
                <a:spLocks noChangeArrowheads="1"/>
              </p:cNvSpPr>
              <p:nvPr/>
            </p:nvSpPr>
            <p:spPr bwMode="auto">
              <a:xfrm>
                <a:off x="2160" y="3559"/>
                <a:ext cx="1027" cy="226"/>
              </a:xfrm>
              <a:prstGeom prst="rect">
                <a:avLst/>
              </a:prstGeom>
              <a:solidFill>
                <a:srgbClr val="CCFFCC"/>
              </a:solidFill>
              <a:ln w="3175">
                <a:solidFill>
                  <a:srgbClr val="CC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988" name="Rectangle 180"/>
              <p:cNvSpPr>
                <a:spLocks noChangeArrowheads="1"/>
              </p:cNvSpPr>
              <p:nvPr/>
            </p:nvSpPr>
            <p:spPr bwMode="auto">
              <a:xfrm>
                <a:off x="2907" y="3004"/>
                <a:ext cx="1027" cy="226"/>
              </a:xfrm>
              <a:prstGeom prst="rect">
                <a:avLst/>
              </a:prstGeom>
              <a:solidFill>
                <a:srgbClr val="CCFFCC"/>
              </a:solidFill>
              <a:ln w="3175">
                <a:solidFill>
                  <a:srgbClr val="CC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989" name="Rectangle 181"/>
              <p:cNvSpPr>
                <a:spLocks noChangeArrowheads="1"/>
              </p:cNvSpPr>
              <p:nvPr/>
            </p:nvSpPr>
            <p:spPr bwMode="auto">
              <a:xfrm>
                <a:off x="3003" y="3100"/>
                <a:ext cx="369" cy="585"/>
              </a:xfrm>
              <a:prstGeom prst="rect">
                <a:avLst/>
              </a:prstGeom>
              <a:solidFill>
                <a:srgbClr val="CCFFCC"/>
              </a:solidFill>
              <a:ln w="3175">
                <a:solidFill>
                  <a:srgbClr val="CC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3990" name="Rectangle 182"/>
              <p:cNvSpPr>
                <a:spLocks noChangeArrowheads="1"/>
              </p:cNvSpPr>
              <p:nvPr/>
            </p:nvSpPr>
            <p:spPr bwMode="auto">
              <a:xfrm>
                <a:off x="3271" y="2814"/>
                <a:ext cx="369" cy="585"/>
              </a:xfrm>
              <a:prstGeom prst="rect">
                <a:avLst/>
              </a:prstGeom>
              <a:solidFill>
                <a:srgbClr val="CCFFCC"/>
              </a:solidFill>
              <a:ln w="3175">
                <a:solidFill>
                  <a:srgbClr val="CC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0382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0382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0385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50384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50384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50387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503867"/>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503868"/>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503873"/>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503890"/>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03889"/>
                                        </p:tgtEl>
                                        <p:attrNameLst>
                                          <p:attrName>style.visibility</p:attrName>
                                        </p:attrNameLst>
                                      </p:cBhvr>
                                      <p:to>
                                        <p:strVal val="visible"/>
                                      </p:to>
                                    </p:set>
                                    <p:animEffect transition="in" filter="wipe(left)">
                                      <p:cBhvr>
                                        <p:cTn id="47" dur="500"/>
                                        <p:tgtEl>
                                          <p:spTgt spid="50388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499"/>
                                          </p:stCondLst>
                                        </p:cTn>
                                        <p:tgtEl>
                                          <p:spTgt spid="503903"/>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499"/>
                                          </p:stCondLst>
                                        </p:cTn>
                                        <p:tgtEl>
                                          <p:spTgt spid="503904"/>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nodeType="clickEffect">
                                  <p:stCondLst>
                                    <p:cond delay="0"/>
                                  </p:stCondLst>
                                  <p:childTnLst>
                                    <p:set>
                                      <p:cBhvr>
                                        <p:cTn id="59" dur="1" fill="hold">
                                          <p:stCondLst>
                                            <p:cond delay="499"/>
                                          </p:stCondLst>
                                        </p:cTn>
                                        <p:tgtEl>
                                          <p:spTgt spid="503909"/>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nodeType="clickEffect">
                                  <p:stCondLst>
                                    <p:cond delay="0"/>
                                  </p:stCondLst>
                                  <p:childTnLst>
                                    <p:set>
                                      <p:cBhvr>
                                        <p:cTn id="63" dur="1" fill="hold">
                                          <p:stCondLst>
                                            <p:cond delay="499"/>
                                          </p:stCondLst>
                                        </p:cTn>
                                        <p:tgtEl>
                                          <p:spTgt spid="503914"/>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1" presetClass="entr" presetSubtype="0" fill="hold" nodeType="clickEffect">
                                  <p:stCondLst>
                                    <p:cond delay="0"/>
                                  </p:stCondLst>
                                  <p:childTnLst>
                                    <p:set>
                                      <p:cBhvr>
                                        <p:cTn id="67" dur="1" fill="hold">
                                          <p:stCondLst>
                                            <p:cond delay="499"/>
                                          </p:stCondLst>
                                        </p:cTn>
                                        <p:tgtEl>
                                          <p:spTgt spid="503919"/>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nodeType="clickEffect">
                                  <p:stCondLst>
                                    <p:cond delay="0"/>
                                  </p:stCondLst>
                                  <p:childTnLst>
                                    <p:set>
                                      <p:cBhvr>
                                        <p:cTn id="71" dur="1" fill="hold">
                                          <p:stCondLst>
                                            <p:cond delay="499"/>
                                          </p:stCondLst>
                                        </p:cTn>
                                        <p:tgtEl>
                                          <p:spTgt spid="503924"/>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503930"/>
                                        </p:tgtEl>
                                        <p:attrNameLst>
                                          <p:attrName>style.visibility</p:attrName>
                                        </p:attrNameLst>
                                      </p:cBhvr>
                                      <p:to>
                                        <p:strVal val="visible"/>
                                      </p:to>
                                    </p:set>
                                    <p:animEffect transition="in" filter="wipe(left)">
                                      <p:cBhvr>
                                        <p:cTn id="76" dur="500"/>
                                        <p:tgtEl>
                                          <p:spTgt spid="503930"/>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nodeType="clickEffect">
                                  <p:stCondLst>
                                    <p:cond delay="0"/>
                                  </p:stCondLst>
                                  <p:childTnLst>
                                    <p:set>
                                      <p:cBhvr>
                                        <p:cTn id="80" dur="1" fill="hold">
                                          <p:stCondLst>
                                            <p:cond delay="499"/>
                                          </p:stCondLst>
                                        </p:cTn>
                                        <p:tgtEl>
                                          <p:spTgt spid="503931"/>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nodeType="clickEffect">
                                  <p:stCondLst>
                                    <p:cond delay="0"/>
                                  </p:stCondLst>
                                  <p:childTnLst>
                                    <p:set>
                                      <p:cBhvr>
                                        <p:cTn id="84" dur="1" fill="hold">
                                          <p:stCondLst>
                                            <p:cond delay="499"/>
                                          </p:stCondLst>
                                        </p:cTn>
                                        <p:tgtEl>
                                          <p:spTgt spid="503937"/>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nodeType="clickEffect">
                                  <p:stCondLst>
                                    <p:cond delay="0"/>
                                  </p:stCondLst>
                                  <p:childTnLst>
                                    <p:set>
                                      <p:cBhvr>
                                        <p:cTn id="88" dur="1" fill="hold">
                                          <p:stCondLst>
                                            <p:cond delay="499"/>
                                          </p:stCondLst>
                                        </p:cTn>
                                        <p:tgtEl>
                                          <p:spTgt spid="503942"/>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ntr" presetSubtype="0" fill="hold" nodeType="clickEffect">
                                  <p:stCondLst>
                                    <p:cond delay="0"/>
                                  </p:stCondLst>
                                  <p:childTnLst>
                                    <p:set>
                                      <p:cBhvr>
                                        <p:cTn id="92" dur="1" fill="hold">
                                          <p:stCondLst>
                                            <p:cond delay="499"/>
                                          </p:stCondLst>
                                        </p:cTn>
                                        <p:tgtEl>
                                          <p:spTgt spid="503947"/>
                                        </p:tgtEl>
                                        <p:attrNameLst>
                                          <p:attrName>style.visibility</p:attrName>
                                        </p:attrNameLst>
                                      </p:cBhvr>
                                      <p:to>
                                        <p:strVal val="visible"/>
                                      </p:to>
                                    </p:set>
                                  </p:child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ntr" presetSubtype="0" fill="hold" nodeType="clickEffect">
                                  <p:stCondLst>
                                    <p:cond delay="0"/>
                                  </p:stCondLst>
                                  <p:childTnLst>
                                    <p:set>
                                      <p:cBhvr>
                                        <p:cTn id="96" dur="1" fill="hold">
                                          <p:stCondLst>
                                            <p:cond delay="499"/>
                                          </p:stCondLst>
                                        </p:cTn>
                                        <p:tgtEl>
                                          <p:spTgt spid="503962"/>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nodeType="clickEffect">
                                  <p:stCondLst>
                                    <p:cond delay="0"/>
                                  </p:stCondLst>
                                  <p:childTnLst>
                                    <p:set>
                                      <p:cBhvr>
                                        <p:cTn id="100" dur="1" fill="hold">
                                          <p:stCondLst>
                                            <p:cond delay="499"/>
                                          </p:stCondLst>
                                        </p:cTn>
                                        <p:tgtEl>
                                          <p:spTgt spid="503968"/>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nodeType="clickEffect">
                                  <p:stCondLst>
                                    <p:cond delay="0"/>
                                  </p:stCondLst>
                                  <p:childTnLst>
                                    <p:set>
                                      <p:cBhvr>
                                        <p:cTn id="104" dur="1" fill="hold">
                                          <p:stCondLst>
                                            <p:cond delay="499"/>
                                          </p:stCondLst>
                                        </p:cTn>
                                        <p:tgtEl>
                                          <p:spTgt spid="503973"/>
                                        </p:tgtEl>
                                        <p:attrNameLst>
                                          <p:attrName>style.visibility</p:attrName>
                                        </p:attrNameLst>
                                      </p:cBhvr>
                                      <p:to>
                                        <p:strVal val="visible"/>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 presetClass="entr" presetSubtype="0" fill="hold" nodeType="clickEffect">
                                  <p:stCondLst>
                                    <p:cond delay="0"/>
                                  </p:stCondLst>
                                  <p:childTnLst>
                                    <p:set>
                                      <p:cBhvr>
                                        <p:cTn id="108" dur="1" fill="hold">
                                          <p:stCondLst>
                                            <p:cond delay="499"/>
                                          </p:stCondLst>
                                        </p:cTn>
                                        <p:tgtEl>
                                          <p:spTgt spid="503980"/>
                                        </p:tgtEl>
                                        <p:attrNameLst>
                                          <p:attrName>style.visibility</p:attrName>
                                        </p:attrNameLst>
                                      </p:cBhvr>
                                      <p:to>
                                        <p:strVal val="visible"/>
                                      </p:to>
                                    </p:se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nodeType="clickEffect">
                                  <p:stCondLst>
                                    <p:cond delay="0"/>
                                  </p:stCondLst>
                                  <p:childTnLst>
                                    <p:set>
                                      <p:cBhvr>
                                        <p:cTn id="112" dur="1" fill="hold">
                                          <p:stCondLst>
                                            <p:cond delay="0"/>
                                          </p:stCondLst>
                                        </p:cTn>
                                        <p:tgtEl>
                                          <p:spTgt spid="503983"/>
                                        </p:tgtEl>
                                        <p:attrNameLst>
                                          <p:attrName>style.visibility</p:attrName>
                                        </p:attrNameLst>
                                      </p:cBhvr>
                                      <p:to>
                                        <p:strVal val="visible"/>
                                      </p:to>
                                    </p:set>
                                    <p:animEffect transition="in" filter="wipe(left)">
                                      <p:cBhvr>
                                        <p:cTn id="113" dur="500"/>
                                        <p:tgtEl>
                                          <p:spTgt spid="503983"/>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1" presetClass="entr" presetSubtype="0" fill="hold" nodeType="clickEffect">
                                  <p:stCondLst>
                                    <p:cond delay="0"/>
                                  </p:stCondLst>
                                  <p:childTnLst>
                                    <p:set>
                                      <p:cBhvr>
                                        <p:cTn id="117" dur="1" fill="hold">
                                          <p:stCondLst>
                                            <p:cond delay="499"/>
                                          </p:stCondLst>
                                        </p:cTn>
                                        <p:tgtEl>
                                          <p:spTgt spid="503992"/>
                                        </p:tgtEl>
                                        <p:attrNameLst>
                                          <p:attrName>style.visibility</p:attrName>
                                        </p:attrNameLst>
                                      </p:cBhvr>
                                      <p:to>
                                        <p:strVal val="visible"/>
                                      </p:to>
                                    </p:se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 presetClass="entr" presetSubtype="0" fill="hold" grpId="0" nodeType="clickEffect">
                                  <p:stCondLst>
                                    <p:cond delay="0"/>
                                  </p:stCondLst>
                                  <p:childTnLst>
                                    <p:set>
                                      <p:cBhvr>
                                        <p:cTn id="121" dur="1" fill="hold">
                                          <p:stCondLst>
                                            <p:cond delay="499"/>
                                          </p:stCondLst>
                                        </p:cTn>
                                        <p:tgtEl>
                                          <p:spTgt spid="5039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826" grpId="0" autoUpdateAnimBg="0"/>
      <p:bldP spid="503827" grpId="0" animBg="1" autoUpdateAnimBg="0"/>
      <p:bldP spid="503985"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Slide Number Placeholder 4"/>
          <p:cNvSpPr>
            <a:spLocks noGrp="1"/>
          </p:cNvSpPr>
          <p:nvPr>
            <p:ph type="sldNum" sz="quarter" idx="12"/>
          </p:nvPr>
        </p:nvSpPr>
        <p:spPr/>
        <p:txBody>
          <a:bodyPr/>
          <a:lstStyle/>
          <a:p>
            <a:fld id="{5F626C78-7A22-4CC2-ADDF-7819DDF8CDBD}" type="slidenum">
              <a:rPr lang="en-US"/>
              <a:pPr/>
              <a:t>9</a:t>
            </a:fld>
            <a:endParaRPr lang="en-US"/>
          </a:p>
        </p:txBody>
      </p:sp>
      <p:sp>
        <p:nvSpPr>
          <p:cNvPr id="525314" name="Rectangle 2"/>
          <p:cNvSpPr>
            <a:spLocks noGrp="1" noChangeArrowheads="1"/>
          </p:cNvSpPr>
          <p:nvPr>
            <p:ph type="title"/>
          </p:nvPr>
        </p:nvSpPr>
        <p:spPr/>
        <p:txBody>
          <a:bodyPr/>
          <a:lstStyle/>
          <a:p>
            <a:r>
              <a:rPr lang="en-US"/>
              <a:t>Big-oh of Quicksort</a:t>
            </a:r>
          </a:p>
        </p:txBody>
      </p:sp>
      <p:sp>
        <p:nvSpPr>
          <p:cNvPr id="525366" name="Text Box 54"/>
          <p:cNvSpPr txBox="1">
            <a:spLocks noChangeArrowheads="1"/>
          </p:cNvSpPr>
          <p:nvPr/>
        </p:nvSpPr>
        <p:spPr bwMode="auto">
          <a:xfrm>
            <a:off x="104776" y="1112838"/>
            <a:ext cx="3476624" cy="707886"/>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000" dirty="0"/>
              <a:t>We first </a:t>
            </a:r>
            <a:r>
              <a:rPr lang="en-US" sz="2000" dirty="0">
                <a:solidFill>
                  <a:srgbClr val="6600CC"/>
                </a:solidFill>
              </a:rPr>
              <a:t>partition</a:t>
            </a:r>
            <a:r>
              <a:rPr lang="en-US" sz="2000" dirty="0"/>
              <a:t> the array, at a cost of </a:t>
            </a:r>
            <a:r>
              <a:rPr lang="en-US" sz="2000" dirty="0">
                <a:solidFill>
                  <a:srgbClr val="006666"/>
                </a:solidFill>
              </a:rPr>
              <a:t>n</a:t>
            </a:r>
            <a:r>
              <a:rPr lang="en-US" sz="2000" dirty="0"/>
              <a:t> steps. </a:t>
            </a:r>
          </a:p>
        </p:txBody>
      </p:sp>
      <p:grpSp>
        <p:nvGrpSpPr>
          <p:cNvPr id="3" name="Group 2"/>
          <p:cNvGrpSpPr/>
          <p:nvPr/>
        </p:nvGrpSpPr>
        <p:grpSpPr>
          <a:xfrm>
            <a:off x="4675188" y="1604963"/>
            <a:ext cx="3783012" cy="604837"/>
            <a:chOff x="4675188" y="1604963"/>
            <a:chExt cx="3783012" cy="604837"/>
          </a:xfrm>
        </p:grpSpPr>
        <p:sp>
          <p:nvSpPr>
            <p:cNvPr id="525368" name="Rectangle 56"/>
            <p:cNvSpPr>
              <a:spLocks noChangeArrowheads="1"/>
            </p:cNvSpPr>
            <p:nvPr/>
          </p:nvSpPr>
          <p:spPr bwMode="auto">
            <a:xfrm flipH="1">
              <a:off x="4675188" y="1604963"/>
              <a:ext cx="517525" cy="604837"/>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tx1"/>
                  </a:solidFill>
                </a:rPr>
                <a:t>30</a:t>
              </a:r>
            </a:p>
          </p:txBody>
        </p:sp>
        <p:sp>
          <p:nvSpPr>
            <p:cNvPr id="525369" name="Rectangle 57"/>
            <p:cNvSpPr>
              <a:spLocks noChangeArrowheads="1"/>
            </p:cNvSpPr>
            <p:nvPr/>
          </p:nvSpPr>
          <p:spPr bwMode="auto">
            <a:xfrm flipH="1">
              <a:off x="5132388" y="1604963"/>
              <a:ext cx="517525" cy="604837"/>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a:t>
              </a:r>
            </a:p>
          </p:txBody>
        </p:sp>
        <p:sp>
          <p:nvSpPr>
            <p:cNvPr id="525370" name="Rectangle 58"/>
            <p:cNvSpPr>
              <a:spLocks noChangeArrowheads="1"/>
            </p:cNvSpPr>
            <p:nvPr/>
          </p:nvSpPr>
          <p:spPr bwMode="auto">
            <a:xfrm flipH="1">
              <a:off x="5589588" y="1604963"/>
              <a:ext cx="517525" cy="604837"/>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77</a:t>
              </a:r>
            </a:p>
          </p:txBody>
        </p:sp>
        <p:sp>
          <p:nvSpPr>
            <p:cNvPr id="525371" name="Rectangle 59"/>
            <p:cNvSpPr>
              <a:spLocks noChangeArrowheads="1"/>
            </p:cNvSpPr>
            <p:nvPr/>
          </p:nvSpPr>
          <p:spPr bwMode="auto">
            <a:xfrm flipH="1">
              <a:off x="6046788" y="1604963"/>
              <a:ext cx="517525" cy="604837"/>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13</a:t>
              </a:r>
            </a:p>
          </p:txBody>
        </p:sp>
        <p:sp>
          <p:nvSpPr>
            <p:cNvPr id="525372" name="Rectangle 60"/>
            <p:cNvSpPr>
              <a:spLocks noChangeArrowheads="1"/>
            </p:cNvSpPr>
            <p:nvPr/>
          </p:nvSpPr>
          <p:spPr bwMode="auto">
            <a:xfrm flipH="1">
              <a:off x="6503988" y="1604963"/>
              <a:ext cx="517525" cy="604837"/>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69</a:t>
              </a:r>
            </a:p>
          </p:txBody>
        </p:sp>
        <p:sp>
          <p:nvSpPr>
            <p:cNvPr id="525373" name="Rectangle 61"/>
            <p:cNvSpPr>
              <a:spLocks noChangeArrowheads="1"/>
            </p:cNvSpPr>
            <p:nvPr/>
          </p:nvSpPr>
          <p:spPr bwMode="auto">
            <a:xfrm flipH="1">
              <a:off x="6961188" y="1604963"/>
              <a:ext cx="517525" cy="604837"/>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525374" name="Rectangle 62"/>
            <p:cNvSpPr>
              <a:spLocks noChangeArrowheads="1"/>
            </p:cNvSpPr>
            <p:nvPr/>
          </p:nvSpPr>
          <p:spPr bwMode="auto">
            <a:xfrm flipH="1">
              <a:off x="7418388" y="1604963"/>
              <a:ext cx="517525" cy="604837"/>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21</a:t>
              </a:r>
            </a:p>
          </p:txBody>
        </p:sp>
        <p:sp>
          <p:nvSpPr>
            <p:cNvPr id="525376" name="Rectangle 64"/>
            <p:cNvSpPr>
              <a:spLocks noChangeArrowheads="1"/>
            </p:cNvSpPr>
            <p:nvPr/>
          </p:nvSpPr>
          <p:spPr bwMode="auto">
            <a:xfrm flipH="1">
              <a:off x="7940675" y="1604963"/>
              <a:ext cx="517525" cy="604837"/>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46</a:t>
              </a:r>
            </a:p>
          </p:txBody>
        </p:sp>
      </p:grpSp>
      <p:sp>
        <p:nvSpPr>
          <p:cNvPr id="525419" name="Text Box 107"/>
          <p:cNvSpPr txBox="1">
            <a:spLocks noChangeArrowheads="1"/>
          </p:cNvSpPr>
          <p:nvPr/>
        </p:nvSpPr>
        <p:spPr bwMode="auto">
          <a:xfrm>
            <a:off x="152401" y="2025650"/>
            <a:ext cx="3200400" cy="707886"/>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000"/>
              <a:t>Then we repeat the process for each half…</a:t>
            </a:r>
          </a:p>
        </p:txBody>
      </p:sp>
      <p:grpSp>
        <p:nvGrpSpPr>
          <p:cNvPr id="525474" name="Group 162"/>
          <p:cNvGrpSpPr>
            <a:grpSpLocks/>
          </p:cNvGrpSpPr>
          <p:nvPr/>
        </p:nvGrpSpPr>
        <p:grpSpPr bwMode="auto">
          <a:xfrm>
            <a:off x="4191000" y="3052763"/>
            <a:ext cx="4343400" cy="604837"/>
            <a:chOff x="2640" y="1923"/>
            <a:chExt cx="2736" cy="381"/>
          </a:xfrm>
        </p:grpSpPr>
        <p:sp>
          <p:nvSpPr>
            <p:cNvPr id="525421" name="Rectangle 109"/>
            <p:cNvSpPr>
              <a:spLocks noChangeArrowheads="1"/>
            </p:cNvSpPr>
            <p:nvPr/>
          </p:nvSpPr>
          <p:spPr bwMode="auto">
            <a:xfrm flipH="1">
              <a:off x="2640" y="1923"/>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tx1"/>
                  </a:solidFill>
                </a:rPr>
                <a:t>13</a:t>
              </a:r>
            </a:p>
          </p:txBody>
        </p:sp>
        <p:sp>
          <p:nvSpPr>
            <p:cNvPr id="525422" name="Rectangle 110"/>
            <p:cNvSpPr>
              <a:spLocks noChangeArrowheads="1"/>
            </p:cNvSpPr>
            <p:nvPr/>
          </p:nvSpPr>
          <p:spPr bwMode="auto">
            <a:xfrm flipH="1">
              <a:off x="2928" y="1923"/>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tx1"/>
                  </a:solidFill>
                </a:rPr>
                <a:t>1</a:t>
              </a:r>
            </a:p>
          </p:txBody>
        </p:sp>
        <p:sp>
          <p:nvSpPr>
            <p:cNvPr id="525423" name="Rectangle 111"/>
            <p:cNvSpPr>
              <a:spLocks noChangeArrowheads="1"/>
            </p:cNvSpPr>
            <p:nvPr/>
          </p:nvSpPr>
          <p:spPr bwMode="auto">
            <a:xfrm flipH="1">
              <a:off x="3216" y="1923"/>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21</a:t>
              </a:r>
            </a:p>
          </p:txBody>
        </p:sp>
        <p:sp>
          <p:nvSpPr>
            <p:cNvPr id="525425" name="Rectangle 113"/>
            <p:cNvSpPr>
              <a:spLocks noChangeArrowheads="1"/>
            </p:cNvSpPr>
            <p:nvPr/>
          </p:nvSpPr>
          <p:spPr bwMode="auto">
            <a:xfrm flipH="1">
              <a:off x="4145" y="1923"/>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tx1"/>
                  </a:solidFill>
                </a:rPr>
                <a:t>69</a:t>
              </a:r>
            </a:p>
          </p:txBody>
        </p:sp>
        <p:sp>
          <p:nvSpPr>
            <p:cNvPr id="525426" name="Rectangle 114"/>
            <p:cNvSpPr>
              <a:spLocks noChangeArrowheads="1"/>
            </p:cNvSpPr>
            <p:nvPr/>
          </p:nvSpPr>
          <p:spPr bwMode="auto">
            <a:xfrm flipH="1">
              <a:off x="4433" y="1923"/>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chemeClr val="tx1"/>
                  </a:solidFill>
                </a:rPr>
                <a:t>40</a:t>
              </a:r>
            </a:p>
          </p:txBody>
        </p:sp>
        <p:sp>
          <p:nvSpPr>
            <p:cNvPr id="525427" name="Rectangle 115"/>
            <p:cNvSpPr>
              <a:spLocks noChangeArrowheads="1"/>
            </p:cNvSpPr>
            <p:nvPr/>
          </p:nvSpPr>
          <p:spPr bwMode="auto">
            <a:xfrm flipH="1">
              <a:off x="4721" y="1923"/>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77</a:t>
              </a:r>
            </a:p>
          </p:txBody>
        </p:sp>
        <p:sp>
          <p:nvSpPr>
            <p:cNvPr id="525428" name="Rectangle 116"/>
            <p:cNvSpPr>
              <a:spLocks noChangeArrowheads="1"/>
            </p:cNvSpPr>
            <p:nvPr/>
          </p:nvSpPr>
          <p:spPr bwMode="auto">
            <a:xfrm flipH="1">
              <a:off x="5050" y="1923"/>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46</a:t>
              </a:r>
            </a:p>
          </p:txBody>
        </p:sp>
      </p:grpSp>
      <p:sp>
        <p:nvSpPr>
          <p:cNvPr id="525430" name="Text Box 118"/>
          <p:cNvSpPr txBox="1">
            <a:spLocks noChangeArrowheads="1"/>
          </p:cNvSpPr>
          <p:nvPr/>
        </p:nvSpPr>
        <p:spPr bwMode="auto">
          <a:xfrm>
            <a:off x="168275" y="2971800"/>
            <a:ext cx="3946525" cy="101566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000" dirty="0"/>
              <a:t>We </a:t>
            </a:r>
            <a:r>
              <a:rPr lang="en-US" sz="2000" dirty="0">
                <a:solidFill>
                  <a:srgbClr val="6600CC"/>
                </a:solidFill>
              </a:rPr>
              <a:t>partition</a:t>
            </a:r>
            <a:r>
              <a:rPr lang="en-US" sz="2000" dirty="0"/>
              <a:t> each of the </a:t>
            </a:r>
            <a:r>
              <a:rPr lang="en-US" sz="2000" dirty="0">
                <a:solidFill>
                  <a:srgbClr val="006666"/>
                </a:solidFill>
              </a:rPr>
              <a:t>2 halves</a:t>
            </a:r>
            <a:r>
              <a:rPr lang="en-US" sz="2000" dirty="0"/>
              <a:t>, each taking </a:t>
            </a:r>
            <a:r>
              <a:rPr lang="en-US" sz="2000" dirty="0">
                <a:solidFill>
                  <a:srgbClr val="006666"/>
                </a:solidFill>
              </a:rPr>
              <a:t>n/2</a:t>
            </a:r>
            <a:r>
              <a:rPr lang="en-US" sz="2000" dirty="0"/>
              <a:t> steps, at a total cost of </a:t>
            </a:r>
            <a:r>
              <a:rPr lang="en-US" sz="2000" dirty="0">
                <a:solidFill>
                  <a:srgbClr val="006666"/>
                </a:solidFill>
              </a:rPr>
              <a:t>n </a:t>
            </a:r>
            <a:r>
              <a:rPr lang="en-US" sz="2000" dirty="0"/>
              <a:t>steps.</a:t>
            </a:r>
          </a:p>
        </p:txBody>
      </p:sp>
      <p:sp>
        <p:nvSpPr>
          <p:cNvPr id="525461" name="Text Box 149"/>
          <p:cNvSpPr txBox="1">
            <a:spLocks noChangeArrowheads="1"/>
          </p:cNvSpPr>
          <p:nvPr/>
        </p:nvSpPr>
        <p:spPr bwMode="auto">
          <a:xfrm>
            <a:off x="152401" y="4311650"/>
            <a:ext cx="3200400" cy="707886"/>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000" dirty="0"/>
              <a:t>Then we repeat the process for each half…</a:t>
            </a:r>
          </a:p>
        </p:txBody>
      </p:sp>
      <p:grpSp>
        <p:nvGrpSpPr>
          <p:cNvPr id="525475" name="Group 163"/>
          <p:cNvGrpSpPr>
            <a:grpSpLocks/>
          </p:cNvGrpSpPr>
          <p:nvPr/>
        </p:nvGrpSpPr>
        <p:grpSpPr bwMode="auto">
          <a:xfrm>
            <a:off x="4130675" y="4424363"/>
            <a:ext cx="1644650" cy="604837"/>
            <a:chOff x="2554" y="2595"/>
            <a:chExt cx="1036" cy="381"/>
          </a:xfrm>
        </p:grpSpPr>
        <p:sp>
          <p:nvSpPr>
            <p:cNvPr id="525463" name="Rectangle 151"/>
            <p:cNvSpPr>
              <a:spLocks noChangeArrowheads="1"/>
            </p:cNvSpPr>
            <p:nvPr/>
          </p:nvSpPr>
          <p:spPr bwMode="auto">
            <a:xfrm flipH="1">
              <a:off x="2554" y="2595"/>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chemeClr val="tx1"/>
                  </a:solidFill>
                </a:rPr>
                <a:t>1</a:t>
              </a:r>
            </a:p>
          </p:txBody>
        </p:sp>
        <p:sp>
          <p:nvSpPr>
            <p:cNvPr id="525465" name="Rectangle 153"/>
            <p:cNvSpPr>
              <a:spLocks noChangeArrowheads="1"/>
            </p:cNvSpPr>
            <p:nvPr/>
          </p:nvSpPr>
          <p:spPr bwMode="auto">
            <a:xfrm flipH="1">
              <a:off x="3264" y="2595"/>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21</a:t>
              </a:r>
            </a:p>
          </p:txBody>
        </p:sp>
      </p:grpSp>
      <p:grpSp>
        <p:nvGrpSpPr>
          <p:cNvPr id="525476" name="Group 164"/>
          <p:cNvGrpSpPr>
            <a:grpSpLocks/>
          </p:cNvGrpSpPr>
          <p:nvPr/>
        </p:nvGrpSpPr>
        <p:grpSpPr bwMode="auto">
          <a:xfrm>
            <a:off x="6477000" y="4419600"/>
            <a:ext cx="2057400" cy="604838"/>
            <a:chOff x="4032" y="2592"/>
            <a:chExt cx="1296" cy="381"/>
          </a:xfrm>
        </p:grpSpPr>
        <p:sp>
          <p:nvSpPr>
            <p:cNvPr id="525468" name="Rectangle 156"/>
            <p:cNvSpPr>
              <a:spLocks noChangeArrowheads="1"/>
            </p:cNvSpPr>
            <p:nvPr/>
          </p:nvSpPr>
          <p:spPr bwMode="auto">
            <a:xfrm flipH="1">
              <a:off x="4032" y="259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525469" name="Rectangle 157"/>
            <p:cNvSpPr>
              <a:spLocks noChangeArrowheads="1"/>
            </p:cNvSpPr>
            <p:nvPr/>
          </p:nvSpPr>
          <p:spPr bwMode="auto">
            <a:xfrm flipH="1">
              <a:off x="4320" y="259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46</a:t>
              </a:r>
            </a:p>
          </p:txBody>
        </p:sp>
        <p:sp>
          <p:nvSpPr>
            <p:cNvPr id="525471" name="Rectangle 159"/>
            <p:cNvSpPr>
              <a:spLocks noChangeArrowheads="1"/>
            </p:cNvSpPr>
            <p:nvPr/>
          </p:nvSpPr>
          <p:spPr bwMode="auto">
            <a:xfrm flipH="1">
              <a:off x="5002" y="2592"/>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77</a:t>
              </a:r>
            </a:p>
          </p:txBody>
        </p:sp>
      </p:grpSp>
      <p:sp>
        <p:nvSpPr>
          <p:cNvPr id="525473" name="Text Box 161"/>
          <p:cNvSpPr txBox="1">
            <a:spLocks noChangeArrowheads="1"/>
          </p:cNvSpPr>
          <p:nvPr/>
        </p:nvSpPr>
        <p:spPr bwMode="auto">
          <a:xfrm>
            <a:off x="228600" y="5362575"/>
            <a:ext cx="3946525" cy="101566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000" dirty="0"/>
              <a:t>We </a:t>
            </a:r>
            <a:r>
              <a:rPr lang="en-US" sz="2000" dirty="0">
                <a:solidFill>
                  <a:srgbClr val="6600CC"/>
                </a:solidFill>
              </a:rPr>
              <a:t>partition</a:t>
            </a:r>
            <a:r>
              <a:rPr lang="en-US" sz="2000" dirty="0"/>
              <a:t> each of the </a:t>
            </a:r>
            <a:r>
              <a:rPr lang="en-US" sz="2000" dirty="0">
                <a:solidFill>
                  <a:srgbClr val="006666"/>
                </a:solidFill>
              </a:rPr>
              <a:t>4 halves</a:t>
            </a:r>
            <a:r>
              <a:rPr lang="en-US" sz="2000" dirty="0"/>
              <a:t>, each taking </a:t>
            </a:r>
            <a:r>
              <a:rPr lang="en-US" sz="2000" dirty="0">
                <a:solidFill>
                  <a:srgbClr val="006666"/>
                </a:solidFill>
              </a:rPr>
              <a:t>n/4</a:t>
            </a:r>
            <a:r>
              <a:rPr lang="en-US" sz="2000" dirty="0"/>
              <a:t> steps, at a total cost of </a:t>
            </a:r>
            <a:r>
              <a:rPr lang="en-US" sz="2000" dirty="0">
                <a:solidFill>
                  <a:srgbClr val="006666"/>
                </a:solidFill>
              </a:rPr>
              <a:t>n </a:t>
            </a:r>
            <a:r>
              <a:rPr lang="en-US" sz="2000" dirty="0"/>
              <a:t>steps.</a:t>
            </a:r>
          </a:p>
        </p:txBody>
      </p:sp>
      <p:sp>
        <p:nvSpPr>
          <p:cNvPr id="525477" name="Text Box 165"/>
          <p:cNvSpPr txBox="1">
            <a:spLocks noChangeArrowheads="1"/>
          </p:cNvSpPr>
          <p:nvPr/>
        </p:nvSpPr>
        <p:spPr bwMode="auto">
          <a:xfrm>
            <a:off x="4114800" y="5314950"/>
            <a:ext cx="4714875" cy="1200329"/>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dirty="0">
                <a:solidFill>
                  <a:srgbClr val="006666"/>
                </a:solidFill>
              </a:rPr>
              <a:t>So at each level, we do </a:t>
            </a:r>
            <a:r>
              <a:rPr lang="en-US" dirty="0">
                <a:solidFill>
                  <a:schemeClr val="accent2"/>
                </a:solidFill>
              </a:rPr>
              <a:t>n</a:t>
            </a:r>
            <a:r>
              <a:rPr lang="en-US" dirty="0">
                <a:solidFill>
                  <a:srgbClr val="006666"/>
                </a:solidFill>
              </a:rPr>
              <a:t> operations, and we have </a:t>
            </a:r>
            <a:r>
              <a:rPr lang="en-US" dirty="0">
                <a:solidFill>
                  <a:schemeClr val="accent2"/>
                </a:solidFill>
              </a:rPr>
              <a:t>log</a:t>
            </a:r>
            <a:r>
              <a:rPr lang="en-US" baseline="-25000" dirty="0">
                <a:solidFill>
                  <a:schemeClr val="accent2"/>
                </a:solidFill>
              </a:rPr>
              <a:t>2</a:t>
            </a:r>
            <a:r>
              <a:rPr lang="en-US" dirty="0">
                <a:solidFill>
                  <a:schemeClr val="accent2"/>
                </a:solidFill>
              </a:rPr>
              <a:t>(n)</a:t>
            </a:r>
            <a:r>
              <a:rPr lang="en-US" dirty="0">
                <a:solidFill>
                  <a:srgbClr val="006666"/>
                </a:solidFill>
              </a:rPr>
              <a:t> levels, so we get: </a:t>
            </a:r>
            <a:r>
              <a:rPr lang="en-US" dirty="0">
                <a:solidFill>
                  <a:schemeClr val="accent2"/>
                </a:solidFill>
              </a:rPr>
              <a:t>n log</a:t>
            </a:r>
            <a:r>
              <a:rPr lang="en-US" baseline="-25000" dirty="0">
                <a:solidFill>
                  <a:schemeClr val="accent2"/>
                </a:solidFill>
              </a:rPr>
              <a:t>2</a:t>
            </a:r>
            <a:r>
              <a:rPr lang="en-US" dirty="0">
                <a:solidFill>
                  <a:schemeClr val="accent2"/>
                </a:solidFill>
              </a:rPr>
              <a:t>(n)</a:t>
            </a:r>
            <a:r>
              <a:rPr lang="en-US" dirty="0">
                <a:solidFill>
                  <a:srgbClr val="006666"/>
                </a:solidFill>
              </a:rPr>
              <a:t>.</a:t>
            </a:r>
          </a:p>
        </p:txBody>
      </p:sp>
      <p:grpSp>
        <p:nvGrpSpPr>
          <p:cNvPr id="525480" name="Group 168"/>
          <p:cNvGrpSpPr>
            <a:grpSpLocks/>
          </p:cNvGrpSpPr>
          <p:nvPr/>
        </p:nvGrpSpPr>
        <p:grpSpPr bwMode="auto">
          <a:xfrm>
            <a:off x="4648200" y="884238"/>
            <a:ext cx="3810000" cy="487362"/>
            <a:chOff x="2928" y="557"/>
            <a:chExt cx="2400" cy="307"/>
          </a:xfrm>
        </p:grpSpPr>
        <p:sp>
          <p:nvSpPr>
            <p:cNvPr id="525478" name="Line 166"/>
            <p:cNvSpPr>
              <a:spLocks noChangeShapeType="1"/>
            </p:cNvSpPr>
            <p:nvPr/>
          </p:nvSpPr>
          <p:spPr bwMode="auto">
            <a:xfrm>
              <a:off x="2928" y="864"/>
              <a:ext cx="24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5479" name="Text Box 167"/>
            <p:cNvSpPr txBox="1">
              <a:spLocks noChangeArrowheads="1"/>
            </p:cNvSpPr>
            <p:nvPr/>
          </p:nvSpPr>
          <p:spPr bwMode="auto">
            <a:xfrm>
              <a:off x="3802" y="557"/>
              <a:ext cx="758" cy="28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n steps</a:t>
              </a:r>
            </a:p>
          </p:txBody>
        </p:sp>
      </p:grpSp>
      <p:grpSp>
        <p:nvGrpSpPr>
          <p:cNvPr id="525481" name="Group 169"/>
          <p:cNvGrpSpPr>
            <a:grpSpLocks/>
          </p:cNvGrpSpPr>
          <p:nvPr/>
        </p:nvGrpSpPr>
        <p:grpSpPr bwMode="auto">
          <a:xfrm>
            <a:off x="4572000" y="2438400"/>
            <a:ext cx="3810000" cy="487363"/>
            <a:chOff x="2928" y="557"/>
            <a:chExt cx="2400" cy="307"/>
          </a:xfrm>
        </p:grpSpPr>
        <p:sp>
          <p:nvSpPr>
            <p:cNvPr id="525482" name="Line 170"/>
            <p:cNvSpPr>
              <a:spLocks noChangeShapeType="1"/>
            </p:cNvSpPr>
            <p:nvPr/>
          </p:nvSpPr>
          <p:spPr bwMode="auto">
            <a:xfrm>
              <a:off x="2928" y="864"/>
              <a:ext cx="24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5483" name="Text Box 171"/>
            <p:cNvSpPr txBox="1">
              <a:spLocks noChangeArrowheads="1"/>
            </p:cNvSpPr>
            <p:nvPr/>
          </p:nvSpPr>
          <p:spPr bwMode="auto">
            <a:xfrm>
              <a:off x="3802" y="557"/>
              <a:ext cx="758" cy="28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n steps</a:t>
              </a:r>
            </a:p>
          </p:txBody>
        </p:sp>
      </p:grpSp>
      <p:grpSp>
        <p:nvGrpSpPr>
          <p:cNvPr id="525484" name="Group 172"/>
          <p:cNvGrpSpPr>
            <a:grpSpLocks/>
          </p:cNvGrpSpPr>
          <p:nvPr/>
        </p:nvGrpSpPr>
        <p:grpSpPr bwMode="auto">
          <a:xfrm>
            <a:off x="4419600" y="3779838"/>
            <a:ext cx="3810000" cy="487362"/>
            <a:chOff x="2928" y="557"/>
            <a:chExt cx="2400" cy="307"/>
          </a:xfrm>
        </p:grpSpPr>
        <p:sp>
          <p:nvSpPr>
            <p:cNvPr id="525485" name="Line 173"/>
            <p:cNvSpPr>
              <a:spLocks noChangeShapeType="1"/>
            </p:cNvSpPr>
            <p:nvPr/>
          </p:nvSpPr>
          <p:spPr bwMode="auto">
            <a:xfrm>
              <a:off x="2928" y="864"/>
              <a:ext cx="24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5486" name="Text Box 174"/>
            <p:cNvSpPr txBox="1">
              <a:spLocks noChangeArrowheads="1"/>
            </p:cNvSpPr>
            <p:nvPr/>
          </p:nvSpPr>
          <p:spPr bwMode="auto">
            <a:xfrm>
              <a:off x="3802" y="557"/>
              <a:ext cx="758" cy="28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n steps</a:t>
              </a:r>
            </a:p>
          </p:txBody>
        </p:sp>
      </p:grpSp>
      <p:grpSp>
        <p:nvGrpSpPr>
          <p:cNvPr id="525489" name="Group 177"/>
          <p:cNvGrpSpPr>
            <a:grpSpLocks/>
          </p:cNvGrpSpPr>
          <p:nvPr/>
        </p:nvGrpSpPr>
        <p:grpSpPr bwMode="auto">
          <a:xfrm>
            <a:off x="3375026" y="1371600"/>
            <a:ext cx="1196975" cy="3657600"/>
            <a:chOff x="2126" y="864"/>
            <a:chExt cx="754" cy="2304"/>
          </a:xfrm>
        </p:grpSpPr>
        <p:sp>
          <p:nvSpPr>
            <p:cNvPr id="525487" name="Line 175"/>
            <p:cNvSpPr>
              <a:spLocks noChangeShapeType="1"/>
            </p:cNvSpPr>
            <p:nvPr/>
          </p:nvSpPr>
          <p:spPr bwMode="auto">
            <a:xfrm>
              <a:off x="2496" y="864"/>
              <a:ext cx="0" cy="2304"/>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5488" name="Text Box 176"/>
            <p:cNvSpPr txBox="1">
              <a:spLocks noChangeArrowheads="1"/>
            </p:cNvSpPr>
            <p:nvPr/>
          </p:nvSpPr>
          <p:spPr bwMode="auto">
            <a:xfrm>
              <a:off x="2126" y="1229"/>
              <a:ext cx="754" cy="523"/>
            </a:xfrm>
            <a:prstGeom prst="rect">
              <a:avLst/>
            </a:prstGeom>
            <a:solidFill>
              <a:srgbClr val="FFFF00"/>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chemeClr val="accent2"/>
                  </a:solidFill>
                </a:rPr>
                <a:t>log</a:t>
              </a:r>
              <a:r>
                <a:rPr lang="en-US" baseline="-25000" dirty="0">
                  <a:solidFill>
                    <a:schemeClr val="accent2"/>
                  </a:solidFill>
                </a:rPr>
                <a:t>2</a:t>
              </a:r>
              <a:r>
                <a:rPr lang="en-US" dirty="0">
                  <a:solidFill>
                    <a:schemeClr val="accent2"/>
                  </a:solidFill>
                </a:rPr>
                <a:t>(n) </a:t>
              </a:r>
            </a:p>
            <a:p>
              <a:r>
                <a:rPr lang="en-US" dirty="0">
                  <a:solidFill>
                    <a:schemeClr val="accent2"/>
                  </a:solidFill>
                </a:rPr>
                <a:t>levels</a:t>
              </a:r>
            </a:p>
          </p:txBody>
        </p:sp>
      </p:grpSp>
      <p:grpSp>
        <p:nvGrpSpPr>
          <p:cNvPr id="4" name="Group 3"/>
          <p:cNvGrpSpPr/>
          <p:nvPr/>
        </p:nvGrpSpPr>
        <p:grpSpPr>
          <a:xfrm>
            <a:off x="4681988" y="1604963"/>
            <a:ext cx="3783012" cy="604837"/>
            <a:chOff x="4827588" y="1757363"/>
            <a:chExt cx="3783012" cy="604837"/>
          </a:xfrm>
        </p:grpSpPr>
        <p:sp>
          <p:nvSpPr>
            <p:cNvPr id="65" name="Rectangle 56"/>
            <p:cNvSpPr>
              <a:spLocks noChangeArrowheads="1"/>
            </p:cNvSpPr>
            <p:nvPr/>
          </p:nvSpPr>
          <p:spPr bwMode="auto">
            <a:xfrm flipH="1">
              <a:off x="4827588" y="1757363"/>
              <a:ext cx="517525" cy="604837"/>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rgbClr val="FF0000"/>
                  </a:solidFill>
                </a:rPr>
                <a:t>30</a:t>
              </a:r>
            </a:p>
          </p:txBody>
        </p:sp>
        <p:sp>
          <p:nvSpPr>
            <p:cNvPr id="66" name="Rectangle 57"/>
            <p:cNvSpPr>
              <a:spLocks noChangeArrowheads="1"/>
            </p:cNvSpPr>
            <p:nvPr/>
          </p:nvSpPr>
          <p:spPr bwMode="auto">
            <a:xfrm flipH="1">
              <a:off x="5284788" y="1757363"/>
              <a:ext cx="517525" cy="604837"/>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a:t>
              </a:r>
            </a:p>
          </p:txBody>
        </p:sp>
        <p:sp>
          <p:nvSpPr>
            <p:cNvPr id="67" name="Rectangle 58"/>
            <p:cNvSpPr>
              <a:spLocks noChangeArrowheads="1"/>
            </p:cNvSpPr>
            <p:nvPr/>
          </p:nvSpPr>
          <p:spPr bwMode="auto">
            <a:xfrm flipH="1">
              <a:off x="5741988" y="1757363"/>
              <a:ext cx="517525" cy="604837"/>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77</a:t>
              </a:r>
            </a:p>
          </p:txBody>
        </p:sp>
        <p:sp>
          <p:nvSpPr>
            <p:cNvPr id="68" name="Rectangle 59"/>
            <p:cNvSpPr>
              <a:spLocks noChangeArrowheads="1"/>
            </p:cNvSpPr>
            <p:nvPr/>
          </p:nvSpPr>
          <p:spPr bwMode="auto">
            <a:xfrm flipH="1">
              <a:off x="6199188" y="1757363"/>
              <a:ext cx="517525" cy="604837"/>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13</a:t>
              </a:r>
            </a:p>
          </p:txBody>
        </p:sp>
        <p:sp>
          <p:nvSpPr>
            <p:cNvPr id="69" name="Rectangle 60"/>
            <p:cNvSpPr>
              <a:spLocks noChangeArrowheads="1"/>
            </p:cNvSpPr>
            <p:nvPr/>
          </p:nvSpPr>
          <p:spPr bwMode="auto">
            <a:xfrm flipH="1">
              <a:off x="6656388" y="1757363"/>
              <a:ext cx="517525" cy="604837"/>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69</a:t>
              </a:r>
            </a:p>
          </p:txBody>
        </p:sp>
        <p:sp>
          <p:nvSpPr>
            <p:cNvPr id="70" name="Rectangle 61"/>
            <p:cNvSpPr>
              <a:spLocks noChangeArrowheads="1"/>
            </p:cNvSpPr>
            <p:nvPr/>
          </p:nvSpPr>
          <p:spPr bwMode="auto">
            <a:xfrm flipH="1">
              <a:off x="7113588" y="1757363"/>
              <a:ext cx="517525" cy="604837"/>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t>40</a:t>
              </a:r>
            </a:p>
          </p:txBody>
        </p:sp>
        <p:sp>
          <p:nvSpPr>
            <p:cNvPr id="71" name="Rectangle 62"/>
            <p:cNvSpPr>
              <a:spLocks noChangeArrowheads="1"/>
            </p:cNvSpPr>
            <p:nvPr/>
          </p:nvSpPr>
          <p:spPr bwMode="auto">
            <a:xfrm flipH="1">
              <a:off x="7570788" y="1757363"/>
              <a:ext cx="517525" cy="604837"/>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21</a:t>
              </a:r>
            </a:p>
          </p:txBody>
        </p:sp>
        <p:sp>
          <p:nvSpPr>
            <p:cNvPr id="72" name="Rectangle 64"/>
            <p:cNvSpPr>
              <a:spLocks noChangeArrowheads="1"/>
            </p:cNvSpPr>
            <p:nvPr/>
          </p:nvSpPr>
          <p:spPr bwMode="auto">
            <a:xfrm flipH="1">
              <a:off x="8093075" y="1757363"/>
              <a:ext cx="517525" cy="604837"/>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46</a:t>
              </a:r>
            </a:p>
          </p:txBody>
        </p:sp>
      </p:grpSp>
      <p:grpSp>
        <p:nvGrpSpPr>
          <p:cNvPr id="525457" name="Group 145"/>
          <p:cNvGrpSpPr>
            <a:grpSpLocks/>
          </p:cNvGrpSpPr>
          <p:nvPr/>
        </p:nvGrpSpPr>
        <p:grpSpPr bwMode="auto">
          <a:xfrm>
            <a:off x="4676325" y="1606378"/>
            <a:ext cx="3783012" cy="604837"/>
            <a:chOff x="2784" y="1344"/>
            <a:chExt cx="2383" cy="381"/>
          </a:xfrm>
        </p:grpSpPr>
        <p:sp>
          <p:nvSpPr>
            <p:cNvPr id="525408" name="Rectangle 96"/>
            <p:cNvSpPr>
              <a:spLocks noChangeArrowheads="1"/>
            </p:cNvSpPr>
            <p:nvPr/>
          </p:nvSpPr>
          <p:spPr bwMode="auto">
            <a:xfrm flipH="1">
              <a:off x="2784" y="1344"/>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accent1">
                      <a:lumMod val="50000"/>
                    </a:schemeClr>
                  </a:solidFill>
                </a:rPr>
                <a:t>13</a:t>
              </a:r>
            </a:p>
          </p:txBody>
        </p:sp>
        <p:sp>
          <p:nvSpPr>
            <p:cNvPr id="525409" name="Rectangle 97"/>
            <p:cNvSpPr>
              <a:spLocks noChangeArrowheads="1"/>
            </p:cNvSpPr>
            <p:nvPr/>
          </p:nvSpPr>
          <p:spPr bwMode="auto">
            <a:xfrm flipH="1">
              <a:off x="3072" y="1344"/>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accent1">
                      <a:lumMod val="50000"/>
                    </a:schemeClr>
                  </a:solidFill>
                </a:rPr>
                <a:t>1</a:t>
              </a:r>
            </a:p>
          </p:txBody>
        </p:sp>
        <p:sp>
          <p:nvSpPr>
            <p:cNvPr id="525410" name="Rectangle 98"/>
            <p:cNvSpPr>
              <a:spLocks noChangeArrowheads="1"/>
            </p:cNvSpPr>
            <p:nvPr/>
          </p:nvSpPr>
          <p:spPr bwMode="auto">
            <a:xfrm flipH="1">
              <a:off x="3360" y="1344"/>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accent1">
                      <a:lumMod val="50000"/>
                    </a:schemeClr>
                  </a:solidFill>
                </a:rPr>
                <a:t>21</a:t>
              </a:r>
            </a:p>
          </p:txBody>
        </p:sp>
        <p:sp>
          <p:nvSpPr>
            <p:cNvPr id="525411" name="Rectangle 99"/>
            <p:cNvSpPr>
              <a:spLocks noChangeArrowheads="1"/>
            </p:cNvSpPr>
            <p:nvPr/>
          </p:nvSpPr>
          <p:spPr bwMode="auto">
            <a:xfrm flipH="1">
              <a:off x="3648" y="1344"/>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rgbClr val="FF3300"/>
                  </a:solidFill>
                </a:rPr>
                <a:t>30</a:t>
              </a:r>
            </a:p>
          </p:txBody>
        </p:sp>
        <p:sp>
          <p:nvSpPr>
            <p:cNvPr id="525412" name="Rectangle 100"/>
            <p:cNvSpPr>
              <a:spLocks noChangeArrowheads="1"/>
            </p:cNvSpPr>
            <p:nvPr/>
          </p:nvSpPr>
          <p:spPr bwMode="auto">
            <a:xfrm flipH="1">
              <a:off x="3936" y="1344"/>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rgbClr val="0000CC"/>
                  </a:solidFill>
                </a:rPr>
                <a:t>69</a:t>
              </a:r>
            </a:p>
          </p:txBody>
        </p:sp>
        <p:sp>
          <p:nvSpPr>
            <p:cNvPr id="525413" name="Rectangle 101"/>
            <p:cNvSpPr>
              <a:spLocks noChangeArrowheads="1"/>
            </p:cNvSpPr>
            <p:nvPr/>
          </p:nvSpPr>
          <p:spPr bwMode="auto">
            <a:xfrm flipH="1">
              <a:off x="4224" y="1344"/>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rgbClr val="0000CC"/>
                  </a:solidFill>
                </a:rPr>
                <a:t>40</a:t>
              </a:r>
            </a:p>
          </p:txBody>
        </p:sp>
        <p:sp>
          <p:nvSpPr>
            <p:cNvPr id="525414" name="Rectangle 102"/>
            <p:cNvSpPr>
              <a:spLocks noChangeArrowheads="1"/>
            </p:cNvSpPr>
            <p:nvPr/>
          </p:nvSpPr>
          <p:spPr bwMode="auto">
            <a:xfrm flipH="1">
              <a:off x="4512" y="1344"/>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rgbClr val="0000CC"/>
                  </a:solidFill>
                </a:rPr>
                <a:t>77</a:t>
              </a:r>
            </a:p>
          </p:txBody>
        </p:sp>
        <p:sp>
          <p:nvSpPr>
            <p:cNvPr id="525416" name="Rectangle 104"/>
            <p:cNvSpPr>
              <a:spLocks noChangeArrowheads="1"/>
            </p:cNvSpPr>
            <p:nvPr/>
          </p:nvSpPr>
          <p:spPr bwMode="auto">
            <a:xfrm flipH="1">
              <a:off x="4841" y="1344"/>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rgbClr val="0000CC"/>
                  </a:solidFill>
                </a:rPr>
                <a:t>46</a:t>
              </a:r>
            </a:p>
          </p:txBody>
        </p:sp>
      </p:grpSp>
      <p:grpSp>
        <p:nvGrpSpPr>
          <p:cNvPr id="74" name="Group 162"/>
          <p:cNvGrpSpPr>
            <a:grpSpLocks/>
          </p:cNvGrpSpPr>
          <p:nvPr/>
        </p:nvGrpSpPr>
        <p:grpSpPr bwMode="auto">
          <a:xfrm>
            <a:off x="4191000" y="3048000"/>
            <a:ext cx="4343400" cy="604837"/>
            <a:chOff x="2640" y="1923"/>
            <a:chExt cx="2736" cy="381"/>
          </a:xfrm>
        </p:grpSpPr>
        <p:sp>
          <p:nvSpPr>
            <p:cNvPr id="75" name="Rectangle 109"/>
            <p:cNvSpPr>
              <a:spLocks noChangeArrowheads="1"/>
            </p:cNvSpPr>
            <p:nvPr/>
          </p:nvSpPr>
          <p:spPr bwMode="auto">
            <a:xfrm flipH="1">
              <a:off x="2640" y="1923"/>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rgbClr val="FF0000"/>
                  </a:solidFill>
                </a:rPr>
                <a:t>13</a:t>
              </a:r>
            </a:p>
          </p:txBody>
        </p:sp>
        <p:sp>
          <p:nvSpPr>
            <p:cNvPr id="76" name="Rectangle 110"/>
            <p:cNvSpPr>
              <a:spLocks noChangeArrowheads="1"/>
            </p:cNvSpPr>
            <p:nvPr/>
          </p:nvSpPr>
          <p:spPr bwMode="auto">
            <a:xfrm flipH="1">
              <a:off x="2928" y="1923"/>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tx1"/>
                  </a:solidFill>
                </a:rPr>
                <a:t>1</a:t>
              </a:r>
            </a:p>
          </p:txBody>
        </p:sp>
        <p:sp>
          <p:nvSpPr>
            <p:cNvPr id="77" name="Rectangle 111"/>
            <p:cNvSpPr>
              <a:spLocks noChangeArrowheads="1"/>
            </p:cNvSpPr>
            <p:nvPr/>
          </p:nvSpPr>
          <p:spPr bwMode="auto">
            <a:xfrm flipH="1">
              <a:off x="3216" y="1923"/>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21</a:t>
              </a:r>
            </a:p>
          </p:txBody>
        </p:sp>
        <p:sp>
          <p:nvSpPr>
            <p:cNvPr id="78" name="Rectangle 113"/>
            <p:cNvSpPr>
              <a:spLocks noChangeArrowheads="1"/>
            </p:cNvSpPr>
            <p:nvPr/>
          </p:nvSpPr>
          <p:spPr bwMode="auto">
            <a:xfrm flipH="1">
              <a:off x="4145" y="1923"/>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rgbClr val="FF0000"/>
                  </a:solidFill>
                </a:rPr>
                <a:t>69</a:t>
              </a:r>
            </a:p>
          </p:txBody>
        </p:sp>
        <p:sp>
          <p:nvSpPr>
            <p:cNvPr id="79" name="Rectangle 114"/>
            <p:cNvSpPr>
              <a:spLocks noChangeArrowheads="1"/>
            </p:cNvSpPr>
            <p:nvPr/>
          </p:nvSpPr>
          <p:spPr bwMode="auto">
            <a:xfrm flipH="1">
              <a:off x="4433" y="1923"/>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chemeClr val="tx1"/>
                  </a:solidFill>
                </a:rPr>
                <a:t>40</a:t>
              </a:r>
            </a:p>
          </p:txBody>
        </p:sp>
        <p:sp>
          <p:nvSpPr>
            <p:cNvPr id="80" name="Rectangle 115"/>
            <p:cNvSpPr>
              <a:spLocks noChangeArrowheads="1"/>
            </p:cNvSpPr>
            <p:nvPr/>
          </p:nvSpPr>
          <p:spPr bwMode="auto">
            <a:xfrm flipH="1">
              <a:off x="4721" y="1923"/>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77</a:t>
              </a:r>
            </a:p>
          </p:txBody>
        </p:sp>
        <p:sp>
          <p:nvSpPr>
            <p:cNvPr id="81" name="Rectangle 116"/>
            <p:cNvSpPr>
              <a:spLocks noChangeArrowheads="1"/>
            </p:cNvSpPr>
            <p:nvPr/>
          </p:nvSpPr>
          <p:spPr bwMode="auto">
            <a:xfrm flipH="1">
              <a:off x="5050" y="1923"/>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46</a:t>
              </a:r>
            </a:p>
          </p:txBody>
        </p:sp>
      </p:grpSp>
      <p:grpSp>
        <p:nvGrpSpPr>
          <p:cNvPr id="525459" name="Group 147"/>
          <p:cNvGrpSpPr>
            <a:grpSpLocks/>
          </p:cNvGrpSpPr>
          <p:nvPr/>
        </p:nvGrpSpPr>
        <p:grpSpPr bwMode="auto">
          <a:xfrm>
            <a:off x="4191000" y="3048000"/>
            <a:ext cx="1431925" cy="604838"/>
            <a:chOff x="2635" y="1491"/>
            <a:chExt cx="902" cy="381"/>
          </a:xfrm>
        </p:grpSpPr>
        <p:sp>
          <p:nvSpPr>
            <p:cNvPr id="525431" name="Rectangle 119"/>
            <p:cNvSpPr>
              <a:spLocks noChangeArrowheads="1"/>
            </p:cNvSpPr>
            <p:nvPr/>
          </p:nvSpPr>
          <p:spPr bwMode="auto">
            <a:xfrm flipH="1">
              <a:off x="2635" y="1491"/>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chemeClr val="tx1"/>
                  </a:solidFill>
                </a:rPr>
                <a:t>1</a:t>
              </a:r>
            </a:p>
          </p:txBody>
        </p:sp>
        <p:sp>
          <p:nvSpPr>
            <p:cNvPr id="525432" name="Rectangle 120"/>
            <p:cNvSpPr>
              <a:spLocks noChangeArrowheads="1"/>
            </p:cNvSpPr>
            <p:nvPr/>
          </p:nvSpPr>
          <p:spPr bwMode="auto">
            <a:xfrm flipH="1">
              <a:off x="2923" y="1491"/>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rgbClr val="FF3300"/>
                  </a:solidFill>
                </a:rPr>
                <a:t>13</a:t>
              </a:r>
            </a:p>
          </p:txBody>
        </p:sp>
        <p:sp>
          <p:nvSpPr>
            <p:cNvPr id="525433" name="Rectangle 121"/>
            <p:cNvSpPr>
              <a:spLocks noChangeArrowheads="1"/>
            </p:cNvSpPr>
            <p:nvPr/>
          </p:nvSpPr>
          <p:spPr bwMode="auto">
            <a:xfrm flipH="1">
              <a:off x="3211" y="1491"/>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21</a:t>
              </a:r>
            </a:p>
          </p:txBody>
        </p:sp>
      </p:grpSp>
      <p:grpSp>
        <p:nvGrpSpPr>
          <p:cNvPr id="525460" name="Group 148"/>
          <p:cNvGrpSpPr>
            <a:grpSpLocks/>
          </p:cNvGrpSpPr>
          <p:nvPr/>
        </p:nvGrpSpPr>
        <p:grpSpPr bwMode="auto">
          <a:xfrm>
            <a:off x="6580788" y="3050628"/>
            <a:ext cx="1954212" cy="604838"/>
            <a:chOff x="4140" y="1587"/>
            <a:chExt cx="1231" cy="381"/>
          </a:xfrm>
        </p:grpSpPr>
        <p:sp>
          <p:nvSpPr>
            <p:cNvPr id="525435" name="Rectangle 123"/>
            <p:cNvSpPr>
              <a:spLocks noChangeArrowheads="1"/>
            </p:cNvSpPr>
            <p:nvPr/>
          </p:nvSpPr>
          <p:spPr bwMode="auto">
            <a:xfrm flipH="1">
              <a:off x="4140" y="1587"/>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525436" name="Rectangle 124"/>
            <p:cNvSpPr>
              <a:spLocks noChangeArrowheads="1"/>
            </p:cNvSpPr>
            <p:nvPr/>
          </p:nvSpPr>
          <p:spPr bwMode="auto">
            <a:xfrm flipH="1">
              <a:off x="4428" y="1587"/>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46</a:t>
              </a:r>
            </a:p>
          </p:txBody>
        </p:sp>
        <p:sp>
          <p:nvSpPr>
            <p:cNvPr id="525437" name="Rectangle 125"/>
            <p:cNvSpPr>
              <a:spLocks noChangeArrowheads="1"/>
            </p:cNvSpPr>
            <p:nvPr/>
          </p:nvSpPr>
          <p:spPr bwMode="auto">
            <a:xfrm flipH="1">
              <a:off x="4716" y="1587"/>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rgbClr val="FF3300"/>
                  </a:solidFill>
                </a:rPr>
                <a:t>69</a:t>
              </a:r>
            </a:p>
          </p:txBody>
        </p:sp>
        <p:sp>
          <p:nvSpPr>
            <p:cNvPr id="525438" name="Rectangle 126"/>
            <p:cNvSpPr>
              <a:spLocks noChangeArrowheads="1"/>
            </p:cNvSpPr>
            <p:nvPr/>
          </p:nvSpPr>
          <p:spPr bwMode="auto">
            <a:xfrm flipH="1">
              <a:off x="5045" y="1587"/>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t>77</a:t>
              </a:r>
            </a:p>
          </p:txBody>
        </p:sp>
      </p:grpSp>
      <p:sp>
        <p:nvSpPr>
          <p:cNvPr id="82" name="AutoShape 18"/>
          <p:cNvSpPr>
            <a:spLocks noChangeArrowheads="1"/>
          </p:cNvSpPr>
          <p:nvPr/>
        </p:nvSpPr>
        <p:spPr bwMode="auto">
          <a:xfrm>
            <a:off x="1767637" y="3114027"/>
            <a:ext cx="3642563" cy="1660525"/>
          </a:xfrm>
          <a:prstGeom prst="wedgeRoundRectCallout">
            <a:avLst>
              <a:gd name="adj1" fmla="val 35571"/>
              <a:gd name="adj2" fmla="val -112329"/>
              <a:gd name="adj3" fmla="val 16667"/>
            </a:avLst>
          </a:prstGeom>
          <a:solidFill>
            <a:srgbClr val="FFFFCC"/>
          </a:solidFill>
          <a:ln w="3175">
            <a:solidFill>
              <a:schemeClr val="tx1"/>
            </a:solidFill>
            <a:miter lim="800000"/>
            <a:headEnd/>
            <a:tailEnd/>
          </a:ln>
          <a:effectLst/>
        </p:spPr>
        <p:txBody>
          <a:bodyPr anchor="ctr"/>
          <a:lstStyle/>
          <a:p>
            <a:pPr algn="ctr"/>
            <a:r>
              <a:rPr lang="en-US" sz="2000" dirty="0">
                <a:solidFill>
                  <a:schemeClr val="tx1"/>
                </a:solidFill>
              </a:rPr>
              <a:t>This is our </a:t>
            </a:r>
            <a:r>
              <a:rPr lang="en-US" sz="2000" dirty="0">
                <a:solidFill>
                  <a:srgbClr val="FF0000"/>
                </a:solidFill>
              </a:rPr>
              <a:t>pivot</a:t>
            </a:r>
            <a:r>
              <a:rPr lang="en-US" sz="2000" dirty="0">
                <a:solidFill>
                  <a:schemeClr val="tx1"/>
                </a:solidFill>
              </a:rPr>
              <a:t> value.</a:t>
            </a:r>
          </a:p>
          <a:p>
            <a:pPr algn="ctr"/>
            <a:r>
              <a:rPr lang="en-US" sz="2000" dirty="0">
                <a:solidFill>
                  <a:schemeClr val="tx1"/>
                </a:solidFill>
              </a:rPr>
              <a:t>Our </a:t>
            </a:r>
            <a:r>
              <a:rPr lang="en-US" sz="2000" dirty="0">
                <a:solidFill>
                  <a:srgbClr val="6600CC"/>
                </a:solidFill>
              </a:rPr>
              <a:t>partition</a:t>
            </a:r>
            <a:r>
              <a:rPr lang="en-US" sz="2000" dirty="0">
                <a:solidFill>
                  <a:schemeClr val="tx1"/>
                </a:solidFill>
              </a:rPr>
              <a:t> function moves </a:t>
            </a:r>
            <a:r>
              <a:rPr lang="en-US" sz="2000" dirty="0">
                <a:solidFill>
                  <a:schemeClr val="accent1">
                    <a:lumMod val="50000"/>
                  </a:schemeClr>
                </a:solidFill>
              </a:rPr>
              <a:t>smaller values </a:t>
            </a:r>
            <a:r>
              <a:rPr lang="en-US" sz="2000" dirty="0">
                <a:solidFill>
                  <a:schemeClr val="tx1"/>
                </a:solidFill>
              </a:rPr>
              <a:t>to the </a:t>
            </a:r>
            <a:r>
              <a:rPr lang="en-US" sz="2000" dirty="0">
                <a:solidFill>
                  <a:schemeClr val="accent1">
                    <a:lumMod val="50000"/>
                  </a:schemeClr>
                </a:solidFill>
              </a:rPr>
              <a:t>left</a:t>
            </a:r>
            <a:r>
              <a:rPr lang="en-US" sz="2000" dirty="0">
                <a:solidFill>
                  <a:schemeClr val="tx1"/>
                </a:solidFill>
              </a:rPr>
              <a:t> of the array, </a:t>
            </a:r>
            <a:r>
              <a:rPr lang="en-US" sz="2000" dirty="0">
                <a:solidFill>
                  <a:srgbClr val="0000CC"/>
                </a:solidFill>
              </a:rPr>
              <a:t>larger values </a:t>
            </a:r>
            <a:r>
              <a:rPr lang="en-US" sz="2000" dirty="0">
                <a:solidFill>
                  <a:schemeClr val="tx1"/>
                </a:solidFill>
              </a:rPr>
              <a:t>to the </a:t>
            </a:r>
            <a:r>
              <a:rPr lang="en-US" sz="2000" dirty="0">
                <a:solidFill>
                  <a:srgbClr val="0000CC"/>
                </a:solidFill>
              </a:rPr>
              <a:t>right</a:t>
            </a:r>
            <a:r>
              <a:rPr lang="en-US" sz="2000" dirty="0">
                <a:solidFill>
                  <a:schemeClr val="tx1"/>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53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82"/>
                                        </p:tgtEl>
                                        <p:attrNameLst>
                                          <p:attrName>style.visibility</p:attrName>
                                        </p:attrNameLst>
                                      </p:cBhvr>
                                      <p:to>
                                        <p:strVal val="visible"/>
                                      </p:to>
                                    </p:set>
                                    <p:animEffect transition="in" filter="wipe(down)">
                                      <p:cBhvr>
                                        <p:cTn id="11" dur="500"/>
                                        <p:tgtEl>
                                          <p:spTgt spid="8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25457"/>
                                        </p:tgtEl>
                                        <p:attrNameLst>
                                          <p:attrName>style.visibility</p:attrName>
                                        </p:attrNameLst>
                                      </p:cBhvr>
                                      <p:to>
                                        <p:strVal val="visible"/>
                                      </p:to>
                                    </p:set>
                                    <p:animEffect transition="in" filter="wipe(left)">
                                      <p:cBhvr>
                                        <p:cTn id="21" dur="500"/>
                                        <p:tgtEl>
                                          <p:spTgt spid="52545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xit" presetSubtype="0" fill="hold" nodeType="clickEffect">
                                  <p:stCondLst>
                                    <p:cond delay="0"/>
                                  </p:stCondLst>
                                  <p:childTnLst>
                                    <p:set>
                                      <p:cBhvr>
                                        <p:cTn id="25" dur="1" fill="hold">
                                          <p:stCondLst>
                                            <p:cond delay="0"/>
                                          </p:stCondLst>
                                        </p:cTn>
                                        <p:tgtEl>
                                          <p:spTgt spid="82"/>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25480"/>
                                        </p:tgtEl>
                                        <p:attrNameLst>
                                          <p:attrName>style.visibility</p:attrName>
                                        </p:attrNameLst>
                                      </p:cBhvr>
                                      <p:to>
                                        <p:strVal val="visible"/>
                                      </p:to>
                                    </p:set>
                                    <p:animEffect transition="in" filter="wipe(left)">
                                      <p:cBhvr>
                                        <p:cTn id="30" dur="500"/>
                                        <p:tgtEl>
                                          <p:spTgt spid="525480"/>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52541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525474"/>
                                        </p:tgtEl>
                                        <p:attrNameLst>
                                          <p:attrName>style.visibility</p:attrName>
                                        </p:attrNameLst>
                                      </p:cBhvr>
                                      <p:to>
                                        <p:strVal val="visible"/>
                                      </p:to>
                                    </p:set>
                                    <p:animEffect transition="in" filter="wipe(up)">
                                      <p:cBhvr>
                                        <p:cTn id="39" dur="500"/>
                                        <p:tgtEl>
                                          <p:spTgt spid="525474"/>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525430"/>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0" presetClass="entr" presetSubtype="0" fill="hold" nodeType="clickEffect">
                                  <p:stCondLst>
                                    <p:cond delay="0"/>
                                  </p:stCondLst>
                                  <p:childTnLst>
                                    <p:set>
                                      <p:cBhvr>
                                        <p:cTn id="47" dur="1" fill="hold">
                                          <p:stCondLst>
                                            <p:cond delay="0"/>
                                          </p:stCondLst>
                                        </p:cTn>
                                        <p:tgtEl>
                                          <p:spTgt spid="74"/>
                                        </p:tgtEl>
                                        <p:attrNameLst>
                                          <p:attrName>style.visibility</p:attrName>
                                        </p:attrNameLst>
                                      </p:cBhvr>
                                      <p:to>
                                        <p:strVal val="visible"/>
                                      </p:to>
                                    </p:set>
                                    <p:animEffect transition="in" filter="fade">
                                      <p:cBhvr>
                                        <p:cTn id="48" dur="500"/>
                                        <p:tgtEl>
                                          <p:spTgt spid="74"/>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525459"/>
                                        </p:tgtEl>
                                        <p:attrNameLst>
                                          <p:attrName>style.visibility</p:attrName>
                                        </p:attrNameLst>
                                      </p:cBhvr>
                                      <p:to>
                                        <p:strVal val="visible"/>
                                      </p:to>
                                    </p:set>
                                    <p:animEffect transition="in" filter="wipe(left)">
                                      <p:cBhvr>
                                        <p:cTn id="53" dur="500"/>
                                        <p:tgtEl>
                                          <p:spTgt spid="525459"/>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525460"/>
                                        </p:tgtEl>
                                        <p:attrNameLst>
                                          <p:attrName>style.visibility</p:attrName>
                                        </p:attrNameLst>
                                      </p:cBhvr>
                                      <p:to>
                                        <p:strVal val="visible"/>
                                      </p:to>
                                    </p:set>
                                    <p:animEffect transition="in" filter="wipe(left)">
                                      <p:cBhvr>
                                        <p:cTn id="58" dur="500"/>
                                        <p:tgtEl>
                                          <p:spTgt spid="52546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525481"/>
                                        </p:tgtEl>
                                        <p:attrNameLst>
                                          <p:attrName>style.visibility</p:attrName>
                                        </p:attrNameLst>
                                      </p:cBhvr>
                                      <p:to>
                                        <p:strVal val="visible"/>
                                      </p:to>
                                    </p:set>
                                    <p:animEffect transition="in" filter="wipe(left)">
                                      <p:cBhvr>
                                        <p:cTn id="63" dur="500"/>
                                        <p:tgtEl>
                                          <p:spTgt spid="525481"/>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499"/>
                                          </p:stCondLst>
                                        </p:cTn>
                                        <p:tgtEl>
                                          <p:spTgt spid="525461"/>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1" fill="hold" nodeType="clickEffect">
                                  <p:stCondLst>
                                    <p:cond delay="0"/>
                                  </p:stCondLst>
                                  <p:childTnLst>
                                    <p:set>
                                      <p:cBhvr>
                                        <p:cTn id="71" dur="1" fill="hold">
                                          <p:stCondLst>
                                            <p:cond delay="0"/>
                                          </p:stCondLst>
                                        </p:cTn>
                                        <p:tgtEl>
                                          <p:spTgt spid="525475"/>
                                        </p:tgtEl>
                                        <p:attrNameLst>
                                          <p:attrName>style.visibility</p:attrName>
                                        </p:attrNameLst>
                                      </p:cBhvr>
                                      <p:to>
                                        <p:strVal val="visible"/>
                                      </p:to>
                                    </p:set>
                                    <p:animEffect transition="in" filter="wipe(up)">
                                      <p:cBhvr>
                                        <p:cTn id="72" dur="500"/>
                                        <p:tgtEl>
                                          <p:spTgt spid="525475"/>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1" fill="hold" nodeType="clickEffect">
                                  <p:stCondLst>
                                    <p:cond delay="0"/>
                                  </p:stCondLst>
                                  <p:childTnLst>
                                    <p:set>
                                      <p:cBhvr>
                                        <p:cTn id="76" dur="1" fill="hold">
                                          <p:stCondLst>
                                            <p:cond delay="0"/>
                                          </p:stCondLst>
                                        </p:cTn>
                                        <p:tgtEl>
                                          <p:spTgt spid="525476"/>
                                        </p:tgtEl>
                                        <p:attrNameLst>
                                          <p:attrName>style.visibility</p:attrName>
                                        </p:attrNameLst>
                                      </p:cBhvr>
                                      <p:to>
                                        <p:strVal val="visible"/>
                                      </p:to>
                                    </p:set>
                                    <p:animEffect transition="in" filter="wipe(up)">
                                      <p:cBhvr>
                                        <p:cTn id="77" dur="500"/>
                                        <p:tgtEl>
                                          <p:spTgt spid="52547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 presetClass="entr" presetSubtype="0" fill="hold" grpId="0" nodeType="clickEffect">
                                  <p:stCondLst>
                                    <p:cond delay="0"/>
                                  </p:stCondLst>
                                  <p:childTnLst>
                                    <p:set>
                                      <p:cBhvr>
                                        <p:cTn id="81" dur="1" fill="hold">
                                          <p:stCondLst>
                                            <p:cond delay="499"/>
                                          </p:stCondLst>
                                        </p:cTn>
                                        <p:tgtEl>
                                          <p:spTgt spid="525473"/>
                                        </p:tgtEl>
                                        <p:attrNameLst>
                                          <p:attrName>style.visibility</p:attrName>
                                        </p:attrNameLst>
                                      </p:cBhvr>
                                      <p:to>
                                        <p:strVal val="visible"/>
                                      </p:to>
                                    </p:se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525484"/>
                                        </p:tgtEl>
                                        <p:attrNameLst>
                                          <p:attrName>style.visibility</p:attrName>
                                        </p:attrNameLst>
                                      </p:cBhvr>
                                      <p:to>
                                        <p:strVal val="visible"/>
                                      </p:to>
                                    </p:set>
                                    <p:animEffect transition="in" filter="wipe(left)">
                                      <p:cBhvr>
                                        <p:cTn id="86" dur="500"/>
                                        <p:tgtEl>
                                          <p:spTgt spid="525484"/>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1" fill="hold" nodeType="clickEffect">
                                  <p:stCondLst>
                                    <p:cond delay="0"/>
                                  </p:stCondLst>
                                  <p:childTnLst>
                                    <p:set>
                                      <p:cBhvr>
                                        <p:cTn id="90" dur="1" fill="hold">
                                          <p:stCondLst>
                                            <p:cond delay="0"/>
                                          </p:stCondLst>
                                        </p:cTn>
                                        <p:tgtEl>
                                          <p:spTgt spid="525489"/>
                                        </p:tgtEl>
                                        <p:attrNameLst>
                                          <p:attrName>style.visibility</p:attrName>
                                        </p:attrNameLst>
                                      </p:cBhvr>
                                      <p:to>
                                        <p:strVal val="visible"/>
                                      </p:to>
                                    </p:set>
                                    <p:animEffect transition="in" filter="wipe(up)">
                                      <p:cBhvr>
                                        <p:cTn id="91" dur="500"/>
                                        <p:tgtEl>
                                          <p:spTgt spid="525489"/>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 presetClass="entr" presetSubtype="4" fill="hold" grpId="0" nodeType="clickEffect">
                                  <p:stCondLst>
                                    <p:cond delay="0"/>
                                  </p:stCondLst>
                                  <p:childTnLst>
                                    <p:set>
                                      <p:cBhvr>
                                        <p:cTn id="95" dur="1" fill="hold">
                                          <p:stCondLst>
                                            <p:cond delay="0"/>
                                          </p:stCondLst>
                                        </p:cTn>
                                        <p:tgtEl>
                                          <p:spTgt spid="525477"/>
                                        </p:tgtEl>
                                        <p:attrNameLst>
                                          <p:attrName>style.visibility</p:attrName>
                                        </p:attrNameLst>
                                      </p:cBhvr>
                                      <p:to>
                                        <p:strVal val="visible"/>
                                      </p:to>
                                    </p:set>
                                    <p:anim calcmode="lin" valueType="num">
                                      <p:cBhvr additive="base">
                                        <p:cTn id="96" dur="500" fill="hold"/>
                                        <p:tgtEl>
                                          <p:spTgt spid="525477"/>
                                        </p:tgtEl>
                                        <p:attrNameLst>
                                          <p:attrName>ppt_x</p:attrName>
                                        </p:attrNameLst>
                                      </p:cBhvr>
                                      <p:tavLst>
                                        <p:tav tm="0">
                                          <p:val>
                                            <p:strVal val="#ppt_x"/>
                                          </p:val>
                                        </p:tav>
                                        <p:tav tm="100000">
                                          <p:val>
                                            <p:strVal val="#ppt_x"/>
                                          </p:val>
                                        </p:tav>
                                      </p:tavLst>
                                    </p:anim>
                                    <p:anim calcmode="lin" valueType="num">
                                      <p:cBhvr additive="base">
                                        <p:cTn id="97" dur="500" fill="hold"/>
                                        <p:tgtEl>
                                          <p:spTgt spid="5254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66" grpId="0"/>
      <p:bldP spid="525419" grpId="0" autoUpdateAnimBg="0"/>
      <p:bldP spid="525430" grpId="0" autoUpdateAnimBg="0"/>
      <p:bldP spid="525461" grpId="0" autoUpdateAnimBg="0"/>
      <p:bldP spid="525473" grpId="0" autoUpdateAnimBg="0"/>
      <p:bldP spid="525477" grpId="0" autoUpdateAnimBg="0"/>
      <p:bldP spid="8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p:cNvSpPr>
            <a:spLocks noGrp="1"/>
          </p:cNvSpPr>
          <p:nvPr>
            <p:ph type="sldNum" sz="quarter" idx="12"/>
          </p:nvPr>
        </p:nvSpPr>
        <p:spPr/>
        <p:txBody>
          <a:bodyPr/>
          <a:lstStyle/>
          <a:p>
            <a:fld id="{B23BBC7E-F8D1-4914-8701-BD9CCC87F54B}" type="slidenum">
              <a:rPr lang="en-US"/>
              <a:pPr/>
              <a:t>10</a:t>
            </a:fld>
            <a:endParaRPr lang="en-US"/>
          </a:p>
        </p:txBody>
      </p:sp>
      <p:sp>
        <p:nvSpPr>
          <p:cNvPr id="512002" name="Rectangle 2"/>
          <p:cNvSpPr>
            <a:spLocks noGrp="1" noChangeArrowheads="1"/>
          </p:cNvSpPr>
          <p:nvPr>
            <p:ph type="title"/>
          </p:nvPr>
        </p:nvSpPr>
        <p:spPr>
          <a:xfrm>
            <a:off x="685800" y="-228600"/>
            <a:ext cx="7772400" cy="1143000"/>
          </a:xfrm>
        </p:spPr>
        <p:txBody>
          <a:bodyPr/>
          <a:lstStyle/>
          <a:p>
            <a:r>
              <a:rPr lang="en-US" dirty="0" err="1"/>
              <a:t>Mergesort</a:t>
            </a:r>
            <a:endParaRPr lang="en-US" dirty="0"/>
          </a:p>
        </p:txBody>
      </p:sp>
      <p:sp>
        <p:nvSpPr>
          <p:cNvPr id="512003" name="Text Box 3"/>
          <p:cNvSpPr txBox="1">
            <a:spLocks noChangeArrowheads="1"/>
          </p:cNvSpPr>
          <p:nvPr/>
        </p:nvSpPr>
        <p:spPr bwMode="auto">
          <a:xfrm>
            <a:off x="309563" y="914400"/>
            <a:ext cx="8531225" cy="82232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t>The Mergesort is another extremely efficient sort – yet it’s pretty easy to understand.</a:t>
            </a:r>
          </a:p>
        </p:txBody>
      </p:sp>
      <p:sp>
        <p:nvSpPr>
          <p:cNvPr id="512131" name="Text Box 131"/>
          <p:cNvSpPr txBox="1">
            <a:spLocks noChangeArrowheads="1"/>
          </p:cNvSpPr>
          <p:nvPr/>
        </p:nvSpPr>
        <p:spPr bwMode="auto">
          <a:xfrm>
            <a:off x="255588" y="5694363"/>
            <a:ext cx="8531225" cy="82232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t>But before we learn the </a:t>
            </a:r>
            <a:r>
              <a:rPr lang="en-US">
                <a:solidFill>
                  <a:srgbClr val="A50021"/>
                </a:solidFill>
              </a:rPr>
              <a:t>Mergesort</a:t>
            </a:r>
            <a:r>
              <a:rPr lang="en-US"/>
              <a:t>, we need to learn another algorithm called “</a:t>
            </a:r>
            <a:r>
              <a:rPr lang="en-US">
                <a:solidFill>
                  <a:srgbClr val="A50021"/>
                </a:solidFill>
              </a:rPr>
              <a:t>merge</a:t>
            </a:r>
            <a:r>
              <a:rPr lang="en-US"/>
              <a:t>”.</a:t>
            </a:r>
          </a:p>
        </p:txBody>
      </p:sp>
      <p:sp>
        <p:nvSpPr>
          <p:cNvPr id="512132" name="Text Box 132"/>
          <p:cNvSpPr txBox="1">
            <a:spLocks noChangeArrowheads="1"/>
          </p:cNvSpPr>
          <p:nvPr/>
        </p:nvSpPr>
        <p:spPr bwMode="auto">
          <a:xfrm>
            <a:off x="304800" y="2225675"/>
            <a:ext cx="8531225" cy="4572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endParaRPr lang="en-US"/>
          </a:p>
        </p:txBody>
      </p:sp>
      <p:pic>
        <p:nvPicPr>
          <p:cNvPr id="512133" name="Picture 133"/>
          <p:cNvPicPr>
            <a:picLocks noChangeAspect="1" noChangeArrowheads="1"/>
          </p:cNvPicPr>
          <p:nvPr/>
        </p:nvPicPr>
        <p:blipFill>
          <a:blip r:embed="rId3">
            <a:extLst>
              <a:ext uri="{28A0092B-C50C-407E-A947-70E740481C1C}">
                <a14:useLocalDpi xmlns:a14="http://schemas.microsoft.com/office/drawing/2010/main" val="0"/>
              </a:ext>
            </a:extLst>
          </a:blip>
          <a:srcRect t="1872"/>
          <a:stretch>
            <a:fillRect/>
          </a:stretch>
        </p:blipFill>
        <p:spPr bwMode="auto">
          <a:xfrm>
            <a:off x="2967038" y="2136775"/>
            <a:ext cx="2882900" cy="282892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Slide Number Placeholder 4"/>
          <p:cNvSpPr>
            <a:spLocks noGrp="1"/>
          </p:cNvSpPr>
          <p:nvPr>
            <p:ph type="sldNum" sz="quarter" idx="12"/>
          </p:nvPr>
        </p:nvSpPr>
        <p:spPr/>
        <p:txBody>
          <a:bodyPr/>
          <a:lstStyle/>
          <a:p>
            <a:fld id="{84023EDB-EF81-4DA0-9101-1E93948FDF67}" type="slidenum">
              <a:rPr lang="en-US"/>
              <a:pPr/>
              <a:t>11</a:t>
            </a:fld>
            <a:endParaRPr lang="en-US"/>
          </a:p>
        </p:txBody>
      </p:sp>
      <p:sp>
        <p:nvSpPr>
          <p:cNvPr id="661532" name="Text Box 28"/>
          <p:cNvSpPr txBox="1">
            <a:spLocks noChangeArrowheads="1"/>
          </p:cNvSpPr>
          <p:nvPr/>
        </p:nvSpPr>
        <p:spPr bwMode="auto">
          <a:xfrm>
            <a:off x="4006850" y="4538663"/>
            <a:ext cx="5032375" cy="2165350"/>
          </a:xfrm>
          <a:prstGeom prst="rect">
            <a:avLst/>
          </a:prstGeom>
          <a:solidFill>
            <a:srgbClr val="FFF5EB"/>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700">
                <a:solidFill>
                  <a:srgbClr val="0000CC"/>
                </a:solidFill>
              </a:rPr>
              <a:t>1. Initialize counter variables i1, i2 to zero</a:t>
            </a:r>
          </a:p>
          <a:p>
            <a:r>
              <a:rPr lang="en-US" sz="1700">
                <a:solidFill>
                  <a:srgbClr val="0000CC"/>
                </a:solidFill>
              </a:rPr>
              <a:t>2. While there are more items to copy…</a:t>
            </a:r>
          </a:p>
          <a:p>
            <a:r>
              <a:rPr lang="en-US" sz="1700">
                <a:solidFill>
                  <a:srgbClr val="0000CC"/>
                </a:solidFill>
              </a:rPr>
              <a:t>    If A1[i1] is less than A2[i2]</a:t>
            </a:r>
          </a:p>
          <a:p>
            <a:r>
              <a:rPr lang="en-US" sz="1700">
                <a:solidFill>
                  <a:srgbClr val="0000CC"/>
                </a:solidFill>
              </a:rPr>
              <a:t>         Copy A1[i1] to output array B and i1++</a:t>
            </a:r>
          </a:p>
          <a:p>
            <a:r>
              <a:rPr lang="en-US" sz="1700">
                <a:solidFill>
                  <a:srgbClr val="0000CC"/>
                </a:solidFill>
              </a:rPr>
              <a:t>    Else </a:t>
            </a:r>
          </a:p>
          <a:p>
            <a:r>
              <a:rPr lang="en-US" sz="1700">
                <a:solidFill>
                  <a:srgbClr val="0000CC"/>
                </a:solidFill>
              </a:rPr>
              <a:t>         Copy A2[i2] to output array B and i2++</a:t>
            </a:r>
          </a:p>
          <a:p>
            <a:r>
              <a:rPr lang="en-US" sz="1700">
                <a:solidFill>
                  <a:srgbClr val="0000CC"/>
                </a:solidFill>
              </a:rPr>
              <a:t>3. If either array runs out, copy the entire </a:t>
            </a:r>
            <a:br>
              <a:rPr lang="en-US" sz="1700">
                <a:solidFill>
                  <a:srgbClr val="0000CC"/>
                </a:solidFill>
              </a:rPr>
            </a:br>
            <a:r>
              <a:rPr lang="en-US" sz="1700">
                <a:solidFill>
                  <a:srgbClr val="0000CC"/>
                </a:solidFill>
              </a:rPr>
              <a:t>    contents of the other array over</a:t>
            </a:r>
          </a:p>
        </p:txBody>
      </p:sp>
      <p:pic>
        <p:nvPicPr>
          <p:cNvPr id="66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997075"/>
            <a:ext cx="3127375" cy="2087563"/>
          </a:xfrm>
          <a:prstGeom prst="rect">
            <a:avLst/>
          </a:prstGeom>
          <a:noFill/>
          <a:extLst>
            <a:ext uri="{909E8E84-426E-40DD-AFC4-6F175D3DCCD1}">
              <a14:hiddenFill xmlns:a14="http://schemas.microsoft.com/office/drawing/2010/main">
                <a:solidFill>
                  <a:srgbClr val="FFFFFF"/>
                </a:solidFill>
              </a14:hiddenFill>
            </a:ext>
          </a:extLst>
        </p:spPr>
      </p:pic>
      <p:sp>
        <p:nvSpPr>
          <p:cNvPr id="661507" name="Rectangle 3"/>
          <p:cNvSpPr>
            <a:spLocks noGrp="1" noChangeArrowheads="1"/>
          </p:cNvSpPr>
          <p:nvPr>
            <p:ph type="title"/>
          </p:nvPr>
        </p:nvSpPr>
        <p:spPr>
          <a:xfrm>
            <a:off x="685800" y="-228600"/>
            <a:ext cx="7772400" cy="1143000"/>
          </a:xfrm>
        </p:spPr>
        <p:txBody>
          <a:bodyPr/>
          <a:lstStyle/>
          <a:p>
            <a:r>
              <a:rPr lang="en-US"/>
              <a:t>Mergesort</a:t>
            </a:r>
          </a:p>
        </p:txBody>
      </p:sp>
      <p:sp>
        <p:nvSpPr>
          <p:cNvPr id="661509" name="Text Box 5"/>
          <p:cNvSpPr txBox="1">
            <a:spLocks noChangeArrowheads="1"/>
          </p:cNvSpPr>
          <p:nvPr/>
        </p:nvSpPr>
        <p:spPr bwMode="auto">
          <a:xfrm>
            <a:off x="449263" y="857250"/>
            <a:ext cx="8531225" cy="82232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solidFill>
                  <a:schemeClr val="tx1"/>
                </a:solidFill>
              </a:rPr>
              <a:t>The basic </a:t>
            </a:r>
            <a:r>
              <a:rPr lang="en-US">
                <a:solidFill>
                  <a:srgbClr val="A50021"/>
                </a:solidFill>
              </a:rPr>
              <a:t>merge</a:t>
            </a:r>
            <a:r>
              <a:rPr lang="en-US"/>
              <a:t> algorithm takes </a:t>
            </a:r>
            <a:r>
              <a:rPr lang="en-US">
                <a:solidFill>
                  <a:srgbClr val="006666"/>
                </a:solidFill>
              </a:rPr>
              <a:t>two-presorted arrays</a:t>
            </a:r>
            <a:r>
              <a:rPr lang="en-US"/>
              <a:t> as inputs and </a:t>
            </a:r>
            <a:r>
              <a:rPr lang="en-US">
                <a:solidFill>
                  <a:srgbClr val="006666"/>
                </a:solidFill>
              </a:rPr>
              <a:t>outputs a combined, third sorted array</a:t>
            </a:r>
            <a:r>
              <a:rPr lang="en-US"/>
              <a:t>.</a:t>
            </a:r>
          </a:p>
        </p:txBody>
      </p:sp>
      <p:pic>
        <p:nvPicPr>
          <p:cNvPr id="66151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8825" y="1905000"/>
            <a:ext cx="3124200" cy="19812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61511" name="Group 7"/>
          <p:cNvGrpSpPr>
            <a:grpSpLocks/>
          </p:cNvGrpSpPr>
          <p:nvPr/>
        </p:nvGrpSpPr>
        <p:grpSpPr bwMode="auto">
          <a:xfrm>
            <a:off x="876300" y="2087563"/>
            <a:ext cx="2833688" cy="1730375"/>
            <a:chOff x="912" y="814"/>
            <a:chExt cx="3483" cy="2264"/>
          </a:xfrm>
        </p:grpSpPr>
        <p:sp>
          <p:nvSpPr>
            <p:cNvPr id="661512" name="Rectangle 8"/>
            <p:cNvSpPr>
              <a:spLocks noChangeArrowheads="1"/>
            </p:cNvSpPr>
            <p:nvPr/>
          </p:nvSpPr>
          <p:spPr bwMode="auto">
            <a:xfrm>
              <a:off x="929" y="864"/>
              <a:ext cx="3464" cy="2214"/>
            </a:xfrm>
            <a:prstGeom prst="rect">
              <a:avLst/>
            </a:prstGeom>
            <a:solidFill>
              <a:srgbClr val="1F1F1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1513" name="Line 9"/>
            <p:cNvSpPr>
              <a:spLocks noChangeShapeType="1"/>
            </p:cNvSpPr>
            <p:nvPr/>
          </p:nvSpPr>
          <p:spPr bwMode="auto">
            <a:xfrm>
              <a:off x="912" y="864"/>
              <a:ext cx="16" cy="150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1514" name="Line 10"/>
            <p:cNvSpPr>
              <a:spLocks noChangeShapeType="1"/>
            </p:cNvSpPr>
            <p:nvPr/>
          </p:nvSpPr>
          <p:spPr bwMode="auto">
            <a:xfrm flipH="1">
              <a:off x="4386" y="814"/>
              <a:ext cx="9" cy="1508"/>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pic>
        <p:nvPicPr>
          <p:cNvPr id="661515"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4422775"/>
            <a:ext cx="3124200" cy="19812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61516" name="Group 12"/>
          <p:cNvGrpSpPr>
            <a:grpSpLocks/>
          </p:cNvGrpSpPr>
          <p:nvPr/>
        </p:nvGrpSpPr>
        <p:grpSpPr bwMode="auto">
          <a:xfrm>
            <a:off x="879475" y="4605338"/>
            <a:ext cx="2833688" cy="1730375"/>
            <a:chOff x="912" y="814"/>
            <a:chExt cx="3483" cy="2264"/>
          </a:xfrm>
        </p:grpSpPr>
        <p:sp>
          <p:nvSpPr>
            <p:cNvPr id="661517" name="Rectangle 13"/>
            <p:cNvSpPr>
              <a:spLocks noChangeArrowheads="1"/>
            </p:cNvSpPr>
            <p:nvPr/>
          </p:nvSpPr>
          <p:spPr bwMode="auto">
            <a:xfrm>
              <a:off x="929" y="864"/>
              <a:ext cx="3464" cy="2214"/>
            </a:xfrm>
            <a:prstGeom prst="rect">
              <a:avLst/>
            </a:prstGeom>
            <a:solidFill>
              <a:srgbClr val="1F1F1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1518" name="Line 14"/>
            <p:cNvSpPr>
              <a:spLocks noChangeShapeType="1"/>
            </p:cNvSpPr>
            <p:nvPr/>
          </p:nvSpPr>
          <p:spPr bwMode="auto">
            <a:xfrm>
              <a:off x="912" y="864"/>
              <a:ext cx="16" cy="150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1519" name="Line 15"/>
            <p:cNvSpPr>
              <a:spLocks noChangeShapeType="1"/>
            </p:cNvSpPr>
            <p:nvPr/>
          </p:nvSpPr>
          <p:spPr bwMode="auto">
            <a:xfrm flipH="1">
              <a:off x="4386" y="814"/>
              <a:ext cx="9" cy="1508"/>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pic>
        <p:nvPicPr>
          <p:cNvPr id="661521"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7300" y="5380038"/>
            <a:ext cx="255588" cy="908050"/>
          </a:xfrm>
          <a:prstGeom prst="rect">
            <a:avLst/>
          </a:prstGeom>
          <a:noFill/>
          <a:extLst>
            <a:ext uri="{909E8E84-426E-40DD-AFC4-6F175D3DCCD1}">
              <a14:hiddenFill xmlns:a14="http://schemas.microsoft.com/office/drawing/2010/main">
                <a:solidFill>
                  <a:srgbClr val="FFFFFF"/>
                </a:solidFill>
              </a14:hiddenFill>
            </a:ext>
          </a:extLst>
        </p:spPr>
      </p:pic>
      <p:pic>
        <p:nvPicPr>
          <p:cNvPr id="661522" name="Picture 18"/>
          <p:cNvPicPr>
            <a:picLocks noChangeAspect="1" noChangeArrowheads="1"/>
          </p:cNvPicPr>
          <p:nvPr/>
        </p:nvPicPr>
        <p:blipFill>
          <a:blip r:embed="rId6" cstate="print">
            <a:extLst>
              <a:ext uri="{28A0092B-C50C-407E-A947-70E740481C1C}">
                <a14:useLocalDpi xmlns:a14="http://schemas.microsoft.com/office/drawing/2010/main" val="0"/>
              </a:ext>
            </a:extLst>
          </a:blip>
          <a:srcRect r="2388" b="1042"/>
          <a:stretch>
            <a:fillRect/>
          </a:stretch>
        </p:blipFill>
        <p:spPr bwMode="auto">
          <a:xfrm>
            <a:off x="989013" y="5518150"/>
            <a:ext cx="223837" cy="769938"/>
          </a:xfrm>
          <a:prstGeom prst="rect">
            <a:avLst/>
          </a:prstGeom>
          <a:noFill/>
          <a:extLst>
            <a:ext uri="{909E8E84-426E-40DD-AFC4-6F175D3DCCD1}">
              <a14:hiddenFill xmlns:a14="http://schemas.microsoft.com/office/drawing/2010/main">
                <a:solidFill>
                  <a:srgbClr val="FFFFFF"/>
                </a:solidFill>
              </a14:hiddenFill>
            </a:ext>
          </a:extLst>
        </p:spPr>
      </p:pic>
      <p:pic>
        <p:nvPicPr>
          <p:cNvPr id="661523" name="Picture 19"/>
          <p:cNvPicPr>
            <a:picLocks noChangeAspect="1" noChangeArrowheads="1"/>
          </p:cNvPicPr>
          <p:nvPr/>
        </p:nvPicPr>
        <p:blipFill>
          <a:blip r:embed="rId7" cstate="print">
            <a:extLst>
              <a:ext uri="{28A0092B-C50C-407E-A947-70E740481C1C}">
                <a14:useLocalDpi xmlns:a14="http://schemas.microsoft.com/office/drawing/2010/main" val="0"/>
              </a:ext>
            </a:extLst>
          </a:blip>
          <a:srcRect l="710"/>
          <a:stretch>
            <a:fillRect/>
          </a:stretch>
        </p:blipFill>
        <p:spPr bwMode="auto">
          <a:xfrm>
            <a:off x="944563" y="2601913"/>
            <a:ext cx="312737" cy="1201737"/>
          </a:xfrm>
          <a:prstGeom prst="rect">
            <a:avLst/>
          </a:prstGeom>
          <a:noFill/>
          <a:extLst>
            <a:ext uri="{909E8E84-426E-40DD-AFC4-6F175D3DCCD1}">
              <a14:hiddenFill xmlns:a14="http://schemas.microsoft.com/office/drawing/2010/main">
                <a:solidFill>
                  <a:srgbClr val="FFFFFF"/>
                </a:solidFill>
              </a14:hiddenFill>
            </a:ext>
          </a:extLst>
        </p:spPr>
      </p:pic>
      <p:pic>
        <p:nvPicPr>
          <p:cNvPr id="661524" name="Picture 20"/>
          <p:cNvPicPr>
            <a:picLocks noChangeAspect="1" noChangeArrowheads="1"/>
          </p:cNvPicPr>
          <p:nvPr/>
        </p:nvPicPr>
        <p:blipFill>
          <a:blip r:embed="rId8" cstate="print">
            <a:extLst>
              <a:ext uri="{28A0092B-C50C-407E-A947-70E740481C1C}">
                <a14:useLocalDpi xmlns:a14="http://schemas.microsoft.com/office/drawing/2010/main" val="0"/>
              </a:ext>
            </a:extLst>
          </a:blip>
          <a:srcRect r="17955"/>
          <a:stretch>
            <a:fillRect/>
          </a:stretch>
        </p:blipFill>
        <p:spPr bwMode="auto">
          <a:xfrm>
            <a:off x="1276350" y="2403475"/>
            <a:ext cx="342900" cy="1397000"/>
          </a:xfrm>
          <a:prstGeom prst="rect">
            <a:avLst/>
          </a:prstGeom>
          <a:noFill/>
          <a:extLst>
            <a:ext uri="{909E8E84-426E-40DD-AFC4-6F175D3DCCD1}">
              <a14:hiddenFill xmlns:a14="http://schemas.microsoft.com/office/drawing/2010/main">
                <a:solidFill>
                  <a:srgbClr val="FFFFFF"/>
                </a:solidFill>
              </a14:hiddenFill>
            </a:ext>
          </a:extLst>
        </p:spPr>
      </p:pic>
      <p:pic>
        <p:nvPicPr>
          <p:cNvPr id="661525" name="Picture 21"/>
          <p:cNvPicPr>
            <a:picLocks noChangeAspect="1" noChangeArrowheads="1"/>
          </p:cNvPicPr>
          <p:nvPr/>
        </p:nvPicPr>
        <p:blipFill>
          <a:blip r:embed="rId9" cstate="print">
            <a:extLst>
              <a:ext uri="{28A0092B-C50C-407E-A947-70E740481C1C}">
                <a14:useLocalDpi xmlns:a14="http://schemas.microsoft.com/office/drawing/2010/main" val="0"/>
              </a:ext>
            </a:extLst>
          </a:blip>
          <a:srcRect l="2806" t="2338" r="63844"/>
          <a:stretch>
            <a:fillRect/>
          </a:stretch>
        </p:blipFill>
        <p:spPr bwMode="auto">
          <a:xfrm>
            <a:off x="1589088" y="4799013"/>
            <a:ext cx="392112" cy="1506537"/>
          </a:xfrm>
          <a:prstGeom prst="rect">
            <a:avLst/>
          </a:prstGeom>
          <a:noFill/>
          <a:extLst>
            <a:ext uri="{909E8E84-426E-40DD-AFC4-6F175D3DCCD1}">
              <a14:hiddenFill xmlns:a14="http://schemas.microsoft.com/office/drawing/2010/main">
                <a:solidFill>
                  <a:srgbClr val="FFFFFF"/>
                </a:solidFill>
              </a14:hiddenFill>
            </a:ext>
          </a:extLst>
        </p:spPr>
      </p:pic>
      <p:pic>
        <p:nvPicPr>
          <p:cNvPr id="661526" name="Picture 2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668463" y="2071688"/>
            <a:ext cx="268287" cy="1724025"/>
          </a:xfrm>
          <a:prstGeom prst="rect">
            <a:avLst/>
          </a:prstGeom>
          <a:noFill/>
          <a:extLst>
            <a:ext uri="{909E8E84-426E-40DD-AFC4-6F175D3DCCD1}">
              <a14:hiddenFill xmlns:a14="http://schemas.microsoft.com/office/drawing/2010/main">
                <a:solidFill>
                  <a:srgbClr val="FFFFFF"/>
                </a:solidFill>
              </a14:hiddenFill>
            </a:ext>
          </a:extLst>
        </p:spPr>
      </p:pic>
      <p:grpSp>
        <p:nvGrpSpPr>
          <p:cNvPr id="661534" name="Group 30"/>
          <p:cNvGrpSpPr>
            <a:grpSpLocks/>
          </p:cNvGrpSpPr>
          <p:nvPr/>
        </p:nvGrpSpPr>
        <p:grpSpPr bwMode="auto">
          <a:xfrm>
            <a:off x="914400" y="6267450"/>
            <a:ext cx="455613" cy="666750"/>
            <a:chOff x="1223" y="3324"/>
            <a:chExt cx="287" cy="420"/>
          </a:xfrm>
        </p:grpSpPr>
        <p:sp>
          <p:nvSpPr>
            <p:cNvPr id="661535" name="Line 31"/>
            <p:cNvSpPr>
              <a:spLocks noChangeShapeType="1"/>
            </p:cNvSpPr>
            <p:nvPr/>
          </p:nvSpPr>
          <p:spPr bwMode="auto">
            <a:xfrm flipH="1" flipV="1">
              <a:off x="1339" y="3324"/>
              <a:ext cx="5" cy="18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1536" name="Text Box 32"/>
            <p:cNvSpPr txBox="1">
              <a:spLocks noChangeArrowheads="1"/>
            </p:cNvSpPr>
            <p:nvPr/>
          </p:nvSpPr>
          <p:spPr bwMode="auto">
            <a:xfrm>
              <a:off x="1223" y="3456"/>
              <a:ext cx="287" cy="28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i2</a:t>
              </a:r>
            </a:p>
          </p:txBody>
        </p:sp>
      </p:grpSp>
      <p:grpSp>
        <p:nvGrpSpPr>
          <p:cNvPr id="661537" name="Group 33"/>
          <p:cNvGrpSpPr>
            <a:grpSpLocks/>
          </p:cNvGrpSpPr>
          <p:nvPr/>
        </p:nvGrpSpPr>
        <p:grpSpPr bwMode="auto">
          <a:xfrm>
            <a:off x="955675" y="3733800"/>
            <a:ext cx="406400" cy="666750"/>
            <a:chOff x="1223" y="3324"/>
            <a:chExt cx="256" cy="420"/>
          </a:xfrm>
        </p:grpSpPr>
        <p:sp>
          <p:nvSpPr>
            <p:cNvPr id="661538" name="Line 34"/>
            <p:cNvSpPr>
              <a:spLocks noChangeShapeType="1"/>
            </p:cNvSpPr>
            <p:nvPr/>
          </p:nvSpPr>
          <p:spPr bwMode="auto">
            <a:xfrm flipH="1" flipV="1">
              <a:off x="1339" y="3324"/>
              <a:ext cx="5" cy="18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1539" name="Text Box 35"/>
            <p:cNvSpPr txBox="1">
              <a:spLocks noChangeArrowheads="1"/>
            </p:cNvSpPr>
            <p:nvPr/>
          </p:nvSpPr>
          <p:spPr bwMode="auto">
            <a:xfrm>
              <a:off x="1223" y="3456"/>
              <a:ext cx="256" cy="28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i1</a:t>
              </a:r>
            </a:p>
          </p:txBody>
        </p:sp>
      </p:grpSp>
      <p:sp>
        <p:nvSpPr>
          <p:cNvPr id="661559" name="Text Box 55"/>
          <p:cNvSpPr txBox="1">
            <a:spLocks noChangeArrowheads="1"/>
          </p:cNvSpPr>
          <p:nvPr/>
        </p:nvSpPr>
        <p:spPr bwMode="auto">
          <a:xfrm>
            <a:off x="3262313" y="1987550"/>
            <a:ext cx="542925" cy="4572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bg1"/>
                </a:solidFill>
              </a:rPr>
              <a:t>A1</a:t>
            </a:r>
          </a:p>
        </p:txBody>
      </p:sp>
      <p:sp>
        <p:nvSpPr>
          <p:cNvPr id="661560" name="Text Box 56"/>
          <p:cNvSpPr txBox="1">
            <a:spLocks noChangeArrowheads="1"/>
          </p:cNvSpPr>
          <p:nvPr/>
        </p:nvSpPr>
        <p:spPr bwMode="auto">
          <a:xfrm>
            <a:off x="3181350" y="4532313"/>
            <a:ext cx="592138" cy="4572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bg1"/>
                </a:solidFill>
              </a:rPr>
              <a:t>A2</a:t>
            </a:r>
          </a:p>
        </p:txBody>
      </p:sp>
      <p:sp>
        <p:nvSpPr>
          <p:cNvPr id="661561" name="Text Box 57"/>
          <p:cNvSpPr txBox="1">
            <a:spLocks noChangeArrowheads="1"/>
          </p:cNvSpPr>
          <p:nvPr/>
        </p:nvSpPr>
        <p:spPr bwMode="auto">
          <a:xfrm>
            <a:off x="7327900" y="2105025"/>
            <a:ext cx="376238" cy="4572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bg1"/>
                </a:solidFill>
              </a:rPr>
              <a:t>B</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Slide Number Placeholder 4"/>
          <p:cNvSpPr>
            <a:spLocks noGrp="1"/>
          </p:cNvSpPr>
          <p:nvPr>
            <p:ph type="sldNum" sz="quarter" idx="12"/>
          </p:nvPr>
        </p:nvSpPr>
        <p:spPr/>
        <p:txBody>
          <a:bodyPr/>
          <a:lstStyle/>
          <a:p>
            <a:fld id="{80951EF7-44FB-41B4-9653-A160E725D80A}" type="slidenum">
              <a:rPr lang="en-US"/>
              <a:pPr/>
              <a:t>12</a:t>
            </a:fld>
            <a:endParaRPr lang="en-US"/>
          </a:p>
        </p:txBody>
      </p:sp>
      <p:sp>
        <p:nvSpPr>
          <p:cNvPr id="514050" name="Rectangle 2"/>
          <p:cNvSpPr>
            <a:spLocks noGrp="1" noChangeArrowheads="1"/>
          </p:cNvSpPr>
          <p:nvPr>
            <p:ph type="title"/>
          </p:nvPr>
        </p:nvSpPr>
        <p:spPr>
          <a:xfrm>
            <a:off x="69850" y="27523"/>
            <a:ext cx="5573713" cy="1143000"/>
          </a:xfrm>
        </p:spPr>
        <p:txBody>
          <a:bodyPr/>
          <a:lstStyle/>
          <a:p>
            <a:r>
              <a:rPr lang="en-US" sz="3600" dirty="0"/>
              <a:t>Merge Algorithm in C++</a:t>
            </a:r>
          </a:p>
        </p:txBody>
      </p:sp>
      <p:sp>
        <p:nvSpPr>
          <p:cNvPr id="514051" name="Rectangle 3"/>
          <p:cNvSpPr>
            <a:spLocks noChangeArrowheads="1"/>
          </p:cNvSpPr>
          <p:nvPr/>
        </p:nvSpPr>
        <p:spPr bwMode="auto">
          <a:xfrm>
            <a:off x="69850" y="990600"/>
            <a:ext cx="5416550" cy="5539978"/>
          </a:xfrm>
          <a:prstGeom prst="rect">
            <a:avLst/>
          </a:prstGeom>
          <a:solidFill>
            <a:srgbClr val="CCFFCC"/>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1800" b="1" dirty="0">
                <a:solidFill>
                  <a:schemeClr val="tx1"/>
                </a:solidFill>
                <a:latin typeface="Courier New" pitchFamily="49" charset="0"/>
              </a:rPr>
              <a:t>void </a:t>
            </a:r>
            <a:r>
              <a:rPr lang="en-US" sz="1800" b="1" dirty="0">
                <a:solidFill>
                  <a:srgbClr val="6600CC"/>
                </a:solidFill>
                <a:latin typeface="Courier New" pitchFamily="49" charset="0"/>
              </a:rPr>
              <a:t>merge</a:t>
            </a:r>
            <a:r>
              <a:rPr lang="en-US" sz="1800" b="1" dirty="0">
                <a:solidFill>
                  <a:schemeClr val="tx1"/>
                </a:solidFill>
                <a:latin typeface="Courier New" pitchFamily="49" charset="0"/>
              </a:rPr>
              <a:t>(int </a:t>
            </a:r>
            <a:r>
              <a:rPr lang="en-US" sz="1800" b="1" dirty="0">
                <a:solidFill>
                  <a:schemeClr val="accent1">
                    <a:lumMod val="50000"/>
                  </a:schemeClr>
                </a:solidFill>
                <a:latin typeface="Courier New" pitchFamily="49" charset="0"/>
              </a:rPr>
              <a:t>data</a:t>
            </a:r>
            <a:r>
              <a:rPr lang="en-US" sz="1800" b="1" dirty="0">
                <a:solidFill>
                  <a:schemeClr val="tx1"/>
                </a:solidFill>
                <a:latin typeface="Courier New" pitchFamily="49" charset="0"/>
              </a:rPr>
              <a:t>[], int </a:t>
            </a:r>
            <a:r>
              <a:rPr lang="en-US" sz="1800" b="1" dirty="0">
                <a:solidFill>
                  <a:schemeClr val="accent1">
                    <a:lumMod val="50000"/>
                  </a:schemeClr>
                </a:solidFill>
                <a:latin typeface="Courier New" pitchFamily="49" charset="0"/>
              </a:rPr>
              <a:t>n1</a:t>
            </a:r>
            <a:r>
              <a:rPr lang="en-US" sz="1800" b="1" dirty="0">
                <a:solidFill>
                  <a:schemeClr val="tx1"/>
                </a:solidFill>
                <a:latin typeface="Courier New" pitchFamily="49" charset="0"/>
              </a:rPr>
              <a:t>, int </a:t>
            </a:r>
            <a:r>
              <a:rPr lang="en-US" sz="1800" b="1" dirty="0">
                <a:solidFill>
                  <a:schemeClr val="accent1">
                    <a:lumMod val="50000"/>
                  </a:schemeClr>
                </a:solidFill>
                <a:latin typeface="Courier New" pitchFamily="49" charset="0"/>
              </a:rPr>
              <a:t>n2</a:t>
            </a:r>
            <a:r>
              <a:rPr lang="en-US" sz="1800" b="1" dirty="0">
                <a:solidFill>
                  <a:schemeClr val="tx1"/>
                </a:solidFill>
                <a:latin typeface="Courier New" pitchFamily="49" charset="0"/>
              </a:rPr>
              <a:t>,</a:t>
            </a:r>
            <a:br>
              <a:rPr lang="en-US" sz="1800" b="1" dirty="0">
                <a:solidFill>
                  <a:schemeClr val="tx1"/>
                </a:solidFill>
                <a:latin typeface="Courier New" pitchFamily="49" charset="0"/>
              </a:rPr>
            </a:br>
            <a:r>
              <a:rPr lang="en-US" sz="1800" b="1" dirty="0">
                <a:solidFill>
                  <a:schemeClr val="tx1"/>
                </a:solidFill>
                <a:latin typeface="Courier New" pitchFamily="49" charset="0"/>
              </a:rPr>
              <a:t>           int </a:t>
            </a:r>
            <a:r>
              <a:rPr lang="en-US" sz="1800" b="1" dirty="0">
                <a:solidFill>
                  <a:srgbClr val="FF0000"/>
                </a:solidFill>
                <a:latin typeface="Courier New" pitchFamily="49" charset="0"/>
              </a:rPr>
              <a:t>temp</a:t>
            </a:r>
            <a:r>
              <a:rPr lang="en-US" sz="1800" b="1" dirty="0">
                <a:solidFill>
                  <a:schemeClr val="tx1"/>
                </a:solidFill>
                <a:latin typeface="Courier New" pitchFamily="49" charset="0"/>
              </a:rPr>
              <a:t>[])</a:t>
            </a:r>
            <a:endParaRPr lang="en-US" sz="1200" dirty="0">
              <a:solidFill>
                <a:schemeClr val="tx1"/>
              </a:solidFill>
            </a:endParaRPr>
          </a:p>
          <a:p>
            <a:pPr eaLnBrk="0" hangingPunct="0"/>
            <a:r>
              <a:rPr lang="en-US" sz="1800" b="1" dirty="0">
                <a:solidFill>
                  <a:schemeClr val="tx1"/>
                </a:solidFill>
                <a:latin typeface="Courier New" pitchFamily="49" charset="0"/>
              </a:rPr>
              <a:t>{</a:t>
            </a:r>
            <a:endParaRPr lang="en-US" sz="1200" dirty="0">
              <a:solidFill>
                <a:schemeClr val="tx1"/>
              </a:solidFill>
            </a:endParaRPr>
          </a:p>
          <a:p>
            <a:pPr eaLnBrk="0" hangingPunct="0"/>
            <a:r>
              <a:rPr lang="en-US" sz="1800" b="1" dirty="0">
                <a:solidFill>
                  <a:schemeClr val="tx1"/>
                </a:solidFill>
                <a:latin typeface="Courier New" pitchFamily="49" charset="0"/>
              </a:rPr>
              <a:t>  int i1=0, i2=0, k=0;</a:t>
            </a:r>
            <a:endParaRPr lang="en-US" sz="1200" dirty="0">
              <a:solidFill>
                <a:schemeClr val="tx1"/>
              </a:solidFill>
            </a:endParaRPr>
          </a:p>
          <a:p>
            <a:pPr eaLnBrk="0" hangingPunct="0"/>
            <a:r>
              <a:rPr lang="en-US" sz="1800" b="1" dirty="0">
                <a:solidFill>
                  <a:schemeClr val="tx1"/>
                </a:solidFill>
                <a:latin typeface="Courier New" pitchFamily="49" charset="0"/>
              </a:rPr>
              <a:t>  int *A1 = data, *A2 = data + n1;</a:t>
            </a:r>
            <a:endParaRPr lang="en-US" sz="1200" dirty="0">
              <a:solidFill>
                <a:schemeClr val="tx1"/>
              </a:solidFill>
            </a:endParaRPr>
          </a:p>
          <a:p>
            <a:pPr eaLnBrk="0" hangingPunct="0"/>
            <a:r>
              <a:rPr lang="en-US" sz="1200" b="1" dirty="0">
                <a:solidFill>
                  <a:schemeClr val="tx1"/>
                </a:solidFill>
                <a:latin typeface="Courier New" pitchFamily="49" charset="0"/>
              </a:rPr>
              <a:t>	</a:t>
            </a:r>
            <a:endParaRPr lang="en-US" sz="1200" dirty="0">
              <a:solidFill>
                <a:schemeClr val="tx1"/>
              </a:solidFill>
            </a:endParaRPr>
          </a:p>
          <a:p>
            <a:pPr eaLnBrk="0" hangingPunct="0"/>
            <a:r>
              <a:rPr lang="en-US" sz="1800" b="1" dirty="0">
                <a:solidFill>
                  <a:schemeClr val="tx1"/>
                </a:solidFill>
                <a:latin typeface="Courier New" pitchFamily="49" charset="0"/>
              </a:rPr>
              <a:t>  while (i1 &lt; n1 || i2 &lt; n2)</a:t>
            </a:r>
            <a:endParaRPr lang="en-US" sz="1200" dirty="0">
              <a:solidFill>
                <a:schemeClr val="tx1"/>
              </a:solidFill>
            </a:endParaRPr>
          </a:p>
          <a:p>
            <a:pPr eaLnBrk="0" hangingPunct="0"/>
            <a:r>
              <a:rPr lang="en-US" sz="1800" b="1" dirty="0">
                <a:solidFill>
                  <a:schemeClr val="tx1"/>
                </a:solidFill>
                <a:latin typeface="Courier New" pitchFamily="49" charset="0"/>
              </a:rPr>
              <a:t>  {</a:t>
            </a:r>
            <a:endParaRPr lang="en-US" sz="1200" dirty="0">
              <a:solidFill>
                <a:schemeClr val="tx1"/>
              </a:solidFill>
            </a:endParaRPr>
          </a:p>
          <a:p>
            <a:pPr eaLnBrk="0" hangingPunct="0"/>
            <a:r>
              <a:rPr lang="en-US" sz="1800" b="1" dirty="0">
                <a:solidFill>
                  <a:schemeClr val="tx1"/>
                </a:solidFill>
                <a:latin typeface="Courier New" pitchFamily="49" charset="0"/>
              </a:rPr>
              <a:t>    if (i1 == n1)</a:t>
            </a:r>
            <a:endParaRPr lang="en-US" sz="1200" dirty="0">
              <a:solidFill>
                <a:schemeClr val="tx1"/>
              </a:solidFill>
            </a:endParaRPr>
          </a:p>
          <a:p>
            <a:pPr eaLnBrk="0" hangingPunct="0"/>
            <a:r>
              <a:rPr lang="en-US" sz="1800" b="1" dirty="0">
                <a:solidFill>
                  <a:schemeClr val="tx1"/>
                </a:solidFill>
                <a:latin typeface="Courier New" pitchFamily="49" charset="0"/>
              </a:rPr>
              <a:t>	</a:t>
            </a:r>
            <a:r>
              <a:rPr lang="en-US" sz="1800" b="1" dirty="0">
                <a:solidFill>
                  <a:srgbClr val="FF0000"/>
                </a:solidFill>
                <a:latin typeface="Courier New" pitchFamily="49" charset="0"/>
              </a:rPr>
              <a:t>temp</a:t>
            </a:r>
            <a:r>
              <a:rPr lang="en-US" sz="1800" b="1" dirty="0">
                <a:solidFill>
                  <a:schemeClr val="tx1"/>
                </a:solidFill>
                <a:latin typeface="Courier New" pitchFamily="49" charset="0"/>
              </a:rPr>
              <a:t>[k++] = A2[i2++];</a:t>
            </a:r>
            <a:endParaRPr lang="en-US" sz="1200" dirty="0">
              <a:solidFill>
                <a:schemeClr val="tx1"/>
              </a:solidFill>
            </a:endParaRPr>
          </a:p>
          <a:p>
            <a:pPr eaLnBrk="0" hangingPunct="0"/>
            <a:r>
              <a:rPr lang="en-US" sz="1800" b="1" dirty="0">
                <a:solidFill>
                  <a:schemeClr val="tx1"/>
                </a:solidFill>
                <a:latin typeface="Courier New" pitchFamily="49" charset="0"/>
              </a:rPr>
              <a:t>    else if (i2 == n2)</a:t>
            </a:r>
            <a:endParaRPr lang="en-US" sz="1200" dirty="0">
              <a:solidFill>
                <a:schemeClr val="tx1"/>
              </a:solidFill>
            </a:endParaRPr>
          </a:p>
          <a:p>
            <a:pPr eaLnBrk="0" hangingPunct="0"/>
            <a:r>
              <a:rPr lang="en-US" sz="1800" b="1" dirty="0">
                <a:solidFill>
                  <a:schemeClr val="tx1"/>
                </a:solidFill>
                <a:latin typeface="Courier New" pitchFamily="49" charset="0"/>
              </a:rPr>
              <a:t>	</a:t>
            </a:r>
            <a:r>
              <a:rPr lang="en-US" sz="1800" b="1" dirty="0">
                <a:solidFill>
                  <a:srgbClr val="FF0000"/>
                </a:solidFill>
                <a:latin typeface="Courier New" pitchFamily="49" charset="0"/>
              </a:rPr>
              <a:t>temp</a:t>
            </a:r>
            <a:r>
              <a:rPr lang="en-US" sz="1800" b="1" dirty="0">
                <a:solidFill>
                  <a:schemeClr val="tx1"/>
                </a:solidFill>
                <a:latin typeface="Courier New" pitchFamily="49" charset="0"/>
              </a:rPr>
              <a:t>[k++] = A1[i1++];</a:t>
            </a:r>
            <a:endParaRPr lang="en-US" sz="1200" dirty="0">
              <a:solidFill>
                <a:schemeClr val="tx1"/>
              </a:solidFill>
            </a:endParaRPr>
          </a:p>
          <a:p>
            <a:pPr eaLnBrk="0" hangingPunct="0"/>
            <a:r>
              <a:rPr lang="en-US" sz="1800" b="1" dirty="0">
                <a:solidFill>
                  <a:schemeClr val="tx1"/>
                </a:solidFill>
                <a:latin typeface="Courier New" pitchFamily="49" charset="0"/>
              </a:rPr>
              <a:t>    else if (data[i1] &lt;= A2[i2])</a:t>
            </a:r>
            <a:endParaRPr lang="en-US" sz="1200" dirty="0">
              <a:solidFill>
                <a:schemeClr val="tx1"/>
              </a:solidFill>
            </a:endParaRPr>
          </a:p>
          <a:p>
            <a:pPr eaLnBrk="0" hangingPunct="0"/>
            <a:r>
              <a:rPr lang="en-US" sz="1800" b="1" dirty="0">
                <a:solidFill>
                  <a:schemeClr val="tx1"/>
                </a:solidFill>
                <a:latin typeface="Courier New" pitchFamily="49" charset="0"/>
              </a:rPr>
              <a:t>	</a:t>
            </a:r>
            <a:r>
              <a:rPr lang="en-US" sz="1800" b="1" dirty="0">
                <a:solidFill>
                  <a:srgbClr val="FF0000"/>
                </a:solidFill>
                <a:latin typeface="Courier New" pitchFamily="49" charset="0"/>
              </a:rPr>
              <a:t>temp</a:t>
            </a:r>
            <a:r>
              <a:rPr lang="en-US" sz="1800" b="1" dirty="0">
                <a:solidFill>
                  <a:schemeClr val="tx1"/>
                </a:solidFill>
                <a:latin typeface="Courier New" pitchFamily="49" charset="0"/>
              </a:rPr>
              <a:t>[k++] = A1[i1++];</a:t>
            </a:r>
            <a:endParaRPr lang="en-US" sz="1200" dirty="0">
              <a:solidFill>
                <a:schemeClr val="tx1"/>
              </a:solidFill>
            </a:endParaRPr>
          </a:p>
          <a:p>
            <a:pPr eaLnBrk="0" hangingPunct="0"/>
            <a:r>
              <a:rPr lang="en-US" sz="1800" b="1" dirty="0">
                <a:solidFill>
                  <a:schemeClr val="tx1"/>
                </a:solidFill>
                <a:latin typeface="Courier New" pitchFamily="49" charset="0"/>
              </a:rPr>
              <a:t>    else</a:t>
            </a:r>
            <a:endParaRPr lang="en-US" sz="1200" dirty="0">
              <a:solidFill>
                <a:schemeClr val="tx1"/>
              </a:solidFill>
            </a:endParaRPr>
          </a:p>
          <a:p>
            <a:pPr eaLnBrk="0" hangingPunct="0"/>
            <a:r>
              <a:rPr lang="en-US" sz="1800" b="1" dirty="0">
                <a:solidFill>
                  <a:schemeClr val="tx1"/>
                </a:solidFill>
                <a:latin typeface="Courier New" pitchFamily="49" charset="0"/>
              </a:rPr>
              <a:t>	</a:t>
            </a:r>
            <a:r>
              <a:rPr lang="en-US" sz="1800" b="1" dirty="0">
                <a:solidFill>
                  <a:srgbClr val="FF0000"/>
                </a:solidFill>
                <a:latin typeface="Courier New" pitchFamily="49" charset="0"/>
              </a:rPr>
              <a:t>temp</a:t>
            </a:r>
            <a:r>
              <a:rPr lang="en-US" sz="1800" b="1" dirty="0">
                <a:solidFill>
                  <a:schemeClr val="tx1"/>
                </a:solidFill>
                <a:latin typeface="Courier New" pitchFamily="49" charset="0"/>
              </a:rPr>
              <a:t>[k++] = A2[i2++];</a:t>
            </a:r>
            <a:endParaRPr lang="en-US" sz="1200" dirty="0">
              <a:solidFill>
                <a:schemeClr val="tx1"/>
              </a:solidFill>
            </a:endParaRPr>
          </a:p>
          <a:p>
            <a:pPr eaLnBrk="0" hangingPunct="0"/>
            <a:r>
              <a:rPr lang="en-US" sz="1800" b="1" dirty="0">
                <a:solidFill>
                  <a:schemeClr val="tx1"/>
                </a:solidFill>
                <a:latin typeface="Courier New" pitchFamily="49" charset="0"/>
              </a:rPr>
              <a:t>  }</a:t>
            </a:r>
            <a:endParaRPr lang="en-US" sz="1200" dirty="0">
              <a:solidFill>
                <a:schemeClr val="tx1"/>
              </a:solidFill>
            </a:endParaRPr>
          </a:p>
          <a:p>
            <a:pPr eaLnBrk="0" hangingPunct="0"/>
            <a:r>
              <a:rPr lang="en-US" sz="1800" b="1" dirty="0">
                <a:solidFill>
                  <a:schemeClr val="tx1"/>
                </a:solidFill>
                <a:latin typeface="Courier New" pitchFamily="49" charset="0"/>
              </a:rPr>
              <a:t>  </a:t>
            </a:r>
            <a:r>
              <a:rPr lang="en-US" sz="1800" b="1" dirty="0">
                <a:solidFill>
                  <a:srgbClr val="C00000"/>
                </a:solidFill>
                <a:latin typeface="Courier New" pitchFamily="49" charset="0"/>
              </a:rPr>
              <a:t>for (int </a:t>
            </a:r>
            <a:r>
              <a:rPr lang="en-US" sz="1800" b="1" dirty="0" err="1">
                <a:solidFill>
                  <a:srgbClr val="C00000"/>
                </a:solidFill>
                <a:latin typeface="Courier New" pitchFamily="49" charset="0"/>
              </a:rPr>
              <a:t>i</a:t>
            </a:r>
            <a:r>
              <a:rPr lang="en-US" sz="1800" b="1" dirty="0">
                <a:solidFill>
                  <a:srgbClr val="C00000"/>
                </a:solidFill>
                <a:latin typeface="Courier New" pitchFamily="49" charset="0"/>
              </a:rPr>
              <a:t>=0;i&lt;n1+n2;i++)</a:t>
            </a:r>
            <a:endParaRPr lang="en-US" sz="1200" dirty="0">
              <a:solidFill>
                <a:srgbClr val="C00000"/>
              </a:solidFill>
            </a:endParaRPr>
          </a:p>
          <a:p>
            <a:pPr eaLnBrk="0" hangingPunct="0"/>
            <a:r>
              <a:rPr lang="en-US" sz="1800" b="1" dirty="0">
                <a:solidFill>
                  <a:srgbClr val="C00000"/>
                </a:solidFill>
                <a:latin typeface="Courier New" pitchFamily="49" charset="0"/>
              </a:rPr>
              <a:t>    data[</a:t>
            </a:r>
            <a:r>
              <a:rPr lang="en-US" sz="1800" b="1" dirty="0" err="1">
                <a:solidFill>
                  <a:srgbClr val="C00000"/>
                </a:solidFill>
                <a:latin typeface="Courier New" pitchFamily="49" charset="0"/>
              </a:rPr>
              <a:t>i</a:t>
            </a:r>
            <a:r>
              <a:rPr lang="en-US" sz="1800" b="1" dirty="0">
                <a:solidFill>
                  <a:srgbClr val="C00000"/>
                </a:solidFill>
                <a:latin typeface="Courier New" pitchFamily="49" charset="0"/>
              </a:rPr>
              <a:t>] = temp[</a:t>
            </a:r>
            <a:r>
              <a:rPr lang="en-US" sz="1800" b="1" dirty="0" err="1">
                <a:solidFill>
                  <a:srgbClr val="C00000"/>
                </a:solidFill>
                <a:latin typeface="Courier New" pitchFamily="49" charset="0"/>
              </a:rPr>
              <a:t>i</a:t>
            </a:r>
            <a:r>
              <a:rPr lang="en-US" sz="1800" b="1" dirty="0">
                <a:solidFill>
                  <a:srgbClr val="C00000"/>
                </a:solidFill>
                <a:latin typeface="Courier New" pitchFamily="49" charset="0"/>
              </a:rPr>
              <a:t>];</a:t>
            </a:r>
            <a:endParaRPr lang="en-US" sz="1200" dirty="0">
              <a:solidFill>
                <a:srgbClr val="C00000"/>
              </a:solidFill>
            </a:endParaRPr>
          </a:p>
          <a:p>
            <a:pPr eaLnBrk="0" hangingPunct="0"/>
            <a:r>
              <a:rPr lang="en-US" sz="1800" b="1" dirty="0">
                <a:solidFill>
                  <a:schemeClr val="tx1"/>
                </a:solidFill>
                <a:latin typeface="Courier New" pitchFamily="49" charset="0"/>
              </a:rPr>
              <a:t>}</a:t>
            </a:r>
            <a:endParaRPr lang="en-US" dirty="0">
              <a:solidFill>
                <a:schemeClr val="tx1"/>
              </a:solidFill>
              <a:latin typeface="Times New Roman" pitchFamily="18" charset="0"/>
            </a:endParaRPr>
          </a:p>
        </p:txBody>
      </p:sp>
      <p:sp>
        <p:nvSpPr>
          <p:cNvPr id="514053" name="Text Box 5"/>
          <p:cNvSpPr txBox="1">
            <a:spLocks noChangeArrowheads="1"/>
          </p:cNvSpPr>
          <p:nvPr/>
        </p:nvSpPr>
        <p:spPr bwMode="auto">
          <a:xfrm>
            <a:off x="5448300" y="555870"/>
            <a:ext cx="3619500" cy="313932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sz="1800" dirty="0"/>
              <a:t>Here’s the C++ version of our </a:t>
            </a:r>
            <a:r>
              <a:rPr lang="en-US" sz="1800" dirty="0">
                <a:solidFill>
                  <a:srgbClr val="6600CC"/>
                </a:solidFill>
              </a:rPr>
              <a:t>merge</a:t>
            </a:r>
            <a:r>
              <a:rPr lang="en-US" sz="1800" dirty="0"/>
              <a:t> function!</a:t>
            </a:r>
          </a:p>
          <a:p>
            <a:pPr algn="ctr"/>
            <a:endParaRPr lang="en-US" sz="1800" dirty="0"/>
          </a:p>
          <a:p>
            <a:pPr algn="ctr"/>
            <a:r>
              <a:rPr lang="en-US" sz="1800" dirty="0"/>
              <a:t>You pass in an input array called </a:t>
            </a:r>
            <a:r>
              <a:rPr lang="en-US" sz="1800" dirty="0">
                <a:solidFill>
                  <a:schemeClr val="accent1">
                    <a:lumMod val="50000"/>
                  </a:schemeClr>
                </a:solidFill>
              </a:rPr>
              <a:t>data</a:t>
            </a:r>
            <a:r>
              <a:rPr lang="en-US" sz="1800" dirty="0"/>
              <a:t> and the sizes of the two parts of it to merge: </a:t>
            </a:r>
            <a:r>
              <a:rPr lang="en-US" sz="1800" dirty="0">
                <a:solidFill>
                  <a:schemeClr val="accent1">
                    <a:lumMod val="50000"/>
                  </a:schemeClr>
                </a:solidFill>
              </a:rPr>
              <a:t>n1</a:t>
            </a:r>
            <a:r>
              <a:rPr lang="en-US" sz="1800" dirty="0"/>
              <a:t> and </a:t>
            </a:r>
            <a:r>
              <a:rPr lang="en-US" sz="1800" dirty="0">
                <a:solidFill>
                  <a:schemeClr val="accent1">
                    <a:lumMod val="50000"/>
                  </a:schemeClr>
                </a:solidFill>
              </a:rPr>
              <a:t>n2</a:t>
            </a:r>
          </a:p>
          <a:p>
            <a:pPr algn="ctr"/>
            <a:endParaRPr lang="en-US" sz="1800" dirty="0">
              <a:solidFill>
                <a:schemeClr val="accent2"/>
              </a:solidFill>
            </a:endParaRPr>
          </a:p>
          <a:p>
            <a:pPr algn="ctr"/>
            <a:r>
              <a:rPr lang="en-US" sz="1800" dirty="0">
                <a:solidFill>
                  <a:schemeClr val="tx1"/>
                </a:solidFill>
              </a:rPr>
              <a:t>The last parameter, </a:t>
            </a:r>
            <a:r>
              <a:rPr lang="en-US" sz="1800" dirty="0">
                <a:solidFill>
                  <a:srgbClr val="FF0000"/>
                </a:solidFill>
              </a:rPr>
              <a:t>temp</a:t>
            </a:r>
            <a:r>
              <a:rPr lang="en-US" sz="1800" dirty="0">
                <a:solidFill>
                  <a:schemeClr val="tx1"/>
                </a:solidFill>
              </a:rPr>
              <a:t>, is a temporary array of size n1+n2 that holds the merged results as we loop.</a:t>
            </a:r>
          </a:p>
        </p:txBody>
      </p:sp>
      <p:grpSp>
        <p:nvGrpSpPr>
          <p:cNvPr id="514066" name="Group 18"/>
          <p:cNvGrpSpPr>
            <a:grpSpLocks/>
          </p:cNvGrpSpPr>
          <p:nvPr/>
        </p:nvGrpSpPr>
        <p:grpSpPr bwMode="auto">
          <a:xfrm>
            <a:off x="4748213" y="5662614"/>
            <a:ext cx="4090987" cy="606425"/>
            <a:chOff x="2267" y="3455"/>
            <a:chExt cx="2577" cy="382"/>
          </a:xfrm>
        </p:grpSpPr>
        <p:sp>
          <p:nvSpPr>
            <p:cNvPr id="514054" name="Rectangle 6"/>
            <p:cNvSpPr>
              <a:spLocks noChangeArrowheads="1"/>
            </p:cNvSpPr>
            <p:nvPr/>
          </p:nvSpPr>
          <p:spPr bwMode="auto">
            <a:xfrm flipH="1">
              <a:off x="2752" y="3456"/>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tx1"/>
                  </a:solidFill>
                </a:rPr>
                <a:t>1</a:t>
              </a:r>
            </a:p>
          </p:txBody>
        </p:sp>
        <p:sp>
          <p:nvSpPr>
            <p:cNvPr id="514055" name="Rectangle 7"/>
            <p:cNvSpPr>
              <a:spLocks noChangeArrowheads="1"/>
            </p:cNvSpPr>
            <p:nvPr/>
          </p:nvSpPr>
          <p:spPr bwMode="auto">
            <a:xfrm flipH="1">
              <a:off x="3040" y="3456"/>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tx1"/>
                  </a:solidFill>
                </a:rPr>
                <a:t>13</a:t>
              </a:r>
            </a:p>
          </p:txBody>
        </p:sp>
        <p:sp>
          <p:nvSpPr>
            <p:cNvPr id="514056" name="Rectangle 8"/>
            <p:cNvSpPr>
              <a:spLocks noChangeArrowheads="1"/>
            </p:cNvSpPr>
            <p:nvPr/>
          </p:nvSpPr>
          <p:spPr bwMode="auto">
            <a:xfrm flipH="1">
              <a:off x="3328" y="3456"/>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chemeClr val="tx1"/>
                  </a:solidFill>
                </a:rPr>
                <a:t>21</a:t>
              </a:r>
            </a:p>
          </p:txBody>
        </p:sp>
        <p:sp>
          <p:nvSpPr>
            <p:cNvPr id="514057" name="Rectangle 9"/>
            <p:cNvSpPr>
              <a:spLocks noChangeArrowheads="1"/>
            </p:cNvSpPr>
            <p:nvPr/>
          </p:nvSpPr>
          <p:spPr bwMode="auto">
            <a:xfrm flipH="1">
              <a:off x="3616" y="3455"/>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tx1"/>
                  </a:solidFill>
                </a:rPr>
                <a:t>4</a:t>
              </a:r>
            </a:p>
          </p:txBody>
        </p:sp>
        <p:sp>
          <p:nvSpPr>
            <p:cNvPr id="514058" name="Rectangle 10"/>
            <p:cNvSpPr>
              <a:spLocks noChangeArrowheads="1"/>
            </p:cNvSpPr>
            <p:nvPr/>
          </p:nvSpPr>
          <p:spPr bwMode="auto">
            <a:xfrm flipH="1">
              <a:off x="3904" y="3456"/>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tx1"/>
                  </a:solidFill>
                </a:rPr>
                <a:t>11</a:t>
              </a:r>
            </a:p>
          </p:txBody>
        </p:sp>
        <p:sp>
          <p:nvSpPr>
            <p:cNvPr id="514059" name="Rectangle 11"/>
            <p:cNvSpPr>
              <a:spLocks noChangeArrowheads="1"/>
            </p:cNvSpPr>
            <p:nvPr/>
          </p:nvSpPr>
          <p:spPr bwMode="auto">
            <a:xfrm flipH="1">
              <a:off x="4192" y="3456"/>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tx1"/>
                  </a:solidFill>
                </a:rPr>
                <a:t>25</a:t>
              </a:r>
            </a:p>
          </p:txBody>
        </p:sp>
        <p:sp>
          <p:nvSpPr>
            <p:cNvPr id="514060" name="Rectangle 12"/>
            <p:cNvSpPr>
              <a:spLocks noChangeArrowheads="1"/>
            </p:cNvSpPr>
            <p:nvPr/>
          </p:nvSpPr>
          <p:spPr bwMode="auto">
            <a:xfrm flipH="1">
              <a:off x="4518" y="3456"/>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tx1"/>
                  </a:solidFill>
                </a:rPr>
                <a:t>30</a:t>
              </a:r>
            </a:p>
          </p:txBody>
        </p:sp>
        <p:sp>
          <p:nvSpPr>
            <p:cNvPr id="514064" name="Text Box 16"/>
            <p:cNvSpPr txBox="1">
              <a:spLocks noChangeArrowheads="1"/>
            </p:cNvSpPr>
            <p:nvPr/>
          </p:nvSpPr>
          <p:spPr bwMode="auto">
            <a:xfrm>
              <a:off x="2267" y="3507"/>
              <a:ext cx="515" cy="28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chemeClr val="accent1">
                      <a:lumMod val="50000"/>
                    </a:schemeClr>
                  </a:solidFill>
                </a:rPr>
                <a:t>data</a:t>
              </a:r>
            </a:p>
          </p:txBody>
        </p:sp>
      </p:grpSp>
      <p:grpSp>
        <p:nvGrpSpPr>
          <p:cNvPr id="64" name="Group 18">
            <a:extLst>
              <a:ext uri="{FF2B5EF4-FFF2-40B4-BE49-F238E27FC236}">
                <a16:creationId xmlns:a16="http://schemas.microsoft.com/office/drawing/2014/main" id="{5EB1DA35-FE96-4897-B046-BB431D35F0CB}"/>
              </a:ext>
            </a:extLst>
          </p:cNvPr>
          <p:cNvGrpSpPr>
            <a:grpSpLocks/>
          </p:cNvGrpSpPr>
          <p:nvPr/>
        </p:nvGrpSpPr>
        <p:grpSpPr bwMode="auto">
          <a:xfrm>
            <a:off x="5518152" y="5657575"/>
            <a:ext cx="3321048" cy="606425"/>
            <a:chOff x="2752" y="3455"/>
            <a:chExt cx="2092" cy="382"/>
          </a:xfrm>
        </p:grpSpPr>
        <p:sp>
          <p:nvSpPr>
            <p:cNvPr id="65" name="Rectangle 6">
              <a:extLst>
                <a:ext uri="{FF2B5EF4-FFF2-40B4-BE49-F238E27FC236}">
                  <a16:creationId xmlns:a16="http://schemas.microsoft.com/office/drawing/2014/main" id="{6A36FA1D-E6CA-4693-A939-38DE8EAD8751}"/>
                </a:ext>
              </a:extLst>
            </p:cNvPr>
            <p:cNvSpPr>
              <a:spLocks noChangeArrowheads="1"/>
            </p:cNvSpPr>
            <p:nvPr/>
          </p:nvSpPr>
          <p:spPr bwMode="auto">
            <a:xfrm flipH="1">
              <a:off x="2752" y="3456"/>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dirty="0">
                <a:solidFill>
                  <a:schemeClr val="tx1"/>
                </a:solidFill>
              </a:endParaRPr>
            </a:p>
          </p:txBody>
        </p:sp>
        <p:sp>
          <p:nvSpPr>
            <p:cNvPr id="66" name="Rectangle 7">
              <a:extLst>
                <a:ext uri="{FF2B5EF4-FFF2-40B4-BE49-F238E27FC236}">
                  <a16:creationId xmlns:a16="http://schemas.microsoft.com/office/drawing/2014/main" id="{D77236B7-6224-429C-A662-6E76C735E05B}"/>
                </a:ext>
              </a:extLst>
            </p:cNvPr>
            <p:cNvSpPr>
              <a:spLocks noChangeArrowheads="1"/>
            </p:cNvSpPr>
            <p:nvPr/>
          </p:nvSpPr>
          <p:spPr bwMode="auto">
            <a:xfrm flipH="1">
              <a:off x="3040" y="3456"/>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dirty="0">
                <a:solidFill>
                  <a:schemeClr val="tx1"/>
                </a:solidFill>
              </a:endParaRPr>
            </a:p>
          </p:txBody>
        </p:sp>
        <p:sp>
          <p:nvSpPr>
            <p:cNvPr id="67" name="Rectangle 8">
              <a:extLst>
                <a:ext uri="{FF2B5EF4-FFF2-40B4-BE49-F238E27FC236}">
                  <a16:creationId xmlns:a16="http://schemas.microsoft.com/office/drawing/2014/main" id="{7E4135F0-C2CA-4AC2-AA0D-4475B0237E95}"/>
                </a:ext>
              </a:extLst>
            </p:cNvPr>
            <p:cNvSpPr>
              <a:spLocks noChangeArrowheads="1"/>
            </p:cNvSpPr>
            <p:nvPr/>
          </p:nvSpPr>
          <p:spPr bwMode="auto">
            <a:xfrm flipH="1">
              <a:off x="3328" y="3456"/>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dirty="0">
                <a:solidFill>
                  <a:schemeClr val="tx1"/>
                </a:solidFill>
              </a:endParaRPr>
            </a:p>
          </p:txBody>
        </p:sp>
        <p:sp>
          <p:nvSpPr>
            <p:cNvPr id="68" name="Rectangle 9">
              <a:extLst>
                <a:ext uri="{FF2B5EF4-FFF2-40B4-BE49-F238E27FC236}">
                  <a16:creationId xmlns:a16="http://schemas.microsoft.com/office/drawing/2014/main" id="{68C1BF53-F7AE-4ADF-B71E-CC2C7360551E}"/>
                </a:ext>
              </a:extLst>
            </p:cNvPr>
            <p:cNvSpPr>
              <a:spLocks noChangeArrowheads="1"/>
            </p:cNvSpPr>
            <p:nvPr/>
          </p:nvSpPr>
          <p:spPr bwMode="auto">
            <a:xfrm flipH="1">
              <a:off x="3616" y="3455"/>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dirty="0">
                <a:solidFill>
                  <a:schemeClr val="tx1"/>
                </a:solidFill>
              </a:endParaRPr>
            </a:p>
          </p:txBody>
        </p:sp>
        <p:sp>
          <p:nvSpPr>
            <p:cNvPr id="69" name="Rectangle 10">
              <a:extLst>
                <a:ext uri="{FF2B5EF4-FFF2-40B4-BE49-F238E27FC236}">
                  <a16:creationId xmlns:a16="http://schemas.microsoft.com/office/drawing/2014/main" id="{709D3202-0085-4E93-984D-CD42DCCFA7C4}"/>
                </a:ext>
              </a:extLst>
            </p:cNvPr>
            <p:cNvSpPr>
              <a:spLocks noChangeArrowheads="1"/>
            </p:cNvSpPr>
            <p:nvPr/>
          </p:nvSpPr>
          <p:spPr bwMode="auto">
            <a:xfrm flipH="1">
              <a:off x="3904" y="3456"/>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dirty="0">
                <a:solidFill>
                  <a:schemeClr val="tx1"/>
                </a:solidFill>
              </a:endParaRPr>
            </a:p>
          </p:txBody>
        </p:sp>
        <p:sp>
          <p:nvSpPr>
            <p:cNvPr id="70" name="Rectangle 11">
              <a:extLst>
                <a:ext uri="{FF2B5EF4-FFF2-40B4-BE49-F238E27FC236}">
                  <a16:creationId xmlns:a16="http://schemas.microsoft.com/office/drawing/2014/main" id="{4000962B-D1F0-4E3D-A892-4F875A4D96DA}"/>
                </a:ext>
              </a:extLst>
            </p:cNvPr>
            <p:cNvSpPr>
              <a:spLocks noChangeArrowheads="1"/>
            </p:cNvSpPr>
            <p:nvPr/>
          </p:nvSpPr>
          <p:spPr bwMode="auto">
            <a:xfrm flipH="1">
              <a:off x="4192" y="3456"/>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dirty="0">
                <a:solidFill>
                  <a:schemeClr val="tx1"/>
                </a:solidFill>
              </a:endParaRPr>
            </a:p>
          </p:txBody>
        </p:sp>
        <p:sp>
          <p:nvSpPr>
            <p:cNvPr id="71" name="Rectangle 12">
              <a:extLst>
                <a:ext uri="{FF2B5EF4-FFF2-40B4-BE49-F238E27FC236}">
                  <a16:creationId xmlns:a16="http://schemas.microsoft.com/office/drawing/2014/main" id="{BB9009FD-EEB0-48F2-B8FD-3439A8AEDC52}"/>
                </a:ext>
              </a:extLst>
            </p:cNvPr>
            <p:cNvSpPr>
              <a:spLocks noChangeArrowheads="1"/>
            </p:cNvSpPr>
            <p:nvPr/>
          </p:nvSpPr>
          <p:spPr bwMode="auto">
            <a:xfrm flipH="1">
              <a:off x="4518" y="3456"/>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dirty="0">
                <a:solidFill>
                  <a:schemeClr val="tx1"/>
                </a:solidFill>
              </a:endParaRPr>
            </a:p>
          </p:txBody>
        </p:sp>
      </p:grpSp>
      <p:sp>
        <p:nvSpPr>
          <p:cNvPr id="514067" name="Rectangle 19"/>
          <p:cNvSpPr>
            <a:spLocks noChangeArrowheads="1"/>
          </p:cNvSpPr>
          <p:nvPr/>
        </p:nvSpPr>
        <p:spPr bwMode="auto">
          <a:xfrm>
            <a:off x="5486400" y="5675606"/>
            <a:ext cx="1420807" cy="583067"/>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14070" name="Group 22"/>
          <p:cNvGrpSpPr>
            <a:grpSpLocks/>
          </p:cNvGrpSpPr>
          <p:nvPr/>
        </p:nvGrpSpPr>
        <p:grpSpPr bwMode="auto">
          <a:xfrm>
            <a:off x="6679745" y="6284908"/>
            <a:ext cx="828675" cy="647699"/>
            <a:chOff x="2770" y="3847"/>
            <a:chExt cx="522" cy="408"/>
          </a:xfrm>
        </p:grpSpPr>
        <p:sp>
          <p:nvSpPr>
            <p:cNvPr id="514068" name="Text Box 20"/>
            <p:cNvSpPr txBox="1">
              <a:spLocks noChangeArrowheads="1"/>
            </p:cNvSpPr>
            <p:nvPr/>
          </p:nvSpPr>
          <p:spPr bwMode="auto">
            <a:xfrm>
              <a:off x="2770" y="3964"/>
              <a:ext cx="522" cy="29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t>n1=3</a:t>
              </a:r>
            </a:p>
          </p:txBody>
        </p:sp>
        <p:sp>
          <p:nvSpPr>
            <p:cNvPr id="514069" name="Line 21"/>
            <p:cNvSpPr>
              <a:spLocks noChangeShapeType="1"/>
            </p:cNvSpPr>
            <p:nvPr/>
          </p:nvSpPr>
          <p:spPr bwMode="auto">
            <a:xfrm flipV="1">
              <a:off x="2914" y="3847"/>
              <a:ext cx="0" cy="192"/>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14073" name="Rectangle 25"/>
          <p:cNvSpPr>
            <a:spLocks noChangeArrowheads="1"/>
          </p:cNvSpPr>
          <p:nvPr/>
        </p:nvSpPr>
        <p:spPr bwMode="auto">
          <a:xfrm>
            <a:off x="6909484" y="5674473"/>
            <a:ext cx="1959194" cy="583067"/>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14077" name="Group 29"/>
          <p:cNvGrpSpPr>
            <a:grpSpLocks/>
          </p:cNvGrpSpPr>
          <p:nvPr/>
        </p:nvGrpSpPr>
        <p:grpSpPr bwMode="auto">
          <a:xfrm>
            <a:off x="8229600" y="6267450"/>
            <a:ext cx="962025" cy="654050"/>
            <a:chOff x="4208" y="3844"/>
            <a:chExt cx="606" cy="412"/>
          </a:xfrm>
        </p:grpSpPr>
        <p:sp>
          <p:nvSpPr>
            <p:cNvPr id="514075" name="Text Box 27"/>
            <p:cNvSpPr txBox="1">
              <a:spLocks noChangeArrowheads="1"/>
            </p:cNvSpPr>
            <p:nvPr/>
          </p:nvSpPr>
          <p:spPr bwMode="auto">
            <a:xfrm>
              <a:off x="4208" y="3968"/>
              <a:ext cx="606" cy="28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dirty="0"/>
                <a:t>n2=4 </a:t>
              </a:r>
            </a:p>
          </p:txBody>
        </p:sp>
        <p:sp>
          <p:nvSpPr>
            <p:cNvPr id="514076" name="Line 28"/>
            <p:cNvSpPr>
              <a:spLocks noChangeShapeType="1"/>
            </p:cNvSpPr>
            <p:nvPr/>
          </p:nvSpPr>
          <p:spPr bwMode="auto">
            <a:xfrm flipV="1">
              <a:off x="4616" y="3844"/>
              <a:ext cx="0" cy="192"/>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 name="Group 18">
            <a:extLst>
              <a:ext uri="{FF2B5EF4-FFF2-40B4-BE49-F238E27FC236}">
                <a16:creationId xmlns:a16="http://schemas.microsoft.com/office/drawing/2014/main" id="{58F5BF70-8690-45C2-A1CC-1C4293B9D04A}"/>
              </a:ext>
            </a:extLst>
          </p:cNvPr>
          <p:cNvGrpSpPr>
            <a:grpSpLocks/>
          </p:cNvGrpSpPr>
          <p:nvPr/>
        </p:nvGrpSpPr>
        <p:grpSpPr bwMode="auto">
          <a:xfrm>
            <a:off x="4660901" y="4680677"/>
            <a:ext cx="4603749" cy="609600"/>
            <a:chOff x="2212" y="3456"/>
            <a:chExt cx="2900" cy="384"/>
          </a:xfrm>
        </p:grpSpPr>
        <p:sp>
          <p:nvSpPr>
            <p:cNvPr id="49" name="Rectangle 6">
              <a:extLst>
                <a:ext uri="{FF2B5EF4-FFF2-40B4-BE49-F238E27FC236}">
                  <a16:creationId xmlns:a16="http://schemas.microsoft.com/office/drawing/2014/main" id="{68CEDEAE-C5D1-40C3-8FF7-2A0703E4D49E}"/>
                </a:ext>
              </a:extLst>
            </p:cNvPr>
            <p:cNvSpPr>
              <a:spLocks noChangeArrowheads="1"/>
            </p:cNvSpPr>
            <p:nvPr/>
          </p:nvSpPr>
          <p:spPr bwMode="auto">
            <a:xfrm flipH="1">
              <a:off x="2752" y="3456"/>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dirty="0">
                <a:solidFill>
                  <a:schemeClr val="tx1"/>
                </a:solidFill>
              </a:endParaRPr>
            </a:p>
          </p:txBody>
        </p:sp>
        <p:sp>
          <p:nvSpPr>
            <p:cNvPr id="50" name="Rectangle 7">
              <a:extLst>
                <a:ext uri="{FF2B5EF4-FFF2-40B4-BE49-F238E27FC236}">
                  <a16:creationId xmlns:a16="http://schemas.microsoft.com/office/drawing/2014/main" id="{00978BA5-FD04-44D5-BAC2-9401B2DE70DE}"/>
                </a:ext>
              </a:extLst>
            </p:cNvPr>
            <p:cNvSpPr>
              <a:spLocks noChangeArrowheads="1"/>
            </p:cNvSpPr>
            <p:nvPr/>
          </p:nvSpPr>
          <p:spPr bwMode="auto">
            <a:xfrm flipH="1">
              <a:off x="3040" y="3456"/>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dirty="0">
                <a:solidFill>
                  <a:schemeClr val="tx1"/>
                </a:solidFill>
              </a:endParaRPr>
            </a:p>
          </p:txBody>
        </p:sp>
        <p:sp>
          <p:nvSpPr>
            <p:cNvPr id="51" name="Rectangle 8">
              <a:extLst>
                <a:ext uri="{FF2B5EF4-FFF2-40B4-BE49-F238E27FC236}">
                  <a16:creationId xmlns:a16="http://schemas.microsoft.com/office/drawing/2014/main" id="{0A21EAE0-532F-489F-90F9-ED326C9F2D90}"/>
                </a:ext>
              </a:extLst>
            </p:cNvPr>
            <p:cNvSpPr>
              <a:spLocks noChangeArrowheads="1"/>
            </p:cNvSpPr>
            <p:nvPr/>
          </p:nvSpPr>
          <p:spPr bwMode="auto">
            <a:xfrm flipH="1">
              <a:off x="3328" y="3456"/>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dirty="0">
                <a:solidFill>
                  <a:schemeClr val="tx1"/>
                </a:solidFill>
              </a:endParaRPr>
            </a:p>
          </p:txBody>
        </p:sp>
        <p:sp>
          <p:nvSpPr>
            <p:cNvPr id="52" name="Rectangle 9">
              <a:extLst>
                <a:ext uri="{FF2B5EF4-FFF2-40B4-BE49-F238E27FC236}">
                  <a16:creationId xmlns:a16="http://schemas.microsoft.com/office/drawing/2014/main" id="{F5ACBCF3-B79C-4BED-B706-0AB5D71C845E}"/>
                </a:ext>
              </a:extLst>
            </p:cNvPr>
            <p:cNvSpPr>
              <a:spLocks noChangeArrowheads="1"/>
            </p:cNvSpPr>
            <p:nvPr/>
          </p:nvSpPr>
          <p:spPr bwMode="auto">
            <a:xfrm flipH="1">
              <a:off x="3616" y="3459"/>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dirty="0">
                <a:solidFill>
                  <a:schemeClr val="tx1"/>
                </a:solidFill>
              </a:endParaRPr>
            </a:p>
          </p:txBody>
        </p:sp>
        <p:sp>
          <p:nvSpPr>
            <p:cNvPr id="53" name="Rectangle 10">
              <a:extLst>
                <a:ext uri="{FF2B5EF4-FFF2-40B4-BE49-F238E27FC236}">
                  <a16:creationId xmlns:a16="http://schemas.microsoft.com/office/drawing/2014/main" id="{A8DDE76F-DBC9-45CB-BCFE-83559F9AEF32}"/>
                </a:ext>
              </a:extLst>
            </p:cNvPr>
            <p:cNvSpPr>
              <a:spLocks noChangeArrowheads="1"/>
            </p:cNvSpPr>
            <p:nvPr/>
          </p:nvSpPr>
          <p:spPr bwMode="auto">
            <a:xfrm flipH="1">
              <a:off x="3904" y="3456"/>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dirty="0">
                <a:solidFill>
                  <a:schemeClr val="tx1"/>
                </a:solidFill>
              </a:endParaRPr>
            </a:p>
          </p:txBody>
        </p:sp>
        <p:sp>
          <p:nvSpPr>
            <p:cNvPr id="54" name="Rectangle 11">
              <a:extLst>
                <a:ext uri="{FF2B5EF4-FFF2-40B4-BE49-F238E27FC236}">
                  <a16:creationId xmlns:a16="http://schemas.microsoft.com/office/drawing/2014/main" id="{C02A791B-5AD7-49D3-87D6-F80F7B10E4D5}"/>
                </a:ext>
              </a:extLst>
            </p:cNvPr>
            <p:cNvSpPr>
              <a:spLocks noChangeArrowheads="1"/>
            </p:cNvSpPr>
            <p:nvPr/>
          </p:nvSpPr>
          <p:spPr bwMode="auto">
            <a:xfrm flipH="1">
              <a:off x="4192" y="3456"/>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dirty="0">
                <a:solidFill>
                  <a:schemeClr val="tx1"/>
                </a:solidFill>
              </a:endParaRPr>
            </a:p>
          </p:txBody>
        </p:sp>
        <p:sp>
          <p:nvSpPr>
            <p:cNvPr id="55" name="Rectangle 12">
              <a:extLst>
                <a:ext uri="{FF2B5EF4-FFF2-40B4-BE49-F238E27FC236}">
                  <a16:creationId xmlns:a16="http://schemas.microsoft.com/office/drawing/2014/main" id="{C53165BA-6868-4D83-A20E-882E47FBBFFE}"/>
                </a:ext>
              </a:extLst>
            </p:cNvPr>
            <p:cNvSpPr>
              <a:spLocks noChangeArrowheads="1"/>
            </p:cNvSpPr>
            <p:nvPr/>
          </p:nvSpPr>
          <p:spPr bwMode="auto">
            <a:xfrm flipH="1">
              <a:off x="4518" y="3456"/>
              <a:ext cx="326" cy="381"/>
            </a:xfrm>
            <a:prstGeom prst="rect">
              <a:avLst/>
            </a:prstGeom>
            <a:solidFill>
              <a:srgbClr val="CCFFFF"/>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dirty="0">
                <a:solidFill>
                  <a:schemeClr val="tx1"/>
                </a:solidFill>
              </a:endParaRPr>
            </a:p>
          </p:txBody>
        </p:sp>
        <p:sp>
          <p:nvSpPr>
            <p:cNvPr id="56" name="Text Box 16">
              <a:extLst>
                <a:ext uri="{FF2B5EF4-FFF2-40B4-BE49-F238E27FC236}">
                  <a16:creationId xmlns:a16="http://schemas.microsoft.com/office/drawing/2014/main" id="{75025096-98AD-4976-87CD-A1EFE990477A}"/>
                </a:ext>
              </a:extLst>
            </p:cNvPr>
            <p:cNvSpPr txBox="1">
              <a:spLocks noChangeArrowheads="1"/>
            </p:cNvSpPr>
            <p:nvPr/>
          </p:nvSpPr>
          <p:spPr bwMode="auto">
            <a:xfrm>
              <a:off x="2212" y="3507"/>
              <a:ext cx="2900" cy="29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rgbClr val="FF0000"/>
                  </a:solidFill>
                </a:rPr>
                <a:t>temp</a:t>
              </a:r>
              <a:r>
                <a:rPr lang="en-US" dirty="0">
                  <a:solidFill>
                    <a:schemeClr val="accent2"/>
                  </a:solidFill>
                </a:rPr>
                <a:t>                                      …</a:t>
              </a:r>
            </a:p>
          </p:txBody>
        </p:sp>
      </p:grpSp>
      <p:sp>
        <p:nvSpPr>
          <p:cNvPr id="2" name="Rectangle 1">
            <a:extLst>
              <a:ext uri="{FF2B5EF4-FFF2-40B4-BE49-F238E27FC236}">
                <a16:creationId xmlns:a16="http://schemas.microsoft.com/office/drawing/2014/main" id="{60CA9111-6766-4714-BD78-AFB08DCF0F5E}"/>
              </a:ext>
            </a:extLst>
          </p:cNvPr>
          <p:cNvSpPr/>
          <p:nvPr/>
        </p:nvSpPr>
        <p:spPr>
          <a:xfrm>
            <a:off x="5615936" y="5738644"/>
            <a:ext cx="322524" cy="461665"/>
          </a:xfrm>
          <a:prstGeom prst="rect">
            <a:avLst/>
          </a:prstGeom>
        </p:spPr>
        <p:txBody>
          <a:bodyPr wrap="none">
            <a:spAutoFit/>
          </a:bodyPr>
          <a:lstStyle/>
          <a:p>
            <a:pPr algn="ctr"/>
            <a:r>
              <a:rPr lang="en-US" dirty="0">
                <a:solidFill>
                  <a:schemeClr val="tx1"/>
                </a:solidFill>
              </a:rPr>
              <a:t>1</a:t>
            </a:r>
          </a:p>
        </p:txBody>
      </p:sp>
      <p:sp>
        <p:nvSpPr>
          <p:cNvPr id="58" name="Rectangle 57">
            <a:extLst>
              <a:ext uri="{FF2B5EF4-FFF2-40B4-BE49-F238E27FC236}">
                <a16:creationId xmlns:a16="http://schemas.microsoft.com/office/drawing/2014/main" id="{319E7202-392A-45E3-AB19-BD9598A83DD1}"/>
              </a:ext>
            </a:extLst>
          </p:cNvPr>
          <p:cNvSpPr/>
          <p:nvPr/>
        </p:nvSpPr>
        <p:spPr>
          <a:xfrm>
            <a:off x="5979073" y="5738644"/>
            <a:ext cx="510076" cy="461665"/>
          </a:xfrm>
          <a:prstGeom prst="rect">
            <a:avLst/>
          </a:prstGeom>
        </p:spPr>
        <p:txBody>
          <a:bodyPr wrap="none">
            <a:spAutoFit/>
          </a:bodyPr>
          <a:lstStyle/>
          <a:p>
            <a:pPr algn="ctr"/>
            <a:r>
              <a:rPr lang="en-US" dirty="0">
                <a:solidFill>
                  <a:schemeClr val="tx1"/>
                </a:solidFill>
              </a:rPr>
              <a:t>13</a:t>
            </a:r>
          </a:p>
        </p:txBody>
      </p:sp>
      <p:sp>
        <p:nvSpPr>
          <p:cNvPr id="59" name="Rectangle 58">
            <a:extLst>
              <a:ext uri="{FF2B5EF4-FFF2-40B4-BE49-F238E27FC236}">
                <a16:creationId xmlns:a16="http://schemas.microsoft.com/office/drawing/2014/main" id="{2D413562-2A76-4820-8631-CA33BF48790B}"/>
              </a:ext>
            </a:extLst>
          </p:cNvPr>
          <p:cNvSpPr/>
          <p:nvPr/>
        </p:nvSpPr>
        <p:spPr>
          <a:xfrm>
            <a:off x="6436989" y="5737863"/>
            <a:ext cx="510076" cy="461665"/>
          </a:xfrm>
          <a:prstGeom prst="rect">
            <a:avLst/>
          </a:prstGeom>
        </p:spPr>
        <p:txBody>
          <a:bodyPr wrap="none">
            <a:spAutoFit/>
          </a:bodyPr>
          <a:lstStyle/>
          <a:p>
            <a:pPr algn="ctr"/>
            <a:r>
              <a:rPr lang="en-US" dirty="0">
                <a:solidFill>
                  <a:schemeClr val="tx1"/>
                </a:solidFill>
              </a:rPr>
              <a:t>21</a:t>
            </a:r>
          </a:p>
        </p:txBody>
      </p:sp>
      <p:sp>
        <p:nvSpPr>
          <p:cNvPr id="60" name="Rectangle 59">
            <a:extLst>
              <a:ext uri="{FF2B5EF4-FFF2-40B4-BE49-F238E27FC236}">
                <a16:creationId xmlns:a16="http://schemas.microsoft.com/office/drawing/2014/main" id="{52B7BFB3-928B-4EA4-98B2-6A2759FB5E30}"/>
              </a:ext>
            </a:extLst>
          </p:cNvPr>
          <p:cNvSpPr/>
          <p:nvPr/>
        </p:nvSpPr>
        <p:spPr>
          <a:xfrm>
            <a:off x="6963347" y="5742305"/>
            <a:ext cx="372218" cy="461665"/>
          </a:xfrm>
          <a:prstGeom prst="rect">
            <a:avLst/>
          </a:prstGeom>
        </p:spPr>
        <p:txBody>
          <a:bodyPr wrap="none">
            <a:spAutoFit/>
          </a:bodyPr>
          <a:lstStyle/>
          <a:p>
            <a:pPr algn="ctr"/>
            <a:r>
              <a:rPr lang="en-US" dirty="0">
                <a:solidFill>
                  <a:schemeClr val="tx1"/>
                </a:solidFill>
              </a:rPr>
              <a:t>4</a:t>
            </a:r>
          </a:p>
        </p:txBody>
      </p:sp>
      <p:sp>
        <p:nvSpPr>
          <p:cNvPr id="61" name="Rectangle 60">
            <a:extLst>
              <a:ext uri="{FF2B5EF4-FFF2-40B4-BE49-F238E27FC236}">
                <a16:creationId xmlns:a16="http://schemas.microsoft.com/office/drawing/2014/main" id="{A8EA0E72-1E56-4F7A-8CE6-50A2569141E0}"/>
              </a:ext>
            </a:extLst>
          </p:cNvPr>
          <p:cNvSpPr/>
          <p:nvPr/>
        </p:nvSpPr>
        <p:spPr>
          <a:xfrm>
            <a:off x="7375522" y="5738809"/>
            <a:ext cx="460382" cy="461665"/>
          </a:xfrm>
          <a:prstGeom prst="rect">
            <a:avLst/>
          </a:prstGeom>
        </p:spPr>
        <p:txBody>
          <a:bodyPr wrap="none">
            <a:spAutoFit/>
          </a:bodyPr>
          <a:lstStyle/>
          <a:p>
            <a:pPr algn="ctr"/>
            <a:r>
              <a:rPr lang="en-US" dirty="0">
                <a:solidFill>
                  <a:schemeClr val="tx1"/>
                </a:solidFill>
              </a:rPr>
              <a:t>11</a:t>
            </a:r>
          </a:p>
        </p:txBody>
      </p:sp>
      <p:sp>
        <p:nvSpPr>
          <p:cNvPr id="62" name="Rectangle 61">
            <a:extLst>
              <a:ext uri="{FF2B5EF4-FFF2-40B4-BE49-F238E27FC236}">
                <a16:creationId xmlns:a16="http://schemas.microsoft.com/office/drawing/2014/main" id="{A53E17EC-A7DA-486D-9915-82B5F00AC160}"/>
              </a:ext>
            </a:extLst>
          </p:cNvPr>
          <p:cNvSpPr/>
          <p:nvPr/>
        </p:nvSpPr>
        <p:spPr>
          <a:xfrm>
            <a:off x="7782218" y="5737864"/>
            <a:ext cx="559770" cy="461665"/>
          </a:xfrm>
          <a:prstGeom prst="rect">
            <a:avLst/>
          </a:prstGeom>
        </p:spPr>
        <p:txBody>
          <a:bodyPr wrap="none">
            <a:spAutoFit/>
          </a:bodyPr>
          <a:lstStyle/>
          <a:p>
            <a:pPr algn="ctr"/>
            <a:r>
              <a:rPr lang="en-US" dirty="0">
                <a:solidFill>
                  <a:schemeClr val="tx1"/>
                </a:solidFill>
              </a:rPr>
              <a:t>25</a:t>
            </a:r>
          </a:p>
        </p:txBody>
      </p:sp>
      <p:sp>
        <p:nvSpPr>
          <p:cNvPr id="63" name="Rectangle 62">
            <a:extLst>
              <a:ext uri="{FF2B5EF4-FFF2-40B4-BE49-F238E27FC236}">
                <a16:creationId xmlns:a16="http://schemas.microsoft.com/office/drawing/2014/main" id="{E275477E-BB3B-4041-A1B0-853D044B28E7}"/>
              </a:ext>
            </a:extLst>
          </p:cNvPr>
          <p:cNvSpPr/>
          <p:nvPr/>
        </p:nvSpPr>
        <p:spPr>
          <a:xfrm>
            <a:off x="8300084" y="5737864"/>
            <a:ext cx="559770" cy="461665"/>
          </a:xfrm>
          <a:prstGeom prst="rect">
            <a:avLst/>
          </a:prstGeom>
        </p:spPr>
        <p:txBody>
          <a:bodyPr wrap="none">
            <a:spAutoFit/>
          </a:bodyPr>
          <a:lstStyle/>
          <a:p>
            <a:pPr algn="ctr"/>
            <a:r>
              <a:rPr lang="en-US" dirty="0">
                <a:solidFill>
                  <a:schemeClr val="tx1"/>
                </a:solidFill>
              </a:rPr>
              <a:t>30</a:t>
            </a:r>
          </a:p>
        </p:txBody>
      </p:sp>
      <p:grpSp>
        <p:nvGrpSpPr>
          <p:cNvPr id="10" name="Group 9">
            <a:extLst>
              <a:ext uri="{FF2B5EF4-FFF2-40B4-BE49-F238E27FC236}">
                <a16:creationId xmlns:a16="http://schemas.microsoft.com/office/drawing/2014/main" id="{5CA0234C-1FBF-4504-8AD2-67110717A058}"/>
              </a:ext>
            </a:extLst>
          </p:cNvPr>
          <p:cNvGrpSpPr/>
          <p:nvPr/>
        </p:nvGrpSpPr>
        <p:grpSpPr>
          <a:xfrm>
            <a:off x="5606549" y="4776108"/>
            <a:ext cx="3242699" cy="494581"/>
            <a:chOff x="5606549" y="4776108"/>
            <a:chExt cx="3242699" cy="494581"/>
          </a:xfrm>
        </p:grpSpPr>
        <p:sp>
          <p:nvSpPr>
            <p:cNvPr id="88" name="Rectangle 87">
              <a:extLst>
                <a:ext uri="{FF2B5EF4-FFF2-40B4-BE49-F238E27FC236}">
                  <a16:creationId xmlns:a16="http://schemas.microsoft.com/office/drawing/2014/main" id="{184CB547-0A94-434F-A351-A57CEFF1F2B2}"/>
                </a:ext>
              </a:extLst>
            </p:cNvPr>
            <p:cNvSpPr/>
            <p:nvPr/>
          </p:nvSpPr>
          <p:spPr>
            <a:xfrm>
              <a:off x="8289478" y="4784258"/>
              <a:ext cx="559770" cy="461665"/>
            </a:xfrm>
            <a:prstGeom prst="rect">
              <a:avLst/>
            </a:prstGeom>
          </p:spPr>
          <p:txBody>
            <a:bodyPr wrap="none">
              <a:spAutoFit/>
            </a:bodyPr>
            <a:lstStyle/>
            <a:p>
              <a:pPr algn="ctr"/>
              <a:r>
                <a:rPr lang="en-US" dirty="0">
                  <a:solidFill>
                    <a:schemeClr val="tx1"/>
                  </a:solidFill>
                </a:rPr>
                <a:t>30</a:t>
              </a:r>
            </a:p>
          </p:txBody>
        </p:sp>
        <p:sp>
          <p:nvSpPr>
            <p:cNvPr id="89" name="Rectangle 88">
              <a:extLst>
                <a:ext uri="{FF2B5EF4-FFF2-40B4-BE49-F238E27FC236}">
                  <a16:creationId xmlns:a16="http://schemas.microsoft.com/office/drawing/2014/main" id="{F4461718-FFAF-4EB4-826C-C31A45AF96FD}"/>
                </a:ext>
              </a:extLst>
            </p:cNvPr>
            <p:cNvSpPr/>
            <p:nvPr/>
          </p:nvSpPr>
          <p:spPr>
            <a:xfrm>
              <a:off x="7776775" y="4776749"/>
              <a:ext cx="559770" cy="461665"/>
            </a:xfrm>
            <a:prstGeom prst="rect">
              <a:avLst/>
            </a:prstGeom>
          </p:spPr>
          <p:txBody>
            <a:bodyPr wrap="none">
              <a:spAutoFit/>
            </a:bodyPr>
            <a:lstStyle/>
            <a:p>
              <a:pPr algn="ctr"/>
              <a:r>
                <a:rPr lang="en-US" dirty="0">
                  <a:solidFill>
                    <a:schemeClr val="tx1"/>
                  </a:solidFill>
                </a:rPr>
                <a:t>25</a:t>
              </a:r>
            </a:p>
          </p:txBody>
        </p:sp>
        <p:sp>
          <p:nvSpPr>
            <p:cNvPr id="90" name="Rectangle 89">
              <a:extLst>
                <a:ext uri="{FF2B5EF4-FFF2-40B4-BE49-F238E27FC236}">
                  <a16:creationId xmlns:a16="http://schemas.microsoft.com/office/drawing/2014/main" id="{2A7AECCE-12C3-4588-9C29-0B37106C6C15}"/>
                </a:ext>
              </a:extLst>
            </p:cNvPr>
            <p:cNvSpPr/>
            <p:nvPr/>
          </p:nvSpPr>
          <p:spPr>
            <a:xfrm>
              <a:off x="7320738" y="4779130"/>
              <a:ext cx="510076" cy="461665"/>
            </a:xfrm>
            <a:prstGeom prst="rect">
              <a:avLst/>
            </a:prstGeom>
          </p:spPr>
          <p:txBody>
            <a:bodyPr wrap="none">
              <a:spAutoFit/>
            </a:bodyPr>
            <a:lstStyle/>
            <a:p>
              <a:pPr algn="ctr"/>
              <a:r>
                <a:rPr lang="en-US" dirty="0">
                  <a:solidFill>
                    <a:schemeClr val="tx1"/>
                  </a:solidFill>
                </a:rPr>
                <a:t>21</a:t>
              </a:r>
            </a:p>
          </p:txBody>
        </p:sp>
        <p:sp>
          <p:nvSpPr>
            <p:cNvPr id="91" name="Rectangle 90">
              <a:extLst>
                <a:ext uri="{FF2B5EF4-FFF2-40B4-BE49-F238E27FC236}">
                  <a16:creationId xmlns:a16="http://schemas.microsoft.com/office/drawing/2014/main" id="{3FDFE7C7-778F-45E1-9EB4-E4813A412CFA}"/>
                </a:ext>
              </a:extLst>
            </p:cNvPr>
            <p:cNvSpPr/>
            <p:nvPr/>
          </p:nvSpPr>
          <p:spPr>
            <a:xfrm>
              <a:off x="6868048" y="4789177"/>
              <a:ext cx="510076" cy="461665"/>
            </a:xfrm>
            <a:prstGeom prst="rect">
              <a:avLst/>
            </a:prstGeom>
          </p:spPr>
          <p:txBody>
            <a:bodyPr wrap="none">
              <a:spAutoFit/>
            </a:bodyPr>
            <a:lstStyle/>
            <a:p>
              <a:pPr algn="ctr"/>
              <a:r>
                <a:rPr lang="en-US" dirty="0">
                  <a:solidFill>
                    <a:schemeClr val="tx1"/>
                  </a:solidFill>
                </a:rPr>
                <a:t>13</a:t>
              </a:r>
            </a:p>
          </p:txBody>
        </p:sp>
        <p:sp>
          <p:nvSpPr>
            <p:cNvPr id="92" name="Rectangle 91">
              <a:extLst>
                <a:ext uri="{FF2B5EF4-FFF2-40B4-BE49-F238E27FC236}">
                  <a16:creationId xmlns:a16="http://schemas.microsoft.com/office/drawing/2014/main" id="{02D22CB7-56AC-434A-B124-86F50BF7D1C8}"/>
                </a:ext>
              </a:extLst>
            </p:cNvPr>
            <p:cNvSpPr/>
            <p:nvPr/>
          </p:nvSpPr>
          <p:spPr>
            <a:xfrm>
              <a:off x="6421680" y="4809024"/>
              <a:ext cx="460382" cy="461665"/>
            </a:xfrm>
            <a:prstGeom prst="rect">
              <a:avLst/>
            </a:prstGeom>
          </p:spPr>
          <p:txBody>
            <a:bodyPr wrap="none">
              <a:spAutoFit/>
            </a:bodyPr>
            <a:lstStyle/>
            <a:p>
              <a:pPr algn="ctr"/>
              <a:r>
                <a:rPr lang="en-US" dirty="0">
                  <a:solidFill>
                    <a:schemeClr val="tx1"/>
                  </a:solidFill>
                </a:rPr>
                <a:t>11</a:t>
              </a:r>
            </a:p>
          </p:txBody>
        </p:sp>
        <p:sp>
          <p:nvSpPr>
            <p:cNvPr id="93" name="Rectangle 92">
              <a:extLst>
                <a:ext uri="{FF2B5EF4-FFF2-40B4-BE49-F238E27FC236}">
                  <a16:creationId xmlns:a16="http://schemas.microsoft.com/office/drawing/2014/main" id="{A3F3AB07-2BBD-4C0F-82CC-A580C5E117E8}"/>
                </a:ext>
              </a:extLst>
            </p:cNvPr>
            <p:cNvSpPr/>
            <p:nvPr/>
          </p:nvSpPr>
          <p:spPr>
            <a:xfrm>
              <a:off x="5995542" y="4796135"/>
              <a:ext cx="372218" cy="461665"/>
            </a:xfrm>
            <a:prstGeom prst="rect">
              <a:avLst/>
            </a:prstGeom>
          </p:spPr>
          <p:txBody>
            <a:bodyPr wrap="none">
              <a:spAutoFit/>
            </a:bodyPr>
            <a:lstStyle/>
            <a:p>
              <a:pPr algn="ctr"/>
              <a:r>
                <a:rPr lang="en-US" dirty="0">
                  <a:solidFill>
                    <a:schemeClr val="tx1"/>
                  </a:solidFill>
                </a:rPr>
                <a:t>4</a:t>
              </a:r>
            </a:p>
          </p:txBody>
        </p:sp>
        <p:sp>
          <p:nvSpPr>
            <p:cNvPr id="94" name="Rectangle 93">
              <a:extLst>
                <a:ext uri="{FF2B5EF4-FFF2-40B4-BE49-F238E27FC236}">
                  <a16:creationId xmlns:a16="http://schemas.microsoft.com/office/drawing/2014/main" id="{B7E786DA-BC68-4BFA-A105-AEE9B02C2B9D}"/>
                </a:ext>
              </a:extLst>
            </p:cNvPr>
            <p:cNvSpPr/>
            <p:nvPr/>
          </p:nvSpPr>
          <p:spPr>
            <a:xfrm>
              <a:off x="5606549" y="4776108"/>
              <a:ext cx="322524" cy="461665"/>
            </a:xfrm>
            <a:prstGeom prst="rect">
              <a:avLst/>
            </a:prstGeom>
          </p:spPr>
          <p:txBody>
            <a:bodyPr wrap="none">
              <a:spAutoFit/>
            </a:bodyPr>
            <a:lstStyle/>
            <a:p>
              <a:pPr algn="ctr"/>
              <a:r>
                <a:rPr lang="en-US" dirty="0">
                  <a:solidFill>
                    <a:schemeClr val="tx1"/>
                  </a:solidFill>
                </a:rPr>
                <a:t>1</a:t>
              </a:r>
            </a:p>
          </p:txBody>
        </p:sp>
      </p:grpSp>
      <p:sp>
        <p:nvSpPr>
          <p:cNvPr id="11" name="Rectangle 10">
            <a:extLst>
              <a:ext uri="{FF2B5EF4-FFF2-40B4-BE49-F238E27FC236}">
                <a16:creationId xmlns:a16="http://schemas.microsoft.com/office/drawing/2014/main" id="{97760517-A58F-497C-9339-4DD14BBCA5F6}"/>
              </a:ext>
            </a:extLst>
          </p:cNvPr>
          <p:cNvSpPr/>
          <p:nvPr/>
        </p:nvSpPr>
        <p:spPr>
          <a:xfrm>
            <a:off x="5486400" y="3773269"/>
            <a:ext cx="3565525" cy="646331"/>
          </a:xfrm>
          <a:prstGeom prst="rect">
            <a:avLst/>
          </a:prstGeom>
        </p:spPr>
        <p:txBody>
          <a:bodyPr wrap="square">
            <a:spAutoFit/>
          </a:bodyPr>
          <a:lstStyle/>
          <a:p>
            <a:pPr algn="ctr"/>
            <a:r>
              <a:rPr lang="en-US" sz="1800" dirty="0">
                <a:solidFill>
                  <a:schemeClr val="tx1"/>
                </a:solidFill>
              </a:rPr>
              <a:t>Finally, we copy our merged results back to the </a:t>
            </a:r>
            <a:r>
              <a:rPr lang="en-US" sz="1800" dirty="0">
                <a:solidFill>
                  <a:schemeClr val="accent1">
                    <a:lumMod val="50000"/>
                  </a:schemeClr>
                </a:solidFill>
              </a:rPr>
              <a:t>data</a:t>
            </a:r>
            <a:r>
              <a:rPr lang="en-US" sz="1800" dirty="0">
                <a:solidFill>
                  <a:schemeClr val="tx1"/>
                </a:solidFill>
              </a:rPr>
              <a:t> array.</a:t>
            </a:r>
          </a:p>
        </p:txBody>
      </p:sp>
      <p:sp>
        <p:nvSpPr>
          <p:cNvPr id="57" name="Line 21">
            <a:extLst>
              <a:ext uri="{FF2B5EF4-FFF2-40B4-BE49-F238E27FC236}">
                <a16:creationId xmlns:a16="http://schemas.microsoft.com/office/drawing/2014/main" id="{B1BE5BF7-B622-45EE-853A-2A72856D20AA}"/>
              </a:ext>
            </a:extLst>
          </p:cNvPr>
          <p:cNvSpPr>
            <a:spLocks noChangeShapeType="1"/>
          </p:cNvSpPr>
          <p:nvPr/>
        </p:nvSpPr>
        <p:spPr bwMode="auto">
          <a:xfrm>
            <a:off x="69850" y="2727158"/>
            <a:ext cx="360279" cy="0"/>
          </a:xfrm>
          <a:prstGeom prst="line">
            <a:avLst/>
          </a:prstGeom>
          <a:noFill/>
          <a:ln w="50800">
            <a:solidFill>
              <a:srgbClr val="FF33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 name="Line 21">
            <a:extLst>
              <a:ext uri="{FF2B5EF4-FFF2-40B4-BE49-F238E27FC236}">
                <a16:creationId xmlns:a16="http://schemas.microsoft.com/office/drawing/2014/main" id="{C240DE0A-0A78-4544-89E8-9EEB76CEA35A}"/>
              </a:ext>
            </a:extLst>
          </p:cNvPr>
          <p:cNvSpPr>
            <a:spLocks noChangeShapeType="1"/>
          </p:cNvSpPr>
          <p:nvPr/>
        </p:nvSpPr>
        <p:spPr bwMode="auto">
          <a:xfrm>
            <a:off x="69850" y="5745164"/>
            <a:ext cx="360279" cy="0"/>
          </a:xfrm>
          <a:prstGeom prst="line">
            <a:avLst/>
          </a:prstGeom>
          <a:noFill/>
          <a:ln w="50800">
            <a:solidFill>
              <a:srgbClr val="FF33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 name="Line 21">
            <a:extLst>
              <a:ext uri="{FF2B5EF4-FFF2-40B4-BE49-F238E27FC236}">
                <a16:creationId xmlns:a16="http://schemas.microsoft.com/office/drawing/2014/main" id="{BBA9BC04-B59C-478C-BB84-4BE06A331EE0}"/>
              </a:ext>
            </a:extLst>
          </p:cNvPr>
          <p:cNvSpPr>
            <a:spLocks noChangeShapeType="1"/>
          </p:cNvSpPr>
          <p:nvPr/>
        </p:nvSpPr>
        <p:spPr bwMode="auto">
          <a:xfrm>
            <a:off x="59576" y="2265452"/>
            <a:ext cx="360279" cy="0"/>
          </a:xfrm>
          <a:prstGeom prst="line">
            <a:avLst/>
          </a:prstGeom>
          <a:noFill/>
          <a:ln w="50800">
            <a:solidFill>
              <a:srgbClr val="FF33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 name="Rectangle 73">
            <a:extLst>
              <a:ext uri="{FF2B5EF4-FFF2-40B4-BE49-F238E27FC236}">
                <a16:creationId xmlns:a16="http://schemas.microsoft.com/office/drawing/2014/main" id="{23279BEC-B286-4D85-A862-264C734A3B48}"/>
              </a:ext>
            </a:extLst>
          </p:cNvPr>
          <p:cNvSpPr/>
          <p:nvPr/>
        </p:nvSpPr>
        <p:spPr>
          <a:xfrm>
            <a:off x="5410200" y="5319523"/>
            <a:ext cx="754615" cy="369332"/>
          </a:xfrm>
          <a:prstGeom prst="rect">
            <a:avLst/>
          </a:prstGeom>
        </p:spPr>
        <p:txBody>
          <a:bodyPr wrap="square">
            <a:spAutoFit/>
          </a:bodyPr>
          <a:lstStyle/>
          <a:p>
            <a:r>
              <a:rPr lang="en-US" sz="1800" dirty="0">
                <a:solidFill>
                  <a:schemeClr val="accent1">
                    <a:lumMod val="50000"/>
                  </a:schemeClr>
                </a:solidFill>
              </a:rPr>
              <a:t>A1</a:t>
            </a:r>
          </a:p>
        </p:txBody>
      </p:sp>
      <p:sp>
        <p:nvSpPr>
          <p:cNvPr id="75" name="Rectangle 74">
            <a:extLst>
              <a:ext uri="{FF2B5EF4-FFF2-40B4-BE49-F238E27FC236}">
                <a16:creationId xmlns:a16="http://schemas.microsoft.com/office/drawing/2014/main" id="{499CBFED-28A8-4C86-9225-86A4F5D97039}"/>
              </a:ext>
            </a:extLst>
          </p:cNvPr>
          <p:cNvSpPr/>
          <p:nvPr/>
        </p:nvSpPr>
        <p:spPr>
          <a:xfrm>
            <a:off x="6833170" y="5334000"/>
            <a:ext cx="754615" cy="369332"/>
          </a:xfrm>
          <a:prstGeom prst="rect">
            <a:avLst/>
          </a:prstGeom>
        </p:spPr>
        <p:txBody>
          <a:bodyPr wrap="square">
            <a:spAutoFit/>
          </a:bodyPr>
          <a:lstStyle/>
          <a:p>
            <a:r>
              <a:rPr lang="en-US" sz="1800" dirty="0">
                <a:solidFill>
                  <a:schemeClr val="accent1">
                    <a:lumMod val="50000"/>
                  </a:schemeClr>
                </a:solidFill>
              </a:rPr>
              <a:t>A2</a:t>
            </a:r>
          </a:p>
        </p:txBody>
      </p:sp>
    </p:spTree>
    <p:extLst>
      <p:ext uri="{BB962C8B-B14F-4D97-AF65-F5344CB8AC3E}">
        <p14:creationId xmlns:p14="http://schemas.microsoft.com/office/powerpoint/2010/main" val="1768894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p:txBody>
          <a:bodyPr/>
          <a:lstStyle/>
          <a:p>
            <a:fld id="{267DE4FE-8C5A-48CC-9F37-95B2C314B544}" type="slidenum">
              <a:rPr lang="en-US"/>
              <a:pPr/>
              <a:t>13</a:t>
            </a:fld>
            <a:endParaRPr lang="en-US"/>
          </a:p>
        </p:txBody>
      </p:sp>
      <p:sp>
        <p:nvSpPr>
          <p:cNvPr id="515074" name="Rectangle 2"/>
          <p:cNvSpPr>
            <a:spLocks noGrp="1" noChangeArrowheads="1"/>
          </p:cNvSpPr>
          <p:nvPr>
            <p:ph type="title"/>
          </p:nvPr>
        </p:nvSpPr>
        <p:spPr/>
        <p:txBody>
          <a:bodyPr/>
          <a:lstStyle/>
          <a:p>
            <a:r>
              <a:rPr lang="en-US"/>
              <a:t>Mergesort</a:t>
            </a:r>
          </a:p>
        </p:txBody>
      </p:sp>
      <p:sp>
        <p:nvSpPr>
          <p:cNvPr id="515075" name="Text Box 3"/>
          <p:cNvSpPr txBox="1">
            <a:spLocks noChangeArrowheads="1"/>
          </p:cNvSpPr>
          <p:nvPr/>
        </p:nvSpPr>
        <p:spPr bwMode="auto">
          <a:xfrm>
            <a:off x="669925" y="1112838"/>
            <a:ext cx="6457950" cy="4572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t>OK – so what’s the full </a:t>
            </a:r>
            <a:r>
              <a:rPr lang="en-US" dirty="0" err="1"/>
              <a:t>mergesort</a:t>
            </a:r>
            <a:r>
              <a:rPr lang="en-US" dirty="0"/>
              <a:t> </a:t>
            </a:r>
            <a:r>
              <a:rPr lang="en-US" dirty="0" err="1"/>
              <a:t>alogrithm</a:t>
            </a:r>
            <a:r>
              <a:rPr lang="en-US" dirty="0"/>
              <a:t>:</a:t>
            </a:r>
          </a:p>
        </p:txBody>
      </p:sp>
      <p:sp>
        <p:nvSpPr>
          <p:cNvPr id="515076" name="Text Box 4"/>
          <p:cNvSpPr txBox="1">
            <a:spLocks noChangeArrowheads="1"/>
          </p:cNvSpPr>
          <p:nvPr/>
        </p:nvSpPr>
        <p:spPr bwMode="auto">
          <a:xfrm>
            <a:off x="457200" y="1752600"/>
            <a:ext cx="8302273" cy="24622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err="1"/>
              <a:t>Mergesort</a:t>
            </a:r>
            <a:r>
              <a:rPr lang="en-US" dirty="0"/>
              <a:t> function :</a:t>
            </a:r>
          </a:p>
          <a:p>
            <a:endParaRPr lang="en-US" sz="1000" dirty="0"/>
          </a:p>
          <a:p>
            <a:r>
              <a:rPr lang="en-US" dirty="0"/>
              <a:t>  1.  If array has one element, then return (it’s sorted).</a:t>
            </a:r>
          </a:p>
          <a:p>
            <a:r>
              <a:rPr lang="en-US" dirty="0"/>
              <a:t>  2. Split up the array into two equal sections</a:t>
            </a:r>
          </a:p>
          <a:p>
            <a:r>
              <a:rPr lang="en-US" dirty="0"/>
              <a:t>  3. Recursively call </a:t>
            </a:r>
            <a:r>
              <a:rPr lang="en-US" dirty="0" err="1"/>
              <a:t>Mergesort</a:t>
            </a:r>
            <a:r>
              <a:rPr lang="en-US" dirty="0"/>
              <a:t> function on the left half</a:t>
            </a:r>
          </a:p>
          <a:p>
            <a:r>
              <a:rPr lang="en-US" dirty="0"/>
              <a:t>  4. Recursively call </a:t>
            </a:r>
            <a:r>
              <a:rPr lang="en-US" dirty="0" err="1"/>
              <a:t>Mergesort</a:t>
            </a:r>
            <a:r>
              <a:rPr lang="en-US" dirty="0"/>
              <a:t> function on the right half</a:t>
            </a:r>
          </a:p>
          <a:p>
            <a:r>
              <a:rPr lang="en-US" dirty="0"/>
              <a:t>  5. Merge the two halves using our </a:t>
            </a:r>
            <a:r>
              <a:rPr lang="en-US" dirty="0">
                <a:solidFill>
                  <a:schemeClr val="accent2"/>
                </a:solidFill>
              </a:rPr>
              <a:t>merge </a:t>
            </a:r>
            <a:r>
              <a:rPr lang="en-US" dirty="0"/>
              <a:t>function</a:t>
            </a:r>
          </a:p>
        </p:txBody>
      </p:sp>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Times New Roman"/>
      </a:majorFont>
      <a:minorFont>
        <a:latin typeface="Comic Sans MS"/>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CCCC"/>
        </a:solidFill>
        <a:ln w="3175" cap="flat" cmpd="sng" algn="ctr">
          <a:solidFill>
            <a:schemeClr val="tx1"/>
          </a:solidFill>
          <a:prstDash val="solid"/>
          <a:round/>
          <a:headEnd type="none" w="med" len="med"/>
          <a:tailEnd type="none" w="med" len="med"/>
        </a:ln>
        <a:effectLst/>
      </a:spPr>
      <a:bodyPr vert="horz" wrap="square" lIns="91440" tIns="45720" rIns="91440" bIns="45720" numCol="1" rtlCol="0"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2400" b="0" i="0" u="none" strike="noStrike" cap="none" normalizeH="0" baseline="0" dirty="0" smtClean="0">
            <a:ln>
              <a:noFill/>
            </a:ln>
            <a:solidFill>
              <a:schemeClr val="tx2"/>
            </a:solidFill>
            <a:effectLst/>
            <a:latin typeface="Comic Sans MS" pitchFamily="66" charset="0"/>
            <a:cs typeface="Times New Roman" pitchFamily="18" charset="0"/>
          </a:defRPr>
        </a:defPPr>
      </a:lstStyle>
    </a:spDef>
    <a:lnDef>
      <a:spPr bwMode="auto">
        <a:xfrm>
          <a:off x="0" y="0"/>
          <a:ext cx="1" cy="1"/>
        </a:xfrm>
        <a:custGeom>
          <a:avLst/>
          <a:gdLst/>
          <a:ahLst/>
          <a:cxnLst/>
          <a:rect l="0" t="0" r="0" b="0"/>
          <a:pathLst/>
        </a:custGeom>
        <a:solidFill>
          <a:srgbClr val="CCFFFF"/>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2"/>
            </a:solidFill>
            <a:effectLst/>
            <a:latin typeface="Comic Sans MS" pitchFamily="66" charset="0"/>
            <a:cs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35474</TotalTime>
  <Words>1724</Words>
  <Application>Microsoft Macintosh PowerPoint</Application>
  <PresentationFormat>On-screen Show (4:3)</PresentationFormat>
  <Paragraphs>379</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微软雅黑</vt:lpstr>
      <vt:lpstr>Comic Sans MS</vt:lpstr>
      <vt:lpstr>Courier New</vt:lpstr>
      <vt:lpstr>Times New Roman</vt:lpstr>
      <vt:lpstr>Default Design</vt:lpstr>
      <vt:lpstr>Data Structures and Algorithms</vt:lpstr>
      <vt:lpstr>Sorting!</vt:lpstr>
      <vt:lpstr>2 Rules of Sorting</vt:lpstr>
      <vt:lpstr>Selection Sort – Better or Worse?</vt:lpstr>
      <vt:lpstr>The Selection Sort</vt:lpstr>
      <vt:lpstr>The Quicksort Algorithm</vt:lpstr>
      <vt:lpstr>D&amp;C Sorts: Quicksort</vt:lpstr>
      <vt:lpstr>PowerPoint Presentation</vt:lpstr>
      <vt:lpstr>Big-oh of Quicksort</vt:lpstr>
      <vt:lpstr>Mergesort</vt:lpstr>
      <vt:lpstr>Mergesort</vt:lpstr>
      <vt:lpstr>Merge Algorithm in C++</vt:lpstr>
      <vt:lpstr>Mergesort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4</dc:title>
  <dc:creator>Preferred Customer</dc:creator>
  <cp:lastModifiedBy>Office</cp:lastModifiedBy>
  <cp:revision>4738</cp:revision>
  <dcterms:created xsi:type="dcterms:W3CDTF">2002-10-09T05:27:34Z</dcterms:created>
  <dcterms:modified xsi:type="dcterms:W3CDTF">2026-04-07T01:36:01Z</dcterms:modified>
</cp:coreProperties>
</file>